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comments/modernComment_154_1FC8DBF6.xml" ContentType="application/vnd.ms-powerpoint.comments+xml"/>
  <Override PartName="/ppt/notesSlides/notesSlide1.xml" ContentType="application/vnd.openxmlformats-officedocument.presentationml.notesSlide+xml"/>
  <Override PartName="/ppt/comments/modernComment_155_50B01E6F.xml" ContentType="application/vnd.ms-powerpoint.comments+xml"/>
  <Override PartName="/ppt/charts/chart1.xml" ContentType="application/vnd.openxmlformats-officedocument.drawingml.chart+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02_BD741A49.xml" ContentType="application/vnd.ms-powerpoint.comments+xml"/>
  <Override PartName="/ppt/notesSlides/notesSlide4.xml" ContentType="application/vnd.openxmlformats-officedocument.presentationml.notesSlide+xml"/>
  <Override PartName="/ppt/comments/modernComment_156_455EA5F7.xml" ContentType="application/vnd.ms-powerpoint.comments+xml"/>
  <Override PartName="/ppt/notesSlides/notesSlide5.xml" ContentType="application/vnd.openxmlformats-officedocument.presentationml.notesSlide+xml"/>
  <Override PartName="/ppt/comments/modernComment_157_397D4824.xml" ContentType="application/vnd.ms-powerpoint.comments+xml"/>
  <Override PartName="/ppt/notesSlides/notesSlide6.xml" ContentType="application/vnd.openxmlformats-officedocument.presentationml.notesSlide+xml"/>
  <Override PartName="/ppt/comments/modernComment_158_CB38CBA5.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6.xml" ContentType="application/vnd.openxmlformats-officedocument.presentationml.notesSlid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omments/modernComment_150_4FD86DD7.xml" ContentType="application/vnd.ms-powerpoint.comment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4060" r:id="rId4"/>
    <p:sldMasterId id="2147484090" r:id="rId5"/>
    <p:sldMasterId id="2147483897" r:id="rId6"/>
  </p:sldMasterIdLst>
  <p:notesMasterIdLst>
    <p:notesMasterId r:id="rId43"/>
  </p:notesMasterIdLst>
  <p:handoutMasterIdLst>
    <p:handoutMasterId r:id="rId44"/>
  </p:handoutMasterIdLst>
  <p:sldIdLst>
    <p:sldId id="302" r:id="rId7"/>
    <p:sldId id="310" r:id="rId8"/>
    <p:sldId id="309" r:id="rId9"/>
    <p:sldId id="311" r:id="rId10"/>
    <p:sldId id="340" r:id="rId11"/>
    <p:sldId id="345" r:id="rId12"/>
    <p:sldId id="341" r:id="rId13"/>
    <p:sldId id="314" r:id="rId14"/>
    <p:sldId id="258" r:id="rId15"/>
    <p:sldId id="342" r:id="rId16"/>
    <p:sldId id="343" r:id="rId17"/>
    <p:sldId id="344" r:id="rId18"/>
    <p:sldId id="269" r:id="rId19"/>
    <p:sldId id="270" r:id="rId20"/>
    <p:sldId id="271" r:id="rId21"/>
    <p:sldId id="272" r:id="rId22"/>
    <p:sldId id="274" r:id="rId23"/>
    <p:sldId id="323" r:id="rId24"/>
    <p:sldId id="322" r:id="rId25"/>
    <p:sldId id="316" r:id="rId26"/>
    <p:sldId id="317" r:id="rId27"/>
    <p:sldId id="320" r:id="rId28"/>
    <p:sldId id="334" r:id="rId29"/>
    <p:sldId id="326" r:id="rId30"/>
    <p:sldId id="335" r:id="rId31"/>
    <p:sldId id="324" r:id="rId32"/>
    <p:sldId id="336" r:id="rId33"/>
    <p:sldId id="339" r:id="rId34"/>
    <p:sldId id="338" r:id="rId35"/>
    <p:sldId id="333" r:id="rId36"/>
    <p:sldId id="313" r:id="rId37"/>
    <p:sldId id="337" r:id="rId38"/>
    <p:sldId id="308" r:id="rId39"/>
    <p:sldId id="331" r:id="rId40"/>
    <p:sldId id="318" r:id="rId41"/>
    <p:sldId id="332" r:id="rId42"/>
  </p:sldIdLst>
  <p:sldSz cx="16256000" cy="9144000"/>
  <p:notesSz cx="16256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B42823D-FC15-489F-A24B-AD7901105553}" name="Jon Minton" initials="JM" userId="Jon Minton" providerId="None"/>
  <p188:author id="{67B5657B-8E96-3E9E-C99E-B47C48618251}" name="Chris Martin" initials="CM" userId="S::Chris.Martin@crystallise.com::6399fb30-6bb8-4d8c-b7c7-5301d14879f1" providerId="AD"/>
  <p188:author id="{C30D44AB-A073-7D60-BA1A-C438E60870FB}" name="Joan Grady" initials="JG" userId="S::JoanG@actuaries.org.uk::ea9b7451-2a0e-4dbc-af87-c15c24a1a3e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400F8"/>
    <a:srgbClr val="EF25E1"/>
    <a:srgbClr val="0099B5"/>
    <a:srgbClr val="FCC50F"/>
    <a:srgbClr val="DC3E83"/>
    <a:srgbClr val="C11E44"/>
    <a:srgbClr val="E5712A"/>
    <a:srgbClr val="6AA5CD"/>
    <a:srgbClr val="008151"/>
    <a:srgbClr val="1E3C69"/>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33C267-71F9-40E4-943B-4F984DC73DB0}" v="3" dt="2026-10-16T12:47:06.34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08" autoAdjust="0"/>
    <p:restoredTop sz="81285" autoAdjust="0"/>
  </p:normalViewPr>
  <p:slideViewPr>
    <p:cSldViewPr snapToGrid="0">
      <p:cViewPr>
        <p:scale>
          <a:sx n="75" d="100"/>
          <a:sy n="75" d="100"/>
        </p:scale>
        <p:origin x="750" y="-510"/>
      </p:cViewPr>
      <p:guideLst>
        <p:guide orient="horz" pos="2880"/>
        <p:guide pos="2160"/>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118" d="100"/>
          <a:sy n="118" d="100"/>
        </p:scale>
        <p:origin x="1480"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microsoft.com/office/2016/11/relationships/changesInfo" Target="changesInfos/changesInfo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2.xml"/><Relationship Id="rId51"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viewProps" Target="viewProps.xml"/><Relationship Id="rId20" Type="http://schemas.openxmlformats.org/officeDocument/2006/relationships/slide" Target="slides/slide14.xml"/><Relationship Id="rId41" Type="http://schemas.openxmlformats.org/officeDocument/2006/relationships/slide" Target="slides/slide35.xml"/><Relationship Id="rId1" Type="http://schemas.openxmlformats.org/officeDocument/2006/relationships/customXml" Target="../customXml/item1.xml"/><Relationship Id="rId6"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 Martin" userId="6399fb30-6bb8-4d8c-b7c7-5301d14879f1" providerId="ADAL" clId="{EEB512D4-7416-4DDE-BDCB-207656A5D584}"/>
    <pc:docChg chg="undo custSel addSld delSld modSld sldOrd">
      <pc:chgData name="Chris Martin" userId="6399fb30-6bb8-4d8c-b7c7-5301d14879f1" providerId="ADAL" clId="{EEB512D4-7416-4DDE-BDCB-207656A5D584}" dt="2026-10-16T12:50:50.796" v="1228" actId="478"/>
      <pc:docMkLst>
        <pc:docMk/>
      </pc:docMkLst>
      <pc:sldChg chg="modSp add mod setBg">
        <pc:chgData name="Chris Martin" userId="6399fb30-6bb8-4d8c-b7c7-5301d14879f1" providerId="ADAL" clId="{EEB512D4-7416-4DDE-BDCB-207656A5D584}" dt="2026-10-16T12:44:39.796" v="1044" actId="6549"/>
        <pc:sldMkLst>
          <pc:docMk/>
          <pc:sldMk cId="3178502729" sldId="258"/>
        </pc:sldMkLst>
        <pc:graphicFrameChg chg="modGraphic">
          <ac:chgData name="Chris Martin" userId="6399fb30-6bb8-4d8c-b7c7-5301d14879f1" providerId="ADAL" clId="{EEB512D4-7416-4DDE-BDCB-207656A5D584}" dt="2026-10-16T12:44:39.796" v="1044" actId="6549"/>
          <ac:graphicFrameMkLst>
            <pc:docMk/>
            <pc:sldMk cId="3178502729" sldId="258"/>
            <ac:graphicFrameMk id="9" creationId="{5E88A108-44C5-41CA-8715-8BEB37A5652C}"/>
          </ac:graphicFrameMkLst>
        </pc:graphicFrameChg>
      </pc:sldChg>
      <pc:sldChg chg="add del setBg">
        <pc:chgData name="Chris Martin" userId="6399fb30-6bb8-4d8c-b7c7-5301d14879f1" providerId="ADAL" clId="{EEB512D4-7416-4DDE-BDCB-207656A5D584}" dt="2026-10-16T12:28:48.880" v="586" actId="47"/>
        <pc:sldMkLst>
          <pc:docMk/>
          <pc:sldMk cId="1572196151" sldId="259"/>
        </pc:sldMkLst>
      </pc:sldChg>
      <pc:sldChg chg="modSp add del mod setBg">
        <pc:chgData name="Chris Martin" userId="6399fb30-6bb8-4d8c-b7c7-5301d14879f1" providerId="ADAL" clId="{EEB512D4-7416-4DDE-BDCB-207656A5D584}" dt="2026-10-16T12:49:42.038" v="1224" actId="47"/>
        <pc:sldMkLst>
          <pc:docMk/>
          <pc:sldMk cId="1036528816" sldId="260"/>
        </pc:sldMkLst>
        <pc:spChg chg="mod">
          <ac:chgData name="Chris Martin" userId="6399fb30-6bb8-4d8c-b7c7-5301d14879f1" providerId="ADAL" clId="{EEB512D4-7416-4DDE-BDCB-207656A5D584}" dt="2026-10-16T12:46:59.349" v="1131" actId="21"/>
          <ac:spMkLst>
            <pc:docMk/>
            <pc:sldMk cId="1036528816" sldId="260"/>
            <ac:spMk id="12" creationId="{C9461E18-0493-4A6F-B63F-C996D232EB0D}"/>
          </ac:spMkLst>
        </pc:spChg>
        <pc:spChg chg="mod">
          <ac:chgData name="Chris Martin" userId="6399fb30-6bb8-4d8c-b7c7-5301d14879f1" providerId="ADAL" clId="{EEB512D4-7416-4DDE-BDCB-207656A5D584}" dt="2026-10-16T12:47:47.803" v="1142" actId="1035"/>
          <ac:spMkLst>
            <pc:docMk/>
            <pc:sldMk cId="1036528816" sldId="260"/>
            <ac:spMk id="13" creationId="{896237AF-CAB2-4A68-A88B-B5F422CDB162}"/>
          </ac:spMkLst>
        </pc:spChg>
        <pc:spChg chg="mod">
          <ac:chgData name="Chris Martin" userId="6399fb30-6bb8-4d8c-b7c7-5301d14879f1" providerId="ADAL" clId="{EEB512D4-7416-4DDE-BDCB-207656A5D584}" dt="2026-10-16T12:47:47.803" v="1142" actId="1035"/>
          <ac:spMkLst>
            <pc:docMk/>
            <pc:sldMk cId="1036528816" sldId="260"/>
            <ac:spMk id="14" creationId="{AB3B1179-1314-415D-839C-816FC7FD2B43}"/>
          </ac:spMkLst>
        </pc:spChg>
        <pc:spChg chg="mod">
          <ac:chgData name="Chris Martin" userId="6399fb30-6bb8-4d8c-b7c7-5301d14879f1" providerId="ADAL" clId="{EEB512D4-7416-4DDE-BDCB-207656A5D584}" dt="2026-10-16T12:46:55.680" v="1130" actId="1076"/>
          <ac:spMkLst>
            <pc:docMk/>
            <pc:sldMk cId="1036528816" sldId="260"/>
            <ac:spMk id="16" creationId="{10EC26D5-563D-4E5A-82C8-946CFCB2105C}"/>
          </ac:spMkLst>
        </pc:spChg>
        <pc:spChg chg="mod">
          <ac:chgData name="Chris Martin" userId="6399fb30-6bb8-4d8c-b7c7-5301d14879f1" providerId="ADAL" clId="{EEB512D4-7416-4DDE-BDCB-207656A5D584}" dt="2026-10-16T12:48:37.137" v="1220" actId="20577"/>
          <ac:spMkLst>
            <pc:docMk/>
            <pc:sldMk cId="1036528816" sldId="260"/>
            <ac:spMk id="18" creationId="{5EEE0A64-3F56-48BD-948D-95CC9D8F70F8}"/>
          </ac:spMkLst>
        </pc:spChg>
      </pc:sldChg>
      <pc:sldChg chg="modSp add del mod setBg">
        <pc:chgData name="Chris Martin" userId="6399fb30-6bb8-4d8c-b7c7-5301d14879f1" providerId="ADAL" clId="{EEB512D4-7416-4DDE-BDCB-207656A5D584}" dt="2026-10-16T12:49:42.038" v="1224" actId="47"/>
        <pc:sldMkLst>
          <pc:docMk/>
          <pc:sldMk cId="4021060928" sldId="261"/>
        </pc:sldMkLst>
        <pc:spChg chg="mod">
          <ac:chgData name="Chris Martin" userId="6399fb30-6bb8-4d8c-b7c7-5301d14879f1" providerId="ADAL" clId="{EEB512D4-7416-4DDE-BDCB-207656A5D584}" dt="2026-10-16T12:49:23.447" v="1223" actId="6549"/>
          <ac:spMkLst>
            <pc:docMk/>
            <pc:sldMk cId="4021060928" sldId="261"/>
            <ac:spMk id="16" creationId="{0F6FB24B-63C0-4066-BC0A-10AC3F95EDE1}"/>
          </ac:spMkLst>
        </pc:spChg>
      </pc:sldChg>
      <pc:sldChg chg="addSp delSp modSp mod modClrScheme chgLayout">
        <pc:chgData name="Chris Martin" userId="6399fb30-6bb8-4d8c-b7c7-5301d14879f1" providerId="ADAL" clId="{EEB512D4-7416-4DDE-BDCB-207656A5D584}" dt="2026-10-13T14:52:27.277" v="567" actId="20577"/>
        <pc:sldMkLst>
          <pc:docMk/>
          <pc:sldMk cId="2739362324" sldId="314"/>
        </pc:sldMkLst>
        <pc:spChg chg="mod ord">
          <ac:chgData name="Chris Martin" userId="6399fb30-6bb8-4d8c-b7c7-5301d14879f1" providerId="ADAL" clId="{EEB512D4-7416-4DDE-BDCB-207656A5D584}" dt="2026-10-13T14:22:16.513" v="12" actId="20577"/>
          <ac:spMkLst>
            <pc:docMk/>
            <pc:sldMk cId="2739362324" sldId="314"/>
            <ac:spMk id="3" creationId="{17F29554-1483-B8D3-F17C-9B9AB62C2B10}"/>
          </ac:spMkLst>
        </pc:spChg>
        <pc:spChg chg="mod ord">
          <ac:chgData name="Chris Martin" userId="6399fb30-6bb8-4d8c-b7c7-5301d14879f1" providerId="ADAL" clId="{EEB512D4-7416-4DDE-BDCB-207656A5D584}" dt="2026-10-13T14:45:00.420" v="486" actId="1076"/>
          <ac:spMkLst>
            <pc:docMk/>
            <pc:sldMk cId="2739362324" sldId="314"/>
            <ac:spMk id="5" creationId="{68B7FBF6-DE18-7F5B-F4AC-61FA0B57E928}"/>
          </ac:spMkLst>
        </pc:spChg>
        <pc:spChg chg="mod ord">
          <ac:chgData name="Chris Martin" userId="6399fb30-6bb8-4d8c-b7c7-5301d14879f1" providerId="ADAL" clId="{EEB512D4-7416-4DDE-BDCB-207656A5D584}" dt="2026-10-13T14:20:53.863" v="0" actId="700"/>
          <ac:spMkLst>
            <pc:docMk/>
            <pc:sldMk cId="2739362324" sldId="314"/>
            <ac:spMk id="6" creationId="{8CD0791A-80AD-EAE6-9930-0AB8B7541CE8}"/>
          </ac:spMkLst>
        </pc:spChg>
        <pc:spChg chg="add mod">
          <ac:chgData name="Chris Martin" userId="6399fb30-6bb8-4d8c-b7c7-5301d14879f1" providerId="ADAL" clId="{EEB512D4-7416-4DDE-BDCB-207656A5D584}" dt="2026-10-13T14:48:05.972" v="546" actId="1076"/>
          <ac:spMkLst>
            <pc:docMk/>
            <pc:sldMk cId="2739362324" sldId="314"/>
            <ac:spMk id="12" creationId="{3B93CFC1-59DB-ADD1-0FD9-C9D1969B14C1}"/>
          </ac:spMkLst>
        </pc:spChg>
        <pc:spChg chg="add mod">
          <ac:chgData name="Chris Martin" userId="6399fb30-6bb8-4d8c-b7c7-5301d14879f1" providerId="ADAL" clId="{EEB512D4-7416-4DDE-BDCB-207656A5D584}" dt="2026-10-13T14:48:01.036" v="545" actId="1076"/>
          <ac:spMkLst>
            <pc:docMk/>
            <pc:sldMk cId="2739362324" sldId="314"/>
            <ac:spMk id="16" creationId="{E933D733-D231-00CD-61F1-94E4E1A40784}"/>
          </ac:spMkLst>
        </pc:spChg>
        <pc:spChg chg="add mod">
          <ac:chgData name="Chris Martin" userId="6399fb30-6bb8-4d8c-b7c7-5301d14879f1" providerId="ADAL" clId="{EEB512D4-7416-4DDE-BDCB-207656A5D584}" dt="2026-10-13T14:48:01.036" v="545" actId="1076"/>
          <ac:spMkLst>
            <pc:docMk/>
            <pc:sldMk cId="2739362324" sldId="314"/>
            <ac:spMk id="17" creationId="{05EC1F3A-5749-4FA4-2073-404EBA2AE159}"/>
          </ac:spMkLst>
        </pc:spChg>
        <pc:spChg chg="add mod">
          <ac:chgData name="Chris Martin" userId="6399fb30-6bb8-4d8c-b7c7-5301d14879f1" providerId="ADAL" clId="{EEB512D4-7416-4DDE-BDCB-207656A5D584}" dt="2026-10-13T14:47:54.647" v="544" actId="1076"/>
          <ac:spMkLst>
            <pc:docMk/>
            <pc:sldMk cId="2739362324" sldId="314"/>
            <ac:spMk id="20" creationId="{EA61C318-3446-7135-0769-4AEC911017C2}"/>
          </ac:spMkLst>
        </pc:spChg>
        <pc:spChg chg="add mod">
          <ac:chgData name="Chris Martin" userId="6399fb30-6bb8-4d8c-b7c7-5301d14879f1" providerId="ADAL" clId="{EEB512D4-7416-4DDE-BDCB-207656A5D584}" dt="2026-10-13T14:47:54.647" v="544" actId="1076"/>
          <ac:spMkLst>
            <pc:docMk/>
            <pc:sldMk cId="2739362324" sldId="314"/>
            <ac:spMk id="25" creationId="{54EA780A-E915-C462-12C2-DDCB97885935}"/>
          </ac:spMkLst>
        </pc:spChg>
        <pc:spChg chg="add mod">
          <ac:chgData name="Chris Martin" userId="6399fb30-6bb8-4d8c-b7c7-5301d14879f1" providerId="ADAL" clId="{EEB512D4-7416-4DDE-BDCB-207656A5D584}" dt="2026-10-13T14:52:27.277" v="567" actId="20577"/>
          <ac:spMkLst>
            <pc:docMk/>
            <pc:sldMk cId="2739362324" sldId="314"/>
            <ac:spMk id="28" creationId="{141EC5FB-A2F0-EA74-1ACA-E30D8B9C36AC}"/>
          </ac:spMkLst>
        </pc:spChg>
        <pc:picChg chg="add mod">
          <ac:chgData name="Chris Martin" userId="6399fb30-6bb8-4d8c-b7c7-5301d14879f1" providerId="ADAL" clId="{EEB512D4-7416-4DDE-BDCB-207656A5D584}" dt="2026-10-13T14:34:13.416" v="406" actId="1076"/>
          <ac:picMkLst>
            <pc:docMk/>
            <pc:sldMk cId="2739362324" sldId="314"/>
            <ac:picMk id="11" creationId="{69720F83-27C7-B4DC-B3A1-4C116BEF60DE}"/>
          </ac:picMkLst>
        </pc:picChg>
        <pc:picChg chg="add mod">
          <ac:chgData name="Chris Martin" userId="6399fb30-6bb8-4d8c-b7c7-5301d14879f1" providerId="ADAL" clId="{EEB512D4-7416-4DDE-BDCB-207656A5D584}" dt="2026-10-13T14:48:01.036" v="545" actId="1076"/>
          <ac:picMkLst>
            <pc:docMk/>
            <pc:sldMk cId="2739362324" sldId="314"/>
            <ac:picMk id="14" creationId="{C5D6C27D-D05F-777A-13F7-9491399A63D7}"/>
          </ac:picMkLst>
        </pc:picChg>
        <pc:picChg chg="add mod">
          <ac:chgData name="Chris Martin" userId="6399fb30-6bb8-4d8c-b7c7-5301d14879f1" providerId="ADAL" clId="{EEB512D4-7416-4DDE-BDCB-207656A5D584}" dt="2026-10-13T14:47:54.647" v="544" actId="1076"/>
          <ac:picMkLst>
            <pc:docMk/>
            <pc:sldMk cId="2739362324" sldId="314"/>
            <ac:picMk id="19" creationId="{42BC694D-5985-3550-3BCA-16E818A97FB7}"/>
          </ac:picMkLst>
        </pc:picChg>
        <pc:picChg chg="add mod">
          <ac:chgData name="Chris Martin" userId="6399fb30-6bb8-4d8c-b7c7-5301d14879f1" providerId="ADAL" clId="{EEB512D4-7416-4DDE-BDCB-207656A5D584}" dt="2026-10-13T14:46:10.109" v="490" actId="1076"/>
          <ac:picMkLst>
            <pc:docMk/>
            <pc:sldMk cId="2739362324" sldId="314"/>
            <ac:picMk id="27" creationId="{F691A716-7883-0167-0A63-9F88F744656B}"/>
          </ac:picMkLst>
        </pc:picChg>
        <pc:cxnChg chg="add mod">
          <ac:chgData name="Chris Martin" userId="6399fb30-6bb8-4d8c-b7c7-5301d14879f1" providerId="ADAL" clId="{EEB512D4-7416-4DDE-BDCB-207656A5D584}" dt="2026-10-13T14:48:38.745" v="553" actId="692"/>
          <ac:cxnSpMkLst>
            <pc:docMk/>
            <pc:sldMk cId="2739362324" sldId="314"/>
            <ac:cxnSpMk id="30" creationId="{4C367D09-A6F0-6A19-D030-87371ADA1644}"/>
          </ac:cxnSpMkLst>
        </pc:cxnChg>
      </pc:sldChg>
      <pc:sldChg chg="modSp add mod ord setBg">
        <pc:chgData name="Chris Martin" userId="6399fb30-6bb8-4d8c-b7c7-5301d14879f1" providerId="ADAL" clId="{EEB512D4-7416-4DDE-BDCB-207656A5D584}" dt="2026-10-16T12:37:59.248" v="798" actId="207"/>
        <pc:sldMkLst>
          <pc:docMk/>
          <pc:sldMk cId="1353719407" sldId="341"/>
        </pc:sldMkLst>
        <pc:spChg chg="mod">
          <ac:chgData name="Chris Martin" userId="6399fb30-6bb8-4d8c-b7c7-5301d14879f1" providerId="ADAL" clId="{EEB512D4-7416-4DDE-BDCB-207656A5D584}" dt="2026-10-16T12:36:41.592" v="788" actId="6549"/>
          <ac:spMkLst>
            <pc:docMk/>
            <pc:sldMk cId="1353719407" sldId="341"/>
            <ac:spMk id="15" creationId="{344CAAC4-F96D-4FC0-9F5A-E3AA7EC827A9}"/>
          </ac:spMkLst>
        </pc:spChg>
        <pc:spChg chg="mod">
          <ac:chgData name="Chris Martin" userId="6399fb30-6bb8-4d8c-b7c7-5301d14879f1" providerId="ADAL" clId="{EEB512D4-7416-4DDE-BDCB-207656A5D584}" dt="2026-10-16T12:37:01.073" v="790" actId="6549"/>
          <ac:spMkLst>
            <pc:docMk/>
            <pc:sldMk cId="1353719407" sldId="341"/>
            <ac:spMk id="19" creationId="{75548DFA-F4BB-4806-8A51-7D8F5E1F7815}"/>
          </ac:spMkLst>
        </pc:spChg>
        <pc:spChg chg="mod">
          <ac:chgData name="Chris Martin" userId="6399fb30-6bb8-4d8c-b7c7-5301d14879f1" providerId="ADAL" clId="{EEB512D4-7416-4DDE-BDCB-207656A5D584}" dt="2026-10-16T12:36:32.575" v="787" actId="6549"/>
          <ac:spMkLst>
            <pc:docMk/>
            <pc:sldMk cId="1353719407" sldId="341"/>
            <ac:spMk id="21" creationId="{F80047A6-3CBC-4943-B5E3-67BB38E24026}"/>
          </ac:spMkLst>
        </pc:spChg>
        <pc:spChg chg="mod">
          <ac:chgData name="Chris Martin" userId="6399fb30-6bb8-4d8c-b7c7-5301d14879f1" providerId="ADAL" clId="{EEB512D4-7416-4DDE-BDCB-207656A5D584}" dt="2026-10-16T12:37:59.248" v="798" actId="207"/>
          <ac:spMkLst>
            <pc:docMk/>
            <pc:sldMk cId="1353719407" sldId="341"/>
            <ac:spMk id="22" creationId="{F4877B0A-64E1-4B8B-8B99-0E5567C8FFDC}"/>
          </ac:spMkLst>
        </pc:spChg>
      </pc:sldChg>
      <pc:sldChg chg="delSp modSp mod">
        <pc:chgData name="Chris Martin" userId="6399fb30-6bb8-4d8c-b7c7-5301d14879f1" providerId="ADAL" clId="{EEB512D4-7416-4DDE-BDCB-207656A5D584}" dt="2026-10-16T12:49:55.978" v="1225" actId="478"/>
        <pc:sldMkLst>
          <pc:docMk/>
          <pc:sldMk cId="1163830775" sldId="342"/>
        </pc:sldMkLst>
        <pc:spChg chg="del">
          <ac:chgData name="Chris Martin" userId="6399fb30-6bb8-4d8c-b7c7-5301d14879f1" providerId="ADAL" clId="{EEB512D4-7416-4DDE-BDCB-207656A5D584}" dt="2026-10-16T12:49:55.978" v="1225" actId="478"/>
          <ac:spMkLst>
            <pc:docMk/>
            <pc:sldMk cId="1163830775" sldId="342"/>
            <ac:spMk id="2" creationId="{53D56506-152C-689E-5E49-7E85BFB51D28}"/>
          </ac:spMkLst>
        </pc:spChg>
        <pc:spChg chg="mod">
          <ac:chgData name="Chris Martin" userId="6399fb30-6bb8-4d8c-b7c7-5301d14879f1" providerId="ADAL" clId="{EEB512D4-7416-4DDE-BDCB-207656A5D584}" dt="2026-10-16T12:43:28.058" v="1016" actId="1076"/>
          <ac:spMkLst>
            <pc:docMk/>
            <pc:sldMk cId="1163830775" sldId="342"/>
            <ac:spMk id="12" creationId="{00000000-0000-0000-0000-000000000000}"/>
          </ac:spMkLst>
        </pc:spChg>
      </pc:sldChg>
      <pc:sldChg chg="delSp modSp mod">
        <pc:chgData name="Chris Martin" userId="6399fb30-6bb8-4d8c-b7c7-5301d14879f1" providerId="ADAL" clId="{EEB512D4-7416-4DDE-BDCB-207656A5D584}" dt="2026-10-16T12:50:43.516" v="1227" actId="207"/>
        <pc:sldMkLst>
          <pc:docMk/>
          <pc:sldMk cId="964511780" sldId="343"/>
        </pc:sldMkLst>
        <pc:spChg chg="del">
          <ac:chgData name="Chris Martin" userId="6399fb30-6bb8-4d8c-b7c7-5301d14879f1" providerId="ADAL" clId="{EEB512D4-7416-4DDE-BDCB-207656A5D584}" dt="2026-10-16T12:50:00.998" v="1226" actId="478"/>
          <ac:spMkLst>
            <pc:docMk/>
            <pc:sldMk cId="964511780" sldId="343"/>
            <ac:spMk id="2" creationId="{53D56506-152C-689E-5E49-7E85BFB51D28}"/>
          </ac:spMkLst>
        </pc:spChg>
        <pc:spChg chg="mod">
          <ac:chgData name="Chris Martin" userId="6399fb30-6bb8-4d8c-b7c7-5301d14879f1" providerId="ADAL" clId="{EEB512D4-7416-4DDE-BDCB-207656A5D584}" dt="2026-10-16T12:50:43.516" v="1227" actId="207"/>
          <ac:spMkLst>
            <pc:docMk/>
            <pc:sldMk cId="964511780" sldId="343"/>
            <ac:spMk id="15" creationId="{00000000-0000-0000-0000-000000000000}"/>
          </ac:spMkLst>
        </pc:spChg>
      </pc:sldChg>
      <pc:sldChg chg="delSp mod">
        <pc:chgData name="Chris Martin" userId="6399fb30-6bb8-4d8c-b7c7-5301d14879f1" providerId="ADAL" clId="{EEB512D4-7416-4DDE-BDCB-207656A5D584}" dt="2026-10-16T12:50:50.796" v="1228" actId="478"/>
        <pc:sldMkLst>
          <pc:docMk/>
          <pc:sldMk cId="3409496997" sldId="344"/>
        </pc:sldMkLst>
        <pc:spChg chg="del">
          <ac:chgData name="Chris Martin" userId="6399fb30-6bb8-4d8c-b7c7-5301d14879f1" providerId="ADAL" clId="{EEB512D4-7416-4DDE-BDCB-207656A5D584}" dt="2026-10-16T12:50:50.796" v="1228" actId="478"/>
          <ac:spMkLst>
            <pc:docMk/>
            <pc:sldMk cId="3409496997" sldId="344"/>
            <ac:spMk id="2" creationId="{53D56506-152C-689E-5E49-7E85BFB51D28}"/>
          </ac:spMkLst>
        </pc:spChg>
      </pc:sldChg>
      <pc:sldChg chg="addSp delSp modSp new mod ord">
        <pc:chgData name="Chris Martin" userId="6399fb30-6bb8-4d8c-b7c7-5301d14879f1" providerId="ADAL" clId="{EEB512D4-7416-4DDE-BDCB-207656A5D584}" dt="2026-10-16T12:41:50.320" v="1013" actId="20577"/>
        <pc:sldMkLst>
          <pc:docMk/>
          <pc:sldMk cId="890640501" sldId="345"/>
        </pc:sldMkLst>
        <pc:spChg chg="del">
          <ac:chgData name="Chris Martin" userId="6399fb30-6bb8-4d8c-b7c7-5301d14879f1" providerId="ADAL" clId="{EEB512D4-7416-4DDE-BDCB-207656A5D584}" dt="2026-10-16T12:30:34.871" v="590" actId="478"/>
          <ac:spMkLst>
            <pc:docMk/>
            <pc:sldMk cId="890640501" sldId="345"/>
            <ac:spMk id="2" creationId="{E58876D5-C4CE-7756-0B90-65CF546B2C95}"/>
          </ac:spMkLst>
        </pc:spChg>
        <pc:spChg chg="mod">
          <ac:chgData name="Chris Martin" userId="6399fb30-6bb8-4d8c-b7c7-5301d14879f1" providerId="ADAL" clId="{EEB512D4-7416-4DDE-BDCB-207656A5D584}" dt="2026-10-16T12:38:17.752" v="799" actId="313"/>
          <ac:spMkLst>
            <pc:docMk/>
            <pc:sldMk cId="890640501" sldId="345"/>
            <ac:spMk id="3" creationId="{A688EFA1-9587-F998-34C0-292A59241123}"/>
          </ac:spMkLst>
        </pc:spChg>
        <pc:spChg chg="del">
          <ac:chgData name="Chris Martin" userId="6399fb30-6bb8-4d8c-b7c7-5301d14879f1" providerId="ADAL" clId="{EEB512D4-7416-4DDE-BDCB-207656A5D584}" dt="2026-10-16T12:31:30.697" v="598" actId="478"/>
          <ac:spMkLst>
            <pc:docMk/>
            <pc:sldMk cId="890640501" sldId="345"/>
            <ac:spMk id="4" creationId="{01E53F91-44D1-A43C-B307-0E2386756C9E}"/>
          </ac:spMkLst>
        </pc:spChg>
        <pc:spChg chg="add mod">
          <ac:chgData name="Chris Martin" userId="6399fb30-6bb8-4d8c-b7c7-5301d14879f1" providerId="ADAL" clId="{EEB512D4-7416-4DDE-BDCB-207656A5D584}" dt="2026-10-16T12:40:43.719" v="858" actId="1076"/>
          <ac:spMkLst>
            <pc:docMk/>
            <pc:sldMk cId="890640501" sldId="345"/>
            <ac:spMk id="15" creationId="{2D870B6D-3F66-2AFE-F6DC-D593E6CA4244}"/>
          </ac:spMkLst>
        </pc:spChg>
        <pc:spChg chg="add mod">
          <ac:chgData name="Chris Martin" userId="6399fb30-6bb8-4d8c-b7c7-5301d14879f1" providerId="ADAL" clId="{EEB512D4-7416-4DDE-BDCB-207656A5D584}" dt="2026-10-16T12:41:50.320" v="1013" actId="20577"/>
          <ac:spMkLst>
            <pc:docMk/>
            <pc:sldMk cId="890640501" sldId="345"/>
            <ac:spMk id="16" creationId="{7CDA5A90-3F82-ED06-6737-2C7A06ACFDCF}"/>
          </ac:spMkLst>
        </pc:spChg>
        <pc:picChg chg="add mod">
          <ac:chgData name="Chris Martin" userId="6399fb30-6bb8-4d8c-b7c7-5301d14879f1" providerId="ADAL" clId="{EEB512D4-7416-4DDE-BDCB-207656A5D584}" dt="2026-10-16T12:30:43.386" v="594" actId="1076"/>
          <ac:picMkLst>
            <pc:docMk/>
            <pc:sldMk cId="890640501" sldId="345"/>
            <ac:picMk id="8" creationId="{4587E35A-52B9-D6CA-17CD-23D43A42447C}"/>
          </ac:picMkLst>
        </pc:picChg>
        <pc:picChg chg="add del mod">
          <ac:chgData name="Chris Martin" userId="6399fb30-6bb8-4d8c-b7c7-5301d14879f1" providerId="ADAL" clId="{EEB512D4-7416-4DDE-BDCB-207656A5D584}" dt="2026-10-16T12:32:50.322" v="601" actId="478"/>
          <ac:picMkLst>
            <pc:docMk/>
            <pc:sldMk cId="890640501" sldId="345"/>
            <ac:picMk id="10" creationId="{7D0965D1-25D6-C3EB-E8C1-82F9ECB7C294}"/>
          </ac:picMkLst>
        </pc:picChg>
        <pc:picChg chg="add del mod">
          <ac:chgData name="Chris Martin" userId="6399fb30-6bb8-4d8c-b7c7-5301d14879f1" providerId="ADAL" clId="{EEB512D4-7416-4DDE-BDCB-207656A5D584}" dt="2026-10-16T12:39:18.543" v="802" actId="478"/>
          <ac:picMkLst>
            <pc:docMk/>
            <pc:sldMk cId="890640501" sldId="345"/>
            <ac:picMk id="12" creationId="{220DA561-054B-FC92-B449-E260F13C6E19}"/>
          </ac:picMkLst>
        </pc:picChg>
        <pc:picChg chg="add mod">
          <ac:chgData name="Chris Martin" userId="6399fb30-6bb8-4d8c-b7c7-5301d14879f1" providerId="ADAL" clId="{EEB512D4-7416-4DDE-BDCB-207656A5D584}" dt="2026-10-16T12:39:25.703" v="804" actId="14100"/>
          <ac:picMkLst>
            <pc:docMk/>
            <pc:sldMk cId="890640501" sldId="345"/>
            <ac:picMk id="14" creationId="{48027338-5FF2-B9E7-EE15-AACE2964EA8B}"/>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barChart>
        <c:barDir val="bar"/>
        <c:grouping val="stacked"/>
        <c:varyColors val="0"/>
        <c:ser>
          <c:idx val="0"/>
          <c:order val="0"/>
          <c:tx>
            <c:v>Population growth</c:v>
          </c:tx>
          <c:spPr>
            <a:solidFill>
              <a:srgbClr val="0097A9"/>
            </a:solidFill>
          </c:spPr>
          <c:invertIfNegative val="0"/>
          <c:cat>
            <c:strRef>
              <c:f>'Chart Data'!$A$2:$A$2</c:f>
              <c:strCache>
                <c:ptCount val="1"/>
                <c:pt idx="0">
                  <c:v>Increase</c:v>
                </c:pt>
              </c:strCache>
            </c:strRef>
          </c:cat>
          <c:val>
            <c:numRef>
              <c:f>'Chart Data'!$B$2:$B$2</c:f>
              <c:numCache>
                <c:formatCode>General</c:formatCode>
                <c:ptCount val="1"/>
                <c:pt idx="0">
                  <c:v>86000</c:v>
                </c:pt>
              </c:numCache>
            </c:numRef>
          </c:val>
          <c:extLst>
            <c:ext xmlns:c16="http://schemas.microsoft.com/office/drawing/2014/chart" uri="{C3380CC4-5D6E-409C-BE32-E72D297353CC}">
              <c16:uniqueId val="{00000000-8EDC-4034-B47D-9FCE35509685}"/>
            </c:ext>
          </c:extLst>
        </c:ser>
        <c:ser>
          <c:idx val="1"/>
          <c:order val="1"/>
          <c:tx>
            <c:v>Demographic assumption</c:v>
          </c:tx>
          <c:spPr>
            <a:solidFill>
              <a:srgbClr val="C7D1DE"/>
            </a:solidFill>
          </c:spPr>
          <c:invertIfNegative val="0"/>
          <c:cat>
            <c:strRef>
              <c:f>'Chart Data'!$C$2:$C$2</c:f>
              <c:strCache>
                <c:ptCount val="1"/>
                <c:pt idx="0">
                  <c:v>Increase</c:v>
                </c:pt>
              </c:strCache>
            </c:strRef>
          </c:cat>
          <c:val>
            <c:numRef>
              <c:f>'Chart Data'!$D$2:$D$2</c:f>
              <c:numCache>
                <c:formatCode>General</c:formatCode>
                <c:ptCount val="1"/>
                <c:pt idx="0">
                  <c:v>64902</c:v>
                </c:pt>
              </c:numCache>
            </c:numRef>
          </c:val>
          <c:extLst>
            <c:ext xmlns:c16="http://schemas.microsoft.com/office/drawing/2014/chart" uri="{C3380CC4-5D6E-409C-BE32-E72D297353CC}">
              <c16:uniqueId val="{00000001-8EDC-4034-B47D-9FCE35509685}"/>
            </c:ext>
          </c:extLst>
        </c:ser>
        <c:ser>
          <c:idx val="2"/>
          <c:order val="2"/>
          <c:tx>
            <c:v>Arithmetic residual</c:v>
          </c:tx>
          <c:spPr>
            <a:solidFill>
              <a:srgbClr val="002D72"/>
            </a:solidFill>
          </c:spPr>
          <c:invertIfNegative val="0"/>
          <c:cat>
            <c:strRef>
              <c:f>'Chart Data'!$E$2:$E$2</c:f>
              <c:strCache>
                <c:ptCount val="1"/>
                <c:pt idx="0">
                  <c:v>Increase</c:v>
                </c:pt>
              </c:strCache>
            </c:strRef>
          </c:cat>
          <c:val>
            <c:numRef>
              <c:f>'Chart Data'!$F$2:$F$2</c:f>
              <c:numCache>
                <c:formatCode>General</c:formatCode>
                <c:ptCount val="1"/>
                <c:pt idx="0">
                  <c:v>595098</c:v>
                </c:pt>
              </c:numCache>
            </c:numRef>
          </c:val>
          <c:extLst>
            <c:ext xmlns:c16="http://schemas.microsoft.com/office/drawing/2014/chart" uri="{C3380CC4-5D6E-409C-BE32-E72D297353CC}">
              <c16:uniqueId val="{00000002-8EDC-4034-B47D-9FCE35509685}"/>
            </c:ext>
          </c:extLst>
        </c:ser>
        <c:dLbls>
          <c:showLegendKey val="0"/>
          <c:showVal val="0"/>
          <c:showCatName val="0"/>
          <c:showSerName val="0"/>
          <c:showPercent val="0"/>
          <c:showBubbleSize val="0"/>
        </c:dLbls>
        <c:gapWidth val="0"/>
        <c:overlap val="100"/>
        <c:axId val="48650112"/>
        <c:axId val="48672768"/>
      </c:barChart>
      <c:catAx>
        <c:axId val="48650112"/>
        <c:scaling>
          <c:orientation val="minMax"/>
        </c:scaling>
        <c:delete val="1"/>
        <c:axPos val="l"/>
        <c:numFmt formatCode="General" sourceLinked="1"/>
        <c:majorTickMark val="none"/>
        <c:minorTickMark val="none"/>
        <c:tickLblPos val="nextTo"/>
        <c:crossAx val="48672768"/>
        <c:crosses val="autoZero"/>
        <c:auto val="1"/>
        <c:lblAlgn val="ctr"/>
        <c:lblOffset val="100"/>
        <c:noMultiLvlLbl val="1"/>
      </c:catAx>
      <c:valAx>
        <c:axId val="48672768"/>
        <c:scaling>
          <c:orientation val="minMax"/>
          <c:max val="746000"/>
          <c:min val="0"/>
        </c:scaling>
        <c:delete val="1"/>
        <c:axPos val="b"/>
        <c:numFmt formatCode="General" sourceLinked="1"/>
        <c:majorTickMark val="none"/>
        <c:minorTickMark val="none"/>
        <c:tickLblPos val="nextTo"/>
        <c:crossAx val="48650112"/>
        <c:crosses val="autoZero"/>
        <c:crossBetween val="between"/>
      </c:valAx>
    </c:plotArea>
    <c:plotVisOnly val="1"/>
    <c:dispBlanksAs val="zero"/>
    <c:showDLblsOverMax val="1"/>
  </c:chart>
  <c:spPr>
    <a:solidFill>
      <a:srgbClr val="FFFFFF"/>
    </a:solidFill>
    <a:ln w="0">
      <a:noFill/>
      <a:prstDash val="solid"/>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onecohort!$I$6</c:f>
              <c:strCache>
                <c:ptCount val="1"/>
                <c:pt idx="0">
                  <c:v>healthy working lives</c:v>
                </c:pt>
              </c:strCache>
            </c:strRef>
          </c:tx>
          <c:spPr>
            <a:solidFill>
              <a:schemeClr val="accent4"/>
            </a:solidFill>
            <a:ln>
              <a:noFill/>
            </a:ln>
            <a:effectLst/>
          </c:spPr>
          <c:invertIfNegative val="0"/>
          <c:dLbls>
            <c:dLbl>
              <c:idx val="5"/>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058-4E0E-BA4E-17ED57060010}"/>
                </c:ext>
              </c:extLst>
            </c:dLbl>
            <c:dLbl>
              <c:idx val="14"/>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058-4E0E-BA4E-17ED57060010}"/>
                </c:ext>
              </c:extLst>
            </c:dLbl>
            <c:spPr>
              <a:noFill/>
              <a:ln>
                <a:noFill/>
              </a:ln>
              <a:effectLst/>
            </c:spPr>
            <c:txPr>
              <a:bodyPr rot="0" spcFirstLastPara="1" vertOverflow="ellipsis" vert="horz" wrap="square" anchor="ctr" anchorCtr="1"/>
              <a:lstStyle/>
              <a:p>
                <a:pPr>
                  <a:defRPr sz="1800" b="1" i="0" u="none" strike="noStrike" kern="1200" baseline="0">
                    <a:solidFill>
                      <a:schemeClr val="tx1"/>
                    </a:solidFill>
                    <a:latin typeface="+mn-lt"/>
                    <a:ea typeface="+mn-ea"/>
                    <a:cs typeface="+mn-cs"/>
                  </a:defRPr>
                </a:pPr>
                <a:endParaRPr lang="de-DE"/>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onecohort!$E$7:$E$27</c:f>
              <c:numCache>
                <c:formatCode>General</c:formatCode>
                <c:ptCount val="21"/>
                <c:pt idx="0">
                  <c:v>50</c:v>
                </c:pt>
                <c:pt idx="1">
                  <c:v>51</c:v>
                </c:pt>
                <c:pt idx="2">
                  <c:v>52</c:v>
                </c:pt>
                <c:pt idx="3">
                  <c:v>53</c:v>
                </c:pt>
                <c:pt idx="4">
                  <c:v>54</c:v>
                </c:pt>
                <c:pt idx="5">
                  <c:v>55</c:v>
                </c:pt>
                <c:pt idx="6">
                  <c:v>56</c:v>
                </c:pt>
                <c:pt idx="7">
                  <c:v>57</c:v>
                </c:pt>
                <c:pt idx="8">
                  <c:v>58</c:v>
                </c:pt>
                <c:pt idx="9">
                  <c:v>59</c:v>
                </c:pt>
                <c:pt idx="10">
                  <c:v>60</c:v>
                </c:pt>
                <c:pt idx="11">
                  <c:v>61</c:v>
                </c:pt>
                <c:pt idx="12">
                  <c:v>62</c:v>
                </c:pt>
                <c:pt idx="13">
                  <c:v>63</c:v>
                </c:pt>
                <c:pt idx="14">
                  <c:v>64</c:v>
                </c:pt>
                <c:pt idx="15">
                  <c:v>65</c:v>
                </c:pt>
                <c:pt idx="16">
                  <c:v>66</c:v>
                </c:pt>
                <c:pt idx="17">
                  <c:v>67</c:v>
                </c:pt>
                <c:pt idx="18">
                  <c:v>68</c:v>
                </c:pt>
                <c:pt idx="19">
                  <c:v>69</c:v>
                </c:pt>
                <c:pt idx="20">
                  <c:v>70</c:v>
                </c:pt>
              </c:numCache>
            </c:numRef>
          </c:cat>
          <c:val>
            <c:numRef>
              <c:f>onecohort!$I$7:$I$27</c:f>
              <c:numCache>
                <c:formatCode>#,##0</c:formatCode>
                <c:ptCount val="21"/>
                <c:pt idx="0">
                  <c:v>100000</c:v>
                </c:pt>
                <c:pt idx="1">
                  <c:v>98264.65191</c:v>
                </c:pt>
                <c:pt idx="2">
                  <c:v>97367.690878467198</c:v>
                </c:pt>
                <c:pt idx="3">
                  <c:v>96478.129401770158</c:v>
                </c:pt>
                <c:pt idx="4">
                  <c:v>95523.874623093812</c:v>
                </c:pt>
                <c:pt idx="5">
                  <c:v>94480.153893731593</c:v>
                </c:pt>
                <c:pt idx="6">
                  <c:v>93340.528925356804</c:v>
                </c:pt>
                <c:pt idx="7">
                  <c:v>92095.413360770661</c:v>
                </c:pt>
                <c:pt idx="8">
                  <c:v>90744.105145426511</c:v>
                </c:pt>
                <c:pt idx="9">
                  <c:v>89301.613003305407</c:v>
                </c:pt>
                <c:pt idx="10">
                  <c:v>87769.090536159405</c:v>
                </c:pt>
                <c:pt idx="11">
                  <c:v>86152.138467208351</c:v>
                </c:pt>
                <c:pt idx="12">
                  <c:v>84465.239051166311</c:v>
                </c:pt>
                <c:pt idx="13">
                  <c:v>82710.031169589274</c:v>
                </c:pt>
                <c:pt idx="14">
                  <c:v>80909.69280939507</c:v>
                </c:pt>
                <c:pt idx="15">
                  <c:v>78340.802120998909</c:v>
                </c:pt>
                <c:pt idx="16">
                  <c:v>0</c:v>
                </c:pt>
                <c:pt idx="17">
                  <c:v>0</c:v>
                </c:pt>
                <c:pt idx="18">
                  <c:v>0</c:v>
                </c:pt>
                <c:pt idx="19">
                  <c:v>0</c:v>
                </c:pt>
                <c:pt idx="20">
                  <c:v>0</c:v>
                </c:pt>
              </c:numCache>
            </c:numRef>
          </c:val>
          <c:extLst>
            <c:ext xmlns:c16="http://schemas.microsoft.com/office/drawing/2014/chart" uri="{C3380CC4-5D6E-409C-BE32-E72D297353CC}">
              <c16:uniqueId val="{00000002-B058-4E0E-BA4E-17ED57060010}"/>
            </c:ext>
          </c:extLst>
        </c:ser>
        <c:ser>
          <c:idx val="1"/>
          <c:order val="1"/>
          <c:tx>
            <c:strRef>
              <c:f>onecohort!$J$6</c:f>
              <c:strCache>
                <c:ptCount val="1"/>
                <c:pt idx="0">
                  <c:v>retirees lives</c:v>
                </c:pt>
              </c:strCache>
            </c:strRef>
          </c:tx>
          <c:spPr>
            <a:solidFill>
              <a:schemeClr val="tx2">
                <a:lumMod val="40000"/>
                <a:lumOff val="60000"/>
              </a:schemeClr>
            </a:solidFill>
            <a:ln>
              <a:noFill/>
            </a:ln>
            <a:effectLst/>
          </c:spPr>
          <c:invertIfNegative val="0"/>
          <c:cat>
            <c:numRef>
              <c:f>onecohort!$E$7:$E$27</c:f>
              <c:numCache>
                <c:formatCode>General</c:formatCode>
                <c:ptCount val="21"/>
                <c:pt idx="0">
                  <c:v>50</c:v>
                </c:pt>
                <c:pt idx="1">
                  <c:v>51</c:v>
                </c:pt>
                <c:pt idx="2">
                  <c:v>52</c:v>
                </c:pt>
                <c:pt idx="3">
                  <c:v>53</c:v>
                </c:pt>
                <c:pt idx="4">
                  <c:v>54</c:v>
                </c:pt>
                <c:pt idx="5">
                  <c:v>55</c:v>
                </c:pt>
                <c:pt idx="6">
                  <c:v>56</c:v>
                </c:pt>
                <c:pt idx="7">
                  <c:v>57</c:v>
                </c:pt>
                <c:pt idx="8">
                  <c:v>58</c:v>
                </c:pt>
                <c:pt idx="9">
                  <c:v>59</c:v>
                </c:pt>
                <c:pt idx="10">
                  <c:v>60</c:v>
                </c:pt>
                <c:pt idx="11">
                  <c:v>61</c:v>
                </c:pt>
                <c:pt idx="12">
                  <c:v>62</c:v>
                </c:pt>
                <c:pt idx="13">
                  <c:v>63</c:v>
                </c:pt>
                <c:pt idx="14">
                  <c:v>64</c:v>
                </c:pt>
                <c:pt idx="15">
                  <c:v>65</c:v>
                </c:pt>
                <c:pt idx="16">
                  <c:v>66</c:v>
                </c:pt>
                <c:pt idx="17">
                  <c:v>67</c:v>
                </c:pt>
                <c:pt idx="18">
                  <c:v>68</c:v>
                </c:pt>
                <c:pt idx="19">
                  <c:v>69</c:v>
                </c:pt>
                <c:pt idx="20">
                  <c:v>70</c:v>
                </c:pt>
              </c:numCache>
            </c:numRef>
          </c:cat>
          <c:val>
            <c:numRef>
              <c:f>onecohort!$J$7:$J$27</c:f>
              <c:numCache>
                <c:formatCode>#,##0</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10364.282839331065</c:v>
                </c:pt>
                <c:pt idx="16">
                  <c:v>91525.0456024999</c:v>
                </c:pt>
                <c:pt idx="17">
                  <c:v>90705.71339426632</c:v>
                </c:pt>
                <c:pt idx="18">
                  <c:v>89810.357297351526</c:v>
                </c:pt>
                <c:pt idx="19">
                  <c:v>88842.471076757967</c:v>
                </c:pt>
                <c:pt idx="20">
                  <c:v>87806.567864002966</c:v>
                </c:pt>
              </c:numCache>
            </c:numRef>
          </c:val>
          <c:extLst>
            <c:ext xmlns:c16="http://schemas.microsoft.com/office/drawing/2014/chart" uri="{C3380CC4-5D6E-409C-BE32-E72D297353CC}">
              <c16:uniqueId val="{00000003-B058-4E0E-BA4E-17ED57060010}"/>
            </c:ext>
          </c:extLst>
        </c:ser>
        <c:ser>
          <c:idx val="2"/>
          <c:order val="2"/>
          <c:tx>
            <c:strRef>
              <c:f>onecohort!$K$6</c:f>
              <c:strCache>
                <c:ptCount val="1"/>
                <c:pt idx="0">
                  <c:v>not-healthy not-working lives</c:v>
                </c:pt>
              </c:strCache>
            </c:strRef>
          </c:tx>
          <c:spPr>
            <a:solidFill>
              <a:schemeClr val="accent3"/>
            </a:solidFill>
            <a:ln>
              <a:noFill/>
            </a:ln>
            <a:effectLst/>
          </c:spPr>
          <c:invertIfNegative val="0"/>
          <c:dLbls>
            <c:dLbl>
              <c:idx val="5"/>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B058-4E0E-BA4E-17ED57060010}"/>
                </c:ext>
              </c:extLst>
            </c:dLbl>
            <c:dLbl>
              <c:idx val="14"/>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B058-4E0E-BA4E-17ED57060010}"/>
                </c:ext>
              </c:extLst>
            </c:dLbl>
            <c:spPr>
              <a:noFill/>
              <a:ln>
                <a:noFill/>
              </a:ln>
              <a:effectLst/>
            </c:spPr>
            <c:txPr>
              <a:bodyPr rot="0" spcFirstLastPara="1" vertOverflow="ellipsis" vert="horz" wrap="square" anchor="ctr" anchorCtr="1"/>
              <a:lstStyle/>
              <a:p>
                <a:pPr>
                  <a:defRPr sz="1800" b="1" i="0" u="none" strike="noStrike" kern="1200" baseline="0">
                    <a:solidFill>
                      <a:schemeClr val="tx1"/>
                    </a:solidFill>
                    <a:latin typeface="+mn-lt"/>
                    <a:ea typeface="+mn-ea"/>
                    <a:cs typeface="+mn-cs"/>
                  </a:defRPr>
                </a:pPr>
                <a:endParaRPr lang="de-DE"/>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onecohort!$E$7:$E$27</c:f>
              <c:numCache>
                <c:formatCode>General</c:formatCode>
                <c:ptCount val="21"/>
                <c:pt idx="0">
                  <c:v>50</c:v>
                </c:pt>
                <c:pt idx="1">
                  <c:v>51</c:v>
                </c:pt>
                <c:pt idx="2">
                  <c:v>52</c:v>
                </c:pt>
                <c:pt idx="3">
                  <c:v>53</c:v>
                </c:pt>
                <c:pt idx="4">
                  <c:v>54</c:v>
                </c:pt>
                <c:pt idx="5">
                  <c:v>55</c:v>
                </c:pt>
                <c:pt idx="6">
                  <c:v>56</c:v>
                </c:pt>
                <c:pt idx="7">
                  <c:v>57</c:v>
                </c:pt>
                <c:pt idx="8">
                  <c:v>58</c:v>
                </c:pt>
                <c:pt idx="9">
                  <c:v>59</c:v>
                </c:pt>
                <c:pt idx="10">
                  <c:v>60</c:v>
                </c:pt>
                <c:pt idx="11">
                  <c:v>61</c:v>
                </c:pt>
                <c:pt idx="12">
                  <c:v>62</c:v>
                </c:pt>
                <c:pt idx="13">
                  <c:v>63</c:v>
                </c:pt>
                <c:pt idx="14">
                  <c:v>64</c:v>
                </c:pt>
                <c:pt idx="15">
                  <c:v>65</c:v>
                </c:pt>
                <c:pt idx="16">
                  <c:v>66</c:v>
                </c:pt>
                <c:pt idx="17">
                  <c:v>67</c:v>
                </c:pt>
                <c:pt idx="18">
                  <c:v>68</c:v>
                </c:pt>
                <c:pt idx="19">
                  <c:v>69</c:v>
                </c:pt>
                <c:pt idx="20">
                  <c:v>70</c:v>
                </c:pt>
              </c:numCache>
            </c:numRef>
          </c:cat>
          <c:val>
            <c:numRef>
              <c:f>onecohort!$K$7:$K$27</c:f>
              <c:numCache>
                <c:formatCode>#,##0</c:formatCode>
                <c:ptCount val="21"/>
                <c:pt idx="0">
                  <c:v>0</c:v>
                </c:pt>
                <c:pt idx="1">
                  <c:v>1500.7240449999999</c:v>
                </c:pt>
                <c:pt idx="2">
                  <c:v>2108.6426185128457</c:v>
                </c:pt>
                <c:pt idx="3">
                  <c:v>2675.8935968846586</c:v>
                </c:pt>
                <c:pt idx="4">
                  <c:v>3271.8383529083394</c:v>
                </c:pt>
                <c:pt idx="5">
                  <c:v>3915.5624075922769</c:v>
                </c:pt>
                <c:pt idx="6">
                  <c:v>4615.2115038079837</c:v>
                </c:pt>
                <c:pt idx="7">
                  <c:v>5372.9386644543065</c:v>
                </c:pt>
                <c:pt idx="8">
                  <c:v>6186.7822890505677</c:v>
                </c:pt>
                <c:pt idx="9">
                  <c:v>7051.6334429632088</c:v>
                </c:pt>
                <c:pt idx="10">
                  <c:v>7958.9787690281564</c:v>
                </c:pt>
                <c:pt idx="11">
                  <c:v>8896.8577153278366</c:v>
                </c:pt>
                <c:pt idx="12">
                  <c:v>9849.8917213954046</c:v>
                </c:pt>
                <c:pt idx="13">
                  <c:v>10799.994607482629</c:v>
                </c:pt>
                <c:pt idx="14">
                  <c:v>11727.125629180437</c:v>
                </c:pt>
                <c:pt idx="15">
                  <c:v>3213.4146363862806</c:v>
                </c:pt>
                <c:pt idx="16">
                  <c:v>0</c:v>
                </c:pt>
                <c:pt idx="17">
                  <c:v>0</c:v>
                </c:pt>
                <c:pt idx="18">
                  <c:v>0</c:v>
                </c:pt>
                <c:pt idx="19">
                  <c:v>0</c:v>
                </c:pt>
                <c:pt idx="20">
                  <c:v>0</c:v>
                </c:pt>
              </c:numCache>
            </c:numRef>
          </c:val>
          <c:extLst>
            <c:ext xmlns:c16="http://schemas.microsoft.com/office/drawing/2014/chart" uri="{C3380CC4-5D6E-409C-BE32-E72D297353CC}">
              <c16:uniqueId val="{00000006-B058-4E0E-BA4E-17ED57060010}"/>
            </c:ext>
          </c:extLst>
        </c:ser>
        <c:ser>
          <c:idx val="3"/>
          <c:order val="3"/>
          <c:tx>
            <c:strRef>
              <c:f>onecohort!$L$6</c:f>
              <c:strCache>
                <c:ptCount val="1"/>
                <c:pt idx="0">
                  <c:v>dead lives</c:v>
                </c:pt>
              </c:strCache>
            </c:strRef>
          </c:tx>
          <c:spPr>
            <a:solidFill>
              <a:schemeClr val="accent6"/>
            </a:solidFill>
            <a:ln>
              <a:noFill/>
            </a:ln>
            <a:effectLst/>
          </c:spPr>
          <c:invertIfNegative val="0"/>
          <c:cat>
            <c:numRef>
              <c:f>onecohort!$E$7:$E$27</c:f>
              <c:numCache>
                <c:formatCode>General</c:formatCode>
                <c:ptCount val="21"/>
                <c:pt idx="0">
                  <c:v>50</c:v>
                </c:pt>
                <c:pt idx="1">
                  <c:v>51</c:v>
                </c:pt>
                <c:pt idx="2">
                  <c:v>52</c:v>
                </c:pt>
                <c:pt idx="3">
                  <c:v>53</c:v>
                </c:pt>
                <c:pt idx="4">
                  <c:v>54</c:v>
                </c:pt>
                <c:pt idx="5">
                  <c:v>55</c:v>
                </c:pt>
                <c:pt idx="6">
                  <c:v>56</c:v>
                </c:pt>
                <c:pt idx="7">
                  <c:v>57</c:v>
                </c:pt>
                <c:pt idx="8">
                  <c:v>58</c:v>
                </c:pt>
                <c:pt idx="9">
                  <c:v>59</c:v>
                </c:pt>
                <c:pt idx="10">
                  <c:v>60</c:v>
                </c:pt>
                <c:pt idx="11">
                  <c:v>61</c:v>
                </c:pt>
                <c:pt idx="12">
                  <c:v>62</c:v>
                </c:pt>
                <c:pt idx="13">
                  <c:v>63</c:v>
                </c:pt>
                <c:pt idx="14">
                  <c:v>64</c:v>
                </c:pt>
                <c:pt idx="15">
                  <c:v>65</c:v>
                </c:pt>
                <c:pt idx="16">
                  <c:v>66</c:v>
                </c:pt>
                <c:pt idx="17">
                  <c:v>67</c:v>
                </c:pt>
                <c:pt idx="18">
                  <c:v>68</c:v>
                </c:pt>
                <c:pt idx="19">
                  <c:v>69</c:v>
                </c:pt>
                <c:pt idx="20">
                  <c:v>70</c:v>
                </c:pt>
              </c:numCache>
            </c:numRef>
          </c:cat>
          <c:val>
            <c:numRef>
              <c:f>onecohort!$L$7:$L$27</c:f>
              <c:numCache>
                <c:formatCode>#,##0</c:formatCode>
                <c:ptCount val="21"/>
                <c:pt idx="0">
                  <c:v>0</c:v>
                </c:pt>
                <c:pt idx="1">
                  <c:v>234.62404500000002</c:v>
                </c:pt>
                <c:pt idx="2">
                  <c:v>523.66650301995924</c:v>
                </c:pt>
                <c:pt idx="3">
                  <c:v>845.97700134518311</c:v>
                </c:pt>
                <c:pt idx="4">
                  <c:v>1204.2870239978458</c:v>
                </c:pt>
                <c:pt idx="5">
                  <c:v>1604.2836986761447</c:v>
                </c:pt>
                <c:pt idx="6">
                  <c:v>2044.2595708352194</c:v>
                </c:pt>
                <c:pt idx="7">
                  <c:v>2531.64797477505</c:v>
                </c:pt>
                <c:pt idx="8">
                  <c:v>3069.1125655229439</c:v>
                </c:pt>
                <c:pt idx="9">
                  <c:v>3646.7535537314097</c:v>
                </c:pt>
                <c:pt idx="10">
                  <c:v>4271.9306948124513</c:v>
                </c:pt>
                <c:pt idx="11">
                  <c:v>4951.0038174638294</c:v>
                </c:pt>
                <c:pt idx="12">
                  <c:v>5684.8692274383002</c:v>
                </c:pt>
                <c:pt idx="13">
                  <c:v>6489.9742229281155</c:v>
                </c:pt>
                <c:pt idx="14">
                  <c:v>7363.1815614245052</c:v>
                </c:pt>
                <c:pt idx="15">
                  <c:v>8081.5004032837633</c:v>
                </c:pt>
                <c:pt idx="16">
                  <c:v>8474.9543975001179</c:v>
                </c:pt>
                <c:pt idx="17">
                  <c:v>9294.2866057336978</c:v>
                </c:pt>
                <c:pt idx="18">
                  <c:v>10189.6427026485</c:v>
                </c:pt>
                <c:pt idx="19">
                  <c:v>11157.528923242056</c:v>
                </c:pt>
                <c:pt idx="20">
                  <c:v>12193.432135997055</c:v>
                </c:pt>
              </c:numCache>
            </c:numRef>
          </c:val>
          <c:extLst>
            <c:ext xmlns:c16="http://schemas.microsoft.com/office/drawing/2014/chart" uri="{C3380CC4-5D6E-409C-BE32-E72D297353CC}">
              <c16:uniqueId val="{00000007-B058-4E0E-BA4E-17ED57060010}"/>
            </c:ext>
          </c:extLst>
        </c:ser>
        <c:dLbls>
          <c:showLegendKey val="0"/>
          <c:showVal val="0"/>
          <c:showCatName val="0"/>
          <c:showSerName val="0"/>
          <c:showPercent val="0"/>
          <c:showBubbleSize val="0"/>
        </c:dLbls>
        <c:gapWidth val="20"/>
        <c:overlap val="100"/>
        <c:axId val="639612704"/>
        <c:axId val="612995792"/>
      </c:barChart>
      <c:catAx>
        <c:axId val="639612704"/>
        <c:scaling>
          <c:orientation val="minMax"/>
        </c:scaling>
        <c:delete val="0"/>
        <c:axPos val="b"/>
        <c:title>
          <c:tx>
            <c:rich>
              <a:bodyPr rot="0" spcFirstLastPara="1" vertOverflow="ellipsis" vert="horz" wrap="square" anchor="ctr" anchorCtr="1"/>
              <a:lstStyle/>
              <a:p>
                <a:pPr>
                  <a:defRPr sz="1800" b="0" i="0" u="none" strike="noStrike" kern="1200" baseline="0">
                    <a:solidFill>
                      <a:schemeClr val="tx1"/>
                    </a:solidFill>
                    <a:latin typeface="+mn-lt"/>
                    <a:ea typeface="+mn-ea"/>
                    <a:cs typeface="+mn-cs"/>
                  </a:defRPr>
                </a:pPr>
                <a:r>
                  <a:rPr lang="de-CH" dirty="0"/>
                  <a:t>Exact Age</a:t>
                </a:r>
              </a:p>
            </c:rich>
          </c:tx>
          <c:overlay val="0"/>
          <c:spPr>
            <a:noFill/>
            <a:ln>
              <a:noFill/>
            </a:ln>
            <a:effectLst/>
          </c:spPr>
          <c:txPr>
            <a:bodyPr rot="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de-DE"/>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de-DE"/>
          </a:p>
        </c:txPr>
        <c:crossAx val="612995792"/>
        <c:crosses val="autoZero"/>
        <c:auto val="1"/>
        <c:lblAlgn val="ctr"/>
        <c:lblOffset val="100"/>
        <c:tickLblSkip val="5"/>
        <c:noMultiLvlLbl val="0"/>
      </c:catAx>
      <c:valAx>
        <c:axId val="612995792"/>
        <c:scaling>
          <c:orientation val="minMax"/>
          <c:max val="10000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de-DE"/>
          </a:p>
        </c:txPr>
        <c:crossAx val="639612704"/>
        <c:crosses val="autoZero"/>
        <c:crossBetween val="between"/>
        <c:majorUnit val="20000"/>
      </c:valAx>
      <c:spPr>
        <a:noFill/>
        <a:ln>
          <a:noFill/>
        </a:ln>
        <a:effectLst/>
      </c:spPr>
    </c:plotArea>
    <c:legend>
      <c:legendPos val="t"/>
      <c:layout>
        <c:manualLayout>
          <c:xMode val="edge"/>
          <c:yMode val="edge"/>
          <c:x val="0.14225520290972482"/>
          <c:y val="0.25124178217352156"/>
          <c:w val="0.69195826275819106"/>
          <c:h val="0.14346291792060023"/>
        </c:manualLayout>
      </c:layout>
      <c:overlay val="1"/>
      <c:spPr>
        <a:solidFill>
          <a:schemeClr val="bg1">
            <a:lumMod val="95000"/>
          </a:schemeClr>
        </a:solidFill>
        <a:ln>
          <a:noFill/>
        </a:ln>
        <a:effectLst/>
      </c:spPr>
      <c:txPr>
        <a:bodyPr rot="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a:solidFill>
            <a:schemeClr val="tx1"/>
          </a:solidFill>
        </a:defRPr>
      </a:pPr>
      <a:endParaRPr lang="de-DE"/>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537270341207349"/>
          <c:y val="5.0925925925925923E-2"/>
          <c:w val="0.84407174103237093"/>
          <c:h val="0.79016987459900845"/>
        </c:manualLayout>
      </c:layout>
      <c:barChart>
        <c:barDir val="col"/>
        <c:grouping val="stacked"/>
        <c:varyColors val="0"/>
        <c:ser>
          <c:idx val="2"/>
          <c:order val="0"/>
          <c:tx>
            <c:strRef>
              <c:f>HWP_results!$C$12</c:f>
              <c:strCache>
                <c:ptCount val="1"/>
              </c:strCache>
            </c:strRef>
          </c:tx>
          <c:spPr>
            <a:noFill/>
            <a:ln>
              <a:noFill/>
            </a:ln>
            <a:effectLst/>
          </c:spPr>
          <c:invertIfNegative val="0"/>
          <c:cat>
            <c:numRef>
              <c:f>HWP_results!$B$13:$B$17</c:f>
              <c:numCache>
                <c:formatCode>General</c:formatCode>
                <c:ptCount val="5"/>
                <c:pt idx="0">
                  <c:v>20</c:v>
                </c:pt>
                <c:pt idx="1">
                  <c:v>30</c:v>
                </c:pt>
                <c:pt idx="2">
                  <c:v>40</c:v>
                </c:pt>
                <c:pt idx="3">
                  <c:v>50</c:v>
                </c:pt>
                <c:pt idx="4">
                  <c:v>60</c:v>
                </c:pt>
              </c:numCache>
            </c:numRef>
          </c:cat>
          <c:val>
            <c:numRef>
              <c:f>HWP_results!$C$13:$C$17</c:f>
              <c:numCache>
                <c:formatCode>General</c:formatCode>
                <c:ptCount val="5"/>
                <c:pt idx="0">
                  <c:v>20</c:v>
                </c:pt>
                <c:pt idx="1">
                  <c:v>30</c:v>
                </c:pt>
                <c:pt idx="2">
                  <c:v>40</c:v>
                </c:pt>
                <c:pt idx="3">
                  <c:v>50</c:v>
                </c:pt>
                <c:pt idx="4">
                  <c:v>60</c:v>
                </c:pt>
              </c:numCache>
            </c:numRef>
          </c:val>
          <c:extLst>
            <c:ext xmlns:c16="http://schemas.microsoft.com/office/drawing/2014/chart" uri="{C3380CC4-5D6E-409C-BE32-E72D297353CC}">
              <c16:uniqueId val="{00000000-3262-4178-A0AC-29643A22E68A}"/>
            </c:ext>
          </c:extLst>
        </c:ser>
        <c:ser>
          <c:idx val="0"/>
          <c:order val="1"/>
          <c:tx>
            <c:strRef>
              <c:f>HWP_results!$D$3</c:f>
              <c:strCache>
                <c:ptCount val="1"/>
                <c:pt idx="0">
                  <c:v>Healthy Working Life Expectancy</c:v>
                </c:pt>
              </c:strCache>
            </c:strRef>
          </c:tx>
          <c:spPr>
            <a:solidFill>
              <a:schemeClr val="accent5"/>
            </a:solidFill>
            <a:ln>
              <a:noFill/>
            </a:ln>
            <a:effectLst/>
          </c:spPr>
          <c:invertIfNegative val="0"/>
          <c:dLbls>
            <c:spPr>
              <a:noFill/>
              <a:ln>
                <a:noFill/>
              </a:ln>
              <a:effectLst/>
            </c:spPr>
            <c:txPr>
              <a:bodyPr rot="0" spcFirstLastPara="1" vertOverflow="ellipsis" vert="horz" wrap="square" anchor="ctr" anchorCtr="1"/>
              <a:lstStyle/>
              <a:p>
                <a:pPr>
                  <a:defRPr sz="1800" b="1" i="0" u="none" strike="noStrike" kern="1200" baseline="0">
                    <a:solidFill>
                      <a:schemeClr val="tx1">
                        <a:lumMod val="75000"/>
                        <a:lumOff val="25000"/>
                      </a:schemeClr>
                    </a:solidFill>
                    <a:latin typeface="+mn-lt"/>
                    <a:ea typeface="+mn-ea"/>
                    <a:cs typeface="+mn-cs"/>
                  </a:defRPr>
                </a:pPr>
                <a:endParaRPr lang="de-DE"/>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HWP_results!$B$13:$B$17</c:f>
              <c:numCache>
                <c:formatCode>General</c:formatCode>
                <c:ptCount val="5"/>
                <c:pt idx="0">
                  <c:v>20</c:v>
                </c:pt>
                <c:pt idx="1">
                  <c:v>30</c:v>
                </c:pt>
                <c:pt idx="2">
                  <c:v>40</c:v>
                </c:pt>
                <c:pt idx="3">
                  <c:v>50</c:v>
                </c:pt>
                <c:pt idx="4">
                  <c:v>60</c:v>
                </c:pt>
              </c:numCache>
            </c:numRef>
          </c:cat>
          <c:val>
            <c:numRef>
              <c:f>HWP_results!$D$13:$D$17</c:f>
              <c:numCache>
                <c:formatCode>General</c:formatCode>
                <c:ptCount val="5"/>
                <c:pt idx="0">
                  <c:v>42.4</c:v>
                </c:pt>
                <c:pt idx="1">
                  <c:v>32.6</c:v>
                </c:pt>
                <c:pt idx="2">
                  <c:v>22.9</c:v>
                </c:pt>
                <c:pt idx="3">
                  <c:v>13.5</c:v>
                </c:pt>
                <c:pt idx="4">
                  <c:v>4.5999999999999996</c:v>
                </c:pt>
              </c:numCache>
            </c:numRef>
          </c:val>
          <c:extLst>
            <c:ext xmlns:c16="http://schemas.microsoft.com/office/drawing/2014/chart" uri="{C3380CC4-5D6E-409C-BE32-E72D297353CC}">
              <c16:uniqueId val="{00000001-3262-4178-A0AC-29643A22E68A}"/>
            </c:ext>
          </c:extLst>
        </c:ser>
        <c:ser>
          <c:idx val="1"/>
          <c:order val="2"/>
          <c:tx>
            <c:strRef>
              <c:f>HWP_results!$E$3</c:f>
              <c:strCache>
                <c:ptCount val="1"/>
                <c:pt idx="0">
                  <c:v>NHNW Life Expectancy</c:v>
                </c:pt>
              </c:strCache>
            </c:strRef>
          </c:tx>
          <c:spPr>
            <a:solidFill>
              <a:schemeClr val="accent3"/>
            </a:solidFill>
            <a:ln>
              <a:noFill/>
            </a:ln>
            <a:effectLst/>
          </c:spPr>
          <c:invertIfNegative val="0"/>
          <c:dLbls>
            <c:numFmt formatCode="#,##0.0" sourceLinked="0"/>
            <c:spPr>
              <a:noFill/>
              <a:ln>
                <a:noFill/>
              </a:ln>
              <a:effectLst/>
            </c:spPr>
            <c:txPr>
              <a:bodyPr rot="0" spcFirstLastPara="1" vertOverflow="ellipsis" vert="horz" wrap="square" anchor="ctr" anchorCtr="1"/>
              <a:lstStyle/>
              <a:p>
                <a:pPr>
                  <a:defRPr sz="1800" b="1" i="0" u="none" strike="noStrike" kern="1200" baseline="0">
                    <a:solidFill>
                      <a:schemeClr val="tx1">
                        <a:lumMod val="75000"/>
                        <a:lumOff val="25000"/>
                      </a:schemeClr>
                    </a:solidFill>
                    <a:latin typeface="+mn-lt"/>
                    <a:ea typeface="+mn-ea"/>
                    <a:cs typeface="+mn-cs"/>
                  </a:defRPr>
                </a:pPr>
                <a:endParaRPr lang="de-DE"/>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HWP_results!$B$13:$B$17</c:f>
              <c:numCache>
                <c:formatCode>General</c:formatCode>
                <c:ptCount val="5"/>
                <c:pt idx="0">
                  <c:v>20</c:v>
                </c:pt>
                <c:pt idx="1">
                  <c:v>30</c:v>
                </c:pt>
                <c:pt idx="2">
                  <c:v>40</c:v>
                </c:pt>
                <c:pt idx="3">
                  <c:v>50</c:v>
                </c:pt>
                <c:pt idx="4">
                  <c:v>60</c:v>
                </c:pt>
              </c:numCache>
            </c:numRef>
          </c:cat>
          <c:val>
            <c:numRef>
              <c:f>HWP_results!$E$13:$E$17</c:f>
              <c:numCache>
                <c:formatCode>General</c:formatCode>
                <c:ptCount val="5"/>
                <c:pt idx="0">
                  <c:v>1.3</c:v>
                </c:pt>
                <c:pt idx="1">
                  <c:v>1.25</c:v>
                </c:pt>
                <c:pt idx="2">
                  <c:v>1.1599999999999999</c:v>
                </c:pt>
                <c:pt idx="3">
                  <c:v>0.91</c:v>
                </c:pt>
                <c:pt idx="4">
                  <c:v>0.28000000000000003</c:v>
                </c:pt>
              </c:numCache>
            </c:numRef>
          </c:val>
          <c:extLst>
            <c:ext xmlns:c16="http://schemas.microsoft.com/office/drawing/2014/chart" uri="{C3380CC4-5D6E-409C-BE32-E72D297353CC}">
              <c16:uniqueId val="{00000002-3262-4178-A0AC-29643A22E68A}"/>
            </c:ext>
          </c:extLst>
        </c:ser>
        <c:dLbls>
          <c:showLegendKey val="0"/>
          <c:showVal val="0"/>
          <c:showCatName val="0"/>
          <c:showSerName val="0"/>
          <c:showPercent val="0"/>
          <c:showBubbleSize val="0"/>
        </c:dLbls>
        <c:gapWidth val="100"/>
        <c:overlap val="100"/>
        <c:axId val="809095680"/>
        <c:axId val="613137872"/>
      </c:barChart>
      <c:catAx>
        <c:axId val="809095680"/>
        <c:scaling>
          <c:orientation val="minMax"/>
        </c:scaling>
        <c:delete val="0"/>
        <c:axPos val="b"/>
        <c:title>
          <c:tx>
            <c:rich>
              <a:bodyPr rot="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r>
                  <a:rPr lang="de-CH"/>
                  <a:t>Starting Age</a:t>
                </a:r>
              </a:p>
            </c:rich>
          </c:tx>
          <c:layout>
            <c:manualLayout>
              <c:xMode val="edge"/>
              <c:yMode val="edge"/>
              <c:x val="0.43816535433070863"/>
              <c:y val="0.92497666958296876"/>
            </c:manualLayout>
          </c:layout>
          <c:overlay val="0"/>
          <c:spPr>
            <a:noFill/>
            <a:ln>
              <a:noFill/>
            </a:ln>
            <a:effectLst/>
          </c:spPr>
          <c:txPr>
            <a:bodyPr rot="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de-DE"/>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de-DE"/>
          </a:p>
        </c:txPr>
        <c:crossAx val="613137872"/>
        <c:crosses val="autoZero"/>
        <c:auto val="1"/>
        <c:lblAlgn val="ctr"/>
        <c:lblOffset val="100"/>
        <c:noMultiLvlLbl val="0"/>
      </c:catAx>
      <c:valAx>
        <c:axId val="613137872"/>
        <c:scaling>
          <c:orientation val="minMax"/>
          <c:max val="65"/>
          <c:min val="2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r>
                  <a:rPr lang="de-CH"/>
                  <a:t>age</a:t>
                </a:r>
              </a:p>
            </c:rich>
          </c:tx>
          <c:layout>
            <c:manualLayout>
              <c:xMode val="edge"/>
              <c:yMode val="edge"/>
              <c:x val="2.7777777777777779E-3"/>
              <c:y val="0.3029782735491397"/>
            </c:manualLayout>
          </c:layout>
          <c:overlay val="0"/>
          <c:spPr>
            <a:noFill/>
            <a:ln>
              <a:noFill/>
            </a:ln>
            <a:effectLst/>
          </c:spPr>
          <c:txPr>
            <a:bodyPr rot="-540000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de-DE"/>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de-DE"/>
          </a:p>
        </c:txPr>
        <c:crossAx val="809095680"/>
        <c:crosses val="autoZero"/>
        <c:crossBetween val="between"/>
        <c:majorUnit val="10"/>
      </c:valAx>
      <c:spPr>
        <a:noFill/>
        <a:ln>
          <a:noFill/>
        </a:ln>
        <a:effectLst/>
      </c:spPr>
    </c:plotArea>
    <c:legend>
      <c:legendPos val="t"/>
      <c:layout>
        <c:manualLayout>
          <c:xMode val="edge"/>
          <c:yMode val="edge"/>
          <c:x val="0.5255073157291803"/>
          <c:y val="0.51311056941663302"/>
          <c:w val="0.46060381955018059"/>
          <c:h val="0.31079574137288041"/>
        </c:manualLayout>
      </c:layout>
      <c:overlay val="1"/>
      <c:spPr>
        <a:solidFill>
          <a:schemeClr val="bg1">
            <a:lumMod val="95000"/>
          </a:schemeClr>
        </a:solidFill>
        <a:ln>
          <a:noFill/>
        </a:ln>
        <a:effectLst/>
      </c:spPr>
      <c:txPr>
        <a:bodyPr rot="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b="1"/>
      </a:pPr>
      <a:endParaRPr lang="de-DE"/>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537270341207349"/>
          <c:y val="5.0925925925925923E-2"/>
          <c:w val="0.84407174103237093"/>
          <c:h val="0.79016987459900845"/>
        </c:manualLayout>
      </c:layout>
      <c:barChart>
        <c:barDir val="col"/>
        <c:grouping val="stacked"/>
        <c:varyColors val="0"/>
        <c:ser>
          <c:idx val="2"/>
          <c:order val="0"/>
          <c:tx>
            <c:strRef>
              <c:f>HWP_results!$C$12</c:f>
              <c:strCache>
                <c:ptCount val="1"/>
              </c:strCache>
            </c:strRef>
          </c:tx>
          <c:spPr>
            <a:noFill/>
            <a:ln>
              <a:noFill/>
            </a:ln>
            <a:effectLst/>
          </c:spPr>
          <c:invertIfNegative val="0"/>
          <c:cat>
            <c:numRef>
              <c:f>HWP_results!$B$13:$B$17</c:f>
              <c:numCache>
                <c:formatCode>General</c:formatCode>
                <c:ptCount val="5"/>
                <c:pt idx="0">
                  <c:v>20</c:v>
                </c:pt>
                <c:pt idx="1">
                  <c:v>30</c:v>
                </c:pt>
                <c:pt idx="2">
                  <c:v>40</c:v>
                </c:pt>
                <c:pt idx="3">
                  <c:v>50</c:v>
                </c:pt>
                <c:pt idx="4">
                  <c:v>60</c:v>
                </c:pt>
              </c:numCache>
            </c:numRef>
          </c:cat>
          <c:val>
            <c:numRef>
              <c:f>HWP_results!$C$13:$C$17</c:f>
              <c:numCache>
                <c:formatCode>General</c:formatCode>
                <c:ptCount val="5"/>
                <c:pt idx="0">
                  <c:v>20</c:v>
                </c:pt>
                <c:pt idx="1">
                  <c:v>30</c:v>
                </c:pt>
                <c:pt idx="2">
                  <c:v>40</c:v>
                </c:pt>
                <c:pt idx="3">
                  <c:v>50</c:v>
                </c:pt>
                <c:pt idx="4">
                  <c:v>60</c:v>
                </c:pt>
              </c:numCache>
            </c:numRef>
          </c:val>
          <c:extLst>
            <c:ext xmlns:c16="http://schemas.microsoft.com/office/drawing/2014/chart" uri="{C3380CC4-5D6E-409C-BE32-E72D297353CC}">
              <c16:uniqueId val="{00000000-0E0F-467C-BBB7-CFDE68E94476}"/>
            </c:ext>
          </c:extLst>
        </c:ser>
        <c:ser>
          <c:idx val="0"/>
          <c:order val="1"/>
          <c:tx>
            <c:strRef>
              <c:f>HWP_results!$F$3</c:f>
              <c:strCache>
                <c:ptCount val="1"/>
                <c:pt idx="0">
                  <c:v>Healthy Working Life Expectancy</c:v>
                </c:pt>
              </c:strCache>
            </c:strRef>
          </c:tx>
          <c:spPr>
            <a:solidFill>
              <a:schemeClr val="accent5"/>
            </a:solidFill>
            <a:ln>
              <a:noFill/>
            </a:ln>
            <a:effectLst/>
          </c:spPr>
          <c:invertIfNegative val="0"/>
          <c:dLbls>
            <c:spPr>
              <a:noFill/>
              <a:ln>
                <a:noFill/>
              </a:ln>
              <a:effectLst/>
            </c:spPr>
            <c:txPr>
              <a:bodyPr rot="0" spcFirstLastPara="1" vertOverflow="ellipsis" vert="horz" wrap="square" anchor="ctr" anchorCtr="1"/>
              <a:lstStyle/>
              <a:p>
                <a:pPr>
                  <a:defRPr sz="1800" b="1" i="0" u="none" strike="noStrike" kern="1200" baseline="0">
                    <a:solidFill>
                      <a:schemeClr val="tx1">
                        <a:lumMod val="75000"/>
                        <a:lumOff val="25000"/>
                      </a:schemeClr>
                    </a:solidFill>
                    <a:latin typeface="+mn-lt"/>
                    <a:ea typeface="+mn-ea"/>
                    <a:cs typeface="+mn-cs"/>
                  </a:defRPr>
                </a:pPr>
                <a:endParaRPr lang="de-DE"/>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HWP_results!$B$13:$B$17</c:f>
              <c:numCache>
                <c:formatCode>General</c:formatCode>
                <c:ptCount val="5"/>
                <c:pt idx="0">
                  <c:v>20</c:v>
                </c:pt>
                <c:pt idx="1">
                  <c:v>30</c:v>
                </c:pt>
                <c:pt idx="2">
                  <c:v>40</c:v>
                </c:pt>
                <c:pt idx="3">
                  <c:v>50</c:v>
                </c:pt>
                <c:pt idx="4">
                  <c:v>60</c:v>
                </c:pt>
              </c:numCache>
            </c:numRef>
          </c:cat>
          <c:val>
            <c:numRef>
              <c:f>HWP_results!$F$13:$F$17</c:f>
              <c:numCache>
                <c:formatCode>General</c:formatCode>
                <c:ptCount val="5"/>
                <c:pt idx="0">
                  <c:v>42.2</c:v>
                </c:pt>
                <c:pt idx="1">
                  <c:v>32.5</c:v>
                </c:pt>
                <c:pt idx="2">
                  <c:v>23</c:v>
                </c:pt>
                <c:pt idx="3">
                  <c:v>13.7</c:v>
                </c:pt>
                <c:pt idx="4">
                  <c:v>4.7</c:v>
                </c:pt>
              </c:numCache>
            </c:numRef>
          </c:val>
          <c:extLst>
            <c:ext xmlns:c16="http://schemas.microsoft.com/office/drawing/2014/chart" uri="{C3380CC4-5D6E-409C-BE32-E72D297353CC}">
              <c16:uniqueId val="{00000001-0E0F-467C-BBB7-CFDE68E94476}"/>
            </c:ext>
          </c:extLst>
        </c:ser>
        <c:ser>
          <c:idx val="1"/>
          <c:order val="2"/>
          <c:tx>
            <c:strRef>
              <c:f>HWP_results!$G$3</c:f>
              <c:strCache>
                <c:ptCount val="1"/>
                <c:pt idx="0">
                  <c:v>NHNW Life Expectancy</c:v>
                </c:pt>
              </c:strCache>
            </c:strRef>
          </c:tx>
          <c:spPr>
            <a:solidFill>
              <a:schemeClr val="accent3"/>
            </a:solidFill>
            <a:ln>
              <a:noFill/>
            </a:ln>
            <a:effectLst/>
          </c:spPr>
          <c:invertIfNegative val="0"/>
          <c:dLbls>
            <c:numFmt formatCode="#,##0.0" sourceLinked="0"/>
            <c:spPr>
              <a:noFill/>
              <a:ln>
                <a:noFill/>
              </a:ln>
              <a:effectLst/>
            </c:spPr>
            <c:txPr>
              <a:bodyPr rot="0" spcFirstLastPara="1" vertOverflow="ellipsis" vert="horz" wrap="square" anchor="ctr" anchorCtr="1"/>
              <a:lstStyle/>
              <a:p>
                <a:pPr>
                  <a:defRPr sz="1800" b="1" i="0" u="none" strike="noStrike" kern="1200" baseline="0">
                    <a:solidFill>
                      <a:schemeClr val="tx1">
                        <a:lumMod val="75000"/>
                        <a:lumOff val="25000"/>
                      </a:schemeClr>
                    </a:solidFill>
                    <a:latin typeface="+mn-lt"/>
                    <a:ea typeface="+mn-ea"/>
                    <a:cs typeface="+mn-cs"/>
                  </a:defRPr>
                </a:pPr>
                <a:endParaRPr lang="de-DE"/>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HWP_results!$B$13:$B$17</c:f>
              <c:numCache>
                <c:formatCode>General</c:formatCode>
                <c:ptCount val="5"/>
                <c:pt idx="0">
                  <c:v>20</c:v>
                </c:pt>
                <c:pt idx="1">
                  <c:v>30</c:v>
                </c:pt>
                <c:pt idx="2">
                  <c:v>40</c:v>
                </c:pt>
                <c:pt idx="3">
                  <c:v>50</c:v>
                </c:pt>
                <c:pt idx="4">
                  <c:v>60</c:v>
                </c:pt>
              </c:numCache>
            </c:numRef>
          </c:cat>
          <c:val>
            <c:numRef>
              <c:f>HWP_results!$G$13:$G$17</c:f>
              <c:numCache>
                <c:formatCode>General</c:formatCode>
                <c:ptCount val="5"/>
                <c:pt idx="0">
                  <c:v>0.9</c:v>
                </c:pt>
                <c:pt idx="1">
                  <c:v>0.84</c:v>
                </c:pt>
                <c:pt idx="2">
                  <c:v>0.75</c:v>
                </c:pt>
                <c:pt idx="3">
                  <c:v>0.56000000000000005</c:v>
                </c:pt>
                <c:pt idx="4">
                  <c:v>0.16</c:v>
                </c:pt>
              </c:numCache>
            </c:numRef>
          </c:val>
          <c:extLst>
            <c:ext xmlns:c16="http://schemas.microsoft.com/office/drawing/2014/chart" uri="{C3380CC4-5D6E-409C-BE32-E72D297353CC}">
              <c16:uniqueId val="{00000002-0E0F-467C-BBB7-CFDE68E94476}"/>
            </c:ext>
          </c:extLst>
        </c:ser>
        <c:dLbls>
          <c:showLegendKey val="0"/>
          <c:showVal val="0"/>
          <c:showCatName val="0"/>
          <c:showSerName val="0"/>
          <c:showPercent val="0"/>
          <c:showBubbleSize val="0"/>
        </c:dLbls>
        <c:gapWidth val="100"/>
        <c:overlap val="100"/>
        <c:axId val="809095680"/>
        <c:axId val="613137872"/>
      </c:barChart>
      <c:catAx>
        <c:axId val="809095680"/>
        <c:scaling>
          <c:orientation val="minMax"/>
        </c:scaling>
        <c:delete val="0"/>
        <c:axPos val="b"/>
        <c:title>
          <c:tx>
            <c:rich>
              <a:bodyPr rot="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r>
                  <a:rPr lang="de-CH"/>
                  <a:t>Starting Age</a:t>
                </a:r>
              </a:p>
            </c:rich>
          </c:tx>
          <c:layout>
            <c:manualLayout>
              <c:xMode val="edge"/>
              <c:yMode val="edge"/>
              <c:x val="0.43816535433070863"/>
              <c:y val="0.92497666958296876"/>
            </c:manualLayout>
          </c:layout>
          <c:overlay val="0"/>
          <c:spPr>
            <a:noFill/>
            <a:ln>
              <a:noFill/>
            </a:ln>
            <a:effectLst/>
          </c:spPr>
          <c:txPr>
            <a:bodyPr rot="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de-DE"/>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de-DE"/>
          </a:p>
        </c:txPr>
        <c:crossAx val="613137872"/>
        <c:crosses val="autoZero"/>
        <c:auto val="1"/>
        <c:lblAlgn val="ctr"/>
        <c:lblOffset val="100"/>
        <c:noMultiLvlLbl val="0"/>
      </c:catAx>
      <c:valAx>
        <c:axId val="613137872"/>
        <c:scaling>
          <c:orientation val="minMax"/>
          <c:max val="65"/>
          <c:min val="2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r>
                  <a:rPr lang="de-CH"/>
                  <a:t>age</a:t>
                </a:r>
              </a:p>
            </c:rich>
          </c:tx>
          <c:layout>
            <c:manualLayout>
              <c:xMode val="edge"/>
              <c:yMode val="edge"/>
              <c:x val="2.7777777777777779E-3"/>
              <c:y val="0.3029782735491397"/>
            </c:manualLayout>
          </c:layout>
          <c:overlay val="0"/>
          <c:spPr>
            <a:noFill/>
            <a:ln>
              <a:noFill/>
            </a:ln>
            <a:effectLst/>
          </c:spPr>
          <c:txPr>
            <a:bodyPr rot="-540000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de-DE"/>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de-DE"/>
          </a:p>
        </c:txPr>
        <c:crossAx val="809095680"/>
        <c:crosses val="autoZero"/>
        <c:crossBetween val="between"/>
        <c:majorUnit val="10"/>
      </c:valAx>
      <c:spPr>
        <a:noFill/>
        <a:ln>
          <a:noFill/>
        </a:ln>
        <a:effectLst/>
      </c:spPr>
    </c:plotArea>
    <c:legend>
      <c:legendPos val="t"/>
      <c:layout>
        <c:manualLayout>
          <c:xMode val="edge"/>
          <c:yMode val="edge"/>
          <c:x val="0.5255073157291803"/>
          <c:y val="0.51311056941663302"/>
          <c:w val="0.46060381955018059"/>
          <c:h val="0.29916445214246512"/>
        </c:manualLayout>
      </c:layout>
      <c:overlay val="1"/>
      <c:spPr>
        <a:solidFill>
          <a:schemeClr val="bg1">
            <a:lumMod val="95000"/>
          </a:schemeClr>
        </a:solidFill>
        <a:ln>
          <a:noFill/>
        </a:ln>
        <a:effectLst/>
      </c:spPr>
      <c:txPr>
        <a:bodyPr rot="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b="1"/>
      </a:pPr>
      <a:endParaRPr lang="de-D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modernComment_102_BD741A49.xml><?xml version="1.0" encoding="utf-8"?>
<p188:cmLst xmlns:a="http://schemas.openxmlformats.org/drawingml/2006/main" xmlns:r="http://schemas.openxmlformats.org/officeDocument/2006/relationships" xmlns:p188="http://schemas.microsoft.com/office/powerpoint/2018/8/main">
  <p188:cm id="{4BBC085B-4516-4513-8E2E-7E5841A3D34B}" authorId="{3B42823D-FC15-489F-A24B-AD7901105553}" created="2026-10-13T17:00:00">
    <pc:sldMkLst xmlns:pc="http://schemas.microsoft.com/office/powerpoint/2013/main/command">
      <pc:docMk/>
      <pc:sldMk cId="3178502729" sldId="258"/>
    </pc:sldMkLst>
    <p188:txBody>
      <a:bodyPr/>
      <a:lstStyle/>
      <a:p>
        <a:r>
          <a:rPr lang="en-GB"/>
          <a:t>Keep as the frame for slides 10 and 13 (about 0:45). If time is short this could go: the following slides use the same three headings.</a:t>
        </a:r>
      </a:p>
    </p188:txBody>
  </p188:cm>
</p188:cmLst>
</file>

<file path=ppt/comments/modernComment_150_4FD86DD7.xml><?xml version="1.0" encoding="utf-8"?>
<p188:cmLst xmlns:a="http://schemas.openxmlformats.org/drawingml/2006/main" xmlns:r="http://schemas.openxmlformats.org/officeDocument/2006/relationships" xmlns:p188="http://schemas.microsoft.com/office/powerpoint/2018/8/main">
  <p188:cm id="{9872F052-994D-430E-AC35-6F0D2DCF6DC5}" authorId="{3B42823D-FC15-489F-A24B-AD7901105553}" created="2026-10-13T17:00:00">
    <pc:sldMkLst xmlns:pc="http://schemas.microsoft.com/office/powerpoint/2013/main/command">
      <pc:docMk/>
      <pc:sldMk cId="1339583959" sldId="336"/>
    </pc:sldMkLst>
    <p188:txBody>
      <a:bodyPr/>
      <a:lstStyle/>
      <a:p>
        <a:r>
          <a:rPr lang="en-GB"/>
          <a:t>If slide 14 is kept, Keep Britain Working is introduced there; this slide could point back to it rather than repeat it.</a:t>
        </a:r>
      </a:p>
    </p188:txBody>
  </p188:cm>
</p188:cmLst>
</file>

<file path=ppt/comments/modernComment_154_1FC8DBF6.xml><?xml version="1.0" encoding="utf-8"?>
<p188:cmLst xmlns:a="http://schemas.openxmlformats.org/drawingml/2006/main" xmlns:r="http://schemas.openxmlformats.org/officeDocument/2006/relationships" xmlns:p188="http://schemas.microsoft.com/office/powerpoint/2018/8/main">
  <p188:cm id="{7DBF9F8F-FF58-4782-82A2-A811D0579994}" authorId="{3B42823D-FC15-489F-A24B-AD7901105553}" created="2026-10-13T17:00:00">
    <pc:sldMkLst xmlns:pc="http://schemas.microsoft.com/office/powerpoint/2013/main/command">
      <pc:docMk/>
      <pc:sldMk cId="533257206" sldId="340"/>
    </pc:sldMkLst>
    <p188:txBody>
      <a:bodyPr/>
      <a:lstStyle/>
      <a:p>
        <a:r>
          <a:rPr lang="en-GB"/>
          <a:t>Timing for Chris's section (10:00-10:10). v4 has 6 content slides here, about 1:40 each: workable. Adding the 3 new drafts (10, 13, 14) unchanged makes 9, about 1:05 each: too many for a clinical talk with anecdotes. Proposed 6-slide run: 6 The problem (1:30) / 7 The rise (1:15) / 8 Factors framework (0:45) / 10 Same condition, different work impact, merging 9 (2:30) / 13 Workplace and societal factors, merging 11 + 12 (2:15) / 14 Proposals with caveats (1:45) = 10:00. Then delete 9, 11 and 12.</a:t>
        </a:r>
      </a:p>
    </p188:txBody>
  </p188:cm>
</p188:cmLst>
</file>

<file path=ppt/comments/modernComment_155_50B01E6F.xml><?xml version="1.0" encoding="utf-8"?>
<p188:cmLst xmlns:a="http://schemas.openxmlformats.org/drawingml/2006/main" xmlns:r="http://schemas.openxmlformats.org/officeDocument/2006/relationships" xmlns:p188="http://schemas.microsoft.com/office/powerpoint/2018/8/main">
  <p188:cm id="{E860E699-CB50-48E6-A610-B4BC034643B2}" authorId="{3B42823D-FC15-489F-A24B-AD7901105553}" created="2026-10-13T17:00:00">
    <pc:sldMkLst xmlns:pc="http://schemas.microsoft.com/office/powerpoint/2013/main/command">
      <pc:docMk/>
      <pc:sldMk cId="1353719407" sldId="341"/>
    </pc:sldMkLst>
    <p188:replyLst>
      <p188:reply id="{B3F2196A-3FA2-4B2C-B55C-73030FC0F6AD}" authorId="{67B5657B-8E96-3E9E-C99E-B47C48618251}" created="2026-10-16T12:35:29.169">
        <p188:txBody>
          <a:bodyPr/>
          <a:lstStyle/>
          <a:p>
            <a:r>
              <a:rPr lang="en-GB"/>
              <a:t>The rise is an estimate based on the trend between 2019 and 2022. The report it was taken from was published in 2023, and there wasn’t anything more recent.</a:t>
            </a:r>
          </a:p>
        </p188:txBody>
      </p188:reply>
    </p188:replyLst>
    <p188:txBody>
      <a:bodyPr/>
      <a:lstStyle/>
      <a:p>
        <a:r>
          <a:rPr lang="en-GB"/>
          <a:t>Check before Friday's run-through: the 8.7% (about 65,000) demographic share is flagged as unverified in this slide's own notes (the ONS May 2023 analysis covers inactivity for all reasons). Either verify it, or show two segments only: population growth (about 86,000) and the remainder. Also reconcile 746,000 with the ~670,000 used elsewhere in Chris's notes.</a:t>
        </a:r>
      </a:p>
    </p188:txBody>
  </p188:cm>
</p188:cmLst>
</file>

<file path=ppt/comments/modernComment_156_455EA5F7.xml><?xml version="1.0" encoding="utf-8"?>
<p188:cmLst xmlns:a="http://schemas.openxmlformats.org/drawingml/2006/main" xmlns:r="http://schemas.openxmlformats.org/officeDocument/2006/relationships" xmlns:p188="http://schemas.microsoft.com/office/powerpoint/2018/8/main">
  <p188:cm id="{BDCB7C78-9D71-4A2B-8C54-D9D6D6CB1885}" authorId="{3B42823D-FC15-489F-A24B-AD7901105553}" created="2026-10-13T17:00:00">
    <pc:sldMkLst xmlns:pc="http://schemas.microsoft.com/office/powerpoint/2013/main/command">
      <pc:docMk/>
      <pc:sldMk cId="1163830775" sldId="342"/>
    </pc:sldMkLst>
    <p188:txBody>
      <a:bodyPr/>
      <a:lstStyle/>
      <a:p>
        <a:r>
          <a:rPr lang="en-GB"/>
          <a:t>NEW draft (Jon, from Chris's ThoughtsOnHWPpresentation notes). Proposed replacement for slide 9. Chris to confirm the lorry-driver wording: the ~6-month DVLA point applies to specified severe-depression criteria, not to antidepressant use generally.</a:t>
        </a:r>
      </a:p>
    </p188:txBody>
  </p188:cm>
</p188:cmLst>
</file>

<file path=ppt/comments/modernComment_157_397D4824.xml><?xml version="1.0" encoding="utf-8"?>
<p188:cmLst xmlns:a="http://schemas.openxmlformats.org/drawingml/2006/main" xmlns:r="http://schemas.openxmlformats.org/officeDocument/2006/relationships" xmlns:p188="http://schemas.microsoft.com/office/powerpoint/2018/8/main">
  <p188:cm id="{38B21D1C-064F-44B9-954D-6DD55FD9DF3A}" authorId="{3B42823D-FC15-489F-A24B-AD7901105553}" created="2026-10-13T17:00:00">
    <pc:sldMkLst xmlns:pc="http://schemas.microsoft.com/office/powerpoint/2013/main/command">
      <pc:docMk/>
      <pc:sldMk cId="964511780" sldId="343"/>
    </pc:sldMkLst>
    <p188:txBody>
      <a:bodyPr/>
      <a:lstStyle/>
      <a:p>
        <a:r>
          <a:rPr lang="en-GB"/>
          <a:t>NEW draft. Proposed single replacement for slides 11 + 12, saving about 1:30. Presenteeism is framed as uncertain because Chris's own literature review found no established decline.</a:t>
        </a:r>
      </a:p>
    </p188:txBody>
  </p188:cm>
</p188:cmLst>
</file>

<file path=ppt/comments/modernComment_158_CB38CBA5.xml><?xml version="1.0" encoding="utf-8"?>
<p188:cmLst xmlns:a="http://schemas.openxmlformats.org/drawingml/2006/main" xmlns:r="http://schemas.openxmlformats.org/officeDocument/2006/relationships" xmlns:p188="http://schemas.microsoft.com/office/powerpoint/2018/8/main">
  <p188:cm id="{0086F6D1-58AA-4011-82B8-83A4EBB3AF3A}" authorId="{3B42823D-FC15-489F-A24B-AD7901105553}" created="2026-10-13T17:00:00">
    <pc:sldMkLst xmlns:pc="http://schemas.microsoft.com/office/powerpoint/2013/main/command">
      <pc:docMk/>
      <pc:sldMk cId="3409496997" sldId="344"/>
    </pc:sldMkLst>
    <p188:txBody>
      <a:bodyPr/>
      <a:lstStyle/>
      <a:p>
        <a:r>
          <a:rPr lang="en-GB"/>
          <a:t>NEW draft. Not covered elsewhere in Chris's section: Keep Britain Working proposals with Chris's clinical caveats, ending on the sustained-return measurement gap, which hands over to Jon (slides 15-18). Overlaps the Keep Britain Working notes on slide 29 'Coming soon' (David): agree which section owns Mayfield.</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AF34AD-F03B-4FCC-A905-C259F7E7255A}"/>
              </a:ext>
            </a:extLst>
          </p:cNvPr>
          <p:cNvSpPr>
            <a:spLocks noGrp="1"/>
          </p:cNvSpPr>
          <p:nvPr>
            <p:ph type="hdr" sz="quarter"/>
          </p:nvPr>
        </p:nvSpPr>
        <p:spPr>
          <a:xfrm>
            <a:off x="0" y="0"/>
            <a:ext cx="7043738"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17F79ADB-1ABD-4395-9516-7A28E16E51EB}"/>
              </a:ext>
            </a:extLst>
          </p:cNvPr>
          <p:cNvSpPr>
            <a:spLocks noGrp="1"/>
          </p:cNvSpPr>
          <p:nvPr>
            <p:ph type="dt" sz="quarter" idx="1"/>
          </p:nvPr>
        </p:nvSpPr>
        <p:spPr>
          <a:xfrm>
            <a:off x="9207500" y="0"/>
            <a:ext cx="7045325" cy="458788"/>
          </a:xfrm>
          <a:prstGeom prst="rect">
            <a:avLst/>
          </a:prstGeom>
        </p:spPr>
        <p:txBody>
          <a:bodyPr vert="horz" lIns="91440" tIns="45720" rIns="91440" bIns="45720" rtlCol="0"/>
          <a:lstStyle>
            <a:lvl1pPr algn="r">
              <a:defRPr sz="1200"/>
            </a:lvl1pPr>
          </a:lstStyle>
          <a:p>
            <a:fld id="{7E96F64C-A6EA-4D30-8F6F-207E6D8A5736}" type="datetimeFigureOut">
              <a:rPr lang="en-GB" smtClean="0"/>
              <a:t>16/10/2026</a:t>
            </a:fld>
            <a:endParaRPr lang="en-GB"/>
          </a:p>
        </p:txBody>
      </p:sp>
      <p:sp>
        <p:nvSpPr>
          <p:cNvPr id="4" name="Footer Placeholder 3">
            <a:extLst>
              <a:ext uri="{FF2B5EF4-FFF2-40B4-BE49-F238E27FC236}">
                <a16:creationId xmlns:a16="http://schemas.microsoft.com/office/drawing/2014/main" id="{E7FA6EF5-6A30-48E5-86A7-B845C3DFBA4E}"/>
              </a:ext>
            </a:extLst>
          </p:cNvPr>
          <p:cNvSpPr>
            <a:spLocks noGrp="1"/>
          </p:cNvSpPr>
          <p:nvPr>
            <p:ph type="ftr" sz="quarter" idx="2"/>
          </p:nvPr>
        </p:nvSpPr>
        <p:spPr>
          <a:xfrm>
            <a:off x="0" y="8685213"/>
            <a:ext cx="7043738"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340FA5C3-F50C-433C-ADF9-A540F6B43840}"/>
              </a:ext>
            </a:extLst>
          </p:cNvPr>
          <p:cNvSpPr>
            <a:spLocks noGrp="1"/>
          </p:cNvSpPr>
          <p:nvPr>
            <p:ph type="sldNum" sz="quarter" idx="3"/>
          </p:nvPr>
        </p:nvSpPr>
        <p:spPr>
          <a:xfrm>
            <a:off x="9207500" y="8685213"/>
            <a:ext cx="7045325" cy="458787"/>
          </a:xfrm>
          <a:prstGeom prst="rect">
            <a:avLst/>
          </a:prstGeom>
        </p:spPr>
        <p:txBody>
          <a:bodyPr vert="horz" lIns="91440" tIns="45720" rIns="91440" bIns="45720" rtlCol="0" anchor="b"/>
          <a:lstStyle>
            <a:lvl1pPr algn="r">
              <a:defRPr sz="1200"/>
            </a:lvl1pPr>
          </a:lstStyle>
          <a:p>
            <a:fld id="{4684B978-5BC6-4E2E-9C92-7C2758F321F4}" type="slidenum">
              <a:rPr lang="en-GB" smtClean="0"/>
              <a:t>‹#›</a:t>
            </a:fld>
            <a:endParaRPr lang="en-GB"/>
          </a:p>
        </p:txBody>
      </p:sp>
    </p:spTree>
    <p:extLst>
      <p:ext uri="{BB962C8B-B14F-4D97-AF65-F5344CB8AC3E}">
        <p14:creationId xmlns:p14="http://schemas.microsoft.com/office/powerpoint/2010/main" val="41225636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043738"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9207500" y="0"/>
            <a:ext cx="7045325" cy="458788"/>
          </a:xfrm>
          <a:prstGeom prst="rect">
            <a:avLst/>
          </a:prstGeom>
        </p:spPr>
        <p:txBody>
          <a:bodyPr vert="horz" lIns="91440" tIns="45720" rIns="91440" bIns="45720" rtlCol="0"/>
          <a:lstStyle>
            <a:lvl1pPr algn="r">
              <a:defRPr sz="1200"/>
            </a:lvl1pPr>
          </a:lstStyle>
          <a:p>
            <a:fld id="{82E4061F-76E8-7547-8257-4E48B24CCEA6}" type="datetimeFigureOut">
              <a:rPr lang="en-US" smtClean="0"/>
              <a:t>10/16/2026</a:t>
            </a:fld>
            <a:endParaRPr lang="en-US"/>
          </a:p>
        </p:txBody>
      </p:sp>
      <p:sp>
        <p:nvSpPr>
          <p:cNvPr id="4" name="Slide Image Placeholder 3"/>
          <p:cNvSpPr>
            <a:spLocks noGrp="1" noRot="1" noChangeAspect="1"/>
          </p:cNvSpPr>
          <p:nvPr>
            <p:ph type="sldImg" idx="2"/>
          </p:nvPr>
        </p:nvSpPr>
        <p:spPr>
          <a:xfrm>
            <a:off x="5384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625600" y="4400550"/>
            <a:ext cx="130048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7043738"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9207500" y="8685213"/>
            <a:ext cx="7045325" cy="458787"/>
          </a:xfrm>
          <a:prstGeom prst="rect">
            <a:avLst/>
          </a:prstGeom>
        </p:spPr>
        <p:txBody>
          <a:bodyPr vert="horz" lIns="91440" tIns="45720" rIns="91440" bIns="45720" rtlCol="0" anchor="b"/>
          <a:lstStyle>
            <a:lvl1pPr algn="r">
              <a:defRPr sz="1200"/>
            </a:lvl1pPr>
          </a:lstStyle>
          <a:p>
            <a:fld id="{818DC993-C0AB-7145-A5E3-AB377573BF85}" type="slidenum">
              <a:rPr lang="en-US" smtClean="0"/>
              <a:t>‹#›</a:t>
            </a:fld>
            <a:endParaRPr lang="en-US"/>
          </a:p>
        </p:txBody>
      </p:sp>
    </p:spTree>
    <p:extLst>
      <p:ext uri="{BB962C8B-B14F-4D97-AF65-F5344CB8AC3E}">
        <p14:creationId xmlns:p14="http://schemas.microsoft.com/office/powerpoint/2010/main" val="32547857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SOURCE LINKS AND CALCULATIONS</a:t>
            </a:r>
          </a:p>
          <a:p>
            <a:endParaRPr dirty="0"/>
          </a:p>
          <a:p>
            <a:r>
              <a:rPr dirty="0"/>
              <a:t>1. ONS </a:t>
            </a:r>
            <a:r>
              <a:rPr dirty="0" err="1"/>
              <a:t>Labour</a:t>
            </a:r>
            <a:r>
              <a:rPr dirty="0"/>
              <a:t> Force Survey series LF69, Long Term Sick, UK ages 16–64, seasonally adjusted, thousands. Release 15 September 2026. Annual 2019: 2,046,000. Annual 2025: 2,792,000. Difference: 746,000.</a:t>
            </a:r>
          </a:p>
          <a:p>
            <a:r>
              <a:rPr dirty="0"/>
              <a:t>https://www.ons.gov.uk/employmentandlabourmarket/peoplenotinwork/economicinactivity/timeseries/lf69/lms</a:t>
            </a:r>
          </a:p>
          <a:p>
            <a:endParaRPr dirty="0"/>
          </a:p>
          <a:p>
            <a:r>
              <a:rPr dirty="0"/>
              <a:t>2. ONS LFS population aged 16–64 series LF2O, thousands. Same release. Annual 2019: 41,558,000. Annual 2025: 43,299,000. Increase: 1,741,000. Holding the aggregate 2019 sickness-inactivity rate constant gives 1,741,000 × (2,046,000 / 41,558,000) = about 85,714, rounded to 86,000 (11.5% of the increase). This is a counterfactual calculation, not an ONS causal estimate.</a:t>
            </a:r>
          </a:p>
          <a:p>
            <a:r>
              <a:rPr dirty="0"/>
              <a:t>https://www.ons.gov.uk/employmentandlabourmarket/peopleinwork/employmentandemployeetypes/timeseries/lf2o/lms</a:t>
            </a:r>
          </a:p>
          <a:p>
            <a:endParaRPr dirty="0"/>
          </a:p>
          <a:p>
            <a:r>
              <a:rPr dirty="0"/>
              <a:t>3. User-supplied demographic share 8.7%, described as extrapolated from 2019–2022. Its original source has not been verified. 746,000 × 8.7% = 64,902, rounded to 65,000.</a:t>
            </a:r>
          </a:p>
          <a:p>
            <a:r>
              <a:rPr dirty="0"/>
              <a:t>ONS (19 May 2023), Health, demographic and </a:t>
            </a:r>
            <a:r>
              <a:rPr dirty="0" err="1"/>
              <a:t>labour</a:t>
            </a:r>
            <a:r>
              <a:rPr dirty="0"/>
              <a:t> market influences on economic inactivity, UK: 2019 to 2022, estimates an age-structure effect for inactivity for ALL reasons. That analysis does not directly substantiate an 8.7% contribution to the increase due to long-term sickness.</a:t>
            </a:r>
          </a:p>
          <a:p>
            <a:r>
              <a:rPr dirty="0"/>
              <a:t>https://www.ons.gov.uk/employmentandlabourmarket/peoplenotinwork/economicinactivity/articles/healthdemographicandlabourmarketinfluencesoneconomicinactivityuk2019to2022/2023-05-19</a:t>
            </a:r>
          </a:p>
          <a:p>
            <a:endParaRPr dirty="0"/>
          </a:p>
          <a:p>
            <a:r>
              <a:rPr dirty="0"/>
              <a:t>Illustrative chart uses 86,000 + 64,902 + 595,098 = 746,000. The residual is approximately 595,000 or 79.8%. This assumes population size and demographic composition contributions can be treated separately and additively. The demographic source and its compatibility with this outcome need verification before presenting this as an established decomposition. The residual may encompass changes in health, employment conditions, reporting, measurement and other influences. It does not quantify worsening health alone.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18DC993-C0AB-7145-A5E3-AB377573BF85}" type="slidenum">
              <a:rPr lang="en-US" smtClean="0"/>
              <a:t>8</a:t>
            </a:fld>
            <a:endParaRPr lang="en-US"/>
          </a:p>
        </p:txBody>
      </p:sp>
    </p:spTree>
    <p:extLst>
      <p:ext uri="{BB962C8B-B14F-4D97-AF65-F5344CB8AC3E}">
        <p14:creationId xmlns:p14="http://schemas.microsoft.com/office/powerpoint/2010/main" val="41024480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NEW DRAFT (Jon, from Chris's notes). Proposed replacement for the previous slide, about 2:30.</a:t>
            </a:r>
          </a:p>
          <a:p>
            <a:endParaRPr/>
          </a:p>
          <a:p>
            <a:r>
              <a:t>Work capacity depends on the condition and the job together, not on the diagnosis alone. A minor disability can be very disabling for manual work and insignificant for sedentary work. Treatment can itself be the barrier: the lorry driver is off because of the antidepressant's side effects as well as the depression.</a:t>
            </a:r>
          </a:p>
          <a:p>
            <a:endParaRPr/>
          </a:p>
          <a:p>
            <a:r>
              <a:t>Check before use: Chris's notes say the driver would need to be well for about 6 months before returning; his literature review flagged that this applies to specified severe-depression criteria (DVLA), not to antidepressant use generally.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NEW DRAFT. Proposed single replacement for the separate Workplace and Societal factors slides, about 2:15.</a:t>
            </a:r>
          </a:p>
          <a:p>
            <a:endParaRPr/>
          </a:p>
          <a:p>
            <a:r>
              <a:t>Whether someone stays in or returns to work depends on the employer's ability to adapt and on pressures outside work, not only on clinical severity.</a:t>
            </a:r>
          </a:p>
          <a:p>
            <a:endParaRPr/>
          </a:p>
          <a:p>
            <a:r>
              <a:t>Finite capacity to cope: someone may manage a chronic condition while work and home demands are manageable, then struggle when caring, financial or other demands rise.</a:t>
            </a:r>
          </a:p>
          <a:p>
            <a:endParaRPr/>
          </a:p>
          <a:p>
            <a:r>
              <a:t>Presenteeism: Chris's literature review found a general decline is not established; CIPD 2025 reports more employers seeing increased presenteeism with homeworking (35%) than a decrease (14%). Check before use.</a:t>
            </a:r>
          </a:p>
          <a:p>
            <a:r>
              <a:t>Mental health: the Fonagy review (Oct 2026) says the evidence cannot establish overdiagnosis at scale.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NEW DRAFT. Closes Chris's section, about 1:45.</a:t>
            </a:r>
          </a:p>
          <a:p>
            <a:endParaRPr/>
          </a:p>
          <a:p>
            <a:r>
              <a:t>All three proposals come from Mayfield's Keep Britain Working review; the caveats are Chris's clinical reading. The Healthy Working Lifecycle has five phases: recruitment and onboarding, healthy in work, unwell in work, absence and return to work, exit and re-employment. 'Unwell in work' is the clinically important phase, while the person is still connected to their job.</a:t>
            </a:r>
          </a:p>
          <a:p>
            <a:endParaRPr/>
          </a:p>
          <a:p>
            <a:r>
              <a:t>Bridge to Jon: the September 2026 update proposes measuring whether someone is still in work six months after returning, and says sustained-return outcomes are seldom measured consistently. That is the gap multi-state models of onset, recovery and recurrence address.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Jon Minton, Knowledge Tree and Butterfly: one-line intro on taking over from Chris.</a:t>
            </a:r>
          </a:p>
          <a:p>
            <a:pPr marL="0" lvl="0" indent="0">
              <a:buNone/>
            </a:pPr>
            <a:endParaRPr/>
          </a:p>
          <a:p>
            <a:pPr marL="0" lvl="0" indent="0">
              <a:buNone/>
            </a:pPr>
            <a:r>
              <a:t>About 1.5 minutes. A reminder, not a lecture: everyone here has seen multi-state life tables. Panel (a) is the life table; (b) adds a state you can leave; (c) is the shape of the health-and-work problem. Double border = absorbing.</a:t>
            </a:r>
          </a:p>
          <a:p>
            <a:pPr marL="0" lvl="0" indent="0">
              <a:buNone/>
            </a:pPr>
            <a:endParaRPr/>
          </a:p>
          <a:p>
            <a:pPr marL="0" lvl="0" indent="0">
              <a:buNone/>
            </a:pPr>
            <a:r>
              <a:t>Retirement: “Hotel California”: you can check out any time you like, but you can never leave. In the model it is one-way; in life people do unretire, and pension-age policy cares about exactly that.</a:t>
            </a:r>
          </a:p>
        </p:txBody>
      </p:sp>
      <p:sp>
        <p:nvSpPr>
          <p:cNvPr id="4" name="Slide Number Placeholder 3"/>
          <p:cNvSpPr>
            <a:spLocks noGrp="1"/>
          </p:cNvSpPr>
          <p:nvPr>
            <p:ph type="sldNum" sz="quarter" idx="10"/>
          </p:nvPr>
        </p:nvSpPr>
        <p:spPr/>
        <p:txBody>
          <a:bodyPr/>
          <a:lstStyle/>
          <a:p>
            <a:fld id="{818DC993-C0AB-7145-A5E3-AB377573BF85}" type="slidenum">
              <a:rPr lang="en-US"/>
              <a:t>14</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About 1.5 minutes. The point for this audience: health economists and actuaries build the same kind of model and ask different questions of it. Health economics attaches utilities and costs to states to decide what to fund; actuaries attach durations and money to states to price and reserve. Working-age ill health is a place where both questions matter: the policy question (Keep Britain Working, from Chris) and the insurance question (David’s section).</a:t>
            </a:r>
          </a:p>
        </p:txBody>
      </p:sp>
      <p:sp>
        <p:nvSpPr>
          <p:cNvPr id="4" name="Slide Number Placeholder 3"/>
          <p:cNvSpPr>
            <a:spLocks noGrp="1"/>
          </p:cNvSpPr>
          <p:nvPr>
            <p:ph type="sldNum" sz="quarter" idx="10"/>
          </p:nvPr>
        </p:nvSpPr>
        <p:spPr/>
        <p:txBody>
          <a:bodyPr/>
          <a:lstStyle/>
          <a:p>
            <a:fld id="{818DC993-C0AB-7145-A5E3-AB377573BF85}" type="slidenum">
              <a:rPr lang="en-US"/>
              <a:t>15</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About 2 minutes, ending on the hand-off. Survey data are the only view of the whole population, which is why every published UK HWLE estimate so far uses them (ELSA: Lynch 2022, Parker 2020; supplement). But annual waves mean the model can only be a one-year Markov chain: what happened between interviews is invisible, and there is no clock on how long someone has been sick. Actuarial time-to-event data give dated claim inceptions and recoveries, with recovery depending on how long the claim has run. Hand over: “David will show what that buys us: healthy working life expectancy from CMI income protection experience.”</a:t>
            </a:r>
          </a:p>
        </p:txBody>
      </p:sp>
      <p:sp>
        <p:nvSpPr>
          <p:cNvPr id="4" name="Slide Number Placeholder 3"/>
          <p:cNvSpPr>
            <a:spLocks noGrp="1"/>
          </p:cNvSpPr>
          <p:nvPr>
            <p:ph type="sldNum" sz="quarter" idx="10"/>
          </p:nvPr>
        </p:nvSpPr>
        <p:spPr/>
        <p:txBody>
          <a:bodyPr/>
          <a:lstStyle/>
          <a:p>
            <a:fld id="{818DC993-C0AB-7145-A5E3-AB377573BF85}" type="slidenum">
              <a:rPr lang="en-US"/>
              <a:t>16</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Healthy Working Life Expectancy (HWLE) is becoming more common as a metric for indicating the health and potential productivity of a population: the term first appears in the literature in 2007 (Lievre et al. 2007) and has been the focus of many public health / health economics papers since then. </a:t>
            </a:r>
          </a:p>
          <a:p>
            <a:r>
              <a:rPr lang="en-US" dirty="0"/>
              <a:t>Many papers not shown on the slide here as we have </a:t>
            </a:r>
            <a:r>
              <a:rPr lang="en-US" dirty="0" err="1"/>
              <a:t>pcked</a:t>
            </a:r>
            <a:r>
              <a:rPr lang="en-US" dirty="0"/>
              <a:t> out just some of the recent ones focusing on the UK.</a:t>
            </a:r>
          </a:p>
          <a:p>
            <a:r>
              <a:rPr lang="en-US" dirty="0"/>
              <a:t>But many in the years in between for other countries.</a:t>
            </a:r>
          </a:p>
          <a:p>
            <a:r>
              <a:rPr lang="en-US" dirty="0"/>
              <a:t>It is a useful indicator for a number of public health and policy areas.  </a:t>
            </a:r>
          </a:p>
          <a:p>
            <a:r>
              <a:rPr lang="en-US" dirty="0"/>
              <a:t>A good description of the advantages of estimating HWLE as opposed to WLE or HLE is given by Heller et al. 2022 (Heller et al. 2022).  From the perspective of considering whether to increase retirement ages, the extension of HLE offers an indication of the capacity for populations to achieve that without health being a limiting factor but does not take into account the willingness of individuals to work longer.  WLE, on the other hand, is directly assessing the capacity to work longer but ignores the reality that health impacts people's ability and willingness to work at all and, additionally, affects the quality of the work of which they are capable.</a:t>
            </a:r>
          </a:p>
          <a:p>
            <a:endParaRPr lang="en-US" dirty="0"/>
          </a:p>
          <a:p>
            <a:r>
              <a:rPr lang="en-US" dirty="0"/>
              <a:t>In recent years it has been presented as a measure for assessing the appropriateness of increasing retirement ages and for the adequacy of national social security policy-making (Parker et al. 2020b). </a:t>
            </a:r>
          </a:p>
          <a:p>
            <a:r>
              <a:rPr lang="en-US" dirty="0"/>
              <a:t>It could also be a useful metric for public health planning and developing and measuring the success of strategic plans for national health services. </a:t>
            </a:r>
          </a:p>
          <a:p>
            <a:r>
              <a:rPr lang="en-US" dirty="0"/>
              <a:t>…. but similar concepts had been presented in actuarial journals and other literature decades earlier</a:t>
            </a:r>
          </a:p>
          <a:p>
            <a:endParaRPr lang="en-GB" dirty="0"/>
          </a:p>
        </p:txBody>
      </p:sp>
      <p:sp>
        <p:nvSpPr>
          <p:cNvPr id="4" name="Slide Number Placeholder 3"/>
          <p:cNvSpPr>
            <a:spLocks noGrp="1"/>
          </p:cNvSpPr>
          <p:nvPr>
            <p:ph type="sldNum" sz="quarter" idx="5"/>
          </p:nvPr>
        </p:nvSpPr>
        <p:spPr/>
        <p:txBody>
          <a:bodyPr/>
          <a:lstStyle/>
          <a:p>
            <a:fld id="{818DC993-C0AB-7145-A5E3-AB377573BF85}" type="slidenum">
              <a:rPr lang="en-US" smtClean="0"/>
              <a:t>18</a:t>
            </a:fld>
            <a:endParaRPr lang="en-US"/>
          </a:p>
        </p:txBody>
      </p:sp>
    </p:spTree>
    <p:extLst>
      <p:ext uri="{BB962C8B-B14F-4D97-AF65-F5344CB8AC3E}">
        <p14:creationId xmlns:p14="http://schemas.microsoft.com/office/powerpoint/2010/main" val="20055600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Similar concepts, including 'expectation of disease-free-life' and 'working life expectancy', were presented in the actuarial literature in earlier decades</a:t>
            </a:r>
          </a:p>
          <a:p>
            <a:r>
              <a:rPr lang="en-US" dirty="0"/>
              <a:t>Many examples in the Journal of the Institute of Actuaries from the 1970s to the 1990s (Pollard, 1980) and (Haberman and Bloomfield, 1990). </a:t>
            </a:r>
          </a:p>
          <a:p>
            <a:r>
              <a:rPr lang="en-US" dirty="0"/>
              <a:t>For example, analysis of 'expectation of disease-free life’ , including specific diseases such as 'expectation of breast-cancer-free life' was presented by Pollard (Pollard, 1980).  </a:t>
            </a:r>
          </a:p>
          <a:p>
            <a:r>
              <a:rPr lang="en-US" dirty="0"/>
              <a:t>Derivations of 'average duration of sickness' (Haberman, 1987) and development of methods for calculating 'working life expectancy' (Haberman and Bloomfield, 1990) were also published.</a:t>
            </a:r>
          </a:p>
          <a:p>
            <a:endParaRPr lang="en-US" dirty="0"/>
          </a:p>
          <a:p>
            <a:r>
              <a:rPr lang="en-US" dirty="0"/>
              <a:t>This coincides with the beginning of the Continuous Mortality Investigation (CMI) starting to investigate Income Protection experience.  </a:t>
            </a:r>
          </a:p>
          <a:p>
            <a:r>
              <a:rPr lang="en-US" dirty="0"/>
              <a:t>The CMI has collected data from its contributors (UK life insurers) since the 1970’s (“landmark publication” : </a:t>
            </a:r>
            <a:r>
              <a:rPr lang="en-US" dirty="0" err="1"/>
              <a:t>IFoA</a:t>
            </a:r>
            <a:r>
              <a:rPr lang="en-US" dirty="0"/>
              <a:t> CMI Report 12, 1991) on the sickness and claims incidence of individual income protection (IP) portfolios. </a:t>
            </a:r>
          </a:p>
          <a:p>
            <a:r>
              <a:rPr lang="en-US" dirty="0"/>
              <a:t>This was the forerunner to the IP investigations.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it has long being recognized that HWLE and similar metrics are of interest to actuaries and life and health insurers.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E.g. HWLE  could be a useful benchmark for life and health insurers when developing new life insurance products such as disability income protection and pensions savings contracts.  </a:t>
            </a:r>
          </a:p>
          <a:p>
            <a:endParaRPr lang="en-GB" dirty="0"/>
          </a:p>
        </p:txBody>
      </p:sp>
      <p:sp>
        <p:nvSpPr>
          <p:cNvPr id="4" name="Slide Number Placeholder 3"/>
          <p:cNvSpPr>
            <a:spLocks noGrp="1"/>
          </p:cNvSpPr>
          <p:nvPr>
            <p:ph type="sldNum" sz="quarter" idx="5"/>
          </p:nvPr>
        </p:nvSpPr>
        <p:spPr/>
        <p:txBody>
          <a:bodyPr/>
          <a:lstStyle/>
          <a:p>
            <a:fld id="{818DC993-C0AB-7145-A5E3-AB377573BF85}" type="slidenum">
              <a:rPr lang="en-US" smtClean="0"/>
              <a:t>19</a:t>
            </a:fld>
            <a:endParaRPr lang="en-US"/>
          </a:p>
        </p:txBody>
      </p:sp>
    </p:spTree>
    <p:extLst>
      <p:ext uri="{BB962C8B-B14F-4D97-AF65-F5344CB8AC3E}">
        <p14:creationId xmlns:p14="http://schemas.microsoft.com/office/powerpoint/2010/main" val="21841968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Insurance applications</a:t>
            </a:r>
          </a:p>
          <a:p>
            <a:r>
              <a:rPr lang="en-US" dirty="0"/>
              <a:t>It allows population survey-based estimates of HWLE, WLE, HWPLE or WPLE to act as benchmarks for the HWPLE derived from life insurance portfolios which can help to refine income protection insurance modelling assumptions, pensions savings scheme projections, or develop modelling assumptions for new life insurance customer segments.</a:t>
            </a:r>
          </a:p>
          <a:p>
            <a:r>
              <a:rPr lang="en-US" dirty="0"/>
              <a:t>For example, insurers aiming to develop income protection contracts for new population segments can use estimates of HWPLE for segments with distinct health characteristics or distinct occupations to inform their pricing assumptions. </a:t>
            </a:r>
          </a:p>
          <a:p>
            <a:r>
              <a:rPr lang="en-US" dirty="0"/>
              <a:t>Insurers with existing portfolios of IP contracts can update their assumptions for claim inception rates and recovery rates by calculating HWPLE for their existing assumptions and comparing these with population trends of HWPLE.</a:t>
            </a:r>
          </a:p>
          <a:p>
            <a:r>
              <a:rPr lang="en-US" dirty="0"/>
              <a:t>HWPLE can act as a useful and easily understood descriptive statistic for describing morbidity bases.  </a:t>
            </a:r>
          </a:p>
          <a:p>
            <a:r>
              <a:rPr lang="en-US" dirty="0"/>
              <a:t>From one time period to another or from one population segment to another, the HWPLE offers a meaningful statistic that can be used to compare bases. </a:t>
            </a:r>
          </a:p>
          <a:p>
            <a:r>
              <a:rPr lang="en-US" dirty="0"/>
              <a:t>It can be understood intuitively.  </a:t>
            </a:r>
          </a:p>
          <a:p>
            <a:r>
              <a:rPr lang="en-US" dirty="0"/>
              <a:t>For example, the mortality rates in the basis can be set the same for different segments and then segment-specific sickness inception and recovery rates applied.  </a:t>
            </a:r>
          </a:p>
          <a:p>
            <a:r>
              <a:rPr lang="en-US" dirty="0"/>
              <a:t>The HWPLE then offers an indication of the relative difference of the sickness and recovery rates.</a:t>
            </a:r>
          </a:p>
          <a:p>
            <a:endParaRPr lang="en-US" dirty="0"/>
          </a:p>
          <a:p>
            <a:endParaRPr lang="en-US" dirty="0"/>
          </a:p>
          <a:p>
            <a:r>
              <a:rPr lang="en-US" dirty="0"/>
              <a:t>Health Economics applications</a:t>
            </a:r>
          </a:p>
          <a:p>
            <a:r>
              <a:rPr lang="en-US" dirty="0"/>
              <a:t>clearly a number of uses</a:t>
            </a:r>
          </a:p>
          <a:p>
            <a:r>
              <a:rPr lang="en-US" dirty="0"/>
              <a:t>For pensions provision, it provides a view on how many years people will be actively working and therefore able to make regular contributions to a pension savings scheme.  Current pension scheme projections of retirement benefits are typically based on the expectation that people will work uninterrupted from now until the State Pension Age.  In reality, this is not true for many people.  HWPLE offers a method to adjust pension projections to a more realistic level, allowing for the expectation that there will be periods of sickness during a working lifetime which may be mean periods of reduced income, and therefore allow people to make more informed decisions about their retirement provisions.</a:t>
            </a:r>
          </a:p>
          <a:p>
            <a:endParaRPr lang="en-US" dirty="0"/>
          </a:p>
          <a:p>
            <a:endParaRPr lang="en-US" dirty="0"/>
          </a:p>
          <a:p>
            <a:endParaRPr lang="en-GB" dirty="0"/>
          </a:p>
        </p:txBody>
      </p:sp>
      <p:sp>
        <p:nvSpPr>
          <p:cNvPr id="4" name="Slide Number Placeholder 3"/>
          <p:cNvSpPr>
            <a:spLocks noGrp="1"/>
          </p:cNvSpPr>
          <p:nvPr>
            <p:ph type="sldNum" sz="quarter" idx="5"/>
          </p:nvPr>
        </p:nvSpPr>
        <p:spPr/>
        <p:txBody>
          <a:bodyPr/>
          <a:lstStyle/>
          <a:p>
            <a:fld id="{818DC993-C0AB-7145-A5E3-AB377573BF85}" type="slidenum">
              <a:rPr lang="en-US" smtClean="0"/>
              <a:t>20</a:t>
            </a:fld>
            <a:endParaRPr lang="en-US"/>
          </a:p>
        </p:txBody>
      </p:sp>
    </p:spTree>
    <p:extLst>
      <p:ext uri="{BB962C8B-B14F-4D97-AF65-F5344CB8AC3E}">
        <p14:creationId xmlns:p14="http://schemas.microsoft.com/office/powerpoint/2010/main" val="15859103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here is the multi-state model we settled on in the Healthy Workforce WP for our first version, and the initial </a:t>
            </a:r>
            <a:r>
              <a:rPr lang="en-GB" dirty="0" err="1"/>
              <a:t>paramerisation</a:t>
            </a:r>
            <a:r>
              <a:rPr lang="en-GB" dirty="0"/>
              <a:t>.</a:t>
            </a:r>
          </a:p>
          <a:p>
            <a:endParaRPr lang="en-GB" dirty="0"/>
          </a:p>
          <a:p>
            <a:r>
              <a:rPr lang="en-GB" dirty="0"/>
              <a:t>Model</a:t>
            </a:r>
          </a:p>
          <a:p>
            <a:r>
              <a:rPr lang="en-GB" dirty="0"/>
              <a:t>Despite there being well-established notation conventions for such models, note we introduced new notation in order to distinguish from the CMI multi-state model.</a:t>
            </a:r>
          </a:p>
          <a:p>
            <a:endParaRPr lang="en-GB" dirty="0"/>
          </a:p>
          <a:p>
            <a:r>
              <a:rPr lang="en-GB" dirty="0"/>
              <a:t>Parameterising the model with transition rates:</a:t>
            </a:r>
          </a:p>
          <a:p>
            <a:r>
              <a:rPr lang="en-GB" dirty="0"/>
              <a:t>Make clear that we are using CMI claim inception rates as a proxy for sickness inception rates.</a:t>
            </a:r>
          </a:p>
          <a:p>
            <a:r>
              <a:rPr lang="en-GB" dirty="0"/>
              <a:t>Recovery rates back to the Working state are CMI rates for recoveries from claim state.</a:t>
            </a:r>
          </a:p>
          <a:p>
            <a:r>
              <a:rPr lang="en-GB" dirty="0"/>
              <a:t>Mortality rates for deaths from the Working and Retired states based on UK population data.</a:t>
            </a:r>
          </a:p>
          <a:p>
            <a:r>
              <a:rPr lang="en-GB" dirty="0"/>
              <a:t>Retirement rates set to be 1 at age 65 and 0 at all other ages. This can be varied in future iterations: e.g. to allow for early retirements or later.</a:t>
            </a:r>
          </a:p>
        </p:txBody>
      </p:sp>
      <p:sp>
        <p:nvSpPr>
          <p:cNvPr id="4" name="Slide Number Placeholder 3"/>
          <p:cNvSpPr>
            <a:spLocks noGrp="1"/>
          </p:cNvSpPr>
          <p:nvPr>
            <p:ph type="sldNum" sz="quarter" idx="5"/>
          </p:nvPr>
        </p:nvSpPr>
        <p:spPr/>
        <p:txBody>
          <a:bodyPr/>
          <a:lstStyle/>
          <a:p>
            <a:fld id="{818DC993-C0AB-7145-A5E3-AB377573BF85}" type="slidenum">
              <a:rPr lang="en-US" smtClean="0"/>
              <a:t>21</a:t>
            </a:fld>
            <a:endParaRPr lang="en-US"/>
          </a:p>
        </p:txBody>
      </p:sp>
    </p:spTree>
    <p:extLst>
      <p:ext uri="{BB962C8B-B14F-4D97-AF65-F5344CB8AC3E}">
        <p14:creationId xmlns:p14="http://schemas.microsoft.com/office/powerpoint/2010/main" val="31507783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here are some preliminary results.</a:t>
            </a:r>
          </a:p>
          <a:p>
            <a:r>
              <a:rPr lang="en-GB" dirty="0"/>
              <a:t>The multi-state model in this example is initiated with all lives in the Working State, 100’000 lives, and aged exactly 50 at time zero.</a:t>
            </a:r>
          </a:p>
          <a:p>
            <a:r>
              <a:rPr lang="en-GB" dirty="0"/>
              <a:t>It generates a life table as shown.</a:t>
            </a:r>
          </a:p>
          <a:p>
            <a:r>
              <a:rPr lang="en-GB" dirty="0"/>
              <a:t>The 100’000 lives transition in and out of the not-healthy-not-working state from age 50 up to age 65.</a:t>
            </a:r>
          </a:p>
          <a:p>
            <a:r>
              <a:rPr lang="en-GB" dirty="0"/>
              <a:t>At age 65, all working and all not-healthy-not-working lives start transition to the Retired state during the next year and a bit.</a:t>
            </a:r>
          </a:p>
          <a:p>
            <a:r>
              <a:rPr lang="en-GB" dirty="0"/>
              <a:t>(Some spillage of retirements into age 66 due to multiple-decrement approximations)</a:t>
            </a:r>
          </a:p>
          <a:p>
            <a:endParaRPr lang="en-GB" dirty="0"/>
          </a:p>
          <a:p>
            <a:r>
              <a:rPr lang="en-GB" dirty="0"/>
              <a:t>From the generated life table, it is then straightforward to calculate the expected time spent in each state.</a:t>
            </a:r>
          </a:p>
          <a:p>
            <a:r>
              <a:rPr lang="en-GB" dirty="0"/>
              <a:t>Given that the model is parameterised for everyone to retire at age 65 then the maximum possible HWLE would be 15 years.</a:t>
            </a:r>
          </a:p>
          <a:p>
            <a:r>
              <a:rPr lang="en-GB" dirty="0"/>
              <a:t>Our preliminary results (as a reminder based on CMI IP11 transition rates and UK population mortality) indicates:</a:t>
            </a:r>
          </a:p>
          <a:p>
            <a:r>
              <a:rPr lang="en-GB" dirty="0"/>
              <a:t>HWLE = 13.5 years</a:t>
            </a:r>
          </a:p>
          <a:p>
            <a:r>
              <a:rPr lang="en-GB" dirty="0"/>
              <a:t>NNLE = 0.91 years</a:t>
            </a:r>
          </a:p>
          <a:p>
            <a:r>
              <a:rPr lang="en-GB" dirty="0"/>
              <a:t>The gap to 15 years relates to the deaths.</a:t>
            </a:r>
          </a:p>
          <a:p>
            <a:endParaRPr lang="en-GB" dirty="0"/>
          </a:p>
          <a:p>
            <a:endParaRPr lang="en-GB" dirty="0"/>
          </a:p>
        </p:txBody>
      </p:sp>
      <p:sp>
        <p:nvSpPr>
          <p:cNvPr id="4" name="Slide Number Placeholder 3"/>
          <p:cNvSpPr>
            <a:spLocks noGrp="1"/>
          </p:cNvSpPr>
          <p:nvPr>
            <p:ph type="sldNum" sz="quarter" idx="5"/>
          </p:nvPr>
        </p:nvSpPr>
        <p:spPr/>
        <p:txBody>
          <a:bodyPr/>
          <a:lstStyle/>
          <a:p>
            <a:fld id="{818DC993-C0AB-7145-A5E3-AB377573BF85}" type="slidenum">
              <a:rPr lang="en-US" smtClean="0"/>
              <a:t>22</a:t>
            </a:fld>
            <a:endParaRPr lang="en-US"/>
          </a:p>
        </p:txBody>
      </p:sp>
    </p:spTree>
    <p:extLst>
      <p:ext uri="{BB962C8B-B14F-4D97-AF65-F5344CB8AC3E}">
        <p14:creationId xmlns:p14="http://schemas.microsoft.com/office/powerpoint/2010/main" val="3397304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537BF-51CA-1416-6DE3-3E73997F2B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862E8A-0878-A542-5E39-304CC594FD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D15434-68D7-1755-087E-7AF09350EAA3}"/>
              </a:ext>
            </a:extLst>
          </p:cNvPr>
          <p:cNvSpPr>
            <a:spLocks noGrp="1"/>
          </p:cNvSpPr>
          <p:nvPr>
            <p:ph type="body" idx="1"/>
          </p:nvPr>
        </p:nvSpPr>
        <p:spPr/>
        <p:txBody>
          <a:bodyPr/>
          <a:lstStyle/>
          <a:p>
            <a:r>
              <a:rPr lang="en-GB" dirty="0"/>
              <a:t>So here are some preliminary results.</a:t>
            </a:r>
          </a:p>
          <a:p>
            <a:r>
              <a:rPr lang="en-GB" dirty="0"/>
              <a:t>The multi-state model in this example is initiated with all lives in the Working State, 100’000 lives, and aged exactly 50 at time zero.</a:t>
            </a:r>
          </a:p>
          <a:p>
            <a:r>
              <a:rPr lang="en-GB" dirty="0"/>
              <a:t>It generates a life table as shown.</a:t>
            </a:r>
          </a:p>
          <a:p>
            <a:r>
              <a:rPr lang="en-GB" dirty="0"/>
              <a:t>The 100’000 lives transition in and out of the not-healthy-not-working state from age 50 up to age 65.</a:t>
            </a:r>
          </a:p>
          <a:p>
            <a:r>
              <a:rPr lang="en-GB" dirty="0"/>
              <a:t>At age 65, all working and all not-healthy-not-working lives start transition to the Retired state during the next year and a bit.</a:t>
            </a:r>
          </a:p>
          <a:p>
            <a:r>
              <a:rPr lang="en-GB" dirty="0"/>
              <a:t>(Some spillage of retirements into age 66 due to multiple-decrement approximations)</a:t>
            </a:r>
          </a:p>
          <a:p>
            <a:endParaRPr lang="en-GB" dirty="0"/>
          </a:p>
          <a:p>
            <a:r>
              <a:rPr lang="en-GB" dirty="0"/>
              <a:t>From the generated life table, it is then straightforward to calculate the expected time spent in each state.</a:t>
            </a:r>
          </a:p>
          <a:p>
            <a:r>
              <a:rPr lang="en-GB" dirty="0"/>
              <a:t>Given that the model is parameterised for everyone to retire at age 65 then the maximum possible HWLE would be 15 years.</a:t>
            </a:r>
          </a:p>
          <a:p>
            <a:r>
              <a:rPr lang="en-GB" dirty="0"/>
              <a:t>Our preliminary results (as a reminder based on CMI IP11 transition rates and UK population mortality) indicates:</a:t>
            </a:r>
          </a:p>
          <a:p>
            <a:r>
              <a:rPr lang="en-GB" dirty="0"/>
              <a:t>HWLE = 13.5 years</a:t>
            </a:r>
          </a:p>
          <a:p>
            <a:r>
              <a:rPr lang="en-GB" dirty="0"/>
              <a:t>NNLE = 0.91 years</a:t>
            </a:r>
          </a:p>
          <a:p>
            <a:r>
              <a:rPr lang="en-GB" dirty="0"/>
              <a:t>The gap to 15 years relates to the deaths.</a:t>
            </a:r>
          </a:p>
          <a:p>
            <a:endParaRPr lang="en-GB" dirty="0"/>
          </a:p>
          <a:p>
            <a:endParaRPr lang="en-GB" dirty="0"/>
          </a:p>
        </p:txBody>
      </p:sp>
      <p:sp>
        <p:nvSpPr>
          <p:cNvPr id="4" name="Slide Number Placeholder 3">
            <a:extLst>
              <a:ext uri="{FF2B5EF4-FFF2-40B4-BE49-F238E27FC236}">
                <a16:creationId xmlns:a16="http://schemas.microsoft.com/office/drawing/2014/main" id="{C2CFECD4-BBAB-715A-DD31-3C3B273E015D}"/>
              </a:ext>
            </a:extLst>
          </p:cNvPr>
          <p:cNvSpPr>
            <a:spLocks noGrp="1"/>
          </p:cNvSpPr>
          <p:nvPr>
            <p:ph type="sldNum" sz="quarter" idx="5"/>
          </p:nvPr>
        </p:nvSpPr>
        <p:spPr/>
        <p:txBody>
          <a:bodyPr/>
          <a:lstStyle/>
          <a:p>
            <a:fld id="{818DC993-C0AB-7145-A5E3-AB377573BF85}" type="slidenum">
              <a:rPr lang="en-US" smtClean="0"/>
              <a:t>23</a:t>
            </a:fld>
            <a:endParaRPr lang="en-US"/>
          </a:p>
        </p:txBody>
      </p:sp>
    </p:spTree>
    <p:extLst>
      <p:ext uri="{BB962C8B-B14F-4D97-AF65-F5344CB8AC3E}">
        <p14:creationId xmlns:p14="http://schemas.microsoft.com/office/powerpoint/2010/main" val="16336342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Observations (align with intuition)</a:t>
            </a:r>
          </a:p>
          <a:p>
            <a:r>
              <a:rPr lang="en-US" dirty="0"/>
              <a:t>HWPLE decreases as starting age increases; </a:t>
            </a:r>
          </a:p>
          <a:p>
            <a:r>
              <a:rPr lang="en-US" dirty="0"/>
              <a:t>NNPLE decreases as starting age increases but proportionally less so than HWPLE;</a:t>
            </a:r>
          </a:p>
          <a:p>
            <a:r>
              <a:rPr lang="en-US" dirty="0"/>
              <a:t>The proportion of the working life to age 65 spent in the NN state is higher at older starting ages.</a:t>
            </a:r>
          </a:p>
          <a:p>
            <a:endParaRPr lang="en-GB" dirty="0"/>
          </a:p>
          <a:p>
            <a:r>
              <a:rPr lang="en-US" dirty="0"/>
              <a:t>A 20-year-old man has 42.2 years HWPLE and 0.9 years NNPLE.</a:t>
            </a:r>
          </a:p>
          <a:p>
            <a:r>
              <a:rPr lang="en-US" dirty="0"/>
              <a:t>A 50-year-old woman has 13.5 years HWPLE and 0.9 years NNPLE.</a:t>
            </a:r>
          </a:p>
        </p:txBody>
      </p:sp>
      <p:sp>
        <p:nvSpPr>
          <p:cNvPr id="4" name="Slide Number Placeholder 3"/>
          <p:cNvSpPr>
            <a:spLocks noGrp="1"/>
          </p:cNvSpPr>
          <p:nvPr>
            <p:ph type="sldNum" sz="quarter" idx="5"/>
          </p:nvPr>
        </p:nvSpPr>
        <p:spPr/>
        <p:txBody>
          <a:bodyPr/>
          <a:lstStyle/>
          <a:p>
            <a:fld id="{818DC993-C0AB-7145-A5E3-AB377573BF85}" type="slidenum">
              <a:rPr lang="en-US" smtClean="0"/>
              <a:t>25</a:t>
            </a:fld>
            <a:endParaRPr lang="en-US"/>
          </a:p>
        </p:txBody>
      </p:sp>
    </p:spTree>
    <p:extLst>
      <p:ext uri="{BB962C8B-B14F-4D97-AF65-F5344CB8AC3E}">
        <p14:creationId xmlns:p14="http://schemas.microsoft.com/office/powerpoint/2010/main" val="23483838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HWPLE ranges from 13.8 years for males in occupation class 2 to 13.1 years for females in occupation class 4;</a:t>
            </a:r>
          </a:p>
          <a:p>
            <a:r>
              <a:rPr lang="en-US" dirty="0"/>
              <a:t>NNPLE ranges from 0.4 years for males in occupation class 2 to 1.2 years for females in occupation class 4</a:t>
            </a:r>
            <a:endParaRPr lang="en-GB" dirty="0"/>
          </a:p>
        </p:txBody>
      </p:sp>
      <p:sp>
        <p:nvSpPr>
          <p:cNvPr id="4" name="Slide Number Placeholder 3"/>
          <p:cNvSpPr>
            <a:spLocks noGrp="1"/>
          </p:cNvSpPr>
          <p:nvPr>
            <p:ph type="sldNum" sz="quarter" idx="5"/>
          </p:nvPr>
        </p:nvSpPr>
        <p:spPr/>
        <p:txBody>
          <a:bodyPr/>
          <a:lstStyle/>
          <a:p>
            <a:fld id="{818DC993-C0AB-7145-A5E3-AB377573BF85}" type="slidenum">
              <a:rPr lang="en-US" smtClean="0"/>
              <a:t>26</a:t>
            </a:fld>
            <a:endParaRPr lang="en-US"/>
          </a:p>
        </p:txBody>
      </p:sp>
    </p:spTree>
    <p:extLst>
      <p:ext uri="{BB962C8B-B14F-4D97-AF65-F5344CB8AC3E}">
        <p14:creationId xmlns:p14="http://schemas.microsoft.com/office/powerpoint/2010/main" val="12431915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Much of the literature focusses on a single starting age for calculating HWLE and this is typically chosen to be age 50. </a:t>
            </a:r>
          </a:p>
          <a:p>
            <a:r>
              <a:rPr lang="en-US" dirty="0"/>
              <a:t>Furthermore, they are based on population survey data and not a specific cohort, such as those people who are currently working.  </a:t>
            </a:r>
          </a:p>
          <a:p>
            <a:r>
              <a:rPr lang="en-US" dirty="0"/>
              <a:t>As such, there are only a small number of comparable results in the literature and, even those are not exactly like-for-like.</a:t>
            </a:r>
          </a:p>
          <a:p>
            <a:r>
              <a:rPr lang="en-US" dirty="0"/>
              <a:t>The most comparable work identified is that of Parker et al. (Parker et al. 2020b), who developed estimates of HWLE for lives starting at age 50. </a:t>
            </a:r>
          </a:p>
          <a:p>
            <a:r>
              <a:rPr lang="en-US" dirty="0"/>
              <a:t>That work was based on a representative sample of the UK population aged 50 and older.  </a:t>
            </a:r>
          </a:p>
          <a:p>
            <a:r>
              <a:rPr lang="en-US" dirty="0"/>
              <a:t>Most of their results presented show the average time spent in each of 4 healthy/working states from age 50 onwards. </a:t>
            </a:r>
          </a:p>
          <a:p>
            <a:r>
              <a:rPr lang="en-US" dirty="0"/>
              <a:t>This means that retirement is not considered and also that lives can be in any of the 4 states at age 50, unlike in our modelling in which all lives start in the Working state.  </a:t>
            </a:r>
          </a:p>
          <a:p>
            <a:r>
              <a:rPr lang="en-US" dirty="0"/>
              <a:t>Parker does present some results for lives starting in the Healthy and Working state at age 50.  </a:t>
            </a:r>
          </a:p>
          <a:p>
            <a:r>
              <a:rPr lang="en-US" dirty="0"/>
              <a:t>"People who were healthy and in work at age 50 years had a healthy working life expectancy of 10·81 years…" </a:t>
            </a:r>
          </a:p>
          <a:p>
            <a:endParaRPr lang="en-US" dirty="0"/>
          </a:p>
          <a:p>
            <a:r>
              <a:rPr lang="en-US" dirty="0"/>
              <a:t>From this, we can infer that the Healthy Working Partial Life Expectancy most comparable to our result is (the sum of HWLE and Not-Healthy but in Work LE)), meaning 10.81 + 1.67 = 12.48 years.  </a:t>
            </a:r>
          </a:p>
          <a:p>
            <a:r>
              <a:rPr lang="en-US" dirty="0"/>
              <a:t>This compares to our results of 13.6 years (OC1), 13.8 years (OC2), 13.5 years (OC3) and 13.3 years (OC4). </a:t>
            </a:r>
          </a:p>
          <a:p>
            <a:r>
              <a:rPr lang="en-US" dirty="0"/>
              <a:t>The Parker result represents the general UK population whereas the CMI IP11 rates represent insured lives, so are different population segments. Additionally, the CMI IP11 rates are claim inception rates which ignore short durations of sickness and are based on definition of sickness under IP insurance policies rather than self-reported health survey responses.  </a:t>
            </a:r>
          </a:p>
          <a:p>
            <a:r>
              <a:rPr lang="en-US" dirty="0"/>
              <a:t>Due to both the population segment and the definition of sickness/health, it is not unreasonable to expect the Parker result to be lower than the results based on the CMI IP11 rates.  </a:t>
            </a:r>
          </a:p>
          <a:p>
            <a:r>
              <a:rPr lang="en-US" dirty="0"/>
              <a:t>Additionally, Parker's method includes the possibility of people being healthy and working at ages above 65, whereas our modelling intentionally truncates the working life at age 65.  </a:t>
            </a:r>
          </a:p>
          <a:p>
            <a:r>
              <a:rPr lang="en-US" dirty="0"/>
              <a:t>This modelling assumption causes our HWPLE to be lower than Parker's HWLE, all else being equal.</a:t>
            </a:r>
          </a:p>
          <a:p>
            <a:r>
              <a:rPr lang="en-US" dirty="0"/>
              <a:t>Although both Parker and our model generate results for not-healthy-not-working, Parker‘s NHNW results include time periods post-retirement whereas our results are limited by retirement. </a:t>
            </a:r>
          </a:p>
          <a:p>
            <a:r>
              <a:rPr lang="en-US" dirty="0"/>
              <a:t>E.g. In the HWP Tool, for a 50-year-old, the sum of HWPLE and NNPLE is less than 15 years since it assumes 100% retirement at age 65. </a:t>
            </a:r>
          </a:p>
          <a:p>
            <a:r>
              <a:rPr lang="en-US" dirty="0"/>
              <a:t>Parker‘s method does not consider a retirement age.  </a:t>
            </a:r>
          </a:p>
          <a:p>
            <a:r>
              <a:rPr lang="en-US" dirty="0"/>
              <a:t>E.g. Some of the 8.68 years in Parker's NHNW result would be years post-retirement age.</a:t>
            </a:r>
          </a:p>
        </p:txBody>
      </p:sp>
      <p:sp>
        <p:nvSpPr>
          <p:cNvPr id="4" name="Slide Number Placeholder 3"/>
          <p:cNvSpPr>
            <a:spLocks noGrp="1"/>
          </p:cNvSpPr>
          <p:nvPr>
            <p:ph type="sldNum" sz="quarter" idx="5"/>
          </p:nvPr>
        </p:nvSpPr>
        <p:spPr/>
        <p:txBody>
          <a:bodyPr/>
          <a:lstStyle/>
          <a:p>
            <a:fld id="{818DC993-C0AB-7145-A5E3-AB377573BF85}" type="slidenum">
              <a:rPr lang="en-US" smtClean="0"/>
              <a:t>27</a:t>
            </a:fld>
            <a:endParaRPr lang="en-US"/>
          </a:p>
        </p:txBody>
      </p:sp>
    </p:spTree>
    <p:extLst>
      <p:ext uri="{BB962C8B-B14F-4D97-AF65-F5344CB8AC3E}">
        <p14:creationId xmlns:p14="http://schemas.microsoft.com/office/powerpoint/2010/main" val="35161419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Keep Britain Working</a:t>
            </a:r>
          </a:p>
          <a:p>
            <a:r>
              <a:rPr lang="en-US" dirty="0"/>
              <a:t>Over 250 employers, 10 mayoral authorities and all 3 devolved administrations work with Sir Charlie Mayfield, reshaping how disability and ill-health are supported at work.</a:t>
            </a:r>
          </a:p>
          <a:p>
            <a:r>
              <a:rPr lang="en-US" dirty="0"/>
              <a:t>Latest Keep Britain Working report shows shared responsibility and better data, supported by </a:t>
            </a:r>
            <a:r>
              <a:rPr lang="en-US" dirty="0" err="1"/>
              <a:t>personalised</a:t>
            </a:r>
            <a:r>
              <a:rPr lang="en-US" dirty="0"/>
              <a:t> plans will be key to helping people remain in work. </a:t>
            </a:r>
          </a:p>
          <a:p>
            <a:r>
              <a:rPr lang="en-US" dirty="0"/>
              <a:t>A new Workplace Health Intelligence Unit will track sickness absence, return-to-work outcomes and disability participation making workplace health performance visible for the first time.</a:t>
            </a:r>
          </a:p>
          <a:p>
            <a:endParaRPr lang="en-GB" dirty="0"/>
          </a:p>
          <a:p>
            <a:r>
              <a:rPr lang="en-GB" b="1" dirty="0"/>
              <a:t>Health Thinktanks</a:t>
            </a:r>
          </a:p>
          <a:p>
            <a:endParaRPr lang="en-GB" dirty="0"/>
          </a:p>
          <a:p>
            <a:endParaRPr lang="en-GB" dirty="0"/>
          </a:p>
          <a:p>
            <a:r>
              <a:rPr lang="en-GB" b="1" dirty="0" err="1"/>
              <a:t>IFoA</a:t>
            </a:r>
            <a:r>
              <a:rPr lang="en-GB" b="1" dirty="0"/>
              <a:t> Healthy Workforce WP</a:t>
            </a:r>
          </a:p>
          <a:p>
            <a:r>
              <a:rPr lang="en-US" dirty="0"/>
              <a:t>additional scenarios to reflect the planned evolution of UK State Pension Age and also incorporating estimates of rates of early retirements;</a:t>
            </a:r>
          </a:p>
          <a:p>
            <a:r>
              <a:rPr lang="en-US" dirty="0"/>
              <a:t>alternative definitions of 'healthy' and 'working';</a:t>
            </a:r>
          </a:p>
          <a:p>
            <a:r>
              <a:rPr lang="en-US" dirty="0"/>
              <a:t>rates derived from CMI data over time periods to give indications of trends over time;</a:t>
            </a:r>
          </a:p>
          <a:p>
            <a:r>
              <a:rPr lang="en-US" dirty="0"/>
              <a:t>rates derived from population surveys to provide further benchmarks against the whole UK working-age population and comparisons against the literature;</a:t>
            </a:r>
          </a:p>
          <a:p>
            <a:r>
              <a:rPr lang="en-US" dirty="0"/>
              <a:t>transition rates that are derived from administrative data held by UK public authorities that administer sickness and incapacity benefits;</a:t>
            </a:r>
          </a:p>
          <a:p>
            <a:r>
              <a:rPr lang="en-US" dirty="0"/>
              <a:t>transition rates that are derived from administrative data from other countries to enable international comparisons.</a:t>
            </a:r>
          </a:p>
          <a:p>
            <a:endParaRPr lang="en-GB" dirty="0"/>
          </a:p>
        </p:txBody>
      </p:sp>
      <p:sp>
        <p:nvSpPr>
          <p:cNvPr id="4" name="Slide Number Placeholder 3"/>
          <p:cNvSpPr>
            <a:spLocks noGrp="1"/>
          </p:cNvSpPr>
          <p:nvPr>
            <p:ph type="sldNum" sz="quarter" idx="5"/>
          </p:nvPr>
        </p:nvSpPr>
        <p:spPr/>
        <p:txBody>
          <a:bodyPr/>
          <a:lstStyle/>
          <a:p>
            <a:fld id="{818DC993-C0AB-7145-A5E3-AB377573BF85}" type="slidenum">
              <a:rPr lang="en-US" smtClean="0"/>
              <a:t>28</a:t>
            </a:fld>
            <a:endParaRPr lang="en-US"/>
          </a:p>
        </p:txBody>
      </p:sp>
    </p:spTree>
    <p:extLst>
      <p:ext uri="{BB962C8B-B14F-4D97-AF65-F5344CB8AC3E}">
        <p14:creationId xmlns:p14="http://schemas.microsoft.com/office/powerpoint/2010/main" val="22040723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18DC993-C0AB-7145-A5E3-AB377573BF85}" type="slidenum">
              <a:rPr lang="en-US" smtClean="0"/>
              <a:t>30</a:t>
            </a:fld>
            <a:endParaRPr lang="en-US"/>
          </a:p>
        </p:txBody>
      </p:sp>
    </p:spTree>
    <p:extLst>
      <p:ext uri="{BB962C8B-B14F-4D97-AF65-F5344CB8AC3E}">
        <p14:creationId xmlns:p14="http://schemas.microsoft.com/office/powerpoint/2010/main" val="18761992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Survey-based analyses use definitions that are based on answers provided by survey respondents. </a:t>
            </a:r>
          </a:p>
          <a:p>
            <a:r>
              <a:rPr lang="en-US" dirty="0"/>
              <a:t>Answers to specific questions are used to classify the respondents into the states of interest, such as with the analyses that use results from the English Longitudinal Survey of Aging (ELSA) (Banks et al. 2021).</a:t>
            </a:r>
          </a:p>
          <a:p>
            <a:endParaRPr lang="en-US" dirty="0"/>
          </a:p>
          <a:p>
            <a:r>
              <a:rPr lang="en-US" dirty="0"/>
              <a:t>CMI IP portfolio data is based on administrative data of Income Protection portfolios and reflects actual transitions between working and not working due to ill-health (limited by the effect of IP deferred periods).  </a:t>
            </a:r>
          </a:p>
          <a:p>
            <a:r>
              <a:rPr lang="en-US" dirty="0"/>
              <a:t>However, the IP data does not collect data on health status whilst working, or during the IP policy deferred period. Insurers may have collected some data at the policy application underwriting stage but this is not routinely collected by the CMI.</a:t>
            </a:r>
          </a:p>
          <a:p>
            <a:endParaRPr lang="en-GB" dirty="0"/>
          </a:p>
        </p:txBody>
      </p:sp>
      <p:sp>
        <p:nvSpPr>
          <p:cNvPr id="4" name="Slide Number Placeholder 3"/>
          <p:cNvSpPr>
            <a:spLocks noGrp="1"/>
          </p:cNvSpPr>
          <p:nvPr>
            <p:ph type="sldNum" sz="quarter" idx="5"/>
          </p:nvPr>
        </p:nvSpPr>
        <p:spPr/>
        <p:txBody>
          <a:bodyPr/>
          <a:lstStyle/>
          <a:p>
            <a:fld id="{818DC993-C0AB-7145-A5E3-AB377573BF85}" type="slidenum">
              <a:rPr lang="en-US" smtClean="0"/>
              <a:t>36</a:t>
            </a:fld>
            <a:endParaRPr lang="en-US"/>
          </a:p>
        </p:txBody>
      </p:sp>
    </p:spTree>
    <p:extLst>
      <p:ext uri="{BB962C8B-B14F-4D97-AF65-F5344CB8AC3E}">
        <p14:creationId xmlns:p14="http://schemas.microsoft.com/office/powerpoint/2010/main" val="8427137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430A36B0-3645-2D4E-5091-6E9F267DFA8F}"/>
              </a:ext>
            </a:extLst>
          </p:cNvPr>
          <p:cNvPicPr>
            <a:picLocks noChangeAspect="1"/>
          </p:cNvPicPr>
          <p:nvPr userDrawn="1"/>
        </p:nvPicPr>
        <p:blipFill>
          <a:blip r:embed="rId3"/>
          <a:stretch>
            <a:fillRect/>
          </a:stretch>
        </p:blipFill>
        <p:spPr>
          <a:xfrm rot="16200000">
            <a:off x="-5815115" y="-1003495"/>
            <a:ext cx="12640733" cy="9071198"/>
          </a:xfrm>
          <a:prstGeom prst="rect">
            <a:avLst/>
          </a:prstGeom>
        </p:spPr>
      </p:pic>
      <p:pic>
        <p:nvPicPr>
          <p:cNvPr id="2" name="Picture 1">
            <a:extLst>
              <a:ext uri="{FF2B5EF4-FFF2-40B4-BE49-F238E27FC236}">
                <a16:creationId xmlns:a16="http://schemas.microsoft.com/office/drawing/2014/main" id="{B4A47AF0-8829-2C0D-597E-33E16B982DBF}"/>
              </a:ext>
            </a:extLst>
          </p:cNvPr>
          <p:cNvPicPr>
            <a:picLocks noChangeAspect="1"/>
          </p:cNvPicPr>
          <p:nvPr userDrawn="1"/>
        </p:nvPicPr>
        <p:blipFill>
          <a:blip r:embed="rId3"/>
          <a:stretch>
            <a:fillRect/>
          </a:stretch>
        </p:blipFill>
        <p:spPr>
          <a:xfrm rot="17379320">
            <a:off x="10602392" y="-758731"/>
            <a:ext cx="12640733" cy="9071198"/>
          </a:xfrm>
          <a:prstGeom prst="rect">
            <a:avLst/>
          </a:prstGeom>
        </p:spPr>
      </p:pic>
      <p:sp>
        <p:nvSpPr>
          <p:cNvPr id="8" name="Footer Placeholder 4">
            <a:extLst>
              <a:ext uri="{FF2B5EF4-FFF2-40B4-BE49-F238E27FC236}">
                <a16:creationId xmlns:a16="http://schemas.microsoft.com/office/drawing/2014/main" id="{15C406F6-FE38-14E0-8BF8-B9AC42B3EF15}"/>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bg1"/>
                </a:solidFill>
              </a:defRPr>
            </a:lvl1pPr>
          </a:lstStyle>
          <a:p>
            <a:r>
              <a:rPr lang="en-GB"/>
              <a:t>IFoA Life Conference</a:t>
            </a:r>
            <a:endParaRPr lang="en-GB" dirty="0"/>
          </a:p>
        </p:txBody>
      </p:sp>
      <p:sp>
        <p:nvSpPr>
          <p:cNvPr id="9" name="Slide Number Placeholder 5">
            <a:extLst>
              <a:ext uri="{FF2B5EF4-FFF2-40B4-BE49-F238E27FC236}">
                <a16:creationId xmlns:a16="http://schemas.microsoft.com/office/drawing/2014/main" id="{C18B60AF-E1FE-C3E6-C9A3-0721F1D08E6F}"/>
              </a:ext>
            </a:extLst>
          </p:cNvPr>
          <p:cNvSpPr>
            <a:spLocks noGrp="1"/>
          </p:cNvSpPr>
          <p:nvPr>
            <p:ph type="sldNum" sz="quarter" idx="4"/>
          </p:nvPr>
        </p:nvSpPr>
        <p:spPr>
          <a:xfrm>
            <a:off x="14573177" y="8382533"/>
            <a:ext cx="529680" cy="486833"/>
          </a:xfrm>
          <a:prstGeom prst="rect">
            <a:avLst/>
          </a:prstGeom>
          <a:solidFill>
            <a:schemeClr val="bg1"/>
          </a:solidFill>
        </p:spPr>
        <p:txBody>
          <a:bodyPr vert="horz" lIns="91440" tIns="45720" rIns="91440" bIns="45720" rtlCol="0" anchor="ctr"/>
          <a:lstStyle>
            <a:lvl1pPr algn="ctr">
              <a:defRPr sz="1200" b="1" i="0">
                <a:solidFill>
                  <a:schemeClr val="tx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cxnSp>
        <p:nvCxnSpPr>
          <p:cNvPr id="10" name="Straight Connector 9">
            <a:extLst>
              <a:ext uri="{FF2B5EF4-FFF2-40B4-BE49-F238E27FC236}">
                <a16:creationId xmlns:a16="http://schemas.microsoft.com/office/drawing/2014/main" id="{A0CB7D33-8423-976F-F4E8-092F373CB4D4}"/>
              </a:ext>
            </a:extLst>
          </p:cNvPr>
          <p:cNvCxnSpPr>
            <a:cxnSpLocks/>
          </p:cNvCxnSpPr>
          <p:nvPr userDrawn="1"/>
        </p:nvCxnSpPr>
        <p:spPr>
          <a:xfrm>
            <a:off x="14411899" y="8360757"/>
            <a:ext cx="0" cy="530384"/>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A334B112-156D-B47A-A01E-403E49BC030A}"/>
              </a:ext>
            </a:extLst>
          </p:cNvPr>
          <p:cNvPicPr>
            <a:picLocks noChangeAspect="1"/>
          </p:cNvPicPr>
          <p:nvPr userDrawn="1"/>
        </p:nvPicPr>
        <p:blipFill>
          <a:blip r:embed="rId4" cstate="email">
            <a:extLst>
              <a:ext uri="{28A0092B-C50C-407E-A947-70E740481C1C}">
                <a14:useLocalDpi xmlns:a14="http://schemas.microsoft.com/office/drawing/2010/main" val="0"/>
              </a:ext>
            </a:extLst>
          </a:blip>
          <a:srcRect/>
          <a:stretch/>
        </p:blipFill>
        <p:spPr>
          <a:xfrm>
            <a:off x="12850415" y="8348409"/>
            <a:ext cx="1366353" cy="555080"/>
          </a:xfrm>
          <a:prstGeom prst="rect">
            <a:avLst/>
          </a:prstGeom>
        </p:spPr>
      </p:pic>
      <p:cxnSp>
        <p:nvCxnSpPr>
          <p:cNvPr id="14" name="Straight Connector 13">
            <a:extLst>
              <a:ext uri="{FF2B5EF4-FFF2-40B4-BE49-F238E27FC236}">
                <a16:creationId xmlns:a16="http://schemas.microsoft.com/office/drawing/2014/main" id="{AECD1887-4E9C-5FF9-418B-2EFD255594FE}"/>
              </a:ext>
            </a:extLst>
          </p:cNvPr>
          <p:cNvCxnSpPr>
            <a:cxnSpLocks/>
          </p:cNvCxnSpPr>
          <p:nvPr userDrawn="1"/>
        </p:nvCxnSpPr>
        <p:spPr>
          <a:xfrm>
            <a:off x="12689014" y="8360757"/>
            <a:ext cx="0" cy="530384"/>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itle Placeholder 1">
            <a:extLst>
              <a:ext uri="{FF2B5EF4-FFF2-40B4-BE49-F238E27FC236}">
                <a16:creationId xmlns:a16="http://schemas.microsoft.com/office/drawing/2014/main" id="{6AA7276D-7192-0B34-473D-EA39E90AE910}"/>
              </a:ext>
            </a:extLst>
          </p:cNvPr>
          <p:cNvSpPr>
            <a:spLocks noGrp="1"/>
          </p:cNvSpPr>
          <p:nvPr>
            <p:ph type="title" hasCustomPrompt="1"/>
          </p:nvPr>
        </p:nvSpPr>
        <p:spPr>
          <a:xfrm>
            <a:off x="4186804" y="3896206"/>
            <a:ext cx="7882392" cy="1836584"/>
          </a:xfrm>
          <a:prstGeom prst="rect">
            <a:avLst/>
          </a:prstGeom>
        </p:spPr>
        <p:txBody>
          <a:bodyPr vert="horz" lIns="91440" tIns="45720" rIns="91440" bIns="45720" rtlCol="0" anchor="t">
            <a:noAutofit/>
          </a:bodyPr>
          <a:lstStyle>
            <a:lvl1pPr algn="ctr">
              <a:lnSpc>
                <a:spcPct val="90000"/>
              </a:lnSpc>
              <a:defRPr sz="7000" b="1" i="0">
                <a:solidFill>
                  <a:schemeClr val="bg1"/>
                </a:solidFill>
                <a:latin typeface="Arial" panose="020B0604020202020204" pitchFamily="34" charset="0"/>
                <a:cs typeface="Arial" panose="020B0604020202020204" pitchFamily="34" charset="0"/>
              </a:defRPr>
            </a:lvl1pPr>
          </a:lstStyle>
          <a:p>
            <a:r>
              <a:rPr lang="en-US" dirty="0"/>
              <a:t>IFoA Life</a:t>
            </a:r>
            <a:br>
              <a:rPr lang="en-US" dirty="0"/>
            </a:br>
            <a:r>
              <a:rPr lang="en-US" dirty="0"/>
              <a:t>Conference 2026</a:t>
            </a:r>
            <a:endParaRPr lang="en-GB" dirty="0"/>
          </a:p>
        </p:txBody>
      </p:sp>
      <p:pic>
        <p:nvPicPr>
          <p:cNvPr id="11" name="Picture 10">
            <a:extLst>
              <a:ext uri="{FF2B5EF4-FFF2-40B4-BE49-F238E27FC236}">
                <a16:creationId xmlns:a16="http://schemas.microsoft.com/office/drawing/2014/main" id="{EC12CC90-F950-8886-A0EB-8ABBD93C877B}"/>
              </a:ext>
            </a:extLst>
          </p:cNvPr>
          <p:cNvPicPr>
            <a:picLocks noChangeAspect="1"/>
          </p:cNvPicPr>
          <p:nvPr userDrawn="1"/>
        </p:nvPicPr>
        <p:blipFill>
          <a:blip r:embed="rId5" cstate="email">
            <a:extLst>
              <a:ext uri="{28A0092B-C50C-407E-A947-70E740481C1C}">
                <a14:useLocalDpi xmlns:a14="http://schemas.microsoft.com/office/drawing/2010/main" val="0"/>
              </a:ext>
            </a:extLst>
          </a:blip>
          <a:srcRect/>
          <a:stretch/>
        </p:blipFill>
        <p:spPr>
          <a:xfrm>
            <a:off x="6781798" y="2438316"/>
            <a:ext cx="2692398" cy="1093787"/>
          </a:xfrm>
          <a:prstGeom prst="rect">
            <a:avLst/>
          </a:prstGeom>
        </p:spPr>
      </p:pic>
    </p:spTree>
    <p:extLst>
      <p:ext uri="{BB962C8B-B14F-4D97-AF65-F5344CB8AC3E}">
        <p14:creationId xmlns:p14="http://schemas.microsoft.com/office/powerpoint/2010/main" val="29557888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23" name="Content Placeholder 9">
            <a:extLst>
              <a:ext uri="{FF2B5EF4-FFF2-40B4-BE49-F238E27FC236}">
                <a16:creationId xmlns:a16="http://schemas.microsoft.com/office/drawing/2014/main" id="{0C532851-4697-4B02-B344-E4852AF78CBF}"/>
              </a:ext>
            </a:extLst>
          </p:cNvPr>
          <p:cNvSpPr>
            <a:spLocks noGrp="1"/>
          </p:cNvSpPr>
          <p:nvPr>
            <p:ph sz="quarter" idx="13" hasCustomPrompt="1"/>
          </p:nvPr>
        </p:nvSpPr>
        <p:spPr>
          <a:xfrm>
            <a:off x="1104904" y="2269323"/>
            <a:ext cx="14020800" cy="5659894"/>
          </a:xfr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3"/>
              </a:buClr>
              <a:buFont typeface="Arial" panose="020B0604020202020204" pitchFamily="34" charset="0"/>
              <a:buChar char="•"/>
              <a:defRPr sz="2600">
                <a:solidFill>
                  <a:schemeClr val="tx1"/>
                </a:solidFill>
              </a:defRPr>
            </a:lvl2pPr>
            <a:lvl3pPr marL="1523962" indent="-304792">
              <a:buClr>
                <a:schemeClr val="accent3"/>
              </a:buClr>
              <a:buFont typeface="Arial" panose="020B0604020202020204" pitchFamily="34" charset="0"/>
              <a:buChar char="•"/>
              <a:defRPr sz="2600">
                <a:solidFill>
                  <a:schemeClr val="tx1"/>
                </a:solidFill>
              </a:defRPr>
            </a:lvl3pPr>
            <a:lvl4pPr marL="2133547" indent="-304792">
              <a:buClr>
                <a:schemeClr val="accent3"/>
              </a:buClr>
              <a:buFont typeface="Arial" panose="020B0604020202020204" pitchFamily="34" charset="0"/>
              <a:buChar char="•"/>
              <a:defRPr sz="2600">
                <a:solidFill>
                  <a:schemeClr val="tx1"/>
                </a:solidFill>
              </a:defRPr>
            </a:lvl4pPr>
            <a:lvl5pPr marL="2743131" indent="-304792">
              <a:buClr>
                <a:schemeClr val="accent3"/>
              </a:buClr>
              <a:buFont typeface="Arial" panose="020B0604020202020204" pitchFamily="34" charset="0"/>
              <a:buChar char="•"/>
              <a:defRPr sz="2600">
                <a:solidFill>
                  <a:schemeClr val="tx1"/>
                </a:solidFill>
              </a:defRPr>
            </a:lvl5pPr>
          </a:lstStyle>
          <a:p>
            <a:pPr lvl="0"/>
            <a:r>
              <a:rPr lang="en-GB" dirty="0"/>
              <a:t>Click to add text or click one of the icons below to insert media</a:t>
            </a:r>
          </a:p>
        </p:txBody>
      </p:sp>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4020798" cy="818882"/>
          </a:xfrm>
        </p:spPr>
        <p:txBody>
          <a:bodyPr>
            <a:normAutofit/>
          </a:bodyPr>
          <a:lstStyle>
            <a:lvl1pPr>
              <a:defRPr sz="4400" cap="none" baseline="0"/>
            </a:lvl1pPr>
          </a:lstStyle>
          <a:p>
            <a:r>
              <a:rPr lang="en-US" dirty="0"/>
              <a:t>Title</a:t>
            </a:r>
            <a:endParaRPr lang="en-GB" dirty="0"/>
          </a:p>
        </p:txBody>
      </p:sp>
      <p:sp>
        <p:nvSpPr>
          <p:cNvPr id="15" name="Text Placeholder 7">
            <a:extLst>
              <a:ext uri="{FF2B5EF4-FFF2-40B4-BE49-F238E27FC236}">
                <a16:creationId xmlns:a16="http://schemas.microsoft.com/office/drawing/2014/main" id="{DD26DE28-F20D-4AC8-830A-0B227BBF3E71}"/>
              </a:ext>
            </a:extLst>
          </p:cNvPr>
          <p:cNvSpPr>
            <a:spLocks noGrp="1"/>
          </p:cNvSpPr>
          <p:nvPr>
            <p:ph type="body" sz="quarter" idx="24" hasCustomPrompt="1"/>
          </p:nvPr>
        </p:nvSpPr>
        <p:spPr>
          <a:xfrm>
            <a:off x="1117601" y="1214783"/>
            <a:ext cx="14020798"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
        <p:nvSpPr>
          <p:cNvPr id="6" name="Footer Placeholder 4">
            <a:extLst>
              <a:ext uri="{FF2B5EF4-FFF2-40B4-BE49-F238E27FC236}">
                <a16:creationId xmlns:a16="http://schemas.microsoft.com/office/drawing/2014/main" id="{8F9D7237-5CD7-6037-7D60-81DA36BE7AA4}"/>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7" name="Slide Number Placeholder 5">
            <a:extLst>
              <a:ext uri="{FF2B5EF4-FFF2-40B4-BE49-F238E27FC236}">
                <a16:creationId xmlns:a16="http://schemas.microsoft.com/office/drawing/2014/main" id="{7B4B538E-25FF-2CD8-CF5C-A8AD3F07FE13}"/>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Tree>
    <p:extLst>
      <p:ext uri="{BB962C8B-B14F-4D97-AF65-F5344CB8AC3E}">
        <p14:creationId xmlns:p14="http://schemas.microsoft.com/office/powerpoint/2010/main" val="217297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ngle Column - Half page">
    <p:spTree>
      <p:nvGrpSpPr>
        <p:cNvPr id="1" name=""/>
        <p:cNvGrpSpPr/>
        <p:nvPr/>
      </p:nvGrpSpPr>
      <p:grpSpPr>
        <a:xfrm>
          <a:off x="0" y="0"/>
          <a:ext cx="0" cy="0"/>
          <a:chOff x="0" y="0"/>
          <a:chExt cx="0" cy="0"/>
        </a:xfrm>
      </p:grpSpPr>
      <p:sp>
        <p:nvSpPr>
          <p:cNvPr id="23" name="Content Placeholder 9">
            <a:extLst>
              <a:ext uri="{FF2B5EF4-FFF2-40B4-BE49-F238E27FC236}">
                <a16:creationId xmlns:a16="http://schemas.microsoft.com/office/drawing/2014/main" id="{0C532851-4697-4B02-B344-E4852AF78CBF}"/>
              </a:ext>
            </a:extLst>
          </p:cNvPr>
          <p:cNvSpPr>
            <a:spLocks noGrp="1"/>
          </p:cNvSpPr>
          <p:nvPr>
            <p:ph sz="quarter" idx="13" hasCustomPrompt="1"/>
          </p:nvPr>
        </p:nvSpPr>
        <p:spPr>
          <a:xfrm>
            <a:off x="1104904" y="1562793"/>
            <a:ext cx="6896104" cy="6467302"/>
          </a:xfr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3"/>
              </a:buClr>
              <a:buFont typeface="Arial" panose="020B0604020202020204" pitchFamily="34" charset="0"/>
              <a:buChar char="•"/>
              <a:defRPr sz="2600">
                <a:solidFill>
                  <a:schemeClr val="tx1"/>
                </a:solidFill>
              </a:defRPr>
            </a:lvl2pPr>
            <a:lvl3pPr marL="1523962" indent="-304792">
              <a:buClr>
                <a:schemeClr val="accent3"/>
              </a:buClr>
              <a:buFont typeface="Arial" panose="020B0604020202020204" pitchFamily="34" charset="0"/>
              <a:buChar char="•"/>
              <a:defRPr sz="2600">
                <a:solidFill>
                  <a:schemeClr val="tx1"/>
                </a:solidFill>
              </a:defRPr>
            </a:lvl3pPr>
            <a:lvl4pPr marL="2133547" indent="-304792">
              <a:buClr>
                <a:schemeClr val="accent3"/>
              </a:buClr>
              <a:buFont typeface="Arial" panose="020B0604020202020204" pitchFamily="34" charset="0"/>
              <a:buChar char="•"/>
              <a:defRPr sz="2600">
                <a:solidFill>
                  <a:schemeClr val="tx1"/>
                </a:solidFill>
              </a:defRPr>
            </a:lvl4pPr>
            <a:lvl5pPr marL="2743131" indent="-304792">
              <a:buClr>
                <a:schemeClr val="accent3"/>
              </a:buClr>
              <a:buFont typeface="Arial" panose="020B0604020202020204" pitchFamily="34" charset="0"/>
              <a:buChar char="•"/>
              <a:defRPr sz="2600">
                <a:solidFill>
                  <a:schemeClr val="tx1"/>
                </a:solidFill>
              </a:defRPr>
            </a:lvl5pPr>
          </a:lstStyle>
          <a:p>
            <a:pPr lvl="0"/>
            <a:r>
              <a:rPr lang="en-GB" dirty="0"/>
              <a:t>Click to add text or click one of </a:t>
            </a:r>
            <a:br>
              <a:rPr lang="en-GB" dirty="0"/>
            </a:br>
            <a:r>
              <a:rPr lang="en-GB" dirty="0"/>
              <a:t>the icons below to insert media</a:t>
            </a:r>
          </a:p>
        </p:txBody>
      </p:sp>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4020798" cy="809696"/>
          </a:xfrm>
        </p:spPr>
        <p:txBody>
          <a:bodyPr>
            <a:normAutofit/>
          </a:bodyPr>
          <a:lstStyle>
            <a:lvl1pPr>
              <a:defRPr sz="4400" cap="none" baseline="0"/>
            </a:lvl1pPr>
          </a:lstStyle>
          <a:p>
            <a:r>
              <a:rPr lang="en-US" dirty="0"/>
              <a:t>Title</a:t>
            </a:r>
            <a:endParaRPr lang="en-GB" dirty="0"/>
          </a:p>
        </p:txBody>
      </p:sp>
      <p:sp>
        <p:nvSpPr>
          <p:cNvPr id="7" name="Footer Placeholder 4">
            <a:extLst>
              <a:ext uri="{FF2B5EF4-FFF2-40B4-BE49-F238E27FC236}">
                <a16:creationId xmlns:a16="http://schemas.microsoft.com/office/drawing/2014/main" id="{6F6C5742-1F6C-A710-52FA-1248F020C691}"/>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8" name="Slide Number Placeholder 5">
            <a:extLst>
              <a:ext uri="{FF2B5EF4-FFF2-40B4-BE49-F238E27FC236}">
                <a16:creationId xmlns:a16="http://schemas.microsoft.com/office/drawing/2014/main" id="{A628090A-C45A-2639-D2CB-86DE80ECECC6}"/>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Tree>
    <p:extLst>
      <p:ext uri="{BB962C8B-B14F-4D97-AF65-F5344CB8AC3E}">
        <p14:creationId xmlns:p14="http://schemas.microsoft.com/office/powerpoint/2010/main" val="1616027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ingle Column - Half page - No title">
    <p:spTree>
      <p:nvGrpSpPr>
        <p:cNvPr id="1" name=""/>
        <p:cNvGrpSpPr/>
        <p:nvPr/>
      </p:nvGrpSpPr>
      <p:grpSpPr>
        <a:xfrm>
          <a:off x="0" y="0"/>
          <a:ext cx="0" cy="0"/>
          <a:chOff x="0" y="0"/>
          <a:chExt cx="0" cy="0"/>
        </a:xfrm>
      </p:grpSpPr>
      <p:sp>
        <p:nvSpPr>
          <p:cNvPr id="23" name="Content Placeholder 9">
            <a:extLst>
              <a:ext uri="{FF2B5EF4-FFF2-40B4-BE49-F238E27FC236}">
                <a16:creationId xmlns:a16="http://schemas.microsoft.com/office/drawing/2014/main" id="{0C532851-4697-4B02-B344-E4852AF78CBF}"/>
              </a:ext>
            </a:extLst>
          </p:cNvPr>
          <p:cNvSpPr>
            <a:spLocks noGrp="1"/>
          </p:cNvSpPr>
          <p:nvPr>
            <p:ph sz="quarter" idx="13" hasCustomPrompt="1"/>
          </p:nvPr>
        </p:nvSpPr>
        <p:spPr>
          <a:xfrm>
            <a:off x="1104904" y="575035"/>
            <a:ext cx="6896104" cy="7455060"/>
          </a:xfr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3"/>
              </a:buClr>
              <a:buFont typeface="Arial" panose="020B0604020202020204" pitchFamily="34" charset="0"/>
              <a:buChar char="•"/>
              <a:defRPr sz="2600">
                <a:solidFill>
                  <a:schemeClr val="tx1"/>
                </a:solidFill>
              </a:defRPr>
            </a:lvl2pPr>
            <a:lvl3pPr marL="1523962" indent="-304792">
              <a:buClr>
                <a:schemeClr val="accent3"/>
              </a:buClr>
              <a:buFont typeface="Arial" panose="020B0604020202020204" pitchFamily="34" charset="0"/>
              <a:buChar char="•"/>
              <a:defRPr sz="2600">
                <a:solidFill>
                  <a:schemeClr val="tx1"/>
                </a:solidFill>
              </a:defRPr>
            </a:lvl3pPr>
            <a:lvl4pPr marL="2133547" indent="-304792">
              <a:buClr>
                <a:schemeClr val="accent3"/>
              </a:buClr>
              <a:buFont typeface="Arial" panose="020B0604020202020204" pitchFamily="34" charset="0"/>
              <a:buChar char="•"/>
              <a:defRPr sz="2600">
                <a:solidFill>
                  <a:schemeClr val="tx1"/>
                </a:solidFill>
              </a:defRPr>
            </a:lvl4pPr>
            <a:lvl5pPr marL="2743131" indent="-304792">
              <a:buClr>
                <a:schemeClr val="accent3"/>
              </a:buClr>
              <a:buFont typeface="Arial" panose="020B0604020202020204" pitchFamily="34" charset="0"/>
              <a:buChar char="•"/>
              <a:defRPr sz="2600">
                <a:solidFill>
                  <a:schemeClr val="tx1"/>
                </a:solidFill>
              </a:defRPr>
            </a:lvl5pPr>
          </a:lstStyle>
          <a:p>
            <a:pPr lvl="0"/>
            <a:r>
              <a:rPr lang="en-GB" dirty="0"/>
              <a:t>Click to add text or click one of </a:t>
            </a:r>
            <a:br>
              <a:rPr lang="en-GB" dirty="0"/>
            </a:br>
            <a:r>
              <a:rPr lang="en-GB" dirty="0"/>
              <a:t>the icons below to insert media</a:t>
            </a:r>
          </a:p>
        </p:txBody>
      </p:sp>
      <p:sp>
        <p:nvSpPr>
          <p:cNvPr id="7" name="Footer Placeholder 4">
            <a:extLst>
              <a:ext uri="{FF2B5EF4-FFF2-40B4-BE49-F238E27FC236}">
                <a16:creationId xmlns:a16="http://schemas.microsoft.com/office/drawing/2014/main" id="{6F6C5742-1F6C-A710-52FA-1248F020C691}"/>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8" name="Slide Number Placeholder 5">
            <a:extLst>
              <a:ext uri="{FF2B5EF4-FFF2-40B4-BE49-F238E27FC236}">
                <a16:creationId xmlns:a16="http://schemas.microsoft.com/office/drawing/2014/main" id="{A628090A-C45A-2639-D2CB-86DE80ECECC6}"/>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Tree>
    <p:extLst>
      <p:ext uri="{BB962C8B-B14F-4D97-AF65-F5344CB8AC3E}">
        <p14:creationId xmlns:p14="http://schemas.microsoft.com/office/powerpoint/2010/main" val="27812457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wo Columns">
    <p:spTree>
      <p:nvGrpSpPr>
        <p:cNvPr id="1" name=""/>
        <p:cNvGrpSpPr/>
        <p:nvPr/>
      </p:nvGrpSpPr>
      <p:grpSpPr>
        <a:xfrm>
          <a:off x="0" y="0"/>
          <a:ext cx="0" cy="0"/>
          <a:chOff x="0" y="0"/>
          <a:chExt cx="0" cy="0"/>
        </a:xfrm>
      </p:grpSpPr>
      <p:sp>
        <p:nvSpPr>
          <p:cNvPr id="23" name="Content Placeholder 9">
            <a:extLst>
              <a:ext uri="{FF2B5EF4-FFF2-40B4-BE49-F238E27FC236}">
                <a16:creationId xmlns:a16="http://schemas.microsoft.com/office/drawing/2014/main" id="{0C532851-4697-4B02-B344-E4852AF78CBF}"/>
              </a:ext>
            </a:extLst>
          </p:cNvPr>
          <p:cNvSpPr>
            <a:spLocks noGrp="1"/>
          </p:cNvSpPr>
          <p:nvPr>
            <p:ph sz="quarter" idx="13" hasCustomPrompt="1"/>
          </p:nvPr>
        </p:nvSpPr>
        <p:spPr>
          <a:xfrm>
            <a:off x="1104904" y="2269323"/>
            <a:ext cx="6896104" cy="5459310"/>
          </a:xfr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3"/>
              </a:buClr>
              <a:buFont typeface="Arial" panose="020B0604020202020204" pitchFamily="34" charset="0"/>
              <a:buChar char="•"/>
              <a:defRPr sz="2600">
                <a:solidFill>
                  <a:schemeClr val="tx1"/>
                </a:solidFill>
              </a:defRPr>
            </a:lvl2pPr>
            <a:lvl3pPr marL="1523962" indent="-304792">
              <a:buClr>
                <a:schemeClr val="accent3"/>
              </a:buClr>
              <a:buFont typeface="Arial" panose="020B0604020202020204" pitchFamily="34" charset="0"/>
              <a:buChar char="•"/>
              <a:defRPr sz="2600">
                <a:solidFill>
                  <a:schemeClr val="tx1"/>
                </a:solidFill>
              </a:defRPr>
            </a:lvl3pPr>
            <a:lvl4pPr marL="2133547" indent="-304792">
              <a:buClr>
                <a:schemeClr val="accent3"/>
              </a:buClr>
              <a:buFont typeface="Arial" panose="020B0604020202020204" pitchFamily="34" charset="0"/>
              <a:buChar char="•"/>
              <a:defRPr sz="2600">
                <a:solidFill>
                  <a:schemeClr val="tx1"/>
                </a:solidFill>
              </a:defRPr>
            </a:lvl4pPr>
            <a:lvl5pPr marL="2743131" indent="-304792">
              <a:buClr>
                <a:schemeClr val="accent3"/>
              </a:buClr>
              <a:buFont typeface="Arial" panose="020B0604020202020204" pitchFamily="34" charset="0"/>
              <a:buChar char="•"/>
              <a:defRPr sz="2600">
                <a:solidFill>
                  <a:schemeClr val="tx1"/>
                </a:solidFill>
              </a:defRPr>
            </a:lvl5pPr>
          </a:lstStyle>
          <a:p>
            <a:pPr lvl="0"/>
            <a:r>
              <a:rPr lang="en-GB" dirty="0"/>
              <a:t>Click to add text or click one of </a:t>
            </a:r>
            <a:br>
              <a:rPr lang="en-GB" dirty="0"/>
            </a:br>
            <a:r>
              <a:rPr lang="en-GB" dirty="0"/>
              <a:t>the icons below to insert media</a:t>
            </a:r>
          </a:p>
        </p:txBody>
      </p:sp>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4020798" cy="809696"/>
          </a:xfrm>
        </p:spPr>
        <p:txBody>
          <a:bodyPr>
            <a:normAutofit/>
          </a:bodyPr>
          <a:lstStyle>
            <a:lvl1pPr>
              <a:defRPr sz="4400" cap="none" baseline="0"/>
            </a:lvl1pPr>
          </a:lstStyle>
          <a:p>
            <a:r>
              <a:rPr lang="en-US" dirty="0"/>
              <a:t>Title</a:t>
            </a:r>
            <a:endParaRPr lang="en-GB" dirty="0"/>
          </a:p>
        </p:txBody>
      </p:sp>
      <p:sp>
        <p:nvSpPr>
          <p:cNvPr id="9" name="Content Placeholder 9">
            <a:extLst>
              <a:ext uri="{FF2B5EF4-FFF2-40B4-BE49-F238E27FC236}">
                <a16:creationId xmlns:a16="http://schemas.microsoft.com/office/drawing/2014/main" id="{8BE77E02-92D4-079E-ADD9-4455ABC3C3FA}"/>
              </a:ext>
            </a:extLst>
          </p:cNvPr>
          <p:cNvSpPr>
            <a:spLocks noGrp="1"/>
          </p:cNvSpPr>
          <p:nvPr>
            <p:ph sz="quarter" idx="25" hasCustomPrompt="1"/>
          </p:nvPr>
        </p:nvSpPr>
        <p:spPr>
          <a:xfrm>
            <a:off x="8229600" y="2269322"/>
            <a:ext cx="6896104" cy="5459309"/>
          </a:xfr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3"/>
              </a:buClr>
              <a:buFont typeface="Arial" panose="020B0604020202020204" pitchFamily="34" charset="0"/>
              <a:buChar char="•"/>
              <a:defRPr sz="2600">
                <a:solidFill>
                  <a:schemeClr val="tx1"/>
                </a:solidFill>
              </a:defRPr>
            </a:lvl2pPr>
            <a:lvl3pPr marL="1523962" indent="-304792">
              <a:buClr>
                <a:schemeClr val="accent3"/>
              </a:buClr>
              <a:buFont typeface="Arial" panose="020B0604020202020204" pitchFamily="34" charset="0"/>
              <a:buChar char="•"/>
              <a:defRPr sz="2600">
                <a:solidFill>
                  <a:schemeClr val="tx1"/>
                </a:solidFill>
              </a:defRPr>
            </a:lvl3pPr>
            <a:lvl4pPr marL="2133547" indent="-304792">
              <a:buClr>
                <a:schemeClr val="accent3"/>
              </a:buClr>
              <a:buFont typeface="Arial" panose="020B0604020202020204" pitchFamily="34" charset="0"/>
              <a:buChar char="•"/>
              <a:defRPr sz="2600">
                <a:solidFill>
                  <a:schemeClr val="tx1"/>
                </a:solidFill>
              </a:defRPr>
            </a:lvl4pPr>
            <a:lvl5pPr marL="2743131" indent="-304792">
              <a:buClr>
                <a:schemeClr val="accent3"/>
              </a:buClr>
              <a:buFont typeface="Arial" panose="020B0604020202020204" pitchFamily="34" charset="0"/>
              <a:buChar char="•"/>
              <a:defRPr sz="2600">
                <a:solidFill>
                  <a:schemeClr val="tx1"/>
                </a:solidFill>
              </a:defRPr>
            </a:lvl5pPr>
          </a:lstStyle>
          <a:p>
            <a:pPr lvl="0"/>
            <a:r>
              <a:rPr lang="en-GB" dirty="0"/>
              <a:t>Click to add text or click one of </a:t>
            </a:r>
            <a:br>
              <a:rPr lang="en-GB" dirty="0"/>
            </a:br>
            <a:r>
              <a:rPr lang="en-GB" dirty="0"/>
              <a:t>the icons below to insert media</a:t>
            </a:r>
          </a:p>
        </p:txBody>
      </p:sp>
      <p:sp>
        <p:nvSpPr>
          <p:cNvPr id="7" name="Footer Placeholder 4">
            <a:extLst>
              <a:ext uri="{FF2B5EF4-FFF2-40B4-BE49-F238E27FC236}">
                <a16:creationId xmlns:a16="http://schemas.microsoft.com/office/drawing/2014/main" id="{6F6C5742-1F6C-A710-52FA-1248F020C691}"/>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8" name="Slide Number Placeholder 5">
            <a:extLst>
              <a:ext uri="{FF2B5EF4-FFF2-40B4-BE49-F238E27FC236}">
                <a16:creationId xmlns:a16="http://schemas.microsoft.com/office/drawing/2014/main" id="{A628090A-C45A-2639-D2CB-86DE80ECECC6}"/>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
        <p:nvSpPr>
          <p:cNvPr id="2" name="Text Placeholder 7">
            <a:extLst>
              <a:ext uri="{FF2B5EF4-FFF2-40B4-BE49-F238E27FC236}">
                <a16:creationId xmlns:a16="http://schemas.microsoft.com/office/drawing/2014/main" id="{74833094-AB27-5E56-D6CB-92FC23315CD5}"/>
              </a:ext>
            </a:extLst>
          </p:cNvPr>
          <p:cNvSpPr>
            <a:spLocks noGrp="1"/>
          </p:cNvSpPr>
          <p:nvPr>
            <p:ph type="body" sz="quarter" idx="24" hasCustomPrompt="1"/>
          </p:nvPr>
        </p:nvSpPr>
        <p:spPr>
          <a:xfrm>
            <a:off x="1117601" y="1214783"/>
            <a:ext cx="14008103"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Tree>
    <p:extLst>
      <p:ext uri="{BB962C8B-B14F-4D97-AF65-F5344CB8AC3E}">
        <p14:creationId xmlns:p14="http://schemas.microsoft.com/office/powerpoint/2010/main" val="15863248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3923166" cy="809696"/>
          </a:xfrm>
        </p:spPr>
        <p:txBody>
          <a:bodyPr>
            <a:normAutofit/>
          </a:bodyPr>
          <a:lstStyle>
            <a:lvl1pPr>
              <a:defRPr sz="4400" cap="none" baseline="0"/>
            </a:lvl1pPr>
          </a:lstStyle>
          <a:p>
            <a:r>
              <a:rPr lang="en-US" dirty="0"/>
              <a:t>Title</a:t>
            </a:r>
            <a:endParaRPr lang="en-GB" dirty="0"/>
          </a:p>
        </p:txBody>
      </p:sp>
      <p:sp>
        <p:nvSpPr>
          <p:cNvPr id="9" name="Content Placeholder 9">
            <a:extLst>
              <a:ext uri="{FF2B5EF4-FFF2-40B4-BE49-F238E27FC236}">
                <a16:creationId xmlns:a16="http://schemas.microsoft.com/office/drawing/2014/main" id="{1BF38F80-87B4-544B-DF12-C4A9BD9565B0}"/>
              </a:ext>
            </a:extLst>
          </p:cNvPr>
          <p:cNvSpPr>
            <a:spLocks noGrp="1"/>
          </p:cNvSpPr>
          <p:nvPr>
            <p:ph sz="quarter" idx="25" hasCustomPrompt="1"/>
          </p:nvPr>
        </p:nvSpPr>
        <p:spPr>
          <a:xfrm>
            <a:off x="5861501" y="2288900"/>
            <a:ext cx="4435365" cy="5784615"/>
          </a:xfr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3"/>
              </a:buClr>
              <a:buFont typeface="Arial" panose="020B0604020202020204" pitchFamily="34" charset="0"/>
              <a:buChar char="•"/>
              <a:defRPr sz="2600">
                <a:solidFill>
                  <a:schemeClr val="tx1"/>
                </a:solidFill>
              </a:defRPr>
            </a:lvl2pPr>
            <a:lvl3pPr marL="1523962" indent="-304792">
              <a:buClr>
                <a:schemeClr val="accent3"/>
              </a:buClr>
              <a:buFont typeface="Arial" panose="020B0604020202020204" pitchFamily="34" charset="0"/>
              <a:buChar char="•"/>
              <a:defRPr sz="2600">
                <a:solidFill>
                  <a:schemeClr val="tx1"/>
                </a:solidFill>
              </a:defRPr>
            </a:lvl3pPr>
            <a:lvl4pPr marL="2133547" indent="-304792">
              <a:buClr>
                <a:schemeClr val="accent3"/>
              </a:buClr>
              <a:buFont typeface="Arial" panose="020B0604020202020204" pitchFamily="34" charset="0"/>
              <a:buChar char="•"/>
              <a:defRPr sz="2600">
                <a:solidFill>
                  <a:schemeClr val="tx1"/>
                </a:solidFill>
              </a:defRPr>
            </a:lvl4pPr>
            <a:lvl5pPr marL="2743131" indent="-304792">
              <a:buClr>
                <a:schemeClr val="accent3"/>
              </a:buClr>
              <a:buFont typeface="Arial" panose="020B0604020202020204" pitchFamily="34" charset="0"/>
              <a:buChar char="•"/>
              <a:defRPr sz="2600">
                <a:solidFill>
                  <a:schemeClr val="tx1"/>
                </a:solidFill>
              </a:defRPr>
            </a:lvl5pPr>
          </a:lstStyle>
          <a:p>
            <a:pPr lvl="0"/>
            <a:r>
              <a:rPr lang="en-GB" dirty="0"/>
              <a:t>Click to add text or click one of the icons below to insert media</a:t>
            </a:r>
          </a:p>
        </p:txBody>
      </p:sp>
      <p:sp>
        <p:nvSpPr>
          <p:cNvPr id="10" name="Content Placeholder 9">
            <a:extLst>
              <a:ext uri="{FF2B5EF4-FFF2-40B4-BE49-F238E27FC236}">
                <a16:creationId xmlns:a16="http://schemas.microsoft.com/office/drawing/2014/main" id="{BD3A9E38-14F9-AA40-C02D-6282D487A775}"/>
              </a:ext>
            </a:extLst>
          </p:cNvPr>
          <p:cNvSpPr>
            <a:spLocks noGrp="1"/>
          </p:cNvSpPr>
          <p:nvPr>
            <p:ph sz="quarter" idx="26" hasCustomPrompt="1"/>
          </p:nvPr>
        </p:nvSpPr>
        <p:spPr>
          <a:xfrm>
            <a:off x="10588739" y="2269308"/>
            <a:ext cx="4435365" cy="5784617"/>
          </a:xfr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1"/>
              </a:buClr>
              <a:buFont typeface="Arial" panose="020B0604020202020204" pitchFamily="34" charset="0"/>
              <a:buChar char="•"/>
              <a:defRPr sz="2600">
                <a:solidFill>
                  <a:srgbClr val="000000"/>
                </a:solidFill>
              </a:defRPr>
            </a:lvl2pPr>
            <a:lvl3pPr marL="1523962" indent="-304792">
              <a:buClr>
                <a:schemeClr val="accent1"/>
              </a:buClr>
              <a:buFont typeface="Arial" panose="020B0604020202020204" pitchFamily="34" charset="0"/>
              <a:buChar char="•"/>
              <a:defRPr sz="2600">
                <a:solidFill>
                  <a:srgbClr val="000000"/>
                </a:solidFill>
              </a:defRPr>
            </a:lvl3pPr>
            <a:lvl4pPr marL="2133547" indent="-304792">
              <a:buClr>
                <a:schemeClr val="accent1"/>
              </a:buClr>
              <a:buFont typeface="Arial" panose="020B0604020202020204" pitchFamily="34" charset="0"/>
              <a:buChar char="•"/>
              <a:defRPr sz="2600">
                <a:solidFill>
                  <a:srgbClr val="000000"/>
                </a:solidFill>
              </a:defRPr>
            </a:lvl4pPr>
            <a:lvl5pPr marL="2743131" indent="-304792">
              <a:buClr>
                <a:schemeClr val="accent1"/>
              </a:buClr>
              <a:buFont typeface="Arial" panose="020B0604020202020204" pitchFamily="34" charset="0"/>
              <a:buChar char="•"/>
              <a:defRPr sz="2600">
                <a:solidFill>
                  <a:srgbClr val="000000"/>
                </a:solidFill>
              </a:defRPr>
            </a:lvl5pPr>
          </a:lstStyle>
          <a:p>
            <a:pPr lvl="0"/>
            <a:r>
              <a:rPr lang="en-GB" dirty="0"/>
              <a:t>Click to add text or click one of the icons below to insert media</a:t>
            </a:r>
          </a:p>
        </p:txBody>
      </p:sp>
      <p:sp>
        <p:nvSpPr>
          <p:cNvPr id="11" name="Content Placeholder 9">
            <a:extLst>
              <a:ext uri="{FF2B5EF4-FFF2-40B4-BE49-F238E27FC236}">
                <a16:creationId xmlns:a16="http://schemas.microsoft.com/office/drawing/2014/main" id="{41675E5F-BA56-6DCE-7584-0ADE83BF6DA3}"/>
              </a:ext>
            </a:extLst>
          </p:cNvPr>
          <p:cNvSpPr>
            <a:spLocks noGrp="1"/>
          </p:cNvSpPr>
          <p:nvPr>
            <p:ph sz="quarter" idx="13" hasCustomPrompt="1"/>
          </p:nvPr>
        </p:nvSpPr>
        <p:spPr>
          <a:xfrm>
            <a:off x="1117600" y="2269322"/>
            <a:ext cx="4435365" cy="5784601"/>
          </a:xfrm>
        </p:spPr>
        <p:txBody>
          <a:bodyPr>
            <a:no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1"/>
              </a:buClr>
              <a:buFont typeface="Arial" panose="020B0604020202020204" pitchFamily="34" charset="0"/>
              <a:buChar char="•"/>
              <a:defRPr sz="2600">
                <a:solidFill>
                  <a:srgbClr val="000000"/>
                </a:solidFill>
              </a:defRPr>
            </a:lvl2pPr>
            <a:lvl3pPr marL="1523962" indent="-304792">
              <a:buClr>
                <a:schemeClr val="accent1"/>
              </a:buClr>
              <a:buFont typeface="Arial" panose="020B0604020202020204" pitchFamily="34" charset="0"/>
              <a:buChar char="•"/>
              <a:defRPr sz="2600">
                <a:solidFill>
                  <a:srgbClr val="000000"/>
                </a:solidFill>
              </a:defRPr>
            </a:lvl3pPr>
            <a:lvl4pPr marL="2133547" indent="-304792">
              <a:buClr>
                <a:schemeClr val="accent1"/>
              </a:buClr>
              <a:buFont typeface="Arial" panose="020B0604020202020204" pitchFamily="34" charset="0"/>
              <a:buChar char="•"/>
              <a:defRPr sz="2600">
                <a:solidFill>
                  <a:srgbClr val="000000"/>
                </a:solidFill>
              </a:defRPr>
            </a:lvl4pPr>
            <a:lvl5pPr marL="2743131" indent="-304792">
              <a:buClr>
                <a:schemeClr val="accent1"/>
              </a:buClr>
              <a:buFont typeface="Arial" panose="020B0604020202020204" pitchFamily="34" charset="0"/>
              <a:buChar char="•"/>
              <a:defRPr sz="2600">
                <a:solidFill>
                  <a:srgbClr val="000000"/>
                </a:solidFill>
              </a:defRPr>
            </a:lvl5pPr>
          </a:lstStyle>
          <a:p>
            <a:pPr lvl="0"/>
            <a:r>
              <a:rPr lang="en-GB" dirty="0"/>
              <a:t>Click to add text or click one of the icons below to insert media</a:t>
            </a:r>
          </a:p>
        </p:txBody>
      </p:sp>
      <p:sp>
        <p:nvSpPr>
          <p:cNvPr id="6" name="Footer Placeholder 4">
            <a:extLst>
              <a:ext uri="{FF2B5EF4-FFF2-40B4-BE49-F238E27FC236}">
                <a16:creationId xmlns:a16="http://schemas.microsoft.com/office/drawing/2014/main" id="{79593CB2-6696-ADC3-FC45-ED65D7E9C798}"/>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7" name="Slide Number Placeholder 5">
            <a:extLst>
              <a:ext uri="{FF2B5EF4-FFF2-40B4-BE49-F238E27FC236}">
                <a16:creationId xmlns:a16="http://schemas.microsoft.com/office/drawing/2014/main" id="{CA2C8A32-0929-1533-11B3-52A19F702984}"/>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
        <p:nvSpPr>
          <p:cNvPr id="2" name="Text Placeholder 7">
            <a:extLst>
              <a:ext uri="{FF2B5EF4-FFF2-40B4-BE49-F238E27FC236}">
                <a16:creationId xmlns:a16="http://schemas.microsoft.com/office/drawing/2014/main" id="{678E6DBA-36BB-2D08-FD0B-EC3034A6A7C8}"/>
              </a:ext>
            </a:extLst>
          </p:cNvPr>
          <p:cNvSpPr>
            <a:spLocks noGrp="1"/>
          </p:cNvSpPr>
          <p:nvPr>
            <p:ph type="body" sz="quarter" idx="24" hasCustomPrompt="1"/>
          </p:nvPr>
        </p:nvSpPr>
        <p:spPr>
          <a:xfrm>
            <a:off x="1117601" y="1214783"/>
            <a:ext cx="13906503"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Tree>
    <p:extLst>
      <p:ext uri="{BB962C8B-B14F-4D97-AF65-F5344CB8AC3E}">
        <p14:creationId xmlns:p14="http://schemas.microsoft.com/office/powerpoint/2010/main" val="4609948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ur columns">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3923166" cy="809696"/>
          </a:xfrm>
        </p:spPr>
        <p:txBody>
          <a:bodyPr>
            <a:normAutofit/>
          </a:bodyPr>
          <a:lstStyle>
            <a:lvl1pPr>
              <a:defRPr sz="4400" cap="none" baseline="0"/>
            </a:lvl1pPr>
          </a:lstStyle>
          <a:p>
            <a:r>
              <a:rPr lang="en-US" dirty="0"/>
              <a:t>Title</a:t>
            </a:r>
            <a:endParaRPr lang="en-GB" dirty="0"/>
          </a:p>
        </p:txBody>
      </p:sp>
      <p:sp>
        <p:nvSpPr>
          <p:cNvPr id="11" name="Content Placeholder 9">
            <a:extLst>
              <a:ext uri="{FF2B5EF4-FFF2-40B4-BE49-F238E27FC236}">
                <a16:creationId xmlns:a16="http://schemas.microsoft.com/office/drawing/2014/main" id="{41675E5F-BA56-6DCE-7584-0ADE83BF6DA3}"/>
              </a:ext>
            </a:extLst>
          </p:cNvPr>
          <p:cNvSpPr>
            <a:spLocks noGrp="1"/>
          </p:cNvSpPr>
          <p:nvPr>
            <p:ph sz="quarter" idx="13" hasCustomPrompt="1"/>
          </p:nvPr>
        </p:nvSpPr>
        <p:spPr>
          <a:xfrm>
            <a:off x="1117600" y="2269322"/>
            <a:ext cx="3193143" cy="5784601"/>
          </a:xfrm>
        </p:spPr>
        <p:txBody>
          <a:bodyPr>
            <a:no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1"/>
              </a:buClr>
              <a:buFont typeface="Arial" panose="020B0604020202020204" pitchFamily="34" charset="0"/>
              <a:buChar char="•"/>
              <a:defRPr sz="2600">
                <a:solidFill>
                  <a:srgbClr val="000000"/>
                </a:solidFill>
              </a:defRPr>
            </a:lvl2pPr>
            <a:lvl3pPr marL="1523962" indent="-304792">
              <a:buClr>
                <a:schemeClr val="accent1"/>
              </a:buClr>
              <a:buFont typeface="Arial" panose="020B0604020202020204" pitchFamily="34" charset="0"/>
              <a:buChar char="•"/>
              <a:defRPr sz="2600">
                <a:solidFill>
                  <a:srgbClr val="000000"/>
                </a:solidFill>
              </a:defRPr>
            </a:lvl3pPr>
            <a:lvl4pPr marL="2133547" indent="-304792">
              <a:buClr>
                <a:schemeClr val="accent1"/>
              </a:buClr>
              <a:buFont typeface="Arial" panose="020B0604020202020204" pitchFamily="34" charset="0"/>
              <a:buChar char="•"/>
              <a:defRPr sz="2600">
                <a:solidFill>
                  <a:srgbClr val="000000"/>
                </a:solidFill>
              </a:defRPr>
            </a:lvl4pPr>
            <a:lvl5pPr marL="2743131" indent="-304792">
              <a:buClr>
                <a:schemeClr val="accent1"/>
              </a:buClr>
              <a:buFont typeface="Arial" panose="020B0604020202020204" pitchFamily="34" charset="0"/>
              <a:buChar char="•"/>
              <a:defRPr sz="2600">
                <a:solidFill>
                  <a:srgbClr val="000000"/>
                </a:solidFill>
              </a:defRPr>
            </a:lvl5pPr>
          </a:lstStyle>
          <a:p>
            <a:pPr lvl="0"/>
            <a:r>
              <a:rPr lang="en-GB" dirty="0"/>
              <a:t>Click to add text or click one of the icons below to insert media</a:t>
            </a:r>
          </a:p>
        </p:txBody>
      </p:sp>
      <p:sp>
        <p:nvSpPr>
          <p:cNvPr id="6" name="Footer Placeholder 4">
            <a:extLst>
              <a:ext uri="{FF2B5EF4-FFF2-40B4-BE49-F238E27FC236}">
                <a16:creationId xmlns:a16="http://schemas.microsoft.com/office/drawing/2014/main" id="{79593CB2-6696-ADC3-FC45-ED65D7E9C798}"/>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7" name="Slide Number Placeholder 5">
            <a:extLst>
              <a:ext uri="{FF2B5EF4-FFF2-40B4-BE49-F238E27FC236}">
                <a16:creationId xmlns:a16="http://schemas.microsoft.com/office/drawing/2014/main" id="{CA2C8A32-0929-1533-11B3-52A19F702984}"/>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
        <p:nvSpPr>
          <p:cNvPr id="2" name="Text Placeholder 7">
            <a:extLst>
              <a:ext uri="{FF2B5EF4-FFF2-40B4-BE49-F238E27FC236}">
                <a16:creationId xmlns:a16="http://schemas.microsoft.com/office/drawing/2014/main" id="{678E6DBA-36BB-2D08-FD0B-EC3034A6A7C8}"/>
              </a:ext>
            </a:extLst>
          </p:cNvPr>
          <p:cNvSpPr>
            <a:spLocks noGrp="1"/>
          </p:cNvSpPr>
          <p:nvPr>
            <p:ph type="body" sz="quarter" idx="24" hasCustomPrompt="1"/>
          </p:nvPr>
        </p:nvSpPr>
        <p:spPr>
          <a:xfrm>
            <a:off x="1117601" y="1214783"/>
            <a:ext cx="13906503"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
        <p:nvSpPr>
          <p:cNvPr id="8" name="Content Placeholder 9">
            <a:extLst>
              <a:ext uri="{FF2B5EF4-FFF2-40B4-BE49-F238E27FC236}">
                <a16:creationId xmlns:a16="http://schemas.microsoft.com/office/drawing/2014/main" id="{CED9682E-9637-9A79-3C2C-9884B99CC38F}"/>
              </a:ext>
            </a:extLst>
          </p:cNvPr>
          <p:cNvSpPr>
            <a:spLocks noGrp="1"/>
          </p:cNvSpPr>
          <p:nvPr>
            <p:ph sz="quarter" idx="25" hasCustomPrompt="1"/>
          </p:nvPr>
        </p:nvSpPr>
        <p:spPr>
          <a:xfrm>
            <a:off x="4692953" y="2269322"/>
            <a:ext cx="3193143" cy="5784601"/>
          </a:xfrm>
        </p:spPr>
        <p:txBody>
          <a:bodyPr>
            <a:no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1"/>
              </a:buClr>
              <a:buFont typeface="Arial" panose="020B0604020202020204" pitchFamily="34" charset="0"/>
              <a:buChar char="•"/>
              <a:defRPr sz="2600">
                <a:solidFill>
                  <a:srgbClr val="000000"/>
                </a:solidFill>
              </a:defRPr>
            </a:lvl2pPr>
            <a:lvl3pPr marL="1523962" indent="-304792">
              <a:buClr>
                <a:schemeClr val="accent1"/>
              </a:buClr>
              <a:buFont typeface="Arial" panose="020B0604020202020204" pitchFamily="34" charset="0"/>
              <a:buChar char="•"/>
              <a:defRPr sz="2600">
                <a:solidFill>
                  <a:srgbClr val="000000"/>
                </a:solidFill>
              </a:defRPr>
            </a:lvl3pPr>
            <a:lvl4pPr marL="2133547" indent="-304792">
              <a:buClr>
                <a:schemeClr val="accent1"/>
              </a:buClr>
              <a:buFont typeface="Arial" panose="020B0604020202020204" pitchFamily="34" charset="0"/>
              <a:buChar char="•"/>
              <a:defRPr sz="2600">
                <a:solidFill>
                  <a:srgbClr val="000000"/>
                </a:solidFill>
              </a:defRPr>
            </a:lvl4pPr>
            <a:lvl5pPr marL="2743131" indent="-304792">
              <a:buClr>
                <a:schemeClr val="accent1"/>
              </a:buClr>
              <a:buFont typeface="Arial" panose="020B0604020202020204" pitchFamily="34" charset="0"/>
              <a:buChar char="•"/>
              <a:defRPr sz="2600">
                <a:solidFill>
                  <a:srgbClr val="000000"/>
                </a:solidFill>
              </a:defRPr>
            </a:lvl5pPr>
          </a:lstStyle>
          <a:p>
            <a:pPr marL="0" marR="0" lvl="0" indent="0" algn="l" defTabSz="1219170" rtl="0" eaLnBrk="1" fontAlgn="auto" latinLnBrk="0" hangingPunct="1">
              <a:lnSpc>
                <a:spcPct val="100000"/>
              </a:lnSpc>
              <a:spcBef>
                <a:spcPts val="1333"/>
              </a:spcBef>
              <a:spcAft>
                <a:spcPts val="0"/>
              </a:spcAft>
              <a:buClr>
                <a:schemeClr val="accent3"/>
              </a:buClr>
              <a:buSzTx/>
              <a:buFont typeface="Arial" panose="020B0604020202020204" pitchFamily="34" charset="0"/>
              <a:buNone/>
              <a:tabLst/>
              <a:defRPr/>
            </a:pPr>
            <a:r>
              <a:rPr lang="en-GB" dirty="0"/>
              <a:t>Click to add text or click one of the icons below to insert media</a:t>
            </a:r>
          </a:p>
          <a:p>
            <a:pPr lvl="0"/>
            <a:endParaRPr lang="en-GB" dirty="0"/>
          </a:p>
        </p:txBody>
      </p:sp>
      <p:sp>
        <p:nvSpPr>
          <p:cNvPr id="12" name="Content Placeholder 9">
            <a:extLst>
              <a:ext uri="{FF2B5EF4-FFF2-40B4-BE49-F238E27FC236}">
                <a16:creationId xmlns:a16="http://schemas.microsoft.com/office/drawing/2014/main" id="{441C2E98-E532-B7AA-99DE-FDD3C8C7909C}"/>
              </a:ext>
            </a:extLst>
          </p:cNvPr>
          <p:cNvSpPr>
            <a:spLocks noGrp="1"/>
          </p:cNvSpPr>
          <p:nvPr>
            <p:ph sz="quarter" idx="26" hasCustomPrompt="1"/>
          </p:nvPr>
        </p:nvSpPr>
        <p:spPr>
          <a:xfrm>
            <a:off x="8268306" y="2269322"/>
            <a:ext cx="3193143" cy="5784601"/>
          </a:xfrm>
        </p:spPr>
        <p:txBody>
          <a:bodyPr>
            <a:no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1"/>
              </a:buClr>
              <a:buFont typeface="Arial" panose="020B0604020202020204" pitchFamily="34" charset="0"/>
              <a:buChar char="•"/>
              <a:defRPr sz="2600">
                <a:solidFill>
                  <a:srgbClr val="000000"/>
                </a:solidFill>
              </a:defRPr>
            </a:lvl2pPr>
            <a:lvl3pPr marL="1523962" indent="-304792">
              <a:buClr>
                <a:schemeClr val="accent1"/>
              </a:buClr>
              <a:buFont typeface="Arial" panose="020B0604020202020204" pitchFamily="34" charset="0"/>
              <a:buChar char="•"/>
              <a:defRPr sz="2600">
                <a:solidFill>
                  <a:srgbClr val="000000"/>
                </a:solidFill>
              </a:defRPr>
            </a:lvl3pPr>
            <a:lvl4pPr marL="2133547" indent="-304792">
              <a:buClr>
                <a:schemeClr val="accent1"/>
              </a:buClr>
              <a:buFont typeface="Arial" panose="020B0604020202020204" pitchFamily="34" charset="0"/>
              <a:buChar char="•"/>
              <a:defRPr sz="2600">
                <a:solidFill>
                  <a:srgbClr val="000000"/>
                </a:solidFill>
              </a:defRPr>
            </a:lvl4pPr>
            <a:lvl5pPr marL="2743131" indent="-304792">
              <a:buClr>
                <a:schemeClr val="accent1"/>
              </a:buClr>
              <a:buFont typeface="Arial" panose="020B0604020202020204" pitchFamily="34" charset="0"/>
              <a:buChar char="•"/>
              <a:defRPr sz="2600">
                <a:solidFill>
                  <a:srgbClr val="000000"/>
                </a:solidFill>
              </a:defRPr>
            </a:lvl5pPr>
          </a:lstStyle>
          <a:p>
            <a:pPr marL="0" marR="0" lvl="0" indent="0" algn="l" defTabSz="1219170" rtl="0" eaLnBrk="1" fontAlgn="auto" latinLnBrk="0" hangingPunct="1">
              <a:lnSpc>
                <a:spcPct val="100000"/>
              </a:lnSpc>
              <a:spcBef>
                <a:spcPts val="1333"/>
              </a:spcBef>
              <a:spcAft>
                <a:spcPts val="0"/>
              </a:spcAft>
              <a:buClr>
                <a:schemeClr val="accent3"/>
              </a:buClr>
              <a:buSzTx/>
              <a:buFont typeface="Arial" panose="020B0604020202020204" pitchFamily="34" charset="0"/>
              <a:buNone/>
              <a:tabLst/>
              <a:defRPr/>
            </a:pPr>
            <a:r>
              <a:rPr lang="en-GB" dirty="0"/>
              <a:t>Click to add text or click one of the icons below to insert media</a:t>
            </a:r>
          </a:p>
          <a:p>
            <a:pPr lvl="0"/>
            <a:endParaRPr lang="en-GB" dirty="0"/>
          </a:p>
        </p:txBody>
      </p:sp>
      <p:sp>
        <p:nvSpPr>
          <p:cNvPr id="13" name="Content Placeholder 9">
            <a:extLst>
              <a:ext uri="{FF2B5EF4-FFF2-40B4-BE49-F238E27FC236}">
                <a16:creationId xmlns:a16="http://schemas.microsoft.com/office/drawing/2014/main" id="{4C4DF2BD-647C-8875-244B-203CEF15829C}"/>
              </a:ext>
            </a:extLst>
          </p:cNvPr>
          <p:cNvSpPr>
            <a:spLocks noGrp="1"/>
          </p:cNvSpPr>
          <p:nvPr>
            <p:ph sz="quarter" idx="27" hasCustomPrompt="1"/>
          </p:nvPr>
        </p:nvSpPr>
        <p:spPr>
          <a:xfrm>
            <a:off x="11843658" y="2269322"/>
            <a:ext cx="3193143" cy="5784601"/>
          </a:xfrm>
        </p:spPr>
        <p:txBody>
          <a:bodyPr>
            <a:noAutofit/>
          </a:bodyPr>
          <a:lstStyle>
            <a:lvl1pPr marL="304792" indent="-304792">
              <a:buClr>
                <a:schemeClr val="accent3"/>
              </a:buClr>
              <a:buFont typeface="Arial" panose="020B0604020202020204" pitchFamily="34" charset="0"/>
              <a:buChar char="•"/>
              <a:defRPr sz="2600">
                <a:solidFill>
                  <a:schemeClr val="tx1"/>
                </a:solidFill>
              </a:defRPr>
            </a:lvl1pPr>
            <a:lvl2pPr marL="914377" indent="-304792">
              <a:buClr>
                <a:schemeClr val="accent1"/>
              </a:buClr>
              <a:buFont typeface="Arial" panose="020B0604020202020204" pitchFamily="34" charset="0"/>
              <a:buChar char="•"/>
              <a:defRPr sz="2600">
                <a:solidFill>
                  <a:srgbClr val="000000"/>
                </a:solidFill>
              </a:defRPr>
            </a:lvl2pPr>
            <a:lvl3pPr marL="1523962" indent="-304792">
              <a:buClr>
                <a:schemeClr val="accent1"/>
              </a:buClr>
              <a:buFont typeface="Arial" panose="020B0604020202020204" pitchFamily="34" charset="0"/>
              <a:buChar char="•"/>
              <a:defRPr sz="2600">
                <a:solidFill>
                  <a:srgbClr val="000000"/>
                </a:solidFill>
              </a:defRPr>
            </a:lvl3pPr>
            <a:lvl4pPr marL="2133547" indent="-304792">
              <a:buClr>
                <a:schemeClr val="accent1"/>
              </a:buClr>
              <a:buFont typeface="Arial" panose="020B0604020202020204" pitchFamily="34" charset="0"/>
              <a:buChar char="•"/>
              <a:defRPr sz="2600">
                <a:solidFill>
                  <a:srgbClr val="000000"/>
                </a:solidFill>
              </a:defRPr>
            </a:lvl4pPr>
            <a:lvl5pPr marL="2743131" indent="-304792">
              <a:buClr>
                <a:schemeClr val="accent1"/>
              </a:buClr>
              <a:buFont typeface="Arial" panose="020B0604020202020204" pitchFamily="34" charset="0"/>
              <a:buChar char="•"/>
              <a:defRPr sz="2600">
                <a:solidFill>
                  <a:srgbClr val="000000"/>
                </a:solidFill>
              </a:defRPr>
            </a:lvl5pPr>
          </a:lstStyle>
          <a:p>
            <a:pPr marL="0" marR="0" lvl="0" indent="0" algn="l" defTabSz="1219170" rtl="0" eaLnBrk="1" fontAlgn="auto" latinLnBrk="0" hangingPunct="1">
              <a:lnSpc>
                <a:spcPct val="100000"/>
              </a:lnSpc>
              <a:spcBef>
                <a:spcPts val="1333"/>
              </a:spcBef>
              <a:spcAft>
                <a:spcPts val="0"/>
              </a:spcAft>
              <a:buClr>
                <a:schemeClr val="accent3"/>
              </a:buClr>
              <a:buSzTx/>
              <a:buFont typeface="Arial" panose="020B0604020202020204" pitchFamily="34" charset="0"/>
              <a:buNone/>
              <a:tabLst/>
              <a:defRPr/>
            </a:pPr>
            <a:r>
              <a:rPr lang="en-GB" dirty="0"/>
              <a:t>Click to add text or click one of the icons below to insert media</a:t>
            </a:r>
          </a:p>
          <a:p>
            <a:pPr marL="0" indent="0">
              <a:buNone/>
            </a:pPr>
            <a:endParaRPr lang="en-GB" dirty="0"/>
          </a:p>
        </p:txBody>
      </p:sp>
    </p:spTree>
    <p:extLst>
      <p:ext uri="{BB962C8B-B14F-4D97-AF65-F5344CB8AC3E}">
        <p14:creationId xmlns:p14="http://schemas.microsoft.com/office/powerpoint/2010/main" val="4240001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flowing columns">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4020798" cy="818882"/>
          </a:xfrm>
        </p:spPr>
        <p:txBody>
          <a:bodyPr>
            <a:normAutofit/>
          </a:bodyPr>
          <a:lstStyle>
            <a:lvl1pPr>
              <a:defRPr sz="4400" cap="none" baseline="0"/>
            </a:lvl1pPr>
          </a:lstStyle>
          <a:p>
            <a:r>
              <a:rPr lang="en-US" dirty="0"/>
              <a:t>Title</a:t>
            </a:r>
            <a:endParaRPr lang="en-GB" dirty="0"/>
          </a:p>
        </p:txBody>
      </p:sp>
      <p:sp>
        <p:nvSpPr>
          <p:cNvPr id="15" name="Text Placeholder 7">
            <a:extLst>
              <a:ext uri="{FF2B5EF4-FFF2-40B4-BE49-F238E27FC236}">
                <a16:creationId xmlns:a16="http://schemas.microsoft.com/office/drawing/2014/main" id="{DD26DE28-F20D-4AC8-830A-0B227BBF3E71}"/>
              </a:ext>
            </a:extLst>
          </p:cNvPr>
          <p:cNvSpPr>
            <a:spLocks noGrp="1"/>
          </p:cNvSpPr>
          <p:nvPr>
            <p:ph type="body" sz="quarter" idx="24" hasCustomPrompt="1"/>
          </p:nvPr>
        </p:nvSpPr>
        <p:spPr>
          <a:xfrm>
            <a:off x="1117601" y="1214783"/>
            <a:ext cx="14020798"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
        <p:nvSpPr>
          <p:cNvPr id="6" name="Footer Placeholder 4">
            <a:extLst>
              <a:ext uri="{FF2B5EF4-FFF2-40B4-BE49-F238E27FC236}">
                <a16:creationId xmlns:a16="http://schemas.microsoft.com/office/drawing/2014/main" id="{8F9D7237-5CD7-6037-7D60-81DA36BE7AA4}"/>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7" name="Slide Number Placeholder 5">
            <a:extLst>
              <a:ext uri="{FF2B5EF4-FFF2-40B4-BE49-F238E27FC236}">
                <a16:creationId xmlns:a16="http://schemas.microsoft.com/office/drawing/2014/main" id="{7B4B538E-25FF-2CD8-CF5C-A8AD3F07FE13}"/>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
        <p:nvSpPr>
          <p:cNvPr id="2" name="Text Placeholder 5">
            <a:extLst>
              <a:ext uri="{FF2B5EF4-FFF2-40B4-BE49-F238E27FC236}">
                <a16:creationId xmlns:a16="http://schemas.microsoft.com/office/drawing/2014/main" id="{51A82075-318E-FE63-214B-277AB26AD95E}"/>
              </a:ext>
            </a:extLst>
          </p:cNvPr>
          <p:cNvSpPr>
            <a:spLocks noGrp="1"/>
          </p:cNvSpPr>
          <p:nvPr>
            <p:ph type="body" sz="quarter" idx="13" hasCustomPrompt="1"/>
          </p:nvPr>
        </p:nvSpPr>
        <p:spPr>
          <a:xfrm>
            <a:off x="1117600" y="2033665"/>
            <a:ext cx="14020798" cy="5895552"/>
          </a:xfrm>
        </p:spPr>
        <p:txBody>
          <a:bodyPr numCol="2" spcCol="540000"/>
          <a:lstStyle>
            <a:lvl1pPr marL="0" indent="0">
              <a:buNone/>
              <a:defRPr/>
            </a:lvl1pPr>
          </a:lstStyle>
          <a:p>
            <a:pPr lvl="0"/>
            <a:r>
              <a:rPr lang="en-GB" dirty="0"/>
              <a:t>Click to insert text which flows over 2 columns</a:t>
            </a:r>
          </a:p>
        </p:txBody>
      </p:sp>
    </p:spTree>
    <p:extLst>
      <p:ext uri="{BB962C8B-B14F-4D97-AF65-F5344CB8AC3E}">
        <p14:creationId xmlns:p14="http://schemas.microsoft.com/office/powerpoint/2010/main" val="27819900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 flowing columns">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4020798" cy="818882"/>
          </a:xfrm>
        </p:spPr>
        <p:txBody>
          <a:bodyPr>
            <a:normAutofit/>
          </a:bodyPr>
          <a:lstStyle>
            <a:lvl1pPr>
              <a:defRPr sz="4400" cap="none" baseline="0"/>
            </a:lvl1pPr>
          </a:lstStyle>
          <a:p>
            <a:r>
              <a:rPr lang="en-US" dirty="0"/>
              <a:t>Title</a:t>
            </a:r>
            <a:endParaRPr lang="en-GB" dirty="0"/>
          </a:p>
        </p:txBody>
      </p:sp>
      <p:sp>
        <p:nvSpPr>
          <p:cNvPr id="15" name="Text Placeholder 7">
            <a:extLst>
              <a:ext uri="{FF2B5EF4-FFF2-40B4-BE49-F238E27FC236}">
                <a16:creationId xmlns:a16="http://schemas.microsoft.com/office/drawing/2014/main" id="{DD26DE28-F20D-4AC8-830A-0B227BBF3E71}"/>
              </a:ext>
            </a:extLst>
          </p:cNvPr>
          <p:cNvSpPr>
            <a:spLocks noGrp="1"/>
          </p:cNvSpPr>
          <p:nvPr>
            <p:ph type="body" sz="quarter" idx="24" hasCustomPrompt="1"/>
          </p:nvPr>
        </p:nvSpPr>
        <p:spPr>
          <a:xfrm>
            <a:off x="1117601" y="1214783"/>
            <a:ext cx="14020798"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
        <p:nvSpPr>
          <p:cNvPr id="6" name="Footer Placeholder 4">
            <a:extLst>
              <a:ext uri="{FF2B5EF4-FFF2-40B4-BE49-F238E27FC236}">
                <a16:creationId xmlns:a16="http://schemas.microsoft.com/office/drawing/2014/main" id="{8F9D7237-5CD7-6037-7D60-81DA36BE7AA4}"/>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7" name="Slide Number Placeholder 5">
            <a:extLst>
              <a:ext uri="{FF2B5EF4-FFF2-40B4-BE49-F238E27FC236}">
                <a16:creationId xmlns:a16="http://schemas.microsoft.com/office/drawing/2014/main" id="{7B4B538E-25FF-2CD8-CF5C-A8AD3F07FE13}"/>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
        <p:nvSpPr>
          <p:cNvPr id="3" name="Text Placeholder 5">
            <a:extLst>
              <a:ext uri="{FF2B5EF4-FFF2-40B4-BE49-F238E27FC236}">
                <a16:creationId xmlns:a16="http://schemas.microsoft.com/office/drawing/2014/main" id="{B277027B-C185-A30F-5AED-F092B2367762}"/>
              </a:ext>
            </a:extLst>
          </p:cNvPr>
          <p:cNvSpPr>
            <a:spLocks noGrp="1"/>
          </p:cNvSpPr>
          <p:nvPr>
            <p:ph type="body" sz="quarter" idx="13" hasCustomPrompt="1"/>
          </p:nvPr>
        </p:nvSpPr>
        <p:spPr>
          <a:xfrm>
            <a:off x="1117600" y="2112532"/>
            <a:ext cx="13985257" cy="5625287"/>
          </a:xfrm>
        </p:spPr>
        <p:txBody>
          <a:bodyPr numCol="3" spcCol="360000"/>
          <a:lstStyle>
            <a:lvl1pPr marL="0" indent="0" algn="l">
              <a:buNone/>
              <a:defRPr/>
            </a:lvl1pPr>
          </a:lstStyle>
          <a:p>
            <a:pPr lvl="0"/>
            <a:r>
              <a:rPr lang="en-GB" dirty="0"/>
              <a:t>Click to insert text which flows over 3 columns</a:t>
            </a:r>
          </a:p>
        </p:txBody>
      </p:sp>
    </p:spTree>
    <p:extLst>
      <p:ext uri="{BB962C8B-B14F-4D97-AF65-F5344CB8AC3E}">
        <p14:creationId xmlns:p14="http://schemas.microsoft.com/office/powerpoint/2010/main" val="26199424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 flowing columns">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4020798" cy="818882"/>
          </a:xfrm>
        </p:spPr>
        <p:txBody>
          <a:bodyPr>
            <a:normAutofit/>
          </a:bodyPr>
          <a:lstStyle>
            <a:lvl1pPr>
              <a:defRPr sz="4400" cap="none" baseline="0"/>
            </a:lvl1pPr>
          </a:lstStyle>
          <a:p>
            <a:r>
              <a:rPr lang="en-US" dirty="0"/>
              <a:t>Title</a:t>
            </a:r>
            <a:endParaRPr lang="en-GB" dirty="0"/>
          </a:p>
        </p:txBody>
      </p:sp>
      <p:sp>
        <p:nvSpPr>
          <p:cNvPr id="15" name="Text Placeholder 7">
            <a:extLst>
              <a:ext uri="{FF2B5EF4-FFF2-40B4-BE49-F238E27FC236}">
                <a16:creationId xmlns:a16="http://schemas.microsoft.com/office/drawing/2014/main" id="{DD26DE28-F20D-4AC8-830A-0B227BBF3E71}"/>
              </a:ext>
            </a:extLst>
          </p:cNvPr>
          <p:cNvSpPr>
            <a:spLocks noGrp="1"/>
          </p:cNvSpPr>
          <p:nvPr>
            <p:ph type="body" sz="quarter" idx="24" hasCustomPrompt="1"/>
          </p:nvPr>
        </p:nvSpPr>
        <p:spPr>
          <a:xfrm>
            <a:off x="1117601" y="1214783"/>
            <a:ext cx="14020798"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
        <p:nvSpPr>
          <p:cNvPr id="6" name="Footer Placeholder 4">
            <a:extLst>
              <a:ext uri="{FF2B5EF4-FFF2-40B4-BE49-F238E27FC236}">
                <a16:creationId xmlns:a16="http://schemas.microsoft.com/office/drawing/2014/main" id="{8F9D7237-5CD7-6037-7D60-81DA36BE7AA4}"/>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7" name="Slide Number Placeholder 5">
            <a:extLst>
              <a:ext uri="{FF2B5EF4-FFF2-40B4-BE49-F238E27FC236}">
                <a16:creationId xmlns:a16="http://schemas.microsoft.com/office/drawing/2014/main" id="{7B4B538E-25FF-2CD8-CF5C-A8AD3F07FE13}"/>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
        <p:nvSpPr>
          <p:cNvPr id="2" name="Text Placeholder 5">
            <a:extLst>
              <a:ext uri="{FF2B5EF4-FFF2-40B4-BE49-F238E27FC236}">
                <a16:creationId xmlns:a16="http://schemas.microsoft.com/office/drawing/2014/main" id="{6D0E0B45-EF5B-71C0-EE7B-708421866330}"/>
              </a:ext>
            </a:extLst>
          </p:cNvPr>
          <p:cNvSpPr>
            <a:spLocks noGrp="1"/>
          </p:cNvSpPr>
          <p:nvPr>
            <p:ph type="body" sz="quarter" idx="13" hasCustomPrompt="1"/>
          </p:nvPr>
        </p:nvSpPr>
        <p:spPr>
          <a:xfrm>
            <a:off x="1117600" y="2033665"/>
            <a:ext cx="13985257" cy="6036278"/>
          </a:xfrm>
        </p:spPr>
        <p:txBody>
          <a:bodyPr numCol="4" spcCol="360000"/>
          <a:lstStyle>
            <a:lvl1pPr marL="0" indent="0">
              <a:buNone/>
              <a:defRPr b="0" i="0">
                <a:latin typeface="Arial Light" pitchFamily="2" charset="77"/>
                <a:cs typeface="Arial" panose="020B0604020202020204" pitchFamily="34" charset="0"/>
              </a:defRPr>
            </a:lvl1pPr>
            <a:lvl2pPr>
              <a:defRPr b="0" i="0">
                <a:latin typeface="Arial Light" pitchFamily="2" charset="77"/>
                <a:cs typeface="Arial" panose="020B0604020202020204" pitchFamily="34" charset="0"/>
              </a:defRPr>
            </a:lvl2pPr>
            <a:lvl3pPr>
              <a:defRPr b="0" i="0">
                <a:latin typeface="Arial Light" pitchFamily="2" charset="77"/>
                <a:cs typeface="Arial" panose="020B0604020202020204" pitchFamily="34" charset="0"/>
              </a:defRPr>
            </a:lvl3pPr>
            <a:lvl4pPr>
              <a:defRPr b="0" i="0">
                <a:latin typeface="Arial Light" pitchFamily="2" charset="77"/>
                <a:cs typeface="Arial" panose="020B0604020202020204" pitchFamily="34" charset="0"/>
              </a:defRPr>
            </a:lvl4pPr>
            <a:lvl5pPr>
              <a:defRPr b="0" i="0">
                <a:latin typeface="Arial Light" pitchFamily="2" charset="77"/>
                <a:cs typeface="Arial" panose="020B0604020202020204" pitchFamily="34" charset="0"/>
              </a:defRPr>
            </a:lvl5pPr>
          </a:lstStyle>
          <a:p>
            <a:pPr lvl="0"/>
            <a:r>
              <a:rPr lang="en-GB" dirty="0"/>
              <a:t>Click to insert text which flows over 4 columns</a:t>
            </a:r>
          </a:p>
        </p:txBody>
      </p:sp>
    </p:spTree>
    <p:extLst>
      <p:ext uri="{BB962C8B-B14F-4D97-AF65-F5344CB8AC3E}">
        <p14:creationId xmlns:p14="http://schemas.microsoft.com/office/powerpoint/2010/main" val="3668838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s - in 3rds">
    <p:spTree>
      <p:nvGrpSpPr>
        <p:cNvPr id="1" name=""/>
        <p:cNvGrpSpPr/>
        <p:nvPr/>
      </p:nvGrpSpPr>
      <p:grpSpPr>
        <a:xfrm>
          <a:off x="0" y="0"/>
          <a:ext cx="0" cy="0"/>
          <a:chOff x="0" y="0"/>
          <a:chExt cx="0" cy="0"/>
        </a:xfrm>
      </p:grpSpPr>
      <p:sp>
        <p:nvSpPr>
          <p:cNvPr id="8" name="Content Placeholder 9">
            <a:extLst>
              <a:ext uri="{FF2B5EF4-FFF2-40B4-BE49-F238E27FC236}">
                <a16:creationId xmlns:a16="http://schemas.microsoft.com/office/drawing/2014/main" id="{A8CB7FDC-00A7-7B90-CE40-65AA02F36E99}"/>
              </a:ext>
            </a:extLst>
          </p:cNvPr>
          <p:cNvSpPr>
            <a:spLocks noGrp="1"/>
          </p:cNvSpPr>
          <p:nvPr>
            <p:ph sz="quarter" idx="25" hasCustomPrompt="1"/>
          </p:nvPr>
        </p:nvSpPr>
        <p:spPr>
          <a:xfrm>
            <a:off x="1104904" y="2269323"/>
            <a:ext cx="9177279" cy="5665310"/>
          </a:xfrm>
          <a:prstGeom prst="rect">
            <a:avLst/>
          </a:prstGeom>
        </p:spPr>
        <p:txBody>
          <a:bodyPr>
            <a:normAutofit/>
          </a:bodyPr>
          <a:lstStyle>
            <a:lvl1pPr marL="0" indent="0">
              <a:buClr>
                <a:schemeClr val="accent3"/>
              </a:buClr>
              <a:buFont typeface="Arial" panose="020B0604020202020204" pitchFamily="34" charset="0"/>
              <a:buNone/>
              <a:defRPr sz="2600" baseline="0">
                <a:solidFill>
                  <a:schemeClr val="tx1"/>
                </a:solidFill>
              </a:defRPr>
            </a:lvl1pPr>
            <a:lvl2pPr marL="914377" indent="-304792">
              <a:buClr>
                <a:schemeClr val="accent3"/>
              </a:buClr>
              <a:buFont typeface="Arial" panose="020B0604020202020204" pitchFamily="34" charset="0"/>
              <a:buChar char="•"/>
              <a:defRPr sz="2600">
                <a:solidFill>
                  <a:schemeClr val="tx1"/>
                </a:solidFill>
              </a:defRPr>
            </a:lvl2pPr>
            <a:lvl3pPr marL="1523962" indent="-304792">
              <a:buClr>
                <a:schemeClr val="accent3"/>
              </a:buClr>
              <a:buFont typeface="Arial" panose="020B0604020202020204" pitchFamily="34" charset="0"/>
              <a:buChar char="•"/>
              <a:defRPr sz="2600">
                <a:solidFill>
                  <a:schemeClr val="tx1"/>
                </a:solidFill>
              </a:defRPr>
            </a:lvl3pPr>
            <a:lvl4pPr marL="2133547" indent="-304792">
              <a:buClr>
                <a:schemeClr val="accent3"/>
              </a:buClr>
              <a:buFont typeface="Arial" panose="020B0604020202020204" pitchFamily="34" charset="0"/>
              <a:buChar char="•"/>
              <a:defRPr sz="2600">
                <a:solidFill>
                  <a:schemeClr val="tx1"/>
                </a:solidFill>
              </a:defRPr>
            </a:lvl4pPr>
            <a:lvl5pPr marL="2743131" indent="-304792">
              <a:buClr>
                <a:schemeClr val="accent1"/>
              </a:buClr>
              <a:buFont typeface="Arial" panose="020B0604020202020204" pitchFamily="34" charset="0"/>
              <a:buChar char="•"/>
              <a:defRPr sz="2600">
                <a:solidFill>
                  <a:schemeClr val="tx1">
                    <a:lumMod val="75000"/>
                    <a:lumOff val="25000"/>
                  </a:schemeClr>
                </a:solidFill>
              </a:defRPr>
            </a:lvl5pPr>
          </a:lstStyle>
          <a:p>
            <a:pPr lvl="0"/>
            <a:r>
              <a:rPr lang="en-GB" dirty="0"/>
              <a:t>Click to add text or click one of </a:t>
            </a:r>
            <a:br>
              <a:rPr lang="en-GB" dirty="0"/>
            </a:br>
            <a:r>
              <a:rPr lang="en-GB" dirty="0"/>
              <a:t>the icons below to insert media</a:t>
            </a:r>
          </a:p>
        </p:txBody>
      </p:sp>
      <p:sp>
        <p:nvSpPr>
          <p:cNvPr id="9" name="Content Placeholder 9">
            <a:extLst>
              <a:ext uri="{FF2B5EF4-FFF2-40B4-BE49-F238E27FC236}">
                <a16:creationId xmlns:a16="http://schemas.microsoft.com/office/drawing/2014/main" id="{45924F48-10A6-D386-6573-95AAB40DB4AE}"/>
              </a:ext>
            </a:extLst>
          </p:cNvPr>
          <p:cNvSpPr>
            <a:spLocks noGrp="1"/>
          </p:cNvSpPr>
          <p:nvPr>
            <p:ph sz="quarter" idx="26" hasCustomPrompt="1"/>
          </p:nvPr>
        </p:nvSpPr>
        <p:spPr>
          <a:xfrm>
            <a:off x="10588739" y="2269309"/>
            <a:ext cx="4514118" cy="5665310"/>
          </a:xfrm>
          <a:prstGeom prst="rect">
            <a:avLst/>
          </a:prstGeo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1"/>
              </a:buClr>
              <a:buFont typeface="Arial" panose="020B0604020202020204" pitchFamily="34" charset="0"/>
              <a:buChar char="•"/>
              <a:defRPr sz="2600">
                <a:solidFill>
                  <a:srgbClr val="000000"/>
                </a:solidFill>
              </a:defRPr>
            </a:lvl2pPr>
            <a:lvl3pPr marL="1523962" indent="-304792">
              <a:buClr>
                <a:schemeClr val="accent1"/>
              </a:buClr>
              <a:buFont typeface="Arial" panose="020B0604020202020204" pitchFamily="34" charset="0"/>
              <a:buChar char="•"/>
              <a:defRPr sz="2600">
                <a:solidFill>
                  <a:srgbClr val="000000"/>
                </a:solidFill>
              </a:defRPr>
            </a:lvl3pPr>
            <a:lvl4pPr marL="2133547" indent="-304792">
              <a:buClr>
                <a:schemeClr val="accent1"/>
              </a:buClr>
              <a:buFont typeface="Arial" panose="020B0604020202020204" pitchFamily="34" charset="0"/>
              <a:buChar char="•"/>
              <a:defRPr sz="2600">
                <a:solidFill>
                  <a:srgbClr val="000000"/>
                </a:solidFill>
              </a:defRPr>
            </a:lvl4pPr>
            <a:lvl5pPr marL="2743131" indent="-304792">
              <a:buClr>
                <a:schemeClr val="accent1"/>
              </a:buClr>
              <a:buFont typeface="Arial" panose="020B0604020202020204" pitchFamily="34" charset="0"/>
              <a:buChar char="•"/>
              <a:defRPr sz="2600">
                <a:solidFill>
                  <a:srgbClr val="000000"/>
                </a:solidFill>
              </a:defRPr>
            </a:lvl5pPr>
          </a:lstStyle>
          <a:p>
            <a:pPr lvl="0"/>
            <a:r>
              <a:rPr lang="en-GB" dirty="0"/>
              <a:t>Click one of the icons</a:t>
            </a:r>
            <a:br>
              <a:rPr lang="en-GB" dirty="0"/>
            </a:br>
            <a:r>
              <a:rPr lang="en-GB" dirty="0"/>
              <a:t> below to insert media</a:t>
            </a:r>
          </a:p>
        </p:txBody>
      </p:sp>
      <p:sp>
        <p:nvSpPr>
          <p:cNvPr id="6" name="Footer Placeholder 4">
            <a:extLst>
              <a:ext uri="{FF2B5EF4-FFF2-40B4-BE49-F238E27FC236}">
                <a16:creationId xmlns:a16="http://schemas.microsoft.com/office/drawing/2014/main" id="{B90F4604-732A-2FB0-E6FF-0331577B71A4}"/>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7" name="Slide Number Placeholder 5">
            <a:extLst>
              <a:ext uri="{FF2B5EF4-FFF2-40B4-BE49-F238E27FC236}">
                <a16:creationId xmlns:a16="http://schemas.microsoft.com/office/drawing/2014/main" id="{E0EEF7A8-D589-FB0C-1734-28318341D14F}"/>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
        <p:nvSpPr>
          <p:cNvPr id="2" name="Text Placeholder 7">
            <a:extLst>
              <a:ext uri="{FF2B5EF4-FFF2-40B4-BE49-F238E27FC236}">
                <a16:creationId xmlns:a16="http://schemas.microsoft.com/office/drawing/2014/main" id="{520053E3-B033-D924-C090-76A8F4A33F97}"/>
              </a:ext>
            </a:extLst>
          </p:cNvPr>
          <p:cNvSpPr>
            <a:spLocks noGrp="1"/>
          </p:cNvSpPr>
          <p:nvPr>
            <p:ph type="body" sz="quarter" idx="24" hasCustomPrompt="1"/>
          </p:nvPr>
        </p:nvSpPr>
        <p:spPr>
          <a:xfrm>
            <a:off x="1117601" y="1214783"/>
            <a:ext cx="13985256"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
        <p:nvSpPr>
          <p:cNvPr id="3" name="Title 1">
            <a:extLst>
              <a:ext uri="{FF2B5EF4-FFF2-40B4-BE49-F238E27FC236}">
                <a16:creationId xmlns:a16="http://schemas.microsoft.com/office/drawing/2014/main" id="{7656508B-9D1D-4B9C-D356-97C518AE379C}"/>
              </a:ext>
            </a:extLst>
          </p:cNvPr>
          <p:cNvSpPr>
            <a:spLocks noGrp="1"/>
          </p:cNvSpPr>
          <p:nvPr>
            <p:ph type="title" hasCustomPrompt="1"/>
          </p:nvPr>
        </p:nvSpPr>
        <p:spPr>
          <a:xfrm>
            <a:off x="1117601" y="405087"/>
            <a:ext cx="14020798" cy="818882"/>
          </a:xfrm>
        </p:spPr>
        <p:txBody>
          <a:bodyPr>
            <a:normAutofit/>
          </a:bodyPr>
          <a:lstStyle>
            <a:lvl1pPr>
              <a:defRPr sz="4400" cap="none" baseline="0"/>
            </a:lvl1pPr>
          </a:lstStyle>
          <a:p>
            <a:r>
              <a:rPr lang="en-US" dirty="0"/>
              <a:t>Title</a:t>
            </a:r>
            <a:endParaRPr lang="en-GB" dirty="0"/>
          </a:p>
        </p:txBody>
      </p:sp>
    </p:spTree>
    <p:extLst>
      <p:ext uri="{BB962C8B-B14F-4D97-AF65-F5344CB8AC3E}">
        <p14:creationId xmlns:p14="http://schemas.microsoft.com/office/powerpoint/2010/main" val="6830896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ingle column + image">
    <p:bg>
      <p:bgPr>
        <a:solidFill>
          <a:schemeClr val="bg1"/>
        </a:solidFill>
        <a:effectLst/>
      </p:bgPr>
    </p:bg>
    <p:spTree>
      <p:nvGrpSpPr>
        <p:cNvPr id="1" name=""/>
        <p:cNvGrpSpPr/>
        <p:nvPr/>
      </p:nvGrpSpPr>
      <p:grpSpPr>
        <a:xfrm>
          <a:off x="0" y="0"/>
          <a:ext cx="0" cy="0"/>
          <a:chOff x="0" y="0"/>
          <a:chExt cx="0" cy="0"/>
        </a:xfrm>
      </p:grpSpPr>
      <p:sp>
        <p:nvSpPr>
          <p:cNvPr id="15" name="Content Placeholder 9">
            <a:extLst>
              <a:ext uri="{FF2B5EF4-FFF2-40B4-BE49-F238E27FC236}">
                <a16:creationId xmlns:a16="http://schemas.microsoft.com/office/drawing/2014/main" id="{32F0192D-E8DE-61E3-DEC9-05AD0EC85990}"/>
              </a:ext>
            </a:extLst>
          </p:cNvPr>
          <p:cNvSpPr>
            <a:spLocks noGrp="1"/>
          </p:cNvSpPr>
          <p:nvPr>
            <p:ph sz="quarter" idx="13" hasCustomPrompt="1"/>
          </p:nvPr>
        </p:nvSpPr>
        <p:spPr>
          <a:xfrm>
            <a:off x="1117600" y="2271252"/>
            <a:ext cx="7835898" cy="5438577"/>
          </a:xfr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3"/>
              </a:buClr>
              <a:buFont typeface="Arial" panose="020B0604020202020204" pitchFamily="34" charset="0"/>
              <a:buChar char="•"/>
              <a:defRPr sz="2600">
                <a:solidFill>
                  <a:schemeClr val="tx1"/>
                </a:solidFill>
              </a:defRPr>
            </a:lvl2pPr>
            <a:lvl3pPr marL="1523962" indent="-304792">
              <a:buClr>
                <a:schemeClr val="accent3"/>
              </a:buClr>
              <a:buFont typeface="Arial" panose="020B0604020202020204" pitchFamily="34" charset="0"/>
              <a:buChar char="•"/>
              <a:defRPr sz="2600">
                <a:solidFill>
                  <a:schemeClr val="tx1"/>
                </a:solidFill>
              </a:defRPr>
            </a:lvl3pPr>
            <a:lvl4pPr marL="2133547" indent="-304792">
              <a:buClr>
                <a:schemeClr val="accent3"/>
              </a:buClr>
              <a:buFont typeface="Arial" panose="020B0604020202020204" pitchFamily="34" charset="0"/>
              <a:buChar char="•"/>
              <a:defRPr sz="2600">
                <a:solidFill>
                  <a:schemeClr val="tx1"/>
                </a:solidFill>
              </a:defRPr>
            </a:lvl4pPr>
            <a:lvl5pPr marL="2743131" indent="-304792">
              <a:buClr>
                <a:schemeClr val="accent3"/>
              </a:buClr>
              <a:buFont typeface="Arial" panose="020B0604020202020204" pitchFamily="34" charset="0"/>
              <a:buChar char="•"/>
              <a:defRPr sz="2600">
                <a:solidFill>
                  <a:schemeClr val="tx1"/>
                </a:solidFill>
              </a:defRPr>
            </a:lvl5pPr>
          </a:lstStyle>
          <a:p>
            <a:pPr lvl="0"/>
            <a:r>
              <a:rPr lang="en-GB" dirty="0"/>
              <a:t>Click to add text or click one </a:t>
            </a:r>
            <a:br>
              <a:rPr lang="en-GB" dirty="0"/>
            </a:br>
            <a:r>
              <a:rPr lang="en-GB" dirty="0"/>
              <a:t>of the icons below to insert media</a:t>
            </a:r>
          </a:p>
        </p:txBody>
      </p:sp>
      <p:sp>
        <p:nvSpPr>
          <p:cNvPr id="17" name="Title 1">
            <a:extLst>
              <a:ext uri="{FF2B5EF4-FFF2-40B4-BE49-F238E27FC236}">
                <a16:creationId xmlns:a16="http://schemas.microsoft.com/office/drawing/2014/main" id="{2201D773-B270-A904-F7B4-E3D12A5090E8}"/>
              </a:ext>
            </a:extLst>
          </p:cNvPr>
          <p:cNvSpPr>
            <a:spLocks noGrp="1"/>
          </p:cNvSpPr>
          <p:nvPr>
            <p:ph type="title" hasCustomPrompt="1"/>
          </p:nvPr>
        </p:nvSpPr>
        <p:spPr>
          <a:xfrm>
            <a:off x="1117601" y="405087"/>
            <a:ext cx="7835899" cy="809696"/>
          </a:xfrm>
        </p:spPr>
        <p:txBody>
          <a:bodyPr>
            <a:normAutofit/>
          </a:bodyPr>
          <a:lstStyle>
            <a:lvl1pPr>
              <a:defRPr sz="4400" cap="none" baseline="0"/>
            </a:lvl1pPr>
          </a:lstStyle>
          <a:p>
            <a:r>
              <a:rPr lang="en-US" dirty="0"/>
              <a:t>Title</a:t>
            </a:r>
            <a:endParaRPr lang="en-GB" dirty="0"/>
          </a:p>
        </p:txBody>
      </p:sp>
      <p:sp>
        <p:nvSpPr>
          <p:cNvPr id="4" name="Footer Placeholder 4">
            <a:extLst>
              <a:ext uri="{FF2B5EF4-FFF2-40B4-BE49-F238E27FC236}">
                <a16:creationId xmlns:a16="http://schemas.microsoft.com/office/drawing/2014/main" id="{DC23DC44-3B0C-C87B-E24C-89B8089705B7}"/>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5" name="Slide Number Placeholder 5">
            <a:extLst>
              <a:ext uri="{FF2B5EF4-FFF2-40B4-BE49-F238E27FC236}">
                <a16:creationId xmlns:a16="http://schemas.microsoft.com/office/drawing/2014/main" id="{125F658A-3036-925D-7B4C-FAAE8466A6BA}"/>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
        <p:nvSpPr>
          <p:cNvPr id="8" name="Picture Placeholder 7">
            <a:extLst>
              <a:ext uri="{FF2B5EF4-FFF2-40B4-BE49-F238E27FC236}">
                <a16:creationId xmlns:a16="http://schemas.microsoft.com/office/drawing/2014/main" id="{8B29DB11-D16E-4E32-9950-179FAF3546C4}"/>
              </a:ext>
            </a:extLst>
          </p:cNvPr>
          <p:cNvSpPr>
            <a:spLocks noGrp="1"/>
          </p:cNvSpPr>
          <p:nvPr>
            <p:ph type="pic" sz="quarter" idx="25"/>
          </p:nvPr>
        </p:nvSpPr>
        <p:spPr>
          <a:xfrm>
            <a:off x="9274629" y="405087"/>
            <a:ext cx="5863772" cy="7304742"/>
          </a:xfrm>
        </p:spPr>
        <p:txBody>
          <a:bodyPr/>
          <a:lstStyle/>
          <a:p>
            <a:endParaRPr lang="en-US"/>
          </a:p>
        </p:txBody>
      </p:sp>
      <p:sp>
        <p:nvSpPr>
          <p:cNvPr id="2" name="Text Placeholder 7">
            <a:extLst>
              <a:ext uri="{FF2B5EF4-FFF2-40B4-BE49-F238E27FC236}">
                <a16:creationId xmlns:a16="http://schemas.microsoft.com/office/drawing/2014/main" id="{A72182E1-C703-5E9B-AF1E-2220AA60B4A1}"/>
              </a:ext>
            </a:extLst>
          </p:cNvPr>
          <p:cNvSpPr>
            <a:spLocks noGrp="1"/>
          </p:cNvSpPr>
          <p:nvPr>
            <p:ph type="body" sz="quarter" idx="24" hasCustomPrompt="1"/>
          </p:nvPr>
        </p:nvSpPr>
        <p:spPr>
          <a:xfrm>
            <a:off x="1117601" y="1214783"/>
            <a:ext cx="7835897"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Tree>
    <p:extLst>
      <p:ext uri="{BB962C8B-B14F-4D97-AF65-F5344CB8AC3E}">
        <p14:creationId xmlns:p14="http://schemas.microsoft.com/office/powerpoint/2010/main" val="15180877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ingle column + 2 images">
    <p:bg>
      <p:bgPr>
        <a:solidFill>
          <a:schemeClr val="bg1"/>
        </a:solidFill>
        <a:effectLst/>
      </p:bgPr>
    </p:bg>
    <p:spTree>
      <p:nvGrpSpPr>
        <p:cNvPr id="1" name=""/>
        <p:cNvGrpSpPr/>
        <p:nvPr/>
      </p:nvGrpSpPr>
      <p:grpSpPr>
        <a:xfrm>
          <a:off x="0" y="0"/>
          <a:ext cx="0" cy="0"/>
          <a:chOff x="0" y="0"/>
          <a:chExt cx="0" cy="0"/>
        </a:xfrm>
      </p:grpSpPr>
      <p:sp>
        <p:nvSpPr>
          <p:cNvPr id="15" name="Content Placeholder 9">
            <a:extLst>
              <a:ext uri="{FF2B5EF4-FFF2-40B4-BE49-F238E27FC236}">
                <a16:creationId xmlns:a16="http://schemas.microsoft.com/office/drawing/2014/main" id="{32F0192D-E8DE-61E3-DEC9-05AD0EC85990}"/>
              </a:ext>
            </a:extLst>
          </p:cNvPr>
          <p:cNvSpPr>
            <a:spLocks noGrp="1"/>
          </p:cNvSpPr>
          <p:nvPr>
            <p:ph sz="quarter" idx="13" hasCustomPrompt="1"/>
          </p:nvPr>
        </p:nvSpPr>
        <p:spPr>
          <a:xfrm>
            <a:off x="1117600" y="2271252"/>
            <a:ext cx="8737598" cy="5438577"/>
          </a:xfr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3"/>
              </a:buClr>
              <a:buFont typeface="Arial" panose="020B0604020202020204" pitchFamily="34" charset="0"/>
              <a:buChar char="•"/>
              <a:defRPr sz="2600">
                <a:solidFill>
                  <a:schemeClr val="tx1"/>
                </a:solidFill>
              </a:defRPr>
            </a:lvl2pPr>
            <a:lvl3pPr marL="1523962" indent="-304792">
              <a:buClr>
                <a:schemeClr val="accent3"/>
              </a:buClr>
              <a:buFont typeface="Arial" panose="020B0604020202020204" pitchFamily="34" charset="0"/>
              <a:buChar char="•"/>
              <a:defRPr sz="2600">
                <a:solidFill>
                  <a:schemeClr val="tx1"/>
                </a:solidFill>
              </a:defRPr>
            </a:lvl3pPr>
            <a:lvl4pPr marL="2133547" indent="-304792">
              <a:buClr>
                <a:schemeClr val="accent3"/>
              </a:buClr>
              <a:buFont typeface="Arial" panose="020B0604020202020204" pitchFamily="34" charset="0"/>
              <a:buChar char="•"/>
              <a:defRPr sz="2600">
                <a:solidFill>
                  <a:schemeClr val="tx1"/>
                </a:solidFill>
              </a:defRPr>
            </a:lvl4pPr>
            <a:lvl5pPr marL="2438339" indent="0">
              <a:buClr>
                <a:schemeClr val="accent3"/>
              </a:buClr>
              <a:buFont typeface="Arial" panose="020B0604020202020204" pitchFamily="34" charset="0"/>
              <a:buNone/>
              <a:defRPr sz="2600">
                <a:solidFill>
                  <a:schemeClr val="tx1"/>
                </a:solidFill>
              </a:defRPr>
            </a:lvl5pPr>
          </a:lstStyle>
          <a:p>
            <a:pPr lvl="0"/>
            <a:r>
              <a:rPr lang="en-GB" dirty="0"/>
              <a:t>Click to add text or click one of </a:t>
            </a:r>
            <a:br>
              <a:rPr lang="en-GB" dirty="0"/>
            </a:br>
            <a:r>
              <a:rPr lang="en-GB" dirty="0"/>
              <a:t>the icons below to insert media</a:t>
            </a:r>
          </a:p>
          <a:p>
            <a:pPr lvl="4"/>
            <a:endParaRPr lang="en-GB" dirty="0"/>
          </a:p>
        </p:txBody>
      </p:sp>
      <p:sp>
        <p:nvSpPr>
          <p:cNvPr id="17" name="Title 1">
            <a:extLst>
              <a:ext uri="{FF2B5EF4-FFF2-40B4-BE49-F238E27FC236}">
                <a16:creationId xmlns:a16="http://schemas.microsoft.com/office/drawing/2014/main" id="{2201D773-B270-A904-F7B4-E3D12A5090E8}"/>
              </a:ext>
            </a:extLst>
          </p:cNvPr>
          <p:cNvSpPr>
            <a:spLocks noGrp="1"/>
          </p:cNvSpPr>
          <p:nvPr>
            <p:ph type="title" hasCustomPrompt="1"/>
          </p:nvPr>
        </p:nvSpPr>
        <p:spPr>
          <a:xfrm>
            <a:off x="1117601" y="405087"/>
            <a:ext cx="8737599" cy="809696"/>
          </a:xfrm>
        </p:spPr>
        <p:txBody>
          <a:bodyPr>
            <a:normAutofit/>
          </a:bodyPr>
          <a:lstStyle>
            <a:lvl1pPr>
              <a:defRPr sz="4400" cap="none" baseline="0"/>
            </a:lvl1pPr>
          </a:lstStyle>
          <a:p>
            <a:r>
              <a:rPr lang="en-US" dirty="0"/>
              <a:t>Title</a:t>
            </a:r>
            <a:endParaRPr lang="en-GB" dirty="0"/>
          </a:p>
        </p:txBody>
      </p:sp>
      <p:sp>
        <p:nvSpPr>
          <p:cNvPr id="4" name="Footer Placeholder 4">
            <a:extLst>
              <a:ext uri="{FF2B5EF4-FFF2-40B4-BE49-F238E27FC236}">
                <a16:creationId xmlns:a16="http://schemas.microsoft.com/office/drawing/2014/main" id="{DC23DC44-3B0C-C87B-E24C-89B8089705B7}"/>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5" name="Slide Number Placeholder 5">
            <a:extLst>
              <a:ext uri="{FF2B5EF4-FFF2-40B4-BE49-F238E27FC236}">
                <a16:creationId xmlns:a16="http://schemas.microsoft.com/office/drawing/2014/main" id="{125F658A-3036-925D-7B4C-FAAE8466A6BA}"/>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
        <p:nvSpPr>
          <p:cNvPr id="2" name="Picture Placeholder 7">
            <a:extLst>
              <a:ext uri="{FF2B5EF4-FFF2-40B4-BE49-F238E27FC236}">
                <a16:creationId xmlns:a16="http://schemas.microsoft.com/office/drawing/2014/main" id="{3FC21040-7C3A-D93A-BACC-D0E0F715F6F8}"/>
              </a:ext>
            </a:extLst>
          </p:cNvPr>
          <p:cNvSpPr>
            <a:spLocks noGrp="1"/>
          </p:cNvSpPr>
          <p:nvPr>
            <p:ph type="pic" sz="quarter" idx="27"/>
          </p:nvPr>
        </p:nvSpPr>
        <p:spPr>
          <a:xfrm>
            <a:off x="10163331" y="405087"/>
            <a:ext cx="4975070" cy="3410857"/>
          </a:xfrm>
        </p:spPr>
        <p:txBody>
          <a:bodyPr/>
          <a:lstStyle/>
          <a:p>
            <a:endParaRPr lang="en-US"/>
          </a:p>
        </p:txBody>
      </p:sp>
      <p:sp>
        <p:nvSpPr>
          <p:cNvPr id="3" name="Picture Placeholder 7">
            <a:extLst>
              <a:ext uri="{FF2B5EF4-FFF2-40B4-BE49-F238E27FC236}">
                <a16:creationId xmlns:a16="http://schemas.microsoft.com/office/drawing/2014/main" id="{CA7DC709-43C4-BE86-719C-D5983D073DBC}"/>
              </a:ext>
            </a:extLst>
          </p:cNvPr>
          <p:cNvSpPr>
            <a:spLocks noGrp="1"/>
          </p:cNvSpPr>
          <p:nvPr>
            <p:ph type="pic" sz="quarter" idx="28"/>
          </p:nvPr>
        </p:nvSpPr>
        <p:spPr>
          <a:xfrm>
            <a:off x="10163331" y="4122058"/>
            <a:ext cx="4975070" cy="3569202"/>
          </a:xfrm>
        </p:spPr>
        <p:txBody>
          <a:bodyPr/>
          <a:lstStyle/>
          <a:p>
            <a:endParaRPr lang="en-US"/>
          </a:p>
        </p:txBody>
      </p:sp>
      <p:sp>
        <p:nvSpPr>
          <p:cNvPr id="6" name="Text Placeholder 7">
            <a:extLst>
              <a:ext uri="{FF2B5EF4-FFF2-40B4-BE49-F238E27FC236}">
                <a16:creationId xmlns:a16="http://schemas.microsoft.com/office/drawing/2014/main" id="{6D1B7872-CCAD-289C-1C26-F2E8BFC8556F}"/>
              </a:ext>
            </a:extLst>
          </p:cNvPr>
          <p:cNvSpPr>
            <a:spLocks noGrp="1"/>
          </p:cNvSpPr>
          <p:nvPr>
            <p:ph type="body" sz="quarter" idx="24" hasCustomPrompt="1"/>
          </p:nvPr>
        </p:nvSpPr>
        <p:spPr>
          <a:xfrm>
            <a:off x="1117601" y="1214783"/>
            <a:ext cx="8737597"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Tree>
    <p:extLst>
      <p:ext uri="{BB962C8B-B14F-4D97-AF65-F5344CB8AC3E}">
        <p14:creationId xmlns:p14="http://schemas.microsoft.com/office/powerpoint/2010/main" val="41297689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 images">
    <p:bg>
      <p:bgPr>
        <a:solidFill>
          <a:schemeClr val="bg1"/>
        </a:solidFill>
        <a:effectLst/>
      </p:bgPr>
    </p:bg>
    <p:spTree>
      <p:nvGrpSpPr>
        <p:cNvPr id="1" name=""/>
        <p:cNvGrpSpPr/>
        <p:nvPr/>
      </p:nvGrpSpPr>
      <p:grpSpPr>
        <a:xfrm>
          <a:off x="0" y="0"/>
          <a:ext cx="0" cy="0"/>
          <a:chOff x="0" y="0"/>
          <a:chExt cx="0" cy="0"/>
        </a:xfrm>
      </p:grpSpPr>
      <p:sp>
        <p:nvSpPr>
          <p:cNvPr id="6" name="Picture Placeholder 23">
            <a:extLst>
              <a:ext uri="{FF2B5EF4-FFF2-40B4-BE49-F238E27FC236}">
                <a16:creationId xmlns:a16="http://schemas.microsoft.com/office/drawing/2014/main" id="{1E54B20A-0ED5-60AB-9116-D7F540559CAA}"/>
              </a:ext>
            </a:extLst>
          </p:cNvPr>
          <p:cNvSpPr>
            <a:spLocks noGrp="1"/>
          </p:cNvSpPr>
          <p:nvPr>
            <p:ph type="pic" sz="quarter" idx="25"/>
          </p:nvPr>
        </p:nvSpPr>
        <p:spPr>
          <a:xfrm>
            <a:off x="1122858" y="2227720"/>
            <a:ext cx="4320000" cy="5047597"/>
          </a:xfrm>
        </p:spPr>
        <p:txBody>
          <a:bodyPr/>
          <a:lstStyle/>
          <a:p>
            <a:endParaRPr lang="en-US"/>
          </a:p>
        </p:txBody>
      </p:sp>
      <p:sp>
        <p:nvSpPr>
          <p:cNvPr id="4" name="Footer Placeholder 4">
            <a:extLst>
              <a:ext uri="{FF2B5EF4-FFF2-40B4-BE49-F238E27FC236}">
                <a16:creationId xmlns:a16="http://schemas.microsoft.com/office/drawing/2014/main" id="{DC23DC44-3B0C-C87B-E24C-89B8089705B7}"/>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22" name="Text Placeholder 14">
            <a:extLst>
              <a:ext uri="{FF2B5EF4-FFF2-40B4-BE49-F238E27FC236}">
                <a16:creationId xmlns:a16="http://schemas.microsoft.com/office/drawing/2014/main" id="{2E2CF2B2-CE90-1EC2-8033-61D78C5C9560}"/>
              </a:ext>
            </a:extLst>
          </p:cNvPr>
          <p:cNvSpPr txBox="1">
            <a:spLocks/>
          </p:cNvSpPr>
          <p:nvPr userDrawn="1"/>
        </p:nvSpPr>
        <p:spPr>
          <a:xfrm>
            <a:off x="1117599" y="7479273"/>
            <a:ext cx="4319999" cy="276384"/>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49" name="Slide Number Placeholder 5">
            <a:extLst>
              <a:ext uri="{FF2B5EF4-FFF2-40B4-BE49-F238E27FC236}">
                <a16:creationId xmlns:a16="http://schemas.microsoft.com/office/drawing/2014/main" id="{8E30A6DC-06ED-2E3E-EC0A-0AF6E5626781}"/>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
        <p:nvSpPr>
          <p:cNvPr id="2" name="Picture Placeholder 23">
            <a:extLst>
              <a:ext uri="{FF2B5EF4-FFF2-40B4-BE49-F238E27FC236}">
                <a16:creationId xmlns:a16="http://schemas.microsoft.com/office/drawing/2014/main" id="{BE21E811-6F8B-2D50-58A6-ACEE6EA28BB5}"/>
              </a:ext>
            </a:extLst>
          </p:cNvPr>
          <p:cNvSpPr>
            <a:spLocks noGrp="1"/>
          </p:cNvSpPr>
          <p:nvPr>
            <p:ph type="pic" sz="quarter" idx="11"/>
          </p:nvPr>
        </p:nvSpPr>
        <p:spPr>
          <a:xfrm>
            <a:off x="10745829" y="2227720"/>
            <a:ext cx="4320000" cy="5047597"/>
          </a:xfrm>
        </p:spPr>
        <p:txBody>
          <a:bodyPr/>
          <a:lstStyle/>
          <a:p>
            <a:endParaRPr lang="en-US"/>
          </a:p>
        </p:txBody>
      </p:sp>
      <p:sp>
        <p:nvSpPr>
          <p:cNvPr id="3" name="Title 1">
            <a:extLst>
              <a:ext uri="{FF2B5EF4-FFF2-40B4-BE49-F238E27FC236}">
                <a16:creationId xmlns:a16="http://schemas.microsoft.com/office/drawing/2014/main" id="{0C50608C-32BB-CCC4-447F-12ECBE13C8C5}"/>
              </a:ext>
            </a:extLst>
          </p:cNvPr>
          <p:cNvSpPr>
            <a:spLocks noGrp="1"/>
          </p:cNvSpPr>
          <p:nvPr>
            <p:ph type="title" hasCustomPrompt="1"/>
          </p:nvPr>
        </p:nvSpPr>
        <p:spPr>
          <a:xfrm>
            <a:off x="1117601" y="405087"/>
            <a:ext cx="13923166" cy="809696"/>
          </a:xfrm>
        </p:spPr>
        <p:txBody>
          <a:bodyPr>
            <a:normAutofit/>
          </a:bodyPr>
          <a:lstStyle>
            <a:lvl1pPr>
              <a:defRPr sz="4400" cap="none" baseline="0"/>
            </a:lvl1pPr>
          </a:lstStyle>
          <a:p>
            <a:r>
              <a:rPr lang="en-US" dirty="0"/>
              <a:t>Title</a:t>
            </a:r>
            <a:endParaRPr lang="en-GB" dirty="0"/>
          </a:p>
        </p:txBody>
      </p:sp>
      <p:sp>
        <p:nvSpPr>
          <p:cNvPr id="5" name="Text Placeholder 7">
            <a:extLst>
              <a:ext uri="{FF2B5EF4-FFF2-40B4-BE49-F238E27FC236}">
                <a16:creationId xmlns:a16="http://schemas.microsoft.com/office/drawing/2014/main" id="{80A7FBBD-F834-15B2-2E8F-951D0E1E4472}"/>
              </a:ext>
            </a:extLst>
          </p:cNvPr>
          <p:cNvSpPr>
            <a:spLocks noGrp="1"/>
          </p:cNvSpPr>
          <p:nvPr>
            <p:ph type="body" sz="quarter" idx="24" hasCustomPrompt="1"/>
          </p:nvPr>
        </p:nvSpPr>
        <p:spPr>
          <a:xfrm>
            <a:off x="1117601" y="1214783"/>
            <a:ext cx="13948228"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
        <p:nvSpPr>
          <p:cNvPr id="7" name="Picture Placeholder 23">
            <a:extLst>
              <a:ext uri="{FF2B5EF4-FFF2-40B4-BE49-F238E27FC236}">
                <a16:creationId xmlns:a16="http://schemas.microsoft.com/office/drawing/2014/main" id="{53AB13EF-0BA9-6520-3A3D-C0EFE0FD43A6}"/>
              </a:ext>
            </a:extLst>
          </p:cNvPr>
          <p:cNvSpPr>
            <a:spLocks noGrp="1"/>
          </p:cNvSpPr>
          <p:nvPr>
            <p:ph type="pic" sz="quarter" idx="26"/>
          </p:nvPr>
        </p:nvSpPr>
        <p:spPr>
          <a:xfrm>
            <a:off x="5970629" y="2227720"/>
            <a:ext cx="4320000" cy="5047597"/>
          </a:xfrm>
        </p:spPr>
        <p:txBody>
          <a:bodyPr/>
          <a:lstStyle/>
          <a:p>
            <a:endParaRPr lang="en-US"/>
          </a:p>
        </p:txBody>
      </p:sp>
      <p:sp>
        <p:nvSpPr>
          <p:cNvPr id="8" name="Text Placeholder 14">
            <a:extLst>
              <a:ext uri="{FF2B5EF4-FFF2-40B4-BE49-F238E27FC236}">
                <a16:creationId xmlns:a16="http://schemas.microsoft.com/office/drawing/2014/main" id="{3F1B95EC-FF59-D907-FFE4-D9726189FAA6}"/>
              </a:ext>
            </a:extLst>
          </p:cNvPr>
          <p:cNvSpPr txBox="1">
            <a:spLocks/>
          </p:cNvSpPr>
          <p:nvPr userDrawn="1"/>
        </p:nvSpPr>
        <p:spPr>
          <a:xfrm>
            <a:off x="5965371" y="7479273"/>
            <a:ext cx="4319999" cy="276384"/>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9" name="Text Placeholder 14">
            <a:extLst>
              <a:ext uri="{FF2B5EF4-FFF2-40B4-BE49-F238E27FC236}">
                <a16:creationId xmlns:a16="http://schemas.microsoft.com/office/drawing/2014/main" id="{10E7CABF-5EAF-F4E1-72CE-E3591D5B4F9C}"/>
              </a:ext>
            </a:extLst>
          </p:cNvPr>
          <p:cNvSpPr txBox="1">
            <a:spLocks/>
          </p:cNvSpPr>
          <p:nvPr userDrawn="1"/>
        </p:nvSpPr>
        <p:spPr>
          <a:xfrm>
            <a:off x="10740571" y="7479273"/>
            <a:ext cx="4319999" cy="276384"/>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Tree>
    <p:extLst>
      <p:ext uri="{BB962C8B-B14F-4D97-AF65-F5344CB8AC3E}">
        <p14:creationId xmlns:p14="http://schemas.microsoft.com/office/powerpoint/2010/main" val="33254714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umbnail gallery">
    <p:bg>
      <p:bgPr>
        <a:solidFill>
          <a:schemeClr val="bg1"/>
        </a:solidFill>
        <a:effectLst/>
      </p:bgPr>
    </p:bg>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DC23DC44-3B0C-C87B-E24C-89B8089705B7}"/>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22" name="Text Placeholder 14">
            <a:extLst>
              <a:ext uri="{FF2B5EF4-FFF2-40B4-BE49-F238E27FC236}">
                <a16:creationId xmlns:a16="http://schemas.microsoft.com/office/drawing/2014/main" id="{2E2CF2B2-CE90-1EC2-8033-61D78C5C9560}"/>
              </a:ext>
            </a:extLst>
          </p:cNvPr>
          <p:cNvSpPr txBox="1">
            <a:spLocks/>
          </p:cNvSpPr>
          <p:nvPr userDrawn="1"/>
        </p:nvSpPr>
        <p:spPr>
          <a:xfrm>
            <a:off x="1132110" y="2704416"/>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24" name="Picture Placeholder 23">
            <a:extLst>
              <a:ext uri="{FF2B5EF4-FFF2-40B4-BE49-F238E27FC236}">
                <a16:creationId xmlns:a16="http://schemas.microsoft.com/office/drawing/2014/main" id="{40CD1E30-D050-4126-D7E1-07DB4F673A12}"/>
              </a:ext>
            </a:extLst>
          </p:cNvPr>
          <p:cNvSpPr>
            <a:spLocks noGrp="1"/>
          </p:cNvSpPr>
          <p:nvPr>
            <p:ph type="pic" sz="quarter" idx="10"/>
          </p:nvPr>
        </p:nvSpPr>
        <p:spPr>
          <a:xfrm>
            <a:off x="1132109" y="522284"/>
            <a:ext cx="3106738" cy="2076450"/>
          </a:xfrm>
        </p:spPr>
        <p:txBody>
          <a:bodyPr/>
          <a:lstStyle/>
          <a:p>
            <a:endParaRPr lang="en-US"/>
          </a:p>
        </p:txBody>
      </p:sp>
      <p:sp>
        <p:nvSpPr>
          <p:cNvPr id="27" name="Text Placeholder 14">
            <a:extLst>
              <a:ext uri="{FF2B5EF4-FFF2-40B4-BE49-F238E27FC236}">
                <a16:creationId xmlns:a16="http://schemas.microsoft.com/office/drawing/2014/main" id="{FED0EADB-D05B-A497-5CC0-51E46F04F7E2}"/>
              </a:ext>
            </a:extLst>
          </p:cNvPr>
          <p:cNvSpPr txBox="1">
            <a:spLocks/>
          </p:cNvSpPr>
          <p:nvPr userDrawn="1"/>
        </p:nvSpPr>
        <p:spPr>
          <a:xfrm>
            <a:off x="4746168" y="2704416"/>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28" name="Picture Placeholder 23">
            <a:extLst>
              <a:ext uri="{FF2B5EF4-FFF2-40B4-BE49-F238E27FC236}">
                <a16:creationId xmlns:a16="http://schemas.microsoft.com/office/drawing/2014/main" id="{3306FA8E-5404-C01E-927B-29F904AA8F93}"/>
              </a:ext>
            </a:extLst>
          </p:cNvPr>
          <p:cNvSpPr>
            <a:spLocks noGrp="1"/>
          </p:cNvSpPr>
          <p:nvPr>
            <p:ph type="pic" sz="quarter" idx="11"/>
          </p:nvPr>
        </p:nvSpPr>
        <p:spPr>
          <a:xfrm>
            <a:off x="4746167" y="522284"/>
            <a:ext cx="3106738" cy="2076450"/>
          </a:xfrm>
        </p:spPr>
        <p:txBody>
          <a:bodyPr/>
          <a:lstStyle/>
          <a:p>
            <a:endParaRPr lang="en-US"/>
          </a:p>
        </p:txBody>
      </p:sp>
      <p:sp>
        <p:nvSpPr>
          <p:cNvPr id="29" name="Text Placeholder 14">
            <a:extLst>
              <a:ext uri="{FF2B5EF4-FFF2-40B4-BE49-F238E27FC236}">
                <a16:creationId xmlns:a16="http://schemas.microsoft.com/office/drawing/2014/main" id="{30A93B9D-5E0A-A718-C13B-FE01C42D559F}"/>
              </a:ext>
            </a:extLst>
          </p:cNvPr>
          <p:cNvSpPr txBox="1">
            <a:spLocks/>
          </p:cNvSpPr>
          <p:nvPr userDrawn="1"/>
        </p:nvSpPr>
        <p:spPr>
          <a:xfrm>
            <a:off x="8360226" y="2704416"/>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30" name="Picture Placeholder 23">
            <a:extLst>
              <a:ext uri="{FF2B5EF4-FFF2-40B4-BE49-F238E27FC236}">
                <a16:creationId xmlns:a16="http://schemas.microsoft.com/office/drawing/2014/main" id="{E7A50FA6-8234-EA95-2A47-39241CFC07D1}"/>
              </a:ext>
            </a:extLst>
          </p:cNvPr>
          <p:cNvSpPr>
            <a:spLocks noGrp="1"/>
          </p:cNvSpPr>
          <p:nvPr>
            <p:ph type="pic" sz="quarter" idx="12"/>
          </p:nvPr>
        </p:nvSpPr>
        <p:spPr>
          <a:xfrm>
            <a:off x="8360225" y="522284"/>
            <a:ext cx="3106738" cy="2076450"/>
          </a:xfrm>
        </p:spPr>
        <p:txBody>
          <a:bodyPr/>
          <a:lstStyle/>
          <a:p>
            <a:endParaRPr lang="en-US"/>
          </a:p>
        </p:txBody>
      </p:sp>
      <p:sp>
        <p:nvSpPr>
          <p:cNvPr id="31" name="Text Placeholder 14">
            <a:extLst>
              <a:ext uri="{FF2B5EF4-FFF2-40B4-BE49-F238E27FC236}">
                <a16:creationId xmlns:a16="http://schemas.microsoft.com/office/drawing/2014/main" id="{6A0D816E-D4AF-433A-69BE-807521951344}"/>
              </a:ext>
            </a:extLst>
          </p:cNvPr>
          <p:cNvSpPr txBox="1">
            <a:spLocks/>
          </p:cNvSpPr>
          <p:nvPr userDrawn="1"/>
        </p:nvSpPr>
        <p:spPr>
          <a:xfrm>
            <a:off x="11974283" y="2704416"/>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32" name="Picture Placeholder 23">
            <a:extLst>
              <a:ext uri="{FF2B5EF4-FFF2-40B4-BE49-F238E27FC236}">
                <a16:creationId xmlns:a16="http://schemas.microsoft.com/office/drawing/2014/main" id="{37D36736-E5C4-D510-24F7-E3E8DA889F91}"/>
              </a:ext>
            </a:extLst>
          </p:cNvPr>
          <p:cNvSpPr>
            <a:spLocks noGrp="1"/>
          </p:cNvSpPr>
          <p:nvPr>
            <p:ph type="pic" sz="quarter" idx="13"/>
          </p:nvPr>
        </p:nvSpPr>
        <p:spPr>
          <a:xfrm>
            <a:off x="11974282" y="522284"/>
            <a:ext cx="3106738" cy="2076450"/>
          </a:xfrm>
        </p:spPr>
        <p:txBody>
          <a:bodyPr/>
          <a:lstStyle/>
          <a:p>
            <a:endParaRPr lang="en-US" dirty="0"/>
          </a:p>
        </p:txBody>
      </p:sp>
      <p:sp>
        <p:nvSpPr>
          <p:cNvPr id="33" name="Text Placeholder 14">
            <a:extLst>
              <a:ext uri="{FF2B5EF4-FFF2-40B4-BE49-F238E27FC236}">
                <a16:creationId xmlns:a16="http://schemas.microsoft.com/office/drawing/2014/main" id="{75E8601B-5C57-0BE3-4F75-8296F81EC500}"/>
              </a:ext>
            </a:extLst>
          </p:cNvPr>
          <p:cNvSpPr txBox="1">
            <a:spLocks/>
          </p:cNvSpPr>
          <p:nvPr userDrawn="1"/>
        </p:nvSpPr>
        <p:spPr>
          <a:xfrm>
            <a:off x="1132110" y="5302473"/>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34" name="Picture Placeholder 23">
            <a:extLst>
              <a:ext uri="{FF2B5EF4-FFF2-40B4-BE49-F238E27FC236}">
                <a16:creationId xmlns:a16="http://schemas.microsoft.com/office/drawing/2014/main" id="{B246A558-3A99-3774-978B-079E67BE5A9F}"/>
              </a:ext>
            </a:extLst>
          </p:cNvPr>
          <p:cNvSpPr>
            <a:spLocks noGrp="1"/>
          </p:cNvSpPr>
          <p:nvPr>
            <p:ph type="pic" sz="quarter" idx="14"/>
          </p:nvPr>
        </p:nvSpPr>
        <p:spPr>
          <a:xfrm>
            <a:off x="1132109" y="3120341"/>
            <a:ext cx="3106738" cy="2076450"/>
          </a:xfrm>
        </p:spPr>
        <p:txBody>
          <a:bodyPr/>
          <a:lstStyle/>
          <a:p>
            <a:endParaRPr lang="en-US"/>
          </a:p>
        </p:txBody>
      </p:sp>
      <p:sp>
        <p:nvSpPr>
          <p:cNvPr id="35" name="Text Placeholder 14">
            <a:extLst>
              <a:ext uri="{FF2B5EF4-FFF2-40B4-BE49-F238E27FC236}">
                <a16:creationId xmlns:a16="http://schemas.microsoft.com/office/drawing/2014/main" id="{9FF048B5-45F9-1E6F-B7DA-5CDF2F524748}"/>
              </a:ext>
            </a:extLst>
          </p:cNvPr>
          <p:cNvSpPr txBox="1">
            <a:spLocks/>
          </p:cNvSpPr>
          <p:nvPr userDrawn="1"/>
        </p:nvSpPr>
        <p:spPr>
          <a:xfrm>
            <a:off x="4746168" y="5302473"/>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36" name="Picture Placeholder 23">
            <a:extLst>
              <a:ext uri="{FF2B5EF4-FFF2-40B4-BE49-F238E27FC236}">
                <a16:creationId xmlns:a16="http://schemas.microsoft.com/office/drawing/2014/main" id="{3881D084-0D11-14A0-776A-7C423BA18C5B}"/>
              </a:ext>
            </a:extLst>
          </p:cNvPr>
          <p:cNvSpPr>
            <a:spLocks noGrp="1"/>
          </p:cNvSpPr>
          <p:nvPr>
            <p:ph type="pic" sz="quarter" idx="15"/>
          </p:nvPr>
        </p:nvSpPr>
        <p:spPr>
          <a:xfrm>
            <a:off x="4746167" y="3120341"/>
            <a:ext cx="3106738" cy="2076450"/>
          </a:xfrm>
        </p:spPr>
        <p:txBody>
          <a:bodyPr/>
          <a:lstStyle/>
          <a:p>
            <a:endParaRPr lang="en-US"/>
          </a:p>
        </p:txBody>
      </p:sp>
      <p:sp>
        <p:nvSpPr>
          <p:cNvPr id="37" name="Text Placeholder 14">
            <a:extLst>
              <a:ext uri="{FF2B5EF4-FFF2-40B4-BE49-F238E27FC236}">
                <a16:creationId xmlns:a16="http://schemas.microsoft.com/office/drawing/2014/main" id="{B5B67010-4466-C4F2-6B31-8F7360F681A1}"/>
              </a:ext>
            </a:extLst>
          </p:cNvPr>
          <p:cNvSpPr txBox="1">
            <a:spLocks/>
          </p:cNvSpPr>
          <p:nvPr userDrawn="1"/>
        </p:nvSpPr>
        <p:spPr>
          <a:xfrm>
            <a:off x="8360226" y="5302473"/>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38" name="Picture Placeholder 23">
            <a:extLst>
              <a:ext uri="{FF2B5EF4-FFF2-40B4-BE49-F238E27FC236}">
                <a16:creationId xmlns:a16="http://schemas.microsoft.com/office/drawing/2014/main" id="{DAB7F4E5-A04F-BBF5-81F4-67355D163738}"/>
              </a:ext>
            </a:extLst>
          </p:cNvPr>
          <p:cNvSpPr>
            <a:spLocks noGrp="1"/>
          </p:cNvSpPr>
          <p:nvPr>
            <p:ph type="pic" sz="quarter" idx="16"/>
          </p:nvPr>
        </p:nvSpPr>
        <p:spPr>
          <a:xfrm>
            <a:off x="8360225" y="3120341"/>
            <a:ext cx="3106738" cy="2076450"/>
          </a:xfrm>
        </p:spPr>
        <p:txBody>
          <a:bodyPr/>
          <a:lstStyle/>
          <a:p>
            <a:endParaRPr lang="en-US"/>
          </a:p>
        </p:txBody>
      </p:sp>
      <p:sp>
        <p:nvSpPr>
          <p:cNvPr id="39" name="Text Placeholder 14">
            <a:extLst>
              <a:ext uri="{FF2B5EF4-FFF2-40B4-BE49-F238E27FC236}">
                <a16:creationId xmlns:a16="http://schemas.microsoft.com/office/drawing/2014/main" id="{4C42F6C7-AAC2-8778-499D-C164828408DF}"/>
              </a:ext>
            </a:extLst>
          </p:cNvPr>
          <p:cNvSpPr txBox="1">
            <a:spLocks/>
          </p:cNvSpPr>
          <p:nvPr userDrawn="1"/>
        </p:nvSpPr>
        <p:spPr>
          <a:xfrm>
            <a:off x="11974283" y="5302473"/>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40" name="Picture Placeholder 23">
            <a:extLst>
              <a:ext uri="{FF2B5EF4-FFF2-40B4-BE49-F238E27FC236}">
                <a16:creationId xmlns:a16="http://schemas.microsoft.com/office/drawing/2014/main" id="{5EFAAFFD-4B6F-A01D-FB8D-E1CEE2ADB98F}"/>
              </a:ext>
            </a:extLst>
          </p:cNvPr>
          <p:cNvSpPr>
            <a:spLocks noGrp="1"/>
          </p:cNvSpPr>
          <p:nvPr>
            <p:ph type="pic" sz="quarter" idx="17"/>
          </p:nvPr>
        </p:nvSpPr>
        <p:spPr>
          <a:xfrm>
            <a:off x="11974282" y="3120341"/>
            <a:ext cx="3106738" cy="2076450"/>
          </a:xfrm>
        </p:spPr>
        <p:txBody>
          <a:bodyPr/>
          <a:lstStyle/>
          <a:p>
            <a:endParaRPr lang="en-US"/>
          </a:p>
        </p:txBody>
      </p:sp>
      <p:sp>
        <p:nvSpPr>
          <p:cNvPr id="41" name="Text Placeholder 14">
            <a:extLst>
              <a:ext uri="{FF2B5EF4-FFF2-40B4-BE49-F238E27FC236}">
                <a16:creationId xmlns:a16="http://schemas.microsoft.com/office/drawing/2014/main" id="{0E4A8696-1F8F-C702-AC0F-D9C70FA977DB}"/>
              </a:ext>
            </a:extLst>
          </p:cNvPr>
          <p:cNvSpPr txBox="1">
            <a:spLocks/>
          </p:cNvSpPr>
          <p:nvPr userDrawn="1"/>
        </p:nvSpPr>
        <p:spPr>
          <a:xfrm>
            <a:off x="1132110" y="7915044"/>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42" name="Picture Placeholder 23">
            <a:extLst>
              <a:ext uri="{FF2B5EF4-FFF2-40B4-BE49-F238E27FC236}">
                <a16:creationId xmlns:a16="http://schemas.microsoft.com/office/drawing/2014/main" id="{48525AE3-22AF-AB5E-B257-E390E05DCF4C}"/>
              </a:ext>
            </a:extLst>
          </p:cNvPr>
          <p:cNvSpPr>
            <a:spLocks noGrp="1"/>
          </p:cNvSpPr>
          <p:nvPr>
            <p:ph type="pic" sz="quarter" idx="18"/>
          </p:nvPr>
        </p:nvSpPr>
        <p:spPr>
          <a:xfrm>
            <a:off x="1132109" y="5732912"/>
            <a:ext cx="3106738" cy="2076450"/>
          </a:xfrm>
        </p:spPr>
        <p:txBody>
          <a:bodyPr/>
          <a:lstStyle/>
          <a:p>
            <a:endParaRPr lang="en-US"/>
          </a:p>
        </p:txBody>
      </p:sp>
      <p:sp>
        <p:nvSpPr>
          <p:cNvPr id="43" name="Text Placeholder 14">
            <a:extLst>
              <a:ext uri="{FF2B5EF4-FFF2-40B4-BE49-F238E27FC236}">
                <a16:creationId xmlns:a16="http://schemas.microsoft.com/office/drawing/2014/main" id="{2DB5F926-5570-5FB5-10F3-958A3436E4B2}"/>
              </a:ext>
            </a:extLst>
          </p:cNvPr>
          <p:cNvSpPr txBox="1">
            <a:spLocks/>
          </p:cNvSpPr>
          <p:nvPr userDrawn="1"/>
        </p:nvSpPr>
        <p:spPr>
          <a:xfrm>
            <a:off x="4746168" y="7915044"/>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44" name="Picture Placeholder 23">
            <a:extLst>
              <a:ext uri="{FF2B5EF4-FFF2-40B4-BE49-F238E27FC236}">
                <a16:creationId xmlns:a16="http://schemas.microsoft.com/office/drawing/2014/main" id="{1C6351E8-B42F-7A4F-3F19-3E005A51DB1A}"/>
              </a:ext>
            </a:extLst>
          </p:cNvPr>
          <p:cNvSpPr>
            <a:spLocks noGrp="1"/>
          </p:cNvSpPr>
          <p:nvPr>
            <p:ph type="pic" sz="quarter" idx="19"/>
          </p:nvPr>
        </p:nvSpPr>
        <p:spPr>
          <a:xfrm>
            <a:off x="4746167" y="5732912"/>
            <a:ext cx="3106738" cy="2076450"/>
          </a:xfrm>
        </p:spPr>
        <p:txBody>
          <a:bodyPr/>
          <a:lstStyle/>
          <a:p>
            <a:endParaRPr lang="en-US"/>
          </a:p>
        </p:txBody>
      </p:sp>
      <p:sp>
        <p:nvSpPr>
          <p:cNvPr id="45" name="Text Placeholder 14">
            <a:extLst>
              <a:ext uri="{FF2B5EF4-FFF2-40B4-BE49-F238E27FC236}">
                <a16:creationId xmlns:a16="http://schemas.microsoft.com/office/drawing/2014/main" id="{0504FC3D-6ABC-68D4-8027-CE6DFF05BF6B}"/>
              </a:ext>
            </a:extLst>
          </p:cNvPr>
          <p:cNvSpPr txBox="1">
            <a:spLocks/>
          </p:cNvSpPr>
          <p:nvPr userDrawn="1"/>
        </p:nvSpPr>
        <p:spPr>
          <a:xfrm>
            <a:off x="8360226" y="7915044"/>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46" name="Picture Placeholder 23">
            <a:extLst>
              <a:ext uri="{FF2B5EF4-FFF2-40B4-BE49-F238E27FC236}">
                <a16:creationId xmlns:a16="http://schemas.microsoft.com/office/drawing/2014/main" id="{38E88081-1294-4E5E-E7B8-648E83EA9E53}"/>
              </a:ext>
            </a:extLst>
          </p:cNvPr>
          <p:cNvSpPr>
            <a:spLocks noGrp="1"/>
          </p:cNvSpPr>
          <p:nvPr>
            <p:ph type="pic" sz="quarter" idx="20"/>
          </p:nvPr>
        </p:nvSpPr>
        <p:spPr>
          <a:xfrm>
            <a:off x="8360225" y="5732912"/>
            <a:ext cx="3106738" cy="2076450"/>
          </a:xfrm>
        </p:spPr>
        <p:txBody>
          <a:bodyPr/>
          <a:lstStyle/>
          <a:p>
            <a:endParaRPr lang="en-US"/>
          </a:p>
        </p:txBody>
      </p:sp>
      <p:sp>
        <p:nvSpPr>
          <p:cNvPr id="47" name="Text Placeholder 14">
            <a:extLst>
              <a:ext uri="{FF2B5EF4-FFF2-40B4-BE49-F238E27FC236}">
                <a16:creationId xmlns:a16="http://schemas.microsoft.com/office/drawing/2014/main" id="{0D01F23B-2855-CC9C-BD6F-B9DA99CEA871}"/>
              </a:ext>
            </a:extLst>
          </p:cNvPr>
          <p:cNvSpPr txBox="1">
            <a:spLocks/>
          </p:cNvSpPr>
          <p:nvPr userDrawn="1"/>
        </p:nvSpPr>
        <p:spPr>
          <a:xfrm>
            <a:off x="11974283" y="7915044"/>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48" name="Picture Placeholder 23">
            <a:extLst>
              <a:ext uri="{FF2B5EF4-FFF2-40B4-BE49-F238E27FC236}">
                <a16:creationId xmlns:a16="http://schemas.microsoft.com/office/drawing/2014/main" id="{A1802AC9-D438-0940-F6FA-4EF796B5070E}"/>
              </a:ext>
            </a:extLst>
          </p:cNvPr>
          <p:cNvSpPr>
            <a:spLocks noGrp="1"/>
          </p:cNvSpPr>
          <p:nvPr>
            <p:ph type="pic" sz="quarter" idx="21"/>
          </p:nvPr>
        </p:nvSpPr>
        <p:spPr>
          <a:xfrm>
            <a:off x="11974282" y="5732912"/>
            <a:ext cx="3106738" cy="2076450"/>
          </a:xfrm>
        </p:spPr>
        <p:txBody>
          <a:bodyPr/>
          <a:lstStyle/>
          <a:p>
            <a:endParaRPr lang="en-US"/>
          </a:p>
        </p:txBody>
      </p:sp>
      <p:sp>
        <p:nvSpPr>
          <p:cNvPr id="49" name="Slide Number Placeholder 5">
            <a:extLst>
              <a:ext uri="{FF2B5EF4-FFF2-40B4-BE49-F238E27FC236}">
                <a16:creationId xmlns:a16="http://schemas.microsoft.com/office/drawing/2014/main" id="{8E30A6DC-06ED-2E3E-EC0A-0AF6E5626781}"/>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Tree>
    <p:extLst>
      <p:ext uri="{BB962C8B-B14F-4D97-AF65-F5344CB8AC3E}">
        <p14:creationId xmlns:p14="http://schemas.microsoft.com/office/powerpoint/2010/main" val="37721214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15C406F6-FE38-14E0-8BF8-B9AC42B3EF15}"/>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bg1"/>
                </a:solidFill>
              </a:defRPr>
            </a:lvl1pPr>
          </a:lstStyle>
          <a:p>
            <a:r>
              <a:rPr lang="en-GB"/>
              <a:t>IFoA Life Conference</a:t>
            </a:r>
            <a:endParaRPr lang="en-GB" dirty="0"/>
          </a:p>
        </p:txBody>
      </p:sp>
      <p:sp>
        <p:nvSpPr>
          <p:cNvPr id="9" name="Slide Number Placeholder 5">
            <a:extLst>
              <a:ext uri="{FF2B5EF4-FFF2-40B4-BE49-F238E27FC236}">
                <a16:creationId xmlns:a16="http://schemas.microsoft.com/office/drawing/2014/main" id="{C18B60AF-E1FE-C3E6-C9A3-0721F1D08E6F}"/>
              </a:ext>
            </a:extLst>
          </p:cNvPr>
          <p:cNvSpPr>
            <a:spLocks noGrp="1"/>
          </p:cNvSpPr>
          <p:nvPr>
            <p:ph type="sldNum" sz="quarter" idx="4"/>
          </p:nvPr>
        </p:nvSpPr>
        <p:spPr>
          <a:xfrm>
            <a:off x="14573177" y="8382533"/>
            <a:ext cx="529680" cy="486833"/>
          </a:xfrm>
          <a:prstGeom prst="rect">
            <a:avLst/>
          </a:prstGeom>
          <a:solidFill>
            <a:schemeClr val="bg1"/>
          </a:solidFill>
        </p:spPr>
        <p:txBody>
          <a:bodyPr vert="horz" lIns="91440" tIns="45720" rIns="91440" bIns="45720" rtlCol="0" anchor="ctr"/>
          <a:lstStyle>
            <a:lvl1pPr algn="ctr">
              <a:defRPr sz="1200" b="1" i="0">
                <a:solidFill>
                  <a:schemeClr val="tx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cxnSp>
        <p:nvCxnSpPr>
          <p:cNvPr id="10" name="Straight Connector 9">
            <a:extLst>
              <a:ext uri="{FF2B5EF4-FFF2-40B4-BE49-F238E27FC236}">
                <a16:creationId xmlns:a16="http://schemas.microsoft.com/office/drawing/2014/main" id="{A0CB7D33-8423-976F-F4E8-092F373CB4D4}"/>
              </a:ext>
            </a:extLst>
          </p:cNvPr>
          <p:cNvCxnSpPr>
            <a:cxnSpLocks/>
          </p:cNvCxnSpPr>
          <p:nvPr userDrawn="1"/>
        </p:nvCxnSpPr>
        <p:spPr>
          <a:xfrm>
            <a:off x="14411899" y="8360757"/>
            <a:ext cx="0" cy="530384"/>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A334B112-156D-B47A-A01E-403E49BC030A}"/>
              </a:ext>
            </a:extLst>
          </p:cNvPr>
          <p:cNvPicPr>
            <a:picLocks noChangeAspect="1"/>
          </p:cNvPicPr>
          <p:nvPr userDrawn="1"/>
        </p:nvPicPr>
        <p:blipFill>
          <a:blip r:embed="rId3" cstate="email">
            <a:extLst>
              <a:ext uri="{28A0092B-C50C-407E-A947-70E740481C1C}">
                <a14:useLocalDpi xmlns:a14="http://schemas.microsoft.com/office/drawing/2010/main" val="0"/>
              </a:ext>
            </a:extLst>
          </a:blip>
          <a:srcRect/>
          <a:stretch/>
        </p:blipFill>
        <p:spPr>
          <a:xfrm>
            <a:off x="12850415" y="8348409"/>
            <a:ext cx="1366353" cy="555080"/>
          </a:xfrm>
          <a:prstGeom prst="rect">
            <a:avLst/>
          </a:prstGeom>
        </p:spPr>
      </p:pic>
      <p:cxnSp>
        <p:nvCxnSpPr>
          <p:cNvPr id="14" name="Straight Connector 13">
            <a:extLst>
              <a:ext uri="{FF2B5EF4-FFF2-40B4-BE49-F238E27FC236}">
                <a16:creationId xmlns:a16="http://schemas.microsoft.com/office/drawing/2014/main" id="{AECD1887-4E9C-5FF9-418B-2EFD255594FE}"/>
              </a:ext>
            </a:extLst>
          </p:cNvPr>
          <p:cNvCxnSpPr>
            <a:cxnSpLocks/>
          </p:cNvCxnSpPr>
          <p:nvPr userDrawn="1"/>
        </p:nvCxnSpPr>
        <p:spPr>
          <a:xfrm>
            <a:off x="12689014" y="8360757"/>
            <a:ext cx="0" cy="530384"/>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sp>
        <p:nvSpPr>
          <p:cNvPr id="97"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500000" y="3400000"/>
            <a:ext cx="13256000" cy="2200000"/>
          </a:xfrm>
        </p:spPr>
        <p:txBody>
          <a:bodyPr>
            <a:normAutofit/>
          </a:bodyPr>
          <a:lstStyle>
            <a:lvl1pPr>
              <a:defRPr sz="4400" cap="none" baseline="0"/>
            </a:lvl1pPr>
          </a:lstStyle>
          <a:p>
            <a:r>
              <a:rPr lang="en-US" dirty="0"/>
              <a:t>Title</a:t>
            </a:r>
            <a:endParaRPr lang="en-GB" dirty="0"/>
          </a:p>
        </p:txBody>
      </p:sp>
    </p:spTree>
    <p:extLst>
      <p:ext uri="{BB962C8B-B14F-4D97-AF65-F5344CB8AC3E}">
        <p14:creationId xmlns:p14="http://schemas.microsoft.com/office/powerpoint/2010/main" val="5671004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wo Content">
    <p:spTree>
      <p:nvGrpSpPr>
        <p:cNvPr id="1" name=""/>
        <p:cNvGrpSpPr/>
        <p:nvPr/>
      </p:nvGrpSpPr>
      <p:grpSpPr>
        <a:xfrm>
          <a:off x="0" y="0"/>
          <a:ext cx="0" cy="0"/>
          <a:chOff x="0" y="0"/>
          <a:chExt cx="0" cy="0"/>
        </a:xfrm>
      </p:grpSpPr>
      <p:sp>
        <p:nvSpPr>
          <p:cNvPr id="23" name="Content Placeholder 9">
            <a:extLst>
              <a:ext uri="{FF2B5EF4-FFF2-40B4-BE49-F238E27FC236}">
                <a16:creationId xmlns:a16="http://schemas.microsoft.com/office/drawing/2014/main" id="{0C532851-4697-4B02-B344-E4852AF78CBF}"/>
              </a:ext>
            </a:extLst>
          </p:cNvPr>
          <p:cNvSpPr>
            <a:spLocks noGrp="1"/>
          </p:cNvSpPr>
          <p:nvPr>
            <p:ph sz="quarter" idx="13" hasCustomPrompt="1"/>
          </p:nvPr>
        </p:nvSpPr>
        <p:spPr>
          <a:xfrm>
            <a:off x="1104904" y="2269323"/>
            <a:ext cx="6896104" cy="5459310"/>
          </a:xfr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3"/>
              </a:buClr>
              <a:buFont typeface="Arial" panose="020B0604020202020204" pitchFamily="34" charset="0"/>
              <a:buChar char="•"/>
              <a:defRPr sz="2600">
                <a:solidFill>
                  <a:schemeClr val="tx1"/>
                </a:solidFill>
              </a:defRPr>
            </a:lvl2pPr>
            <a:lvl3pPr marL="1523962" indent="-304792">
              <a:buClr>
                <a:schemeClr val="accent3"/>
              </a:buClr>
              <a:buFont typeface="Arial" panose="020B0604020202020204" pitchFamily="34" charset="0"/>
              <a:buChar char="•"/>
              <a:defRPr sz="2600">
                <a:solidFill>
                  <a:schemeClr val="tx1"/>
                </a:solidFill>
              </a:defRPr>
            </a:lvl3pPr>
            <a:lvl4pPr marL="2133547" indent="-304792">
              <a:buClr>
                <a:schemeClr val="accent3"/>
              </a:buClr>
              <a:buFont typeface="Arial" panose="020B0604020202020204" pitchFamily="34" charset="0"/>
              <a:buChar char="•"/>
              <a:defRPr sz="2600">
                <a:solidFill>
                  <a:schemeClr val="tx1"/>
                </a:solidFill>
              </a:defRPr>
            </a:lvl4pPr>
            <a:lvl5pPr marL="2743131" indent="-304792">
              <a:buClr>
                <a:schemeClr val="accent3"/>
              </a:buClr>
              <a:buFont typeface="Arial" panose="020B0604020202020204" pitchFamily="34" charset="0"/>
              <a:buChar char="•"/>
              <a:defRPr sz="2600">
                <a:solidFill>
                  <a:schemeClr val="tx1"/>
                </a:solidFill>
              </a:defRPr>
            </a:lvl5pPr>
          </a:lstStyle>
          <a:p>
            <a:pPr lvl="0"/>
            <a:r>
              <a:rPr lang="en-GB" dirty="0"/>
              <a:t>Click to add text or click one of </a:t>
            </a:r>
            <a:br>
              <a:rPr lang="en-GB" dirty="0"/>
            </a:br>
            <a:r>
              <a:rPr lang="en-GB" dirty="0"/>
              <a:t>the icons below to insert media</a:t>
            </a:r>
          </a:p>
        </p:txBody>
      </p:sp>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4020798" cy="809696"/>
          </a:xfrm>
        </p:spPr>
        <p:txBody>
          <a:bodyPr>
            <a:normAutofit/>
          </a:bodyPr>
          <a:lstStyle>
            <a:lvl1pPr>
              <a:defRPr sz="4400" cap="none" baseline="0"/>
            </a:lvl1pPr>
          </a:lstStyle>
          <a:p>
            <a:r>
              <a:rPr lang="en-US" dirty="0"/>
              <a:t>Title</a:t>
            </a:r>
            <a:endParaRPr lang="en-GB" dirty="0"/>
          </a:p>
        </p:txBody>
      </p:sp>
      <p:sp>
        <p:nvSpPr>
          <p:cNvPr id="9" name="Content Placeholder 9">
            <a:extLst>
              <a:ext uri="{FF2B5EF4-FFF2-40B4-BE49-F238E27FC236}">
                <a16:creationId xmlns:a16="http://schemas.microsoft.com/office/drawing/2014/main" id="{8BE77E02-92D4-079E-ADD9-4455ABC3C3FA}"/>
              </a:ext>
            </a:extLst>
          </p:cNvPr>
          <p:cNvSpPr>
            <a:spLocks noGrp="1"/>
          </p:cNvSpPr>
          <p:nvPr>
            <p:ph sz="quarter" idx="25" hasCustomPrompt="1"/>
          </p:nvPr>
        </p:nvSpPr>
        <p:spPr>
          <a:xfrm>
            <a:off x="8229600" y="2269322"/>
            <a:ext cx="6896104" cy="5459309"/>
          </a:xfr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3"/>
              </a:buClr>
              <a:buFont typeface="Arial" panose="020B0604020202020204" pitchFamily="34" charset="0"/>
              <a:buChar char="•"/>
              <a:defRPr sz="2600">
                <a:solidFill>
                  <a:schemeClr val="tx1"/>
                </a:solidFill>
              </a:defRPr>
            </a:lvl2pPr>
            <a:lvl3pPr marL="1523962" indent="-304792">
              <a:buClr>
                <a:schemeClr val="accent3"/>
              </a:buClr>
              <a:buFont typeface="Arial" panose="020B0604020202020204" pitchFamily="34" charset="0"/>
              <a:buChar char="•"/>
              <a:defRPr sz="2600">
                <a:solidFill>
                  <a:schemeClr val="tx1"/>
                </a:solidFill>
              </a:defRPr>
            </a:lvl3pPr>
            <a:lvl4pPr marL="2133547" indent="-304792">
              <a:buClr>
                <a:schemeClr val="accent3"/>
              </a:buClr>
              <a:buFont typeface="Arial" panose="020B0604020202020204" pitchFamily="34" charset="0"/>
              <a:buChar char="•"/>
              <a:defRPr sz="2600">
                <a:solidFill>
                  <a:schemeClr val="tx1"/>
                </a:solidFill>
              </a:defRPr>
            </a:lvl4pPr>
            <a:lvl5pPr marL="2743131" indent="-304792">
              <a:buClr>
                <a:schemeClr val="accent3"/>
              </a:buClr>
              <a:buFont typeface="Arial" panose="020B0604020202020204" pitchFamily="34" charset="0"/>
              <a:buChar char="•"/>
              <a:defRPr sz="2600">
                <a:solidFill>
                  <a:schemeClr val="tx1"/>
                </a:solidFill>
              </a:defRPr>
            </a:lvl5pPr>
          </a:lstStyle>
          <a:p>
            <a:pPr lvl="0"/>
            <a:r>
              <a:rPr lang="en-GB" dirty="0"/>
              <a:t>Click to add text or click one of </a:t>
            </a:r>
            <a:br>
              <a:rPr lang="en-GB" dirty="0"/>
            </a:br>
            <a:r>
              <a:rPr lang="en-GB" dirty="0"/>
              <a:t>the icons below to insert media</a:t>
            </a:r>
          </a:p>
        </p:txBody>
      </p:sp>
      <p:sp>
        <p:nvSpPr>
          <p:cNvPr id="7" name="Footer Placeholder 4">
            <a:extLst>
              <a:ext uri="{FF2B5EF4-FFF2-40B4-BE49-F238E27FC236}">
                <a16:creationId xmlns:a16="http://schemas.microsoft.com/office/drawing/2014/main" id="{6F6C5742-1F6C-A710-52FA-1248F020C691}"/>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8" name="Slide Number Placeholder 5">
            <a:extLst>
              <a:ext uri="{FF2B5EF4-FFF2-40B4-BE49-F238E27FC236}">
                <a16:creationId xmlns:a16="http://schemas.microsoft.com/office/drawing/2014/main" id="{A628090A-C45A-2639-D2CB-86DE80ECECC6}"/>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
        <p:nvSpPr>
          <p:cNvPr id="2" name="Text Placeholder 7">
            <a:extLst>
              <a:ext uri="{FF2B5EF4-FFF2-40B4-BE49-F238E27FC236}">
                <a16:creationId xmlns:a16="http://schemas.microsoft.com/office/drawing/2014/main" id="{74833094-AB27-5E56-D6CB-92FC23315CD5}"/>
              </a:ext>
            </a:extLst>
          </p:cNvPr>
          <p:cNvSpPr>
            <a:spLocks noGrp="1"/>
          </p:cNvSpPr>
          <p:nvPr>
            <p:ph type="body" sz="quarter" idx="24" hasCustomPrompt="1"/>
          </p:nvPr>
        </p:nvSpPr>
        <p:spPr>
          <a:xfrm>
            <a:off x="1117601" y="1214783"/>
            <a:ext cx="14008103"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Tree>
    <p:extLst>
      <p:ext uri="{BB962C8B-B14F-4D97-AF65-F5344CB8AC3E}">
        <p14:creationId xmlns:p14="http://schemas.microsoft.com/office/powerpoint/2010/main" val="10148414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98668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Blank - 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16010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with footer - White">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BD73577C-5ADA-DE55-B128-83AA66D6CFE7}"/>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6" name="Slide Number Placeholder 5">
            <a:extLst>
              <a:ext uri="{FF2B5EF4-FFF2-40B4-BE49-F238E27FC236}">
                <a16:creationId xmlns:a16="http://schemas.microsoft.com/office/drawing/2014/main" id="{23718304-6C36-249F-E42A-4B587A18B9E8}"/>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Tree>
    <p:extLst>
      <p:ext uri="{BB962C8B-B14F-4D97-AF65-F5344CB8AC3E}">
        <p14:creationId xmlns:p14="http://schemas.microsoft.com/office/powerpoint/2010/main" val="7071768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Blank with footer - Colou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15C406F6-FE38-14E0-8BF8-B9AC42B3EF15}"/>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bg1"/>
                </a:solidFill>
              </a:defRPr>
            </a:lvl1pPr>
          </a:lstStyle>
          <a:p>
            <a:r>
              <a:rPr lang="en-GB"/>
              <a:t>IFoA Life Conference</a:t>
            </a:r>
            <a:endParaRPr lang="en-GB" dirty="0"/>
          </a:p>
        </p:txBody>
      </p:sp>
      <p:sp>
        <p:nvSpPr>
          <p:cNvPr id="9" name="Slide Number Placeholder 5">
            <a:extLst>
              <a:ext uri="{FF2B5EF4-FFF2-40B4-BE49-F238E27FC236}">
                <a16:creationId xmlns:a16="http://schemas.microsoft.com/office/drawing/2014/main" id="{C18B60AF-E1FE-C3E6-C9A3-0721F1D08E6F}"/>
              </a:ext>
            </a:extLst>
          </p:cNvPr>
          <p:cNvSpPr>
            <a:spLocks noGrp="1"/>
          </p:cNvSpPr>
          <p:nvPr>
            <p:ph type="sldNum" sz="quarter" idx="4"/>
          </p:nvPr>
        </p:nvSpPr>
        <p:spPr>
          <a:xfrm>
            <a:off x="14573177" y="8382533"/>
            <a:ext cx="529680" cy="486833"/>
          </a:xfrm>
          <a:prstGeom prst="rect">
            <a:avLst/>
          </a:prstGeom>
          <a:solidFill>
            <a:schemeClr val="bg1"/>
          </a:solidFill>
        </p:spPr>
        <p:txBody>
          <a:bodyPr vert="horz" lIns="91440" tIns="45720" rIns="91440" bIns="45720" rtlCol="0" anchor="ctr"/>
          <a:lstStyle>
            <a:lvl1pPr algn="ctr">
              <a:defRPr sz="1200" b="1" i="0">
                <a:solidFill>
                  <a:schemeClr val="tx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cxnSp>
        <p:nvCxnSpPr>
          <p:cNvPr id="10" name="Straight Connector 9">
            <a:extLst>
              <a:ext uri="{FF2B5EF4-FFF2-40B4-BE49-F238E27FC236}">
                <a16:creationId xmlns:a16="http://schemas.microsoft.com/office/drawing/2014/main" id="{A0CB7D33-8423-976F-F4E8-092F373CB4D4}"/>
              </a:ext>
            </a:extLst>
          </p:cNvPr>
          <p:cNvCxnSpPr>
            <a:cxnSpLocks/>
          </p:cNvCxnSpPr>
          <p:nvPr userDrawn="1"/>
        </p:nvCxnSpPr>
        <p:spPr>
          <a:xfrm>
            <a:off x="14411899" y="8360757"/>
            <a:ext cx="0" cy="530384"/>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A334B112-156D-B47A-A01E-403E49BC030A}"/>
              </a:ext>
            </a:extLst>
          </p:cNvPr>
          <p:cNvPicPr>
            <a:picLocks noChangeAspect="1"/>
          </p:cNvPicPr>
          <p:nvPr userDrawn="1"/>
        </p:nvPicPr>
        <p:blipFill>
          <a:blip r:embed="rId3" cstate="email">
            <a:extLst>
              <a:ext uri="{28A0092B-C50C-407E-A947-70E740481C1C}">
                <a14:useLocalDpi xmlns:a14="http://schemas.microsoft.com/office/drawing/2010/main" val="0"/>
              </a:ext>
            </a:extLst>
          </a:blip>
          <a:srcRect/>
          <a:stretch/>
        </p:blipFill>
        <p:spPr>
          <a:xfrm>
            <a:off x="12850415" y="8348409"/>
            <a:ext cx="1366353" cy="555080"/>
          </a:xfrm>
          <a:prstGeom prst="rect">
            <a:avLst/>
          </a:prstGeom>
        </p:spPr>
      </p:pic>
      <p:cxnSp>
        <p:nvCxnSpPr>
          <p:cNvPr id="14" name="Straight Connector 13">
            <a:extLst>
              <a:ext uri="{FF2B5EF4-FFF2-40B4-BE49-F238E27FC236}">
                <a16:creationId xmlns:a16="http://schemas.microsoft.com/office/drawing/2014/main" id="{AECD1887-4E9C-5FF9-418B-2EFD255594FE}"/>
              </a:ext>
            </a:extLst>
          </p:cNvPr>
          <p:cNvCxnSpPr>
            <a:cxnSpLocks/>
          </p:cNvCxnSpPr>
          <p:nvPr userDrawn="1"/>
        </p:nvCxnSpPr>
        <p:spPr>
          <a:xfrm>
            <a:off x="12689014" y="8360757"/>
            <a:ext cx="0" cy="530384"/>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52155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Blank without footer - Background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314133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theme" Target="../theme/theme2.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slideLayout" Target="../slideLayouts/slideLayout18.xml"/><Relationship Id="rId2" Type="http://schemas.openxmlformats.org/officeDocument/2006/relationships/slideLayout" Target="../slideLayouts/slideLayout3.xml"/><Relationship Id="rId16" Type="http://schemas.openxmlformats.org/officeDocument/2006/relationships/slideLayout" Target="../slideLayouts/slideLayout17.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19" Type="http://schemas.openxmlformats.org/officeDocument/2006/relationships/image" Target="../media/image1.png"/><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image" Target="../media/image1.png"/><Relationship Id="rId5" Type="http://schemas.openxmlformats.org/officeDocument/2006/relationships/theme" Target="../theme/theme3.xml"/><Relationship Id="rId4"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FF25C570-C0B9-76B3-4BFD-E6B3A0571624}"/>
              </a:ext>
            </a:extLst>
          </p:cNvPr>
          <p:cNvSpPr>
            <a:spLocks noGrp="1"/>
          </p:cNvSpPr>
          <p:nvPr>
            <p:ph type="title"/>
          </p:nvPr>
        </p:nvSpPr>
        <p:spPr>
          <a:xfrm>
            <a:off x="1117600" y="486834"/>
            <a:ext cx="14020800" cy="1767417"/>
          </a:xfrm>
          <a:prstGeom prst="rect">
            <a:avLst/>
          </a:prstGeom>
        </p:spPr>
        <p:txBody>
          <a:bodyPr vert="horz" lIns="91440" tIns="45720" rIns="91440" bIns="45720" rtlCol="0" anchor="ctr">
            <a:normAutofit/>
          </a:bodyPr>
          <a:lstStyle/>
          <a:p>
            <a:r>
              <a:rPr lang="en-GB" dirty="0"/>
              <a:t>Click to edit master title style</a:t>
            </a:r>
          </a:p>
        </p:txBody>
      </p:sp>
      <p:sp>
        <p:nvSpPr>
          <p:cNvPr id="6" name="Text Placeholder 2">
            <a:extLst>
              <a:ext uri="{FF2B5EF4-FFF2-40B4-BE49-F238E27FC236}">
                <a16:creationId xmlns:a16="http://schemas.microsoft.com/office/drawing/2014/main" id="{A630D8FD-A6F6-6EE4-2434-A38016314418}"/>
              </a:ext>
            </a:extLst>
          </p:cNvPr>
          <p:cNvSpPr>
            <a:spLocks noGrp="1"/>
          </p:cNvSpPr>
          <p:nvPr>
            <p:ph type="body" idx="1"/>
          </p:nvPr>
        </p:nvSpPr>
        <p:spPr>
          <a:xfrm>
            <a:off x="1117600" y="2434167"/>
            <a:ext cx="14020800" cy="5801784"/>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pic>
        <p:nvPicPr>
          <p:cNvPr id="7" name="Picture 6">
            <a:extLst>
              <a:ext uri="{FF2B5EF4-FFF2-40B4-BE49-F238E27FC236}">
                <a16:creationId xmlns:a16="http://schemas.microsoft.com/office/drawing/2014/main" id="{BDD3F4E8-5CDA-8955-4BFE-A2FCDD5BA013}"/>
              </a:ext>
            </a:extLst>
          </p:cNvPr>
          <p:cNvPicPr>
            <a:picLocks noChangeAspect="1"/>
          </p:cNvPicPr>
          <p:nvPr userDrawn="1"/>
        </p:nvPicPr>
        <p:blipFill>
          <a:blip r:embed="rId3" cstate="email">
            <a:extLst>
              <a:ext uri="{28A0092B-C50C-407E-A947-70E740481C1C}">
                <a14:useLocalDpi xmlns:a14="http://schemas.microsoft.com/office/drawing/2010/main" val="0"/>
              </a:ext>
            </a:extLst>
          </a:blip>
          <a:srcRect/>
          <a:stretch/>
        </p:blipFill>
        <p:spPr>
          <a:xfrm>
            <a:off x="12850415" y="8348635"/>
            <a:ext cx="1366353" cy="554629"/>
          </a:xfrm>
          <a:prstGeom prst="rect">
            <a:avLst/>
          </a:prstGeom>
        </p:spPr>
      </p:pic>
      <p:sp>
        <p:nvSpPr>
          <p:cNvPr id="8" name="Footer Placeholder 4">
            <a:extLst>
              <a:ext uri="{FF2B5EF4-FFF2-40B4-BE49-F238E27FC236}">
                <a16:creationId xmlns:a16="http://schemas.microsoft.com/office/drawing/2014/main" id="{ACA03778-E4AF-D519-D257-3D5B728D22F7}"/>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9" name="Slide Number Placeholder 5">
            <a:extLst>
              <a:ext uri="{FF2B5EF4-FFF2-40B4-BE49-F238E27FC236}">
                <a16:creationId xmlns:a16="http://schemas.microsoft.com/office/drawing/2014/main" id="{A1516921-5FEC-FB3B-75CE-FB6663376CD0}"/>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cxnSp>
        <p:nvCxnSpPr>
          <p:cNvPr id="10" name="Straight Connector 9">
            <a:extLst>
              <a:ext uri="{FF2B5EF4-FFF2-40B4-BE49-F238E27FC236}">
                <a16:creationId xmlns:a16="http://schemas.microsoft.com/office/drawing/2014/main" id="{5B708CF7-AFA2-B03F-3762-97D636B572D0}"/>
              </a:ext>
            </a:extLst>
          </p:cNvPr>
          <p:cNvCxnSpPr>
            <a:cxnSpLocks/>
          </p:cNvCxnSpPr>
          <p:nvPr userDrawn="1"/>
        </p:nvCxnSpPr>
        <p:spPr>
          <a:xfrm>
            <a:off x="14411899" y="8360757"/>
            <a:ext cx="0" cy="530384"/>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F886170-12CD-9DF7-29C3-124E4C5EF48A}"/>
              </a:ext>
            </a:extLst>
          </p:cNvPr>
          <p:cNvCxnSpPr>
            <a:cxnSpLocks/>
          </p:cNvCxnSpPr>
          <p:nvPr userDrawn="1"/>
        </p:nvCxnSpPr>
        <p:spPr>
          <a:xfrm>
            <a:off x="12689014" y="8360757"/>
            <a:ext cx="0" cy="530384"/>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686094"/>
      </p:ext>
    </p:extLst>
  </p:cSld>
  <p:clrMap bg1="lt1" tx1="dk1" bg2="lt2" tx2="dk2" accent1="accent1" accent2="accent2" accent3="accent3" accent4="accent4" accent5="accent5" accent6="accent6" hlink="hlink" folHlink="folHlink"/>
  <p:sldLayoutIdLst>
    <p:sldLayoutId id="2147483989" r:id="rId1"/>
  </p:sldLayoutIdLst>
  <p:hf hdr="0" dt="0"/>
  <p:txStyles>
    <p:titleStyle>
      <a:lvl1pPr algn="l" defTabSz="1219170" rtl="0" eaLnBrk="1" latinLnBrk="0" hangingPunct="1">
        <a:lnSpc>
          <a:spcPct val="90000"/>
        </a:lnSpc>
        <a:spcBef>
          <a:spcPct val="0"/>
        </a:spcBef>
        <a:buNone/>
        <a:defRPr sz="4400" b="1" i="0" kern="1200" spc="-150" baseline="0">
          <a:solidFill>
            <a:schemeClr val="tx1"/>
          </a:solidFill>
          <a:latin typeface="Arial" panose="020B0604020202020204" pitchFamily="34" charset="0"/>
          <a:ea typeface="+mj-ea"/>
          <a:cs typeface="Arial" panose="020B0604020202020204" pitchFamily="34" charset="0"/>
        </a:defRPr>
      </a:lvl1pPr>
    </p:titleStyle>
    <p:bodyStyle>
      <a:lvl1pPr marL="304792" indent="-304792" algn="l" defTabSz="1219170" rtl="0" eaLnBrk="1" latinLnBrk="0" hangingPunct="1">
        <a:lnSpc>
          <a:spcPct val="100000"/>
        </a:lnSpc>
        <a:spcBef>
          <a:spcPts val="1333"/>
        </a:spcBef>
        <a:buClr>
          <a:schemeClr val="accent3"/>
        </a:buClr>
        <a:buFont typeface="Arial" panose="020B0604020202020204" pitchFamily="34" charset="0"/>
        <a:buChar char="•"/>
        <a:defRPr sz="2600" b="0" i="0" kern="1200">
          <a:solidFill>
            <a:schemeClr val="tx1"/>
          </a:solidFill>
          <a:latin typeface="Arial Light" pitchFamily="2" charset="77"/>
          <a:ea typeface="+mn-ea"/>
          <a:cs typeface="Arial" panose="020B0604020202020204" pitchFamily="34" charset="0"/>
        </a:defRPr>
      </a:lvl1pPr>
      <a:lvl2pPr marL="91437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Light" pitchFamily="2" charset="77"/>
          <a:ea typeface="+mn-ea"/>
          <a:cs typeface="Arial" panose="020B0604020202020204" pitchFamily="34" charset="0"/>
        </a:defRPr>
      </a:lvl2pPr>
      <a:lvl3pPr marL="1523962"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Light" pitchFamily="2" charset="77"/>
          <a:ea typeface="+mn-ea"/>
          <a:cs typeface="Arial" panose="020B0604020202020204" pitchFamily="34" charset="0"/>
        </a:defRPr>
      </a:lvl3pPr>
      <a:lvl4pPr marL="213354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Light" pitchFamily="2" charset="77"/>
          <a:ea typeface="+mn-ea"/>
          <a:cs typeface="Arial" panose="020B0604020202020204" pitchFamily="34" charset="0"/>
        </a:defRPr>
      </a:lvl4pPr>
      <a:lvl5pPr marL="2743131"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Light" pitchFamily="2" charset="77"/>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F9E5E3-50B6-4FBB-92A3-9FF023DDE2C5}"/>
              </a:ext>
            </a:extLst>
          </p:cNvPr>
          <p:cNvSpPr>
            <a:spLocks noGrp="1"/>
          </p:cNvSpPr>
          <p:nvPr>
            <p:ph type="title"/>
          </p:nvPr>
        </p:nvSpPr>
        <p:spPr>
          <a:xfrm>
            <a:off x="1117600" y="486834"/>
            <a:ext cx="14020800" cy="1767417"/>
          </a:xfrm>
          <a:prstGeom prst="rect">
            <a:avLst/>
          </a:prstGeom>
        </p:spPr>
        <p:txBody>
          <a:bodyPr vert="horz" lIns="91440" tIns="45720" rIns="91440" bIns="45720" rtlCol="0" anchor="ctr">
            <a:normAutofit/>
          </a:bodyPr>
          <a:lstStyle/>
          <a:p>
            <a:r>
              <a:rPr lang="en-GB" dirty="0"/>
              <a:t>Click to edit master title style</a:t>
            </a:r>
          </a:p>
        </p:txBody>
      </p:sp>
      <p:sp>
        <p:nvSpPr>
          <p:cNvPr id="3" name="Text Placeholder 2">
            <a:extLst>
              <a:ext uri="{FF2B5EF4-FFF2-40B4-BE49-F238E27FC236}">
                <a16:creationId xmlns:a16="http://schemas.microsoft.com/office/drawing/2014/main" id="{CD748E6F-0121-4691-8E7F-4F7004A7CAA4}"/>
              </a:ext>
            </a:extLst>
          </p:cNvPr>
          <p:cNvSpPr>
            <a:spLocks noGrp="1"/>
          </p:cNvSpPr>
          <p:nvPr>
            <p:ph type="body" idx="1"/>
          </p:nvPr>
        </p:nvSpPr>
        <p:spPr>
          <a:xfrm>
            <a:off x="1117600" y="2434167"/>
            <a:ext cx="14020800" cy="5801784"/>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2" name="Footer Placeholder 4">
            <a:extLst>
              <a:ext uri="{FF2B5EF4-FFF2-40B4-BE49-F238E27FC236}">
                <a16:creationId xmlns:a16="http://schemas.microsoft.com/office/drawing/2014/main" id="{15B6EA79-ADD6-536F-9385-DD3D12B23CD5}"/>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23" name="Slide Number Placeholder 5">
            <a:extLst>
              <a:ext uri="{FF2B5EF4-FFF2-40B4-BE49-F238E27FC236}">
                <a16:creationId xmlns:a16="http://schemas.microsoft.com/office/drawing/2014/main" id="{E2592FD6-5F90-36CF-89E1-38DFB0DCDE60}"/>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cxnSp>
        <p:nvCxnSpPr>
          <p:cNvPr id="24" name="Straight Connector 23">
            <a:extLst>
              <a:ext uri="{FF2B5EF4-FFF2-40B4-BE49-F238E27FC236}">
                <a16:creationId xmlns:a16="http://schemas.microsoft.com/office/drawing/2014/main" id="{CB2459A5-41A4-9F91-CD93-561B1A34EFD3}"/>
              </a:ext>
            </a:extLst>
          </p:cNvPr>
          <p:cNvCxnSpPr>
            <a:cxnSpLocks/>
          </p:cNvCxnSpPr>
          <p:nvPr userDrawn="1"/>
        </p:nvCxnSpPr>
        <p:spPr>
          <a:xfrm>
            <a:off x="14411899" y="8360757"/>
            <a:ext cx="0" cy="530384"/>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93BB4BF-B293-D332-15CC-111A2FEAA3DA}"/>
              </a:ext>
            </a:extLst>
          </p:cNvPr>
          <p:cNvCxnSpPr>
            <a:cxnSpLocks/>
          </p:cNvCxnSpPr>
          <p:nvPr userDrawn="1"/>
        </p:nvCxnSpPr>
        <p:spPr>
          <a:xfrm>
            <a:off x="12689014" y="8360757"/>
            <a:ext cx="0" cy="530384"/>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C59BA104-4A55-2960-85E0-106CAE1FF314}"/>
              </a:ext>
            </a:extLst>
          </p:cNvPr>
          <p:cNvPicPr>
            <a:picLocks noChangeAspect="1"/>
          </p:cNvPicPr>
          <p:nvPr userDrawn="1"/>
        </p:nvPicPr>
        <p:blipFill>
          <a:blip r:embed="rId19" cstate="email">
            <a:extLst>
              <a:ext uri="{28A0092B-C50C-407E-A947-70E740481C1C}">
                <a14:useLocalDpi xmlns:a14="http://schemas.microsoft.com/office/drawing/2010/main" val="0"/>
              </a:ext>
            </a:extLst>
          </a:blip>
          <a:srcRect/>
          <a:stretch/>
        </p:blipFill>
        <p:spPr>
          <a:xfrm>
            <a:off x="12850416" y="8348635"/>
            <a:ext cx="1366351" cy="554629"/>
          </a:xfrm>
          <a:prstGeom prst="rect">
            <a:avLst/>
          </a:prstGeom>
        </p:spPr>
      </p:pic>
    </p:spTree>
    <p:extLst>
      <p:ext uri="{BB962C8B-B14F-4D97-AF65-F5344CB8AC3E}">
        <p14:creationId xmlns:p14="http://schemas.microsoft.com/office/powerpoint/2010/main" val="2805869975"/>
      </p:ext>
    </p:extLst>
  </p:cSld>
  <p:clrMap bg1="lt1" tx1="dk1" bg2="lt2" tx2="dk2" accent1="accent1" accent2="accent2" accent3="accent3" accent4="accent4" accent5="accent5" accent6="accent6" hlink="hlink" folHlink="folHlink"/>
  <p:sldLayoutIdLst>
    <p:sldLayoutId id="2147484091" r:id="rId1"/>
    <p:sldLayoutId id="2147484092" r:id="rId2"/>
    <p:sldLayoutId id="2147484093" r:id="rId3"/>
    <p:sldLayoutId id="2147484094" r:id="rId4"/>
    <p:sldLayoutId id="2147484095" r:id="rId5"/>
    <p:sldLayoutId id="2147484096" r:id="rId6"/>
    <p:sldLayoutId id="2147484097" r:id="rId7"/>
    <p:sldLayoutId id="2147484098" r:id="rId8"/>
    <p:sldLayoutId id="2147484099" r:id="rId9"/>
    <p:sldLayoutId id="2147484100" r:id="rId10"/>
    <p:sldLayoutId id="2147484101" r:id="rId11"/>
    <p:sldLayoutId id="2147484102" r:id="rId12"/>
    <p:sldLayoutId id="2147484103" r:id="rId13"/>
    <p:sldLayoutId id="2147484104" r:id="rId14"/>
    <p:sldLayoutId id="2147484134" r:id="rId15"/>
    <p:sldLayoutId id="2147484135" r:id="rId16"/>
    <p:sldLayoutId id="2147484136" r:id="rId17"/>
  </p:sldLayoutIdLst>
  <p:hf hdr="0" dt="0"/>
  <p:txStyles>
    <p:titleStyle>
      <a:lvl1pPr algn="l" defTabSz="1219170" rtl="0" eaLnBrk="1" latinLnBrk="0" hangingPunct="1">
        <a:lnSpc>
          <a:spcPct val="90000"/>
        </a:lnSpc>
        <a:spcBef>
          <a:spcPct val="0"/>
        </a:spcBef>
        <a:buNone/>
        <a:defRPr sz="4400" b="1" i="0" kern="1200" spc="-150" baseline="0">
          <a:solidFill>
            <a:schemeClr val="tx1"/>
          </a:solidFill>
          <a:latin typeface="Arial" panose="020B0604020202020204" pitchFamily="34" charset="0"/>
          <a:ea typeface="+mj-ea"/>
          <a:cs typeface="Arial" panose="020B0604020202020204" pitchFamily="34" charset="0"/>
        </a:defRPr>
      </a:lvl1pPr>
    </p:titleStyle>
    <p:bodyStyle>
      <a:lvl1pPr marL="304792" indent="-304792" algn="l" defTabSz="1219170" rtl="0" eaLnBrk="1" latinLnBrk="0" hangingPunct="1">
        <a:lnSpc>
          <a:spcPct val="100000"/>
        </a:lnSpc>
        <a:spcBef>
          <a:spcPts val="1333"/>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1pPr>
      <a:lvl2pPr marL="91437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2pPr>
      <a:lvl3pPr marL="1523962"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3pPr>
      <a:lvl4pPr marL="213354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4pPr>
      <a:lvl5pPr marL="2743131"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F9E5E3-50B6-4FBB-92A3-9FF023DDE2C5}"/>
              </a:ext>
            </a:extLst>
          </p:cNvPr>
          <p:cNvSpPr>
            <a:spLocks noGrp="1"/>
          </p:cNvSpPr>
          <p:nvPr>
            <p:ph type="title"/>
          </p:nvPr>
        </p:nvSpPr>
        <p:spPr>
          <a:xfrm>
            <a:off x="1117600" y="486834"/>
            <a:ext cx="14020800" cy="1767417"/>
          </a:xfrm>
          <a:prstGeom prst="rect">
            <a:avLst/>
          </a:prstGeom>
        </p:spPr>
        <p:txBody>
          <a:bodyPr vert="horz" lIns="91440" tIns="45720" rIns="91440" bIns="45720" rtlCol="0" anchor="ctr">
            <a:normAutofit/>
          </a:bodyPr>
          <a:lstStyle/>
          <a:p>
            <a:r>
              <a:rPr lang="en-GB" dirty="0"/>
              <a:t>Click to edit master title style</a:t>
            </a:r>
          </a:p>
        </p:txBody>
      </p:sp>
      <p:sp>
        <p:nvSpPr>
          <p:cNvPr id="3" name="Text Placeholder 2">
            <a:extLst>
              <a:ext uri="{FF2B5EF4-FFF2-40B4-BE49-F238E27FC236}">
                <a16:creationId xmlns:a16="http://schemas.microsoft.com/office/drawing/2014/main" id="{CD748E6F-0121-4691-8E7F-4F7004A7CAA4}"/>
              </a:ext>
            </a:extLst>
          </p:cNvPr>
          <p:cNvSpPr>
            <a:spLocks noGrp="1"/>
          </p:cNvSpPr>
          <p:nvPr>
            <p:ph type="body" idx="1"/>
          </p:nvPr>
        </p:nvSpPr>
        <p:spPr>
          <a:xfrm>
            <a:off x="1117600" y="2434167"/>
            <a:ext cx="14020800" cy="5644962"/>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pic>
        <p:nvPicPr>
          <p:cNvPr id="17" name="Picture 16">
            <a:extLst>
              <a:ext uri="{FF2B5EF4-FFF2-40B4-BE49-F238E27FC236}">
                <a16:creationId xmlns:a16="http://schemas.microsoft.com/office/drawing/2014/main" id="{342F200D-848E-FCA7-CEE7-C3A16BDD429D}"/>
              </a:ext>
            </a:extLst>
          </p:cNvPr>
          <p:cNvPicPr>
            <a:picLocks noChangeAspect="1"/>
          </p:cNvPicPr>
          <p:nvPr userDrawn="1"/>
        </p:nvPicPr>
        <p:blipFill>
          <a:blip r:embed="rId6" cstate="email">
            <a:extLst>
              <a:ext uri="{28A0092B-C50C-407E-A947-70E740481C1C}">
                <a14:useLocalDpi xmlns:a14="http://schemas.microsoft.com/office/drawing/2010/main" val="0"/>
              </a:ext>
            </a:extLst>
          </a:blip>
          <a:srcRect/>
          <a:stretch/>
        </p:blipFill>
        <p:spPr>
          <a:xfrm>
            <a:off x="12850415" y="8348635"/>
            <a:ext cx="1366353" cy="554629"/>
          </a:xfrm>
          <a:prstGeom prst="rect">
            <a:avLst/>
          </a:prstGeom>
        </p:spPr>
      </p:pic>
      <p:sp>
        <p:nvSpPr>
          <p:cNvPr id="18" name="Footer Placeholder 4">
            <a:extLst>
              <a:ext uri="{FF2B5EF4-FFF2-40B4-BE49-F238E27FC236}">
                <a16:creationId xmlns:a16="http://schemas.microsoft.com/office/drawing/2014/main" id="{BD97F80B-912B-9BAB-E4A2-3A8BC133603E}"/>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19" name="Slide Number Placeholder 5">
            <a:extLst>
              <a:ext uri="{FF2B5EF4-FFF2-40B4-BE49-F238E27FC236}">
                <a16:creationId xmlns:a16="http://schemas.microsoft.com/office/drawing/2014/main" id="{0C107E2B-92C7-C410-9DB1-828DE7DBBB1A}"/>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cxnSp>
        <p:nvCxnSpPr>
          <p:cNvPr id="20" name="Straight Connector 19">
            <a:extLst>
              <a:ext uri="{FF2B5EF4-FFF2-40B4-BE49-F238E27FC236}">
                <a16:creationId xmlns:a16="http://schemas.microsoft.com/office/drawing/2014/main" id="{98974C6E-57E6-DAC2-B12F-C7C5F8AA94F5}"/>
              </a:ext>
            </a:extLst>
          </p:cNvPr>
          <p:cNvCxnSpPr>
            <a:cxnSpLocks/>
          </p:cNvCxnSpPr>
          <p:nvPr userDrawn="1"/>
        </p:nvCxnSpPr>
        <p:spPr>
          <a:xfrm>
            <a:off x="14411899" y="8360757"/>
            <a:ext cx="0" cy="530384"/>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70E9DA1-EA1C-F4E2-697B-CF7B512536B1}"/>
              </a:ext>
            </a:extLst>
          </p:cNvPr>
          <p:cNvCxnSpPr>
            <a:cxnSpLocks/>
          </p:cNvCxnSpPr>
          <p:nvPr userDrawn="1"/>
        </p:nvCxnSpPr>
        <p:spPr>
          <a:xfrm>
            <a:off x="12689014" y="8360757"/>
            <a:ext cx="0" cy="530384"/>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9549632"/>
      </p:ext>
    </p:extLst>
  </p:cSld>
  <p:clrMap bg1="lt1" tx1="dk1" bg2="lt2" tx2="dk2" accent1="accent1" accent2="accent2" accent3="accent3" accent4="accent4" accent5="accent5" accent6="accent6" hlink="hlink" folHlink="folHlink"/>
  <p:sldLayoutIdLst>
    <p:sldLayoutId id="2147483898" r:id="rId1"/>
    <p:sldLayoutId id="2147483899" r:id="rId2"/>
    <p:sldLayoutId id="2147484133" r:id="rId3"/>
    <p:sldLayoutId id="2147484109" r:id="rId4"/>
  </p:sldLayoutIdLst>
  <p:hf hdr="0" dt="0"/>
  <p:txStyles>
    <p:titleStyle>
      <a:lvl1pPr algn="l" defTabSz="1219170" rtl="0" eaLnBrk="1" latinLnBrk="0" hangingPunct="1">
        <a:lnSpc>
          <a:spcPct val="90000"/>
        </a:lnSpc>
        <a:spcBef>
          <a:spcPct val="0"/>
        </a:spcBef>
        <a:buNone/>
        <a:defRPr sz="4400" b="1" i="0" kern="1200" spc="-150" baseline="0">
          <a:solidFill>
            <a:schemeClr val="tx1"/>
          </a:solidFill>
          <a:latin typeface="Arial" panose="020B0604020202020204" pitchFamily="34" charset="0"/>
          <a:ea typeface="+mj-ea"/>
          <a:cs typeface="Arial" panose="020B0604020202020204" pitchFamily="34" charset="0"/>
        </a:defRPr>
      </a:lvl1pPr>
    </p:titleStyle>
    <p:bodyStyle>
      <a:lvl1pPr marL="304792" indent="-304792" algn="l" defTabSz="1219170" rtl="0" eaLnBrk="1" latinLnBrk="0" hangingPunct="1">
        <a:lnSpc>
          <a:spcPct val="100000"/>
        </a:lnSpc>
        <a:spcBef>
          <a:spcPts val="1333"/>
        </a:spcBef>
        <a:buClr>
          <a:schemeClr val="accent1"/>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1pPr>
      <a:lvl2pPr marL="914377" indent="-304792" algn="l" defTabSz="1219170" rtl="0" eaLnBrk="1" latinLnBrk="0" hangingPunct="1">
        <a:lnSpc>
          <a:spcPct val="100000"/>
        </a:lnSpc>
        <a:spcBef>
          <a:spcPts val="667"/>
        </a:spcBef>
        <a:buClr>
          <a:schemeClr val="accent1"/>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2pPr>
      <a:lvl3pPr marL="1523962" indent="-304792" algn="l" defTabSz="1219170" rtl="0" eaLnBrk="1" latinLnBrk="0" hangingPunct="1">
        <a:lnSpc>
          <a:spcPct val="100000"/>
        </a:lnSpc>
        <a:spcBef>
          <a:spcPts val="667"/>
        </a:spcBef>
        <a:buClr>
          <a:schemeClr val="accent1"/>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3pPr>
      <a:lvl4pPr marL="2133547" indent="-304792" algn="l" defTabSz="1219170" rtl="0" eaLnBrk="1" latinLnBrk="0" hangingPunct="1">
        <a:lnSpc>
          <a:spcPct val="100000"/>
        </a:lnSpc>
        <a:spcBef>
          <a:spcPts val="667"/>
        </a:spcBef>
        <a:buClr>
          <a:schemeClr val="accent1"/>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4pPr>
      <a:lvl5pPr marL="2743131" indent="-304792" algn="l" defTabSz="1219170" rtl="0" eaLnBrk="1" latinLnBrk="0" hangingPunct="1">
        <a:lnSpc>
          <a:spcPct val="100000"/>
        </a:lnSpc>
        <a:spcBef>
          <a:spcPts val="667"/>
        </a:spcBef>
        <a:buClr>
          <a:schemeClr val="accent1"/>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microsoft.com/office/2018/10/relationships/comments" Target="../comments/modernComment_154_1FC8DBF6.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55_50B01E6F.xml"/><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chart" Target="../charts/chart1.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microsoft.com/office/2018/10/relationships/comments" Target="../comments/modernComment_102_BD741A49.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18/10/relationships/comments" Target="../comments/modernComment_156_455EA5F7.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18/10/relationships/comments" Target="../comments/modernComment_157_397D4824.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18/10/relationships/comments" Target="../comments/modernComment_158_CB38CBA5.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chart" Target="../charts/char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microsoft.com/office/2018/10/relationships/comments" Target="../comments/modernComment_150_4FD86DD7.xml"/><Relationship Id="rId2" Type="http://schemas.openxmlformats.org/officeDocument/2006/relationships/notesSlide" Target="../notesSlides/notesSlide18.xml"/><Relationship Id="rId1" Type="http://schemas.openxmlformats.org/officeDocument/2006/relationships/slideLayout" Target="../slideLayouts/slideLayout11.xml"/><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20.xml"/><Relationship Id="rId1" Type="http://schemas.openxmlformats.org/officeDocument/2006/relationships/slideLayout" Target="../slideLayouts/slideLayout6.xml"/><Relationship Id="rId5" Type="http://schemas.openxmlformats.org/officeDocument/2006/relationships/image" Target="../media/image23.svg"/><Relationship Id="rId4" Type="http://schemas.openxmlformats.org/officeDocument/2006/relationships/image" Target="../media/image22.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3BBF01D-71AF-2AA4-9C97-E43E574E71BF}"/>
              </a:ext>
            </a:extLst>
          </p:cNvPr>
          <p:cNvSpPr>
            <a:spLocks noGrp="1"/>
          </p:cNvSpPr>
          <p:nvPr>
            <p:ph type="ftr" sz="quarter" idx="3"/>
          </p:nvPr>
        </p:nvSpPr>
        <p:spPr/>
        <p:txBody>
          <a:bodyPr/>
          <a:lstStyle/>
          <a:p>
            <a:r>
              <a:rPr lang="en-GB"/>
              <a:t>IFoA Life Conference</a:t>
            </a:r>
            <a:endParaRPr lang="en-GB" dirty="0"/>
          </a:p>
        </p:txBody>
      </p:sp>
      <p:sp>
        <p:nvSpPr>
          <p:cNvPr id="4" name="Title 3">
            <a:extLst>
              <a:ext uri="{FF2B5EF4-FFF2-40B4-BE49-F238E27FC236}">
                <a16:creationId xmlns:a16="http://schemas.microsoft.com/office/drawing/2014/main" id="{A41A352A-E150-6CA4-17A5-C5CC01DA6E8A}"/>
              </a:ext>
            </a:extLst>
          </p:cNvPr>
          <p:cNvSpPr>
            <a:spLocks noGrp="1"/>
          </p:cNvSpPr>
          <p:nvPr>
            <p:ph type="title"/>
          </p:nvPr>
        </p:nvSpPr>
        <p:spPr/>
        <p:txBody>
          <a:bodyPr/>
          <a:lstStyle/>
          <a:p>
            <a:r>
              <a:rPr lang="en-US" dirty="0"/>
              <a:t>IFoA Life</a:t>
            </a:r>
            <a:br>
              <a:rPr lang="en-US" dirty="0"/>
            </a:br>
            <a:r>
              <a:rPr lang="en-US" dirty="0"/>
              <a:t>Conference 2026</a:t>
            </a:r>
          </a:p>
        </p:txBody>
      </p:sp>
      <p:sp>
        <p:nvSpPr>
          <p:cNvPr id="5" name="Slide Number Placeholder 4">
            <a:extLst>
              <a:ext uri="{FF2B5EF4-FFF2-40B4-BE49-F238E27FC236}">
                <a16:creationId xmlns:a16="http://schemas.microsoft.com/office/drawing/2014/main" id="{5C4359CE-CB65-7948-B2AD-96F3742DE349}"/>
              </a:ext>
            </a:extLst>
          </p:cNvPr>
          <p:cNvSpPr>
            <a:spLocks noGrp="1"/>
          </p:cNvSpPr>
          <p:nvPr>
            <p:ph type="sldNum" sz="quarter" idx="4"/>
          </p:nvPr>
        </p:nvSpPr>
        <p:spPr/>
        <p:txBody>
          <a:bodyPr/>
          <a:lstStyle/>
          <a:p>
            <a:fld id="{40FC62D0-A2F2-4BF8-8DAC-E86C11000EC3}" type="slidenum">
              <a:rPr lang="en-GB" smtClean="0"/>
              <a:pPr/>
              <a:t>1</a:t>
            </a:fld>
            <a:endParaRPr lang="en-GB" dirty="0"/>
          </a:p>
        </p:txBody>
      </p:sp>
    </p:spTree>
    <p:extLst>
      <p:ext uri="{BB962C8B-B14F-4D97-AF65-F5344CB8AC3E}">
        <p14:creationId xmlns:p14="http://schemas.microsoft.com/office/powerpoint/2010/main" val="3042842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FFC615F-0F27-AE17-94D7-890440957ADC}"/>
              </a:ext>
            </a:extLst>
          </p:cNvPr>
          <p:cNvSpPr>
            <a:spLocks noGrp="1"/>
          </p:cNvSpPr>
          <p:nvPr>
            <p:ph type="ftr" sz="quarter" idx="3"/>
          </p:nvPr>
        </p:nvSpPr>
        <p:spPr/>
        <p:txBody>
          <a:bodyPr/>
          <a:lstStyle/>
          <a:p>
            <a:r>
              <a:rPr lang="en-GB"/>
              <a:t>IFoA Life Conference</a:t>
            </a:r>
            <a:endParaRPr lang="en-GB" dirty="0"/>
          </a:p>
        </p:txBody>
      </p:sp>
      <p:sp>
        <p:nvSpPr>
          <p:cNvPr id="3" name="Slide Number Placeholder 2">
            <a:extLst>
              <a:ext uri="{FF2B5EF4-FFF2-40B4-BE49-F238E27FC236}">
                <a16:creationId xmlns:a16="http://schemas.microsoft.com/office/drawing/2014/main" id="{622B6D3E-AA8B-62A9-0E03-E91FC16133D8}"/>
              </a:ext>
            </a:extLst>
          </p:cNvPr>
          <p:cNvSpPr>
            <a:spLocks noGrp="1"/>
          </p:cNvSpPr>
          <p:nvPr>
            <p:ph type="sldNum" sz="quarter" idx="4"/>
          </p:nvPr>
        </p:nvSpPr>
        <p:spPr/>
        <p:txBody>
          <a:bodyPr/>
          <a:lstStyle/>
          <a:p>
            <a:fld id="{40FC62D0-A2F2-4BF8-8DAC-E86C11000EC3}" type="slidenum">
              <a:rPr lang="en-GB" smtClean="0"/>
              <a:pPr/>
              <a:t>2</a:t>
            </a:fld>
            <a:endParaRPr lang="en-GB" dirty="0"/>
          </a:p>
        </p:txBody>
      </p:sp>
      <p:sp>
        <p:nvSpPr>
          <p:cNvPr id="5" name="Subtitle 2">
            <a:extLst>
              <a:ext uri="{FF2B5EF4-FFF2-40B4-BE49-F238E27FC236}">
                <a16:creationId xmlns:a16="http://schemas.microsoft.com/office/drawing/2014/main" id="{80C9B5BE-5048-4E8E-07B1-0A9DB8C82FC8}"/>
              </a:ext>
            </a:extLst>
          </p:cNvPr>
          <p:cNvSpPr txBox="1">
            <a:spLocks/>
          </p:cNvSpPr>
          <p:nvPr/>
        </p:nvSpPr>
        <p:spPr>
          <a:xfrm>
            <a:off x="3089535" y="6210136"/>
            <a:ext cx="9232005" cy="1836584"/>
          </a:xfrm>
          <a:prstGeom prst="rect">
            <a:avLst/>
          </a:prstGeom>
        </p:spPr>
        <p:txBody>
          <a:bodyPr/>
          <a:lstStyle>
            <a:lvl1pPr marL="304792" indent="-304792" algn="l" defTabSz="1219170" rtl="0" eaLnBrk="1" latinLnBrk="0" hangingPunct="1">
              <a:lnSpc>
                <a:spcPct val="100000"/>
              </a:lnSpc>
              <a:spcBef>
                <a:spcPts val="1333"/>
              </a:spcBef>
              <a:buClr>
                <a:schemeClr val="accent3"/>
              </a:buClr>
              <a:buFont typeface="Arial" panose="020B0604020202020204" pitchFamily="34" charset="0"/>
              <a:buChar char="•"/>
              <a:defRPr sz="2600" b="0" i="0" kern="1200">
                <a:solidFill>
                  <a:schemeClr val="tx1"/>
                </a:solidFill>
                <a:latin typeface="Arial Light" pitchFamily="2" charset="77"/>
                <a:ea typeface="+mn-ea"/>
                <a:cs typeface="Arial" panose="020B0604020202020204" pitchFamily="34" charset="0"/>
              </a:defRPr>
            </a:lvl1pPr>
            <a:lvl2pPr marL="91437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Light" pitchFamily="2" charset="77"/>
                <a:ea typeface="+mn-ea"/>
                <a:cs typeface="Arial" panose="020B0604020202020204" pitchFamily="34" charset="0"/>
              </a:defRPr>
            </a:lvl2pPr>
            <a:lvl3pPr marL="1523962"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Light" pitchFamily="2" charset="77"/>
                <a:ea typeface="+mn-ea"/>
                <a:cs typeface="Arial" panose="020B0604020202020204" pitchFamily="34" charset="0"/>
              </a:defRPr>
            </a:lvl3pPr>
            <a:lvl4pPr marL="213354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Light" pitchFamily="2" charset="77"/>
                <a:ea typeface="+mn-ea"/>
                <a:cs typeface="Arial" panose="020B0604020202020204" pitchFamily="34" charset="0"/>
              </a:defRPr>
            </a:lvl4pPr>
            <a:lvl5pPr marL="2743131"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Light" pitchFamily="2" charset="77"/>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0" indent="0" algn="ctr">
              <a:buNone/>
            </a:pPr>
            <a:r>
              <a:rPr lang="en-US" dirty="0">
                <a:solidFill>
                  <a:schemeClr val="bg1"/>
                </a:solidFill>
              </a:rPr>
              <a:t>David Beddows, Dr. Chris Martin, Jon Minton</a:t>
            </a:r>
          </a:p>
          <a:p>
            <a:pPr marL="0" indent="0" algn="ctr">
              <a:buNone/>
            </a:pPr>
            <a:r>
              <a:rPr lang="en-US" dirty="0" err="1">
                <a:solidFill>
                  <a:schemeClr val="bg1"/>
                </a:solidFill>
              </a:rPr>
              <a:t>IFoA</a:t>
            </a:r>
            <a:r>
              <a:rPr lang="en-US" dirty="0">
                <a:solidFill>
                  <a:schemeClr val="bg1"/>
                </a:solidFill>
              </a:rPr>
              <a:t> Healthy Workforce Working Party</a:t>
            </a:r>
          </a:p>
          <a:p>
            <a:pPr marL="0" indent="0" algn="ctr">
              <a:buNone/>
            </a:pPr>
            <a:r>
              <a:rPr lang="en-US" dirty="0">
                <a:solidFill>
                  <a:schemeClr val="bg1"/>
                </a:solidFill>
              </a:rPr>
              <a:t>09:55 – 10:40, Friday 20</a:t>
            </a:r>
            <a:r>
              <a:rPr lang="en-US" baseline="30000" dirty="0">
                <a:solidFill>
                  <a:schemeClr val="bg1"/>
                </a:solidFill>
              </a:rPr>
              <a:t>th</a:t>
            </a:r>
            <a:r>
              <a:rPr lang="en-US" dirty="0">
                <a:solidFill>
                  <a:schemeClr val="bg1"/>
                </a:solidFill>
              </a:rPr>
              <a:t> November 2024</a:t>
            </a:r>
          </a:p>
        </p:txBody>
      </p:sp>
      <p:sp>
        <p:nvSpPr>
          <p:cNvPr id="6" name="Title 1">
            <a:extLst>
              <a:ext uri="{FF2B5EF4-FFF2-40B4-BE49-F238E27FC236}">
                <a16:creationId xmlns:a16="http://schemas.microsoft.com/office/drawing/2014/main" id="{01239CC1-DCC0-A9E6-32ED-EB23C1166BDC}"/>
              </a:ext>
            </a:extLst>
          </p:cNvPr>
          <p:cNvSpPr txBox="1">
            <a:spLocks/>
          </p:cNvSpPr>
          <p:nvPr/>
        </p:nvSpPr>
        <p:spPr>
          <a:xfrm>
            <a:off x="2431134" y="4198290"/>
            <a:ext cx="10558131" cy="1551000"/>
          </a:xfrm>
          <a:prstGeom prst="rect">
            <a:avLst/>
          </a:prstGeom>
        </p:spPr>
        <p:txBody>
          <a:bodyPr vert="horz" lIns="91440" tIns="45720" rIns="91440" bIns="45720" rtlCol="0" anchor="t">
            <a:noAutofit/>
          </a:bodyPr>
          <a:lstStyle>
            <a:lvl1pPr algn="ctr" defTabSz="1219170" rtl="0" eaLnBrk="1" latinLnBrk="0" hangingPunct="1">
              <a:lnSpc>
                <a:spcPct val="90000"/>
              </a:lnSpc>
              <a:spcBef>
                <a:spcPct val="0"/>
              </a:spcBef>
              <a:buNone/>
              <a:defRPr sz="7000" b="1" i="0" kern="1200" spc="-150" baseline="0">
                <a:solidFill>
                  <a:schemeClr val="bg1"/>
                </a:solidFill>
                <a:latin typeface="Arial" panose="020B0604020202020204" pitchFamily="34" charset="0"/>
                <a:ea typeface="+mj-ea"/>
                <a:cs typeface="Arial" panose="020B0604020202020204" pitchFamily="34" charset="0"/>
              </a:defRPr>
            </a:lvl1pPr>
          </a:lstStyle>
          <a:p>
            <a:r>
              <a:rPr lang="en-US" sz="3600" dirty="0"/>
              <a:t>Healthy Workforce: </a:t>
            </a:r>
            <a:br>
              <a:rPr lang="en-US" sz="3600" dirty="0"/>
            </a:br>
            <a:r>
              <a:rPr lang="en-US" sz="3600" b="0" dirty="0"/>
              <a:t>Trends and metrics for long-term term sickness and recovery rates for the UK working-age population </a:t>
            </a:r>
          </a:p>
        </p:txBody>
      </p:sp>
    </p:spTree>
    <p:extLst>
      <p:ext uri="{BB962C8B-B14F-4D97-AF65-F5344CB8AC3E}">
        <p14:creationId xmlns:p14="http://schemas.microsoft.com/office/powerpoint/2010/main" val="2617099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9AA05-3DCB-81E7-1B12-BFCB2D6D22F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3807F72-B562-FB58-CD11-45E8FA39322D}"/>
              </a:ext>
            </a:extLst>
          </p:cNvPr>
          <p:cNvSpPr>
            <a:spLocks noGrp="1"/>
          </p:cNvSpPr>
          <p:nvPr>
            <p:ph type="title"/>
          </p:nvPr>
        </p:nvSpPr>
        <p:spPr/>
        <p:txBody>
          <a:bodyPr/>
          <a:lstStyle/>
          <a:p>
            <a:r>
              <a:rPr lang="en-US" dirty="0"/>
              <a:t>Today’s agenda</a:t>
            </a:r>
            <a:endParaRPr lang="en-GB" dirty="0"/>
          </a:p>
        </p:txBody>
      </p:sp>
      <p:sp>
        <p:nvSpPr>
          <p:cNvPr id="4" name="Text Placeholder 3">
            <a:extLst>
              <a:ext uri="{FF2B5EF4-FFF2-40B4-BE49-F238E27FC236}">
                <a16:creationId xmlns:a16="http://schemas.microsoft.com/office/drawing/2014/main" id="{FC9BF448-089A-7C01-FB62-27C3BBA3E457}"/>
              </a:ext>
            </a:extLst>
          </p:cNvPr>
          <p:cNvSpPr>
            <a:spLocks noGrp="1"/>
          </p:cNvSpPr>
          <p:nvPr>
            <p:ph type="body" sz="quarter" idx="24"/>
          </p:nvPr>
        </p:nvSpPr>
        <p:spPr/>
        <p:txBody>
          <a:bodyPr/>
          <a:lstStyle/>
          <a:p>
            <a:r>
              <a:rPr lang="en-GB" dirty="0"/>
              <a:t>Presented by members of the </a:t>
            </a:r>
            <a:r>
              <a:rPr lang="en-GB" dirty="0" err="1"/>
              <a:t>IFoA</a:t>
            </a:r>
            <a:r>
              <a:rPr lang="en-GB" dirty="0"/>
              <a:t> Healthy Workforce WP</a:t>
            </a:r>
          </a:p>
        </p:txBody>
      </p:sp>
      <p:sp>
        <p:nvSpPr>
          <p:cNvPr id="5" name="Footer Placeholder 4">
            <a:extLst>
              <a:ext uri="{FF2B5EF4-FFF2-40B4-BE49-F238E27FC236}">
                <a16:creationId xmlns:a16="http://schemas.microsoft.com/office/drawing/2014/main" id="{AC18E53D-60EC-DD2B-343D-625A115C0F84}"/>
              </a:ext>
            </a:extLst>
          </p:cNvPr>
          <p:cNvSpPr>
            <a:spLocks noGrp="1"/>
          </p:cNvSpPr>
          <p:nvPr>
            <p:ph type="ftr" sz="quarter" idx="3"/>
          </p:nvPr>
        </p:nvSpPr>
        <p:spPr/>
        <p:txBody>
          <a:bodyPr/>
          <a:lstStyle/>
          <a:p>
            <a:r>
              <a:rPr lang="en-GB"/>
              <a:t>IFoA Life Conference</a:t>
            </a:r>
            <a:endParaRPr lang="en-GB" dirty="0"/>
          </a:p>
        </p:txBody>
      </p:sp>
      <p:sp>
        <p:nvSpPr>
          <p:cNvPr id="6" name="Slide Number Placeholder 5">
            <a:extLst>
              <a:ext uri="{FF2B5EF4-FFF2-40B4-BE49-F238E27FC236}">
                <a16:creationId xmlns:a16="http://schemas.microsoft.com/office/drawing/2014/main" id="{15AA2052-1BA1-4E07-DBE2-5F808D7D3D00}"/>
              </a:ext>
            </a:extLst>
          </p:cNvPr>
          <p:cNvSpPr>
            <a:spLocks noGrp="1"/>
          </p:cNvSpPr>
          <p:nvPr>
            <p:ph type="sldNum" sz="quarter" idx="4"/>
          </p:nvPr>
        </p:nvSpPr>
        <p:spPr/>
        <p:txBody>
          <a:bodyPr/>
          <a:lstStyle/>
          <a:p>
            <a:fld id="{40FC62D0-A2F2-4BF8-8DAC-E86C11000EC3}" type="slidenum">
              <a:rPr lang="en-GB" smtClean="0"/>
              <a:pPr/>
              <a:t>3</a:t>
            </a:fld>
            <a:endParaRPr lang="en-GB" dirty="0"/>
          </a:p>
        </p:txBody>
      </p:sp>
      <p:graphicFrame>
        <p:nvGraphicFramePr>
          <p:cNvPr id="8" name="Content Placeholder 5">
            <a:extLst>
              <a:ext uri="{FF2B5EF4-FFF2-40B4-BE49-F238E27FC236}">
                <a16:creationId xmlns:a16="http://schemas.microsoft.com/office/drawing/2014/main" id="{18E0883C-D3E9-77E9-0E89-5F05842D57CC}"/>
              </a:ext>
            </a:extLst>
          </p:cNvPr>
          <p:cNvGraphicFramePr>
            <a:graphicFrameLocks noGrp="1"/>
          </p:cNvGraphicFramePr>
          <p:nvPr>
            <p:ph sz="quarter" idx="13"/>
            <p:extLst>
              <p:ext uri="{D42A27DB-BD31-4B8C-83A1-F6EECF244321}">
                <p14:modId xmlns:p14="http://schemas.microsoft.com/office/powerpoint/2010/main" val="1186212576"/>
              </p:ext>
            </p:extLst>
          </p:nvPr>
        </p:nvGraphicFramePr>
        <p:xfrm>
          <a:off x="1082059" y="1812942"/>
          <a:ext cx="14020798" cy="7189811"/>
        </p:xfrm>
        <a:graphic>
          <a:graphicData uri="http://schemas.openxmlformats.org/drawingml/2006/table">
            <a:tbl>
              <a:tblPr firstRow="1" bandRow="1"/>
              <a:tblGrid>
                <a:gridCol w="4866482">
                  <a:extLst>
                    <a:ext uri="{9D8B030D-6E8A-4147-A177-3AD203B41FA5}">
                      <a16:colId xmlns:a16="http://schemas.microsoft.com/office/drawing/2014/main" val="20000"/>
                    </a:ext>
                  </a:extLst>
                </a:gridCol>
                <a:gridCol w="2277415">
                  <a:extLst>
                    <a:ext uri="{9D8B030D-6E8A-4147-A177-3AD203B41FA5}">
                      <a16:colId xmlns:a16="http://schemas.microsoft.com/office/drawing/2014/main" val="20001"/>
                    </a:ext>
                  </a:extLst>
                </a:gridCol>
                <a:gridCol w="6876901">
                  <a:extLst>
                    <a:ext uri="{9D8B030D-6E8A-4147-A177-3AD203B41FA5}">
                      <a16:colId xmlns:a16="http://schemas.microsoft.com/office/drawing/2014/main" val="20002"/>
                    </a:ext>
                  </a:extLst>
                </a:gridCol>
              </a:tblGrid>
              <a:tr h="499451">
                <a:tc>
                  <a:txBody>
                    <a:bodyPr/>
                    <a:lstStyle>
                      <a:lvl1pPr marL="0" algn="l" defTabSz="1219170" rtl="0" eaLnBrk="1" latinLnBrk="0" hangingPunct="1">
                        <a:defRPr sz="2400" b="1" kern="1200">
                          <a:solidFill>
                            <a:schemeClr val="lt1"/>
                          </a:solidFill>
                          <a:latin typeface="Arial" panose="020B0604020202020204"/>
                        </a:defRPr>
                      </a:lvl1pPr>
                      <a:lvl2pPr marL="609585" algn="l" defTabSz="1219170" rtl="0" eaLnBrk="1" latinLnBrk="0" hangingPunct="1">
                        <a:defRPr sz="2400" b="1" kern="1200">
                          <a:solidFill>
                            <a:schemeClr val="lt1"/>
                          </a:solidFill>
                          <a:latin typeface="Arial" panose="020B0604020202020204"/>
                        </a:defRPr>
                      </a:lvl2pPr>
                      <a:lvl3pPr marL="1219170" algn="l" defTabSz="1219170" rtl="0" eaLnBrk="1" latinLnBrk="0" hangingPunct="1">
                        <a:defRPr sz="2400" b="1" kern="1200">
                          <a:solidFill>
                            <a:schemeClr val="lt1"/>
                          </a:solidFill>
                          <a:latin typeface="Arial" panose="020B0604020202020204"/>
                        </a:defRPr>
                      </a:lvl3pPr>
                      <a:lvl4pPr marL="1828754" algn="l" defTabSz="1219170" rtl="0" eaLnBrk="1" latinLnBrk="0" hangingPunct="1">
                        <a:defRPr sz="2400" b="1" kern="1200">
                          <a:solidFill>
                            <a:schemeClr val="lt1"/>
                          </a:solidFill>
                          <a:latin typeface="Arial" panose="020B0604020202020204"/>
                        </a:defRPr>
                      </a:lvl4pPr>
                      <a:lvl5pPr marL="2438339" algn="l" defTabSz="1219170" rtl="0" eaLnBrk="1" latinLnBrk="0" hangingPunct="1">
                        <a:defRPr sz="2400" b="1" kern="1200">
                          <a:solidFill>
                            <a:schemeClr val="lt1"/>
                          </a:solidFill>
                          <a:latin typeface="Arial" panose="020B0604020202020204"/>
                        </a:defRPr>
                      </a:lvl5pPr>
                      <a:lvl6pPr marL="3047924" algn="l" defTabSz="1219170" rtl="0" eaLnBrk="1" latinLnBrk="0" hangingPunct="1">
                        <a:defRPr sz="2400" b="1" kern="1200">
                          <a:solidFill>
                            <a:schemeClr val="lt1"/>
                          </a:solidFill>
                          <a:latin typeface="Arial" panose="020B0604020202020204"/>
                        </a:defRPr>
                      </a:lvl6pPr>
                      <a:lvl7pPr marL="3657509" algn="l" defTabSz="1219170" rtl="0" eaLnBrk="1" latinLnBrk="0" hangingPunct="1">
                        <a:defRPr sz="2400" b="1" kern="1200">
                          <a:solidFill>
                            <a:schemeClr val="lt1"/>
                          </a:solidFill>
                          <a:latin typeface="Arial" panose="020B0604020202020204"/>
                        </a:defRPr>
                      </a:lvl7pPr>
                      <a:lvl8pPr marL="4267093" algn="l" defTabSz="1219170" rtl="0" eaLnBrk="1" latinLnBrk="0" hangingPunct="1">
                        <a:defRPr sz="2400" b="1" kern="1200">
                          <a:solidFill>
                            <a:schemeClr val="lt1"/>
                          </a:solidFill>
                          <a:latin typeface="Arial" panose="020B0604020202020204"/>
                        </a:defRPr>
                      </a:lvl8pPr>
                      <a:lvl9pPr marL="4876678" algn="l" defTabSz="1219170" rtl="0" eaLnBrk="1" latinLnBrk="0" hangingPunct="1">
                        <a:defRPr sz="2400" b="1" kern="1200">
                          <a:solidFill>
                            <a:schemeClr val="lt1"/>
                          </a:solidFill>
                          <a:latin typeface="Arial" panose="020B0604020202020204"/>
                        </a:defRPr>
                      </a:lvl9pPr>
                    </a:lstStyle>
                    <a:p>
                      <a:r>
                        <a:rPr lang="en-GB" sz="2400" dirty="0"/>
                        <a:t>Item</a:t>
                      </a:r>
                    </a:p>
                  </a:txBody>
                  <a:tcPr marL="121920" marR="121920" marT="60960" marB="60960">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AB16"/>
                    </a:solidFill>
                  </a:tcPr>
                </a:tc>
                <a:tc>
                  <a:txBody>
                    <a:bodyPr/>
                    <a:lstStyle>
                      <a:lvl1pPr marL="0" algn="l" defTabSz="1219170" rtl="0" eaLnBrk="1" latinLnBrk="0" hangingPunct="1">
                        <a:defRPr sz="2400" b="1" kern="1200">
                          <a:solidFill>
                            <a:schemeClr val="lt1"/>
                          </a:solidFill>
                          <a:latin typeface="Arial" panose="020B0604020202020204"/>
                        </a:defRPr>
                      </a:lvl1pPr>
                      <a:lvl2pPr marL="609585" algn="l" defTabSz="1219170" rtl="0" eaLnBrk="1" latinLnBrk="0" hangingPunct="1">
                        <a:defRPr sz="2400" b="1" kern="1200">
                          <a:solidFill>
                            <a:schemeClr val="lt1"/>
                          </a:solidFill>
                          <a:latin typeface="Arial" panose="020B0604020202020204"/>
                        </a:defRPr>
                      </a:lvl2pPr>
                      <a:lvl3pPr marL="1219170" algn="l" defTabSz="1219170" rtl="0" eaLnBrk="1" latinLnBrk="0" hangingPunct="1">
                        <a:defRPr sz="2400" b="1" kern="1200">
                          <a:solidFill>
                            <a:schemeClr val="lt1"/>
                          </a:solidFill>
                          <a:latin typeface="Arial" panose="020B0604020202020204"/>
                        </a:defRPr>
                      </a:lvl3pPr>
                      <a:lvl4pPr marL="1828754" algn="l" defTabSz="1219170" rtl="0" eaLnBrk="1" latinLnBrk="0" hangingPunct="1">
                        <a:defRPr sz="2400" b="1" kern="1200">
                          <a:solidFill>
                            <a:schemeClr val="lt1"/>
                          </a:solidFill>
                          <a:latin typeface="Arial" panose="020B0604020202020204"/>
                        </a:defRPr>
                      </a:lvl4pPr>
                      <a:lvl5pPr marL="2438339" algn="l" defTabSz="1219170" rtl="0" eaLnBrk="1" latinLnBrk="0" hangingPunct="1">
                        <a:defRPr sz="2400" b="1" kern="1200">
                          <a:solidFill>
                            <a:schemeClr val="lt1"/>
                          </a:solidFill>
                          <a:latin typeface="Arial" panose="020B0604020202020204"/>
                        </a:defRPr>
                      </a:lvl5pPr>
                      <a:lvl6pPr marL="3047924" algn="l" defTabSz="1219170" rtl="0" eaLnBrk="1" latinLnBrk="0" hangingPunct="1">
                        <a:defRPr sz="2400" b="1" kern="1200">
                          <a:solidFill>
                            <a:schemeClr val="lt1"/>
                          </a:solidFill>
                          <a:latin typeface="Arial" panose="020B0604020202020204"/>
                        </a:defRPr>
                      </a:lvl6pPr>
                      <a:lvl7pPr marL="3657509" algn="l" defTabSz="1219170" rtl="0" eaLnBrk="1" latinLnBrk="0" hangingPunct="1">
                        <a:defRPr sz="2400" b="1" kern="1200">
                          <a:solidFill>
                            <a:schemeClr val="lt1"/>
                          </a:solidFill>
                          <a:latin typeface="Arial" panose="020B0604020202020204"/>
                        </a:defRPr>
                      </a:lvl7pPr>
                      <a:lvl8pPr marL="4267093" algn="l" defTabSz="1219170" rtl="0" eaLnBrk="1" latinLnBrk="0" hangingPunct="1">
                        <a:defRPr sz="2400" b="1" kern="1200">
                          <a:solidFill>
                            <a:schemeClr val="lt1"/>
                          </a:solidFill>
                          <a:latin typeface="Arial" panose="020B0604020202020204"/>
                        </a:defRPr>
                      </a:lvl8pPr>
                      <a:lvl9pPr marL="4876678" algn="l" defTabSz="1219170" rtl="0" eaLnBrk="1" latinLnBrk="0" hangingPunct="1">
                        <a:defRPr sz="2400" b="1" kern="1200">
                          <a:solidFill>
                            <a:schemeClr val="lt1"/>
                          </a:solidFill>
                          <a:latin typeface="Arial" panose="020B0604020202020204"/>
                        </a:defRPr>
                      </a:lvl9pPr>
                    </a:lstStyle>
                    <a:p>
                      <a:r>
                        <a:rPr lang="en-GB" sz="2400" dirty="0"/>
                        <a:t>Time</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AB16"/>
                    </a:solidFill>
                  </a:tcPr>
                </a:tc>
                <a:tc>
                  <a:txBody>
                    <a:bodyPr/>
                    <a:lstStyle>
                      <a:lvl1pPr marL="0" algn="l" defTabSz="1219170" rtl="0" eaLnBrk="1" latinLnBrk="0" hangingPunct="1">
                        <a:defRPr sz="2400" b="1" kern="1200">
                          <a:solidFill>
                            <a:schemeClr val="lt1"/>
                          </a:solidFill>
                          <a:latin typeface="Arial" panose="020B0604020202020204"/>
                        </a:defRPr>
                      </a:lvl1pPr>
                      <a:lvl2pPr marL="609585" algn="l" defTabSz="1219170" rtl="0" eaLnBrk="1" latinLnBrk="0" hangingPunct="1">
                        <a:defRPr sz="2400" b="1" kern="1200">
                          <a:solidFill>
                            <a:schemeClr val="lt1"/>
                          </a:solidFill>
                          <a:latin typeface="Arial" panose="020B0604020202020204"/>
                        </a:defRPr>
                      </a:lvl2pPr>
                      <a:lvl3pPr marL="1219170" algn="l" defTabSz="1219170" rtl="0" eaLnBrk="1" latinLnBrk="0" hangingPunct="1">
                        <a:defRPr sz="2400" b="1" kern="1200">
                          <a:solidFill>
                            <a:schemeClr val="lt1"/>
                          </a:solidFill>
                          <a:latin typeface="Arial" panose="020B0604020202020204"/>
                        </a:defRPr>
                      </a:lvl3pPr>
                      <a:lvl4pPr marL="1828754" algn="l" defTabSz="1219170" rtl="0" eaLnBrk="1" latinLnBrk="0" hangingPunct="1">
                        <a:defRPr sz="2400" b="1" kern="1200">
                          <a:solidFill>
                            <a:schemeClr val="lt1"/>
                          </a:solidFill>
                          <a:latin typeface="Arial" panose="020B0604020202020204"/>
                        </a:defRPr>
                      </a:lvl4pPr>
                      <a:lvl5pPr marL="2438339" algn="l" defTabSz="1219170" rtl="0" eaLnBrk="1" latinLnBrk="0" hangingPunct="1">
                        <a:defRPr sz="2400" b="1" kern="1200">
                          <a:solidFill>
                            <a:schemeClr val="lt1"/>
                          </a:solidFill>
                          <a:latin typeface="Arial" panose="020B0604020202020204"/>
                        </a:defRPr>
                      </a:lvl5pPr>
                      <a:lvl6pPr marL="3047924" algn="l" defTabSz="1219170" rtl="0" eaLnBrk="1" latinLnBrk="0" hangingPunct="1">
                        <a:defRPr sz="2400" b="1" kern="1200">
                          <a:solidFill>
                            <a:schemeClr val="lt1"/>
                          </a:solidFill>
                          <a:latin typeface="Arial" panose="020B0604020202020204"/>
                        </a:defRPr>
                      </a:lvl6pPr>
                      <a:lvl7pPr marL="3657509" algn="l" defTabSz="1219170" rtl="0" eaLnBrk="1" latinLnBrk="0" hangingPunct="1">
                        <a:defRPr sz="2400" b="1" kern="1200">
                          <a:solidFill>
                            <a:schemeClr val="lt1"/>
                          </a:solidFill>
                          <a:latin typeface="Arial" panose="020B0604020202020204"/>
                        </a:defRPr>
                      </a:lvl7pPr>
                      <a:lvl8pPr marL="4267093" algn="l" defTabSz="1219170" rtl="0" eaLnBrk="1" latinLnBrk="0" hangingPunct="1">
                        <a:defRPr sz="2400" b="1" kern="1200">
                          <a:solidFill>
                            <a:schemeClr val="lt1"/>
                          </a:solidFill>
                          <a:latin typeface="Arial" panose="020B0604020202020204"/>
                        </a:defRPr>
                      </a:lvl8pPr>
                      <a:lvl9pPr marL="4876678" algn="l" defTabSz="1219170" rtl="0" eaLnBrk="1" latinLnBrk="0" hangingPunct="1">
                        <a:defRPr sz="2400" b="1" kern="1200">
                          <a:solidFill>
                            <a:schemeClr val="lt1"/>
                          </a:solidFill>
                          <a:latin typeface="Arial" panose="020B0604020202020204"/>
                        </a:defRPr>
                      </a:lvl9pPr>
                    </a:lstStyle>
                    <a:p>
                      <a:r>
                        <a:rPr lang="en-GB" sz="1900" dirty="0"/>
                        <a:t>Description</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AB16"/>
                    </a:solidFill>
                  </a:tcPr>
                </a:tc>
                <a:extLst>
                  <a:ext uri="{0D108BD9-81ED-4DB2-BD59-A6C34878D82A}">
                    <a16:rowId xmlns:a16="http://schemas.microsoft.com/office/drawing/2014/main" val="10000"/>
                  </a:ext>
                </a:extLst>
              </a:tr>
              <a:tr h="690880">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400" dirty="0">
                          <a:solidFill>
                            <a:schemeClr val="tx1"/>
                          </a:solidFill>
                        </a:rPr>
                        <a:t>Welcome and Intros </a:t>
                      </a:r>
                      <a:r>
                        <a:rPr lang="en-GB" sz="1600" dirty="0">
                          <a:solidFill>
                            <a:schemeClr val="tx1"/>
                          </a:solidFill>
                          <a:highlight>
                            <a:srgbClr val="FFFF00"/>
                          </a:highlight>
                        </a:rPr>
                        <a:t>[David]</a:t>
                      </a:r>
                    </a:p>
                  </a:txBody>
                  <a:tcPr marL="121920" marR="121920" marT="60960" marB="6096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EFFFF"/>
                    </a:solidFill>
                  </a:tcPr>
                </a:tc>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400" dirty="0">
                          <a:solidFill>
                            <a:schemeClr val="tx1"/>
                          </a:solidFill>
                        </a:rPr>
                        <a:t>09:55 – 10:00</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CFDF8">
                        <a:lumMod val="85000"/>
                      </a:srgbClr>
                    </a:solidFill>
                  </a:tcPr>
                </a:tc>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Introduction</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Background to the Healthy Workforce Working Party</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Why it is a relevant topic for actuaries</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EFFFF"/>
                    </a:solidFill>
                  </a:tcPr>
                </a:tc>
                <a:extLst>
                  <a:ext uri="{0D108BD9-81ED-4DB2-BD59-A6C34878D82A}">
                    <a16:rowId xmlns:a16="http://schemas.microsoft.com/office/drawing/2014/main" val="10001"/>
                  </a:ext>
                </a:extLst>
              </a:tr>
              <a:tr h="1052991">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Why a healthy workforce matters </a:t>
                      </a:r>
                      <a:r>
                        <a:rPr lang="en-GB" sz="1600" dirty="0">
                          <a:solidFill>
                            <a:schemeClr val="tx1"/>
                          </a:solidFill>
                          <a:highlight>
                            <a:srgbClr val="FFFF00"/>
                          </a:highlight>
                        </a:rPr>
                        <a:t>[Chris]</a:t>
                      </a:r>
                      <a:endParaRPr lang="en-GB" sz="1600" dirty="0">
                        <a:solidFill>
                          <a:schemeClr val="tx1"/>
                        </a:solidFill>
                      </a:endParaRPr>
                    </a:p>
                  </a:txBody>
                  <a:tcPr marL="121920" marR="121920" marT="60960" marB="60960">
                    <a:lnL w="12700" cmpd="sng">
                      <a:noFill/>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EFFFF"/>
                    </a:solidFill>
                  </a:tcPr>
                </a:tc>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400" dirty="0">
                          <a:solidFill>
                            <a:schemeClr val="tx1"/>
                          </a:solidFill>
                        </a:rPr>
                        <a:t>10:00 – 10:10</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CFDF8">
                        <a:lumMod val="85000"/>
                      </a:srgbClr>
                    </a:solidFill>
                  </a:tcPr>
                </a:tc>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900" dirty="0">
                          <a:solidFill>
                            <a:schemeClr val="tx1"/>
                          </a:solidFill>
                        </a:rPr>
                        <a:t>E.g. Lord Darzi Review, Get Britain Working and Keep Britan Working Reviews, recent outputs from Health Foundation etc.</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900" dirty="0">
                          <a:solidFill>
                            <a:schemeClr val="tx1"/>
                          </a:solidFill>
                        </a:rPr>
                        <a:t>Reflections from a clinical practitioner, human perspective</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900" dirty="0">
                          <a:solidFill>
                            <a:schemeClr val="tx1"/>
                          </a:solidFill>
                        </a:rPr>
                        <a:t>Include trends </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EFFFF"/>
                    </a:solidFill>
                  </a:tcPr>
                </a:tc>
                <a:extLst>
                  <a:ext uri="{0D108BD9-81ED-4DB2-BD59-A6C34878D82A}">
                    <a16:rowId xmlns:a16="http://schemas.microsoft.com/office/drawing/2014/main" val="10002"/>
                  </a:ext>
                </a:extLst>
              </a:tr>
              <a:tr h="1003981">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Public health / Health economics approaches </a:t>
                      </a:r>
                      <a:r>
                        <a:rPr lang="en-GB" sz="1600" dirty="0">
                          <a:solidFill>
                            <a:schemeClr val="tx1"/>
                          </a:solidFill>
                          <a:highlight>
                            <a:srgbClr val="FFFF00"/>
                          </a:highlight>
                        </a:rPr>
                        <a:t>[Jon]</a:t>
                      </a:r>
                      <a:endParaRPr lang="en-GB" sz="1600" dirty="0">
                        <a:solidFill>
                          <a:schemeClr val="tx1"/>
                        </a:solidFill>
                      </a:endParaRPr>
                    </a:p>
                  </a:txBody>
                  <a:tcPr marL="121920" marR="121920" marT="60960" marB="60960">
                    <a:lnL w="12700" cmpd="sng">
                      <a:noFill/>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EFFFF"/>
                    </a:solidFill>
                  </a:tcPr>
                </a:tc>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400" dirty="0">
                          <a:solidFill>
                            <a:schemeClr val="tx1"/>
                          </a:solidFill>
                        </a:rPr>
                        <a:t>10:10 – 10:15</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CFDF8">
                        <a:lumMod val="85000"/>
                      </a:srgbClr>
                    </a:solidFill>
                  </a:tcPr>
                </a:tc>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Multi-state models: start with 2-state model and extend to 3-states</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Health economics looks too at benefits, not only costs</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Survey data (some limitations, but can be extended)</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EFFFF"/>
                    </a:solidFill>
                  </a:tcPr>
                </a:tc>
                <a:extLst>
                  <a:ext uri="{0D108BD9-81ED-4DB2-BD59-A6C34878D82A}">
                    <a16:rowId xmlns:a16="http://schemas.microsoft.com/office/drawing/2014/main" val="10003"/>
                  </a:ext>
                </a:extLst>
              </a:tr>
              <a:tr h="690880">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HWLE methods and estimates</a:t>
                      </a:r>
                      <a:r>
                        <a:rPr lang="en-GB" sz="1600" dirty="0">
                          <a:solidFill>
                            <a:schemeClr val="tx1"/>
                          </a:solidFill>
                          <a:highlight>
                            <a:srgbClr val="FFFF00"/>
                          </a:highlight>
                        </a:rPr>
                        <a:t>[David]</a:t>
                      </a:r>
                      <a:endParaRPr lang="en-US" sz="1600" dirty="0"/>
                    </a:p>
                  </a:txBody>
                  <a:tcPr marL="121920" marR="121920" marT="60960" marB="60960">
                    <a:lnL w="12700" cmpd="sng">
                      <a:noFill/>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EFFFF"/>
                    </a:solidFill>
                  </a:tcPr>
                </a:tc>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400" dirty="0">
                          <a:solidFill>
                            <a:schemeClr val="tx1"/>
                          </a:solidFill>
                        </a:rPr>
                        <a:t>10:15 – 10:30</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CFDF8">
                        <a:lumMod val="85000"/>
                      </a:srgbClr>
                    </a:solidFill>
                  </a:tcPr>
                </a:tc>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Admin data v survey data (pros and cons)</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Administrative data: CMI IP11 rates</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HWLE and related metrics</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Actuaries have well-established approaches</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Initial results</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Uses of these metrics (for actuaries and for wider audiences)</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EFFFF"/>
                    </a:solidFill>
                  </a:tcPr>
                </a:tc>
                <a:extLst>
                  <a:ext uri="{0D108BD9-81ED-4DB2-BD59-A6C34878D82A}">
                    <a16:rowId xmlns:a16="http://schemas.microsoft.com/office/drawing/2014/main" val="10004"/>
                  </a:ext>
                </a:extLst>
              </a:tr>
              <a:tr h="690880">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Q&amp;A </a:t>
                      </a:r>
                      <a:r>
                        <a:rPr lang="en-GB" sz="1600" dirty="0">
                          <a:solidFill>
                            <a:schemeClr val="tx1"/>
                          </a:solidFill>
                          <a:highlight>
                            <a:srgbClr val="FFFF00"/>
                          </a:highlight>
                        </a:rPr>
                        <a:t>[all]</a:t>
                      </a:r>
                      <a:r>
                        <a:rPr lang="en-US" sz="2400" dirty="0"/>
                        <a:t> </a:t>
                      </a:r>
                      <a:endParaRPr lang="en-GB" sz="2400" dirty="0">
                        <a:solidFill>
                          <a:schemeClr val="tx1"/>
                        </a:solidFill>
                      </a:endParaRPr>
                    </a:p>
                  </a:txBody>
                  <a:tcPr marL="121920" marR="121920" marT="60960" marB="60960">
                    <a:lnL w="12700" cmpd="sng">
                      <a:noFill/>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EFFFF"/>
                    </a:solidFill>
                  </a:tcPr>
                </a:tc>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400" dirty="0">
                          <a:solidFill>
                            <a:schemeClr val="tx1"/>
                          </a:solidFill>
                        </a:rPr>
                        <a:t>10:30 – 10:40</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CFDF8">
                        <a:lumMod val="85000"/>
                      </a:srgbClr>
                    </a:solidFill>
                  </a:tcPr>
                </a:tc>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Discussion of the topics presented</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Next steps for the WP</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EFFFF"/>
                    </a:solidFill>
                  </a:tcPr>
                </a:tc>
                <a:extLst>
                  <a:ext uri="{0D108BD9-81ED-4DB2-BD59-A6C34878D82A}">
                    <a16:rowId xmlns:a16="http://schemas.microsoft.com/office/drawing/2014/main" val="2619458449"/>
                  </a:ext>
                </a:extLst>
              </a:tr>
            </a:tbl>
          </a:graphicData>
        </a:graphic>
      </p:graphicFrame>
      <p:sp>
        <p:nvSpPr>
          <p:cNvPr id="11" name="TextBox 10">
            <a:extLst>
              <a:ext uri="{FF2B5EF4-FFF2-40B4-BE49-F238E27FC236}">
                <a16:creationId xmlns:a16="http://schemas.microsoft.com/office/drawing/2014/main" id="{0177A68D-CBDD-A1D0-AAE8-646B15E31470}"/>
              </a:ext>
            </a:extLst>
          </p:cNvPr>
          <p:cNvSpPr txBox="1"/>
          <p:nvPr/>
        </p:nvSpPr>
        <p:spPr>
          <a:xfrm>
            <a:off x="7192537" y="246903"/>
            <a:ext cx="4638907" cy="646331"/>
          </a:xfrm>
          <a:prstGeom prst="rect">
            <a:avLst/>
          </a:prstGeom>
          <a:solidFill>
            <a:srgbClr val="FFFF00"/>
          </a:solidFill>
        </p:spPr>
        <p:txBody>
          <a:bodyPr wrap="square" rtlCol="0">
            <a:spAutoFit/>
          </a:bodyPr>
          <a:lstStyle/>
          <a:p>
            <a:r>
              <a:rPr lang="en-GB" dirty="0"/>
              <a:t>45 minutes slot: </a:t>
            </a:r>
            <a:r>
              <a:rPr lang="en-GB" dirty="0" err="1"/>
              <a:t>e.g</a:t>
            </a:r>
            <a:r>
              <a:rPr lang="en-GB" dirty="0"/>
              <a:t> 35 mins presentation + 10 mins Q&amp;A</a:t>
            </a:r>
          </a:p>
        </p:txBody>
      </p:sp>
      <p:sp>
        <p:nvSpPr>
          <p:cNvPr id="13" name="TextBox 12">
            <a:extLst>
              <a:ext uri="{FF2B5EF4-FFF2-40B4-BE49-F238E27FC236}">
                <a16:creationId xmlns:a16="http://schemas.microsoft.com/office/drawing/2014/main" id="{506171E5-42F4-1C50-DBD2-1647B3162630}"/>
              </a:ext>
            </a:extLst>
          </p:cNvPr>
          <p:cNvSpPr txBox="1"/>
          <p:nvPr/>
        </p:nvSpPr>
        <p:spPr>
          <a:xfrm>
            <a:off x="12221737" y="256478"/>
            <a:ext cx="2096429" cy="369332"/>
          </a:xfrm>
          <a:prstGeom prst="rect">
            <a:avLst/>
          </a:prstGeom>
          <a:solidFill>
            <a:srgbClr val="EF25E1"/>
          </a:solidFill>
        </p:spPr>
        <p:txBody>
          <a:bodyPr wrap="square" rtlCol="0">
            <a:spAutoFit/>
          </a:bodyPr>
          <a:lstStyle/>
          <a:p>
            <a:r>
              <a:rPr lang="en-GB" dirty="0"/>
              <a:t>David 5 mins</a:t>
            </a:r>
          </a:p>
        </p:txBody>
      </p:sp>
    </p:spTree>
    <p:extLst>
      <p:ext uri="{BB962C8B-B14F-4D97-AF65-F5344CB8AC3E}">
        <p14:creationId xmlns:p14="http://schemas.microsoft.com/office/powerpoint/2010/main" val="13593807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4102D62-308D-76B1-46C1-A7F905FB28FF}"/>
              </a:ext>
            </a:extLst>
          </p:cNvPr>
          <p:cNvSpPr>
            <a:spLocks noGrp="1"/>
          </p:cNvSpPr>
          <p:nvPr>
            <p:ph sz="quarter" idx="13"/>
          </p:nvPr>
        </p:nvSpPr>
        <p:spPr>
          <a:xfrm>
            <a:off x="1104904" y="2269323"/>
            <a:ext cx="6896104" cy="2756032"/>
          </a:xfrm>
        </p:spPr>
        <p:txBody>
          <a:bodyPr>
            <a:normAutofit/>
          </a:bodyPr>
          <a:lstStyle/>
          <a:p>
            <a:pPr marL="457200" indent="-457200">
              <a:spcBef>
                <a:spcPts val="600"/>
              </a:spcBef>
              <a:buFont typeface="Arial" panose="020B0604020202020204" pitchFamily="34" charset="0"/>
              <a:buChar char="•"/>
            </a:pPr>
            <a:r>
              <a:rPr lang="en-GB" dirty="0"/>
              <a:t>public interest and government focus in 2024</a:t>
            </a:r>
          </a:p>
          <a:p>
            <a:pPr marL="1371577" lvl="1" indent="-457200">
              <a:spcBef>
                <a:spcPts val="600"/>
              </a:spcBef>
            </a:pPr>
            <a:r>
              <a:rPr lang="en-GB" dirty="0"/>
              <a:t>Lord Darzi NHS review</a:t>
            </a:r>
          </a:p>
          <a:p>
            <a:pPr marL="1371577" lvl="1" indent="-457200">
              <a:spcBef>
                <a:spcPts val="600"/>
              </a:spcBef>
            </a:pPr>
            <a:r>
              <a:rPr lang="en-GB" dirty="0"/>
              <a:t>Get Britain Working White Paper</a:t>
            </a:r>
          </a:p>
          <a:p>
            <a:pPr marL="457200" indent="-457200">
              <a:spcBef>
                <a:spcPts val="600"/>
              </a:spcBef>
              <a:buFont typeface="Arial" panose="020B0604020202020204" pitchFamily="34" charset="0"/>
              <a:buChar char="•"/>
            </a:pPr>
            <a:r>
              <a:rPr lang="en-GB" dirty="0"/>
              <a:t>high profile media stories including Channel 4 Dispatches documentary</a:t>
            </a:r>
          </a:p>
        </p:txBody>
      </p:sp>
      <p:sp>
        <p:nvSpPr>
          <p:cNvPr id="3" name="Title 2">
            <a:extLst>
              <a:ext uri="{FF2B5EF4-FFF2-40B4-BE49-F238E27FC236}">
                <a16:creationId xmlns:a16="http://schemas.microsoft.com/office/drawing/2014/main" id="{5C016849-1196-70AA-2369-A1E9A30DC0B9}"/>
              </a:ext>
            </a:extLst>
          </p:cNvPr>
          <p:cNvSpPr>
            <a:spLocks noGrp="1"/>
          </p:cNvSpPr>
          <p:nvPr>
            <p:ph type="title"/>
          </p:nvPr>
        </p:nvSpPr>
        <p:spPr/>
        <p:txBody>
          <a:bodyPr>
            <a:normAutofit/>
          </a:bodyPr>
          <a:lstStyle/>
          <a:p>
            <a:r>
              <a:rPr lang="en-US" dirty="0"/>
              <a:t>Background to the Healthy Workforce WP</a:t>
            </a:r>
            <a:endParaRPr lang="en-GB" dirty="0"/>
          </a:p>
        </p:txBody>
      </p:sp>
      <p:sp>
        <p:nvSpPr>
          <p:cNvPr id="4" name="Content Placeholder 3">
            <a:extLst>
              <a:ext uri="{FF2B5EF4-FFF2-40B4-BE49-F238E27FC236}">
                <a16:creationId xmlns:a16="http://schemas.microsoft.com/office/drawing/2014/main" id="{BCEF1067-90E1-7232-4632-2DA7E90826EC}"/>
              </a:ext>
            </a:extLst>
          </p:cNvPr>
          <p:cNvSpPr>
            <a:spLocks noGrp="1"/>
          </p:cNvSpPr>
          <p:nvPr>
            <p:ph sz="quarter" idx="25"/>
          </p:nvPr>
        </p:nvSpPr>
        <p:spPr>
          <a:xfrm>
            <a:off x="8229600" y="2269322"/>
            <a:ext cx="6896104" cy="2756033"/>
          </a:xfrm>
        </p:spPr>
        <p:txBody>
          <a:bodyPr>
            <a:normAutofit/>
          </a:bodyPr>
          <a:lstStyle/>
          <a:p>
            <a:pPr marL="457200" indent="-457200">
              <a:spcBef>
                <a:spcPts val="600"/>
              </a:spcBef>
              <a:buFont typeface="Arial" panose="020B0604020202020204" pitchFamily="34" charset="0"/>
              <a:buChar char="•"/>
            </a:pPr>
            <a:r>
              <a:rPr lang="en-GB" dirty="0"/>
              <a:t>actuarial knowledge and expertise in this area</a:t>
            </a:r>
          </a:p>
          <a:p>
            <a:pPr marL="457200" indent="-457200">
              <a:spcBef>
                <a:spcPts val="600"/>
              </a:spcBef>
              <a:buFont typeface="Arial" panose="020B0604020202020204" pitchFamily="34" charset="0"/>
              <a:buChar char="•"/>
            </a:pPr>
            <a:r>
              <a:rPr lang="en-GB" dirty="0"/>
              <a:t>well established methods with Income Protection modelling</a:t>
            </a:r>
          </a:p>
          <a:p>
            <a:pPr marL="457200" indent="-457200">
              <a:spcBef>
                <a:spcPts val="600"/>
              </a:spcBef>
              <a:buFont typeface="Arial" panose="020B0604020202020204" pitchFamily="34" charset="0"/>
              <a:buChar char="•"/>
            </a:pPr>
            <a:r>
              <a:rPr lang="en-GB" dirty="0"/>
              <a:t>CMI well-established methods and data</a:t>
            </a:r>
          </a:p>
          <a:p>
            <a:pPr marL="457200" indent="-457200">
              <a:spcBef>
                <a:spcPts val="600"/>
              </a:spcBef>
              <a:buFont typeface="Arial" panose="020B0604020202020204" pitchFamily="34" charset="0"/>
              <a:buChar char="•"/>
            </a:pPr>
            <a:r>
              <a:rPr lang="en-GB" dirty="0"/>
              <a:t>WP set up in early-2025</a:t>
            </a:r>
          </a:p>
          <a:p>
            <a:endParaRPr lang="en-GB" dirty="0"/>
          </a:p>
        </p:txBody>
      </p:sp>
      <p:sp>
        <p:nvSpPr>
          <p:cNvPr id="5" name="Footer Placeholder 4">
            <a:extLst>
              <a:ext uri="{FF2B5EF4-FFF2-40B4-BE49-F238E27FC236}">
                <a16:creationId xmlns:a16="http://schemas.microsoft.com/office/drawing/2014/main" id="{47258DFE-0437-E6ED-0FBE-4EA36A0C31AA}"/>
              </a:ext>
            </a:extLst>
          </p:cNvPr>
          <p:cNvSpPr>
            <a:spLocks noGrp="1"/>
          </p:cNvSpPr>
          <p:nvPr>
            <p:ph type="ftr" sz="quarter" idx="3"/>
          </p:nvPr>
        </p:nvSpPr>
        <p:spPr/>
        <p:txBody>
          <a:bodyPr/>
          <a:lstStyle/>
          <a:p>
            <a:r>
              <a:rPr lang="en-GB"/>
              <a:t>IFoA Life Conference</a:t>
            </a:r>
            <a:endParaRPr lang="en-GB" dirty="0"/>
          </a:p>
        </p:txBody>
      </p:sp>
      <p:sp>
        <p:nvSpPr>
          <p:cNvPr id="6" name="Slide Number Placeholder 5">
            <a:extLst>
              <a:ext uri="{FF2B5EF4-FFF2-40B4-BE49-F238E27FC236}">
                <a16:creationId xmlns:a16="http://schemas.microsoft.com/office/drawing/2014/main" id="{863BC808-62D5-32EC-46F7-8A136CC54BB1}"/>
              </a:ext>
            </a:extLst>
          </p:cNvPr>
          <p:cNvSpPr>
            <a:spLocks noGrp="1"/>
          </p:cNvSpPr>
          <p:nvPr>
            <p:ph type="sldNum" sz="quarter" idx="4"/>
          </p:nvPr>
        </p:nvSpPr>
        <p:spPr/>
        <p:txBody>
          <a:bodyPr/>
          <a:lstStyle/>
          <a:p>
            <a:fld id="{40FC62D0-A2F2-4BF8-8DAC-E86C11000EC3}" type="slidenum">
              <a:rPr lang="en-GB" smtClean="0"/>
              <a:pPr/>
              <a:t>4</a:t>
            </a:fld>
            <a:endParaRPr lang="en-GB" dirty="0"/>
          </a:p>
        </p:txBody>
      </p:sp>
      <p:sp>
        <p:nvSpPr>
          <p:cNvPr id="7" name="Text Placeholder 6">
            <a:extLst>
              <a:ext uri="{FF2B5EF4-FFF2-40B4-BE49-F238E27FC236}">
                <a16:creationId xmlns:a16="http://schemas.microsoft.com/office/drawing/2014/main" id="{DBEB24B4-8556-9784-1E3D-8F68A1D3DAEC}"/>
              </a:ext>
            </a:extLst>
          </p:cNvPr>
          <p:cNvSpPr>
            <a:spLocks noGrp="1"/>
          </p:cNvSpPr>
          <p:nvPr>
            <p:ph type="body" sz="quarter" idx="24"/>
          </p:nvPr>
        </p:nvSpPr>
        <p:spPr/>
        <p:txBody>
          <a:bodyPr/>
          <a:lstStyle/>
          <a:p>
            <a:r>
              <a:rPr lang="en-GB" dirty="0"/>
              <a:t>Renewed focus on long-term sickness having high relevance for actuaries</a:t>
            </a:r>
          </a:p>
        </p:txBody>
      </p:sp>
      <p:sp>
        <p:nvSpPr>
          <p:cNvPr id="9" name="TextBox 8">
            <a:extLst>
              <a:ext uri="{FF2B5EF4-FFF2-40B4-BE49-F238E27FC236}">
                <a16:creationId xmlns:a16="http://schemas.microsoft.com/office/drawing/2014/main" id="{F7B573CC-20DA-AD52-4FFC-D58115C632A3}"/>
              </a:ext>
            </a:extLst>
          </p:cNvPr>
          <p:cNvSpPr txBox="1"/>
          <p:nvPr/>
        </p:nvSpPr>
        <p:spPr>
          <a:xfrm>
            <a:off x="12221737" y="256478"/>
            <a:ext cx="2096429" cy="369332"/>
          </a:xfrm>
          <a:prstGeom prst="rect">
            <a:avLst/>
          </a:prstGeom>
          <a:solidFill>
            <a:srgbClr val="EF25E1"/>
          </a:solidFill>
        </p:spPr>
        <p:txBody>
          <a:bodyPr wrap="square" rtlCol="0">
            <a:spAutoFit/>
          </a:bodyPr>
          <a:lstStyle/>
          <a:p>
            <a:r>
              <a:rPr lang="en-GB" dirty="0"/>
              <a:t>David 2 mins</a:t>
            </a:r>
          </a:p>
        </p:txBody>
      </p:sp>
      <p:sp>
        <p:nvSpPr>
          <p:cNvPr id="10" name="TextBox 9">
            <a:extLst>
              <a:ext uri="{FF2B5EF4-FFF2-40B4-BE49-F238E27FC236}">
                <a16:creationId xmlns:a16="http://schemas.microsoft.com/office/drawing/2014/main" id="{A5027DC1-72FA-8B19-AC99-8BC929E6CBBE}"/>
              </a:ext>
            </a:extLst>
          </p:cNvPr>
          <p:cNvSpPr txBox="1"/>
          <p:nvPr/>
        </p:nvSpPr>
        <p:spPr>
          <a:xfrm>
            <a:off x="12221736" y="782200"/>
            <a:ext cx="2096429" cy="369332"/>
          </a:xfrm>
          <a:prstGeom prst="rect">
            <a:avLst/>
          </a:prstGeom>
          <a:solidFill>
            <a:schemeClr val="accent1">
              <a:lumMod val="60000"/>
              <a:lumOff val="40000"/>
            </a:schemeClr>
          </a:solidFill>
        </p:spPr>
        <p:txBody>
          <a:bodyPr wrap="square" rtlCol="0">
            <a:spAutoFit/>
          </a:bodyPr>
          <a:lstStyle/>
          <a:p>
            <a:r>
              <a:rPr lang="en-GB" dirty="0"/>
              <a:t>Chris 5-10 mins</a:t>
            </a:r>
          </a:p>
        </p:txBody>
      </p:sp>
      <p:pic>
        <p:nvPicPr>
          <p:cNvPr id="11" name="Content Placeholder 16">
            <a:extLst>
              <a:ext uri="{FF2B5EF4-FFF2-40B4-BE49-F238E27FC236}">
                <a16:creationId xmlns:a16="http://schemas.microsoft.com/office/drawing/2014/main" id="{E3425432-D926-2FAE-4566-005A97833BE4}"/>
              </a:ext>
            </a:extLst>
          </p:cNvPr>
          <p:cNvPicPr>
            <a:picLocks noChangeAspect="1"/>
          </p:cNvPicPr>
          <p:nvPr/>
        </p:nvPicPr>
        <p:blipFill>
          <a:blip r:embed="rId2"/>
          <a:stretch>
            <a:fillRect/>
          </a:stretch>
        </p:blipFill>
        <p:spPr>
          <a:xfrm>
            <a:off x="948266" y="5358074"/>
            <a:ext cx="3845977" cy="3425097"/>
          </a:xfrm>
          <a:prstGeom prst="rect">
            <a:avLst/>
          </a:prstGeom>
          <a:ln w="25400">
            <a:solidFill>
              <a:schemeClr val="tx1"/>
            </a:solidFill>
          </a:ln>
        </p:spPr>
      </p:pic>
      <p:pic>
        <p:nvPicPr>
          <p:cNvPr id="12" name="Picture 11">
            <a:extLst>
              <a:ext uri="{FF2B5EF4-FFF2-40B4-BE49-F238E27FC236}">
                <a16:creationId xmlns:a16="http://schemas.microsoft.com/office/drawing/2014/main" id="{A5EF535C-553A-041F-758B-E9E64D01A6CA}"/>
              </a:ext>
            </a:extLst>
          </p:cNvPr>
          <p:cNvPicPr>
            <a:picLocks noChangeAspect="1"/>
          </p:cNvPicPr>
          <p:nvPr/>
        </p:nvPicPr>
        <p:blipFill>
          <a:blip r:embed="rId3"/>
          <a:stretch>
            <a:fillRect/>
          </a:stretch>
        </p:blipFill>
        <p:spPr>
          <a:xfrm>
            <a:off x="4552956" y="5268184"/>
            <a:ext cx="3845977" cy="3411130"/>
          </a:xfrm>
          <a:prstGeom prst="rect">
            <a:avLst/>
          </a:prstGeom>
          <a:ln w="25400">
            <a:solidFill>
              <a:schemeClr val="tx1"/>
            </a:solidFill>
          </a:ln>
        </p:spPr>
      </p:pic>
      <p:pic>
        <p:nvPicPr>
          <p:cNvPr id="8" name="Content Placeholder 8">
            <a:extLst>
              <a:ext uri="{FF2B5EF4-FFF2-40B4-BE49-F238E27FC236}">
                <a16:creationId xmlns:a16="http://schemas.microsoft.com/office/drawing/2014/main" id="{05BFC614-1CCD-6EAD-551C-16CD66BE3C92}"/>
              </a:ext>
            </a:extLst>
          </p:cNvPr>
          <p:cNvPicPr>
            <a:picLocks noChangeAspect="1"/>
          </p:cNvPicPr>
          <p:nvPr/>
        </p:nvPicPr>
        <p:blipFill>
          <a:blip r:embed="rId4"/>
          <a:stretch>
            <a:fillRect/>
          </a:stretch>
        </p:blipFill>
        <p:spPr>
          <a:xfrm>
            <a:off x="8194028" y="5111550"/>
            <a:ext cx="5296983" cy="3028154"/>
          </a:xfrm>
          <a:prstGeom prst="rect">
            <a:avLst/>
          </a:prstGeom>
          <a:ln w="25400">
            <a:solidFill>
              <a:schemeClr val="accent5"/>
            </a:solidFill>
          </a:ln>
        </p:spPr>
      </p:pic>
      <p:pic>
        <p:nvPicPr>
          <p:cNvPr id="14" name="Picture 13">
            <a:extLst>
              <a:ext uri="{FF2B5EF4-FFF2-40B4-BE49-F238E27FC236}">
                <a16:creationId xmlns:a16="http://schemas.microsoft.com/office/drawing/2014/main" id="{4698C899-F107-7D62-2DED-EE4053E7A1D1}"/>
              </a:ext>
            </a:extLst>
          </p:cNvPr>
          <p:cNvPicPr>
            <a:picLocks noChangeAspect="1"/>
          </p:cNvPicPr>
          <p:nvPr/>
        </p:nvPicPr>
        <p:blipFill>
          <a:blip r:embed="rId5"/>
          <a:stretch>
            <a:fillRect/>
          </a:stretch>
        </p:blipFill>
        <p:spPr>
          <a:xfrm>
            <a:off x="13027980" y="4571961"/>
            <a:ext cx="2580370" cy="3399907"/>
          </a:xfrm>
          <a:prstGeom prst="rect">
            <a:avLst/>
          </a:prstGeom>
        </p:spPr>
      </p:pic>
    </p:spTree>
    <p:extLst>
      <p:ext uri="{BB962C8B-B14F-4D97-AF65-F5344CB8AC3E}">
        <p14:creationId xmlns:p14="http://schemas.microsoft.com/office/powerpoint/2010/main" val="2998715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60DE3-147F-6F27-980B-F413AFC4C8CB}"/>
            </a:ext>
          </a:extLst>
        </p:cNvPr>
        <p:cNvGrpSpPr/>
        <p:nvPr/>
      </p:nvGrpSpPr>
      <p:grpSpPr>
        <a:xfrm>
          <a:off x="0" y="0"/>
          <a:ext cx="0" cy="0"/>
          <a:chOff x="0" y="0"/>
          <a:chExt cx="0" cy="0"/>
        </a:xfrm>
      </p:grpSpPr>
      <p:sp>
        <p:nvSpPr>
          <p:cNvPr id="97" name="Title 1">
            <a:extLst>
              <a:ext uri="{FF2B5EF4-FFF2-40B4-BE49-F238E27FC236}">
                <a16:creationId xmlns:a16="http://schemas.microsoft.com/office/drawing/2014/main" id="{84EC5900-2FDF-E4DC-27FB-DAFDAD4EB46D}"/>
              </a:ext>
            </a:extLst>
          </p:cNvPr>
          <p:cNvSpPr>
            <a:spLocks noGrp="1"/>
          </p:cNvSpPr>
          <p:nvPr>
            <p:ph type="title" hasCustomPrompt="1"/>
          </p:nvPr>
        </p:nvSpPr>
        <p:spPr>
          <a:xfrm>
            <a:off x="1500000" y="3400000"/>
            <a:ext cx="13256000" cy="2200000"/>
          </a:xfrm>
        </p:spPr>
        <p:txBody>
          <a:bodyPr/>
          <a:lstStyle/>
          <a:p>
            <a:pPr marL="0" lvl="0" indent="0">
              <a:buNone/>
            </a:pPr>
            <a:r>
              <a:rPr lang="de-CH" dirty="0">
                <a:solidFill>
                  <a:schemeClr val="bg1"/>
                </a:solidFill>
              </a:rPr>
              <a:t>The </a:t>
            </a:r>
            <a:r>
              <a:rPr lang="de-CH" dirty="0" err="1">
                <a:solidFill>
                  <a:schemeClr val="bg1"/>
                </a:solidFill>
              </a:rPr>
              <a:t>importance</a:t>
            </a:r>
            <a:r>
              <a:rPr lang="de-CH" dirty="0">
                <a:solidFill>
                  <a:schemeClr val="bg1"/>
                </a:solidFill>
              </a:rPr>
              <a:t> of a </a:t>
            </a:r>
            <a:r>
              <a:rPr lang="de-CH" dirty="0" err="1">
                <a:solidFill>
                  <a:schemeClr val="bg1"/>
                </a:solidFill>
              </a:rPr>
              <a:t>healthy</a:t>
            </a:r>
            <a:r>
              <a:rPr lang="de-CH" dirty="0">
                <a:solidFill>
                  <a:schemeClr val="bg1"/>
                </a:solidFill>
              </a:rPr>
              <a:t> </a:t>
            </a:r>
            <a:r>
              <a:rPr lang="de-CH" dirty="0" err="1">
                <a:solidFill>
                  <a:schemeClr val="bg1"/>
                </a:solidFill>
              </a:rPr>
              <a:t>workforce</a:t>
            </a:r>
            <a:endParaRPr dirty="0">
              <a:solidFill>
                <a:schemeClr val="bg1"/>
              </a:solidFill>
            </a:endParaRPr>
          </a:p>
        </p:txBody>
      </p:sp>
      <p:sp>
        <p:nvSpPr>
          <p:cNvPr id="8" name="Footer Placeholder 4">
            <a:extLst>
              <a:ext uri="{FF2B5EF4-FFF2-40B4-BE49-F238E27FC236}">
                <a16:creationId xmlns:a16="http://schemas.microsoft.com/office/drawing/2014/main" id="{D1BC85C3-C42C-96B9-66C1-3C73D71844D8}"/>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bg1"/>
                </a:solidFill>
              </a:defRPr>
            </a:lvl1pPr>
          </a:lstStyle>
          <a:p>
            <a:r>
              <a:rPr lang="en-GB"/>
              <a:t>IFoA Life Conference</a:t>
            </a:r>
            <a:endParaRPr lang="en-GB" dirty="0"/>
          </a:p>
        </p:txBody>
      </p:sp>
      <p:sp>
        <p:nvSpPr>
          <p:cNvPr id="9" name="Slide Number Placeholder 5">
            <a:extLst>
              <a:ext uri="{FF2B5EF4-FFF2-40B4-BE49-F238E27FC236}">
                <a16:creationId xmlns:a16="http://schemas.microsoft.com/office/drawing/2014/main" id="{F5D579F7-4B70-348A-F827-3B9ECD67D54E}"/>
              </a:ext>
            </a:extLst>
          </p:cNvPr>
          <p:cNvSpPr>
            <a:spLocks noGrp="1"/>
          </p:cNvSpPr>
          <p:nvPr>
            <p:ph type="sldNum" sz="quarter" idx="4"/>
          </p:nvPr>
        </p:nvSpPr>
        <p:spPr>
          <a:xfrm>
            <a:off x="14573177" y="8382533"/>
            <a:ext cx="529680" cy="486833"/>
          </a:xfrm>
          <a:prstGeom prst="rect">
            <a:avLst/>
          </a:prstGeom>
          <a:solidFill>
            <a:schemeClr val="bg1"/>
          </a:solidFill>
        </p:spPr>
        <p:txBody>
          <a:bodyPr vert="horz" lIns="91440" tIns="45720" rIns="91440" bIns="45720" rtlCol="0" anchor="ctr"/>
          <a:lstStyle>
            <a:lvl1pPr algn="ctr">
              <a:defRPr sz="1200" b="1" i="0">
                <a:solidFill>
                  <a:schemeClr val="tx1"/>
                </a:solidFill>
                <a:latin typeface="Arial" panose="020B0604020202020204" pitchFamily="34" charset="0"/>
                <a:cs typeface="Arial" panose="020B0604020202020204" pitchFamily="34" charset="0"/>
              </a:defRPr>
            </a:lvl1pPr>
          </a:lstStyle>
          <a:p>
            <a:fld id="{40FC62D0-A2F2-4BF8-8DAC-E86C11000EC3}" type="slidenum">
              <a:rPr lang="en-GB" smtClean="0"/>
              <a:pPr/>
              <a:t>5</a:t>
            </a:fld>
            <a:endParaRPr lang="en-GB" dirty="0"/>
          </a:p>
        </p:txBody>
      </p:sp>
      <p:sp>
        <p:nvSpPr>
          <p:cNvPr id="4" name="TextBox 3">
            <a:extLst>
              <a:ext uri="{FF2B5EF4-FFF2-40B4-BE49-F238E27FC236}">
                <a16:creationId xmlns:a16="http://schemas.microsoft.com/office/drawing/2014/main" id="{5EBB7B7A-0B44-1D54-DC63-C4B2E6A260A6}"/>
              </a:ext>
            </a:extLst>
          </p:cNvPr>
          <p:cNvSpPr txBox="1"/>
          <p:nvPr/>
        </p:nvSpPr>
        <p:spPr>
          <a:xfrm>
            <a:off x="12221736" y="782200"/>
            <a:ext cx="2096429" cy="369332"/>
          </a:xfrm>
          <a:prstGeom prst="rect">
            <a:avLst/>
          </a:prstGeom>
          <a:solidFill>
            <a:schemeClr val="accent1">
              <a:lumMod val="60000"/>
              <a:lumOff val="40000"/>
            </a:schemeClr>
          </a:solidFill>
        </p:spPr>
        <p:txBody>
          <a:bodyPr wrap="square" rtlCol="0">
            <a:spAutoFit/>
          </a:bodyPr>
          <a:lstStyle/>
          <a:p>
            <a:r>
              <a:rPr lang="en-GB" dirty="0"/>
              <a:t>Chris 5-10 mins</a:t>
            </a:r>
          </a:p>
        </p:txBody>
      </p:sp>
    </p:spTree>
    <p:extLst>
      <p:ext uri="{BB962C8B-B14F-4D97-AF65-F5344CB8AC3E}">
        <p14:creationId xmlns:p14="http://schemas.microsoft.com/office/powerpoint/2010/main" val="533257206"/>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688EFA1-9587-F998-34C0-292A59241123}"/>
              </a:ext>
            </a:extLst>
          </p:cNvPr>
          <p:cNvSpPr>
            <a:spLocks noGrp="1"/>
          </p:cNvSpPr>
          <p:nvPr>
            <p:ph type="title"/>
          </p:nvPr>
        </p:nvSpPr>
        <p:spPr/>
        <p:txBody>
          <a:bodyPr>
            <a:normAutofit fontScale="90000"/>
          </a:bodyPr>
          <a:lstStyle/>
          <a:p>
            <a:r>
              <a:rPr lang="en-GB" dirty="0"/>
              <a:t>The rise in long-term economic inactivity due to ill health</a:t>
            </a:r>
          </a:p>
        </p:txBody>
      </p:sp>
      <p:sp>
        <p:nvSpPr>
          <p:cNvPr id="5" name="Footer Placeholder 4">
            <a:extLst>
              <a:ext uri="{FF2B5EF4-FFF2-40B4-BE49-F238E27FC236}">
                <a16:creationId xmlns:a16="http://schemas.microsoft.com/office/drawing/2014/main" id="{E9872D60-EA80-3CEA-BC94-F9BC5212A048}"/>
              </a:ext>
            </a:extLst>
          </p:cNvPr>
          <p:cNvSpPr>
            <a:spLocks noGrp="1"/>
          </p:cNvSpPr>
          <p:nvPr>
            <p:ph type="ftr" sz="quarter" idx="3"/>
          </p:nvPr>
        </p:nvSpPr>
        <p:spPr/>
        <p:txBody>
          <a:bodyPr/>
          <a:lstStyle/>
          <a:p>
            <a:r>
              <a:rPr lang="en-GB"/>
              <a:t>IFoA Life Conference</a:t>
            </a:r>
            <a:endParaRPr lang="en-GB" dirty="0"/>
          </a:p>
        </p:txBody>
      </p:sp>
      <p:sp>
        <p:nvSpPr>
          <p:cNvPr id="6" name="Slide Number Placeholder 5">
            <a:extLst>
              <a:ext uri="{FF2B5EF4-FFF2-40B4-BE49-F238E27FC236}">
                <a16:creationId xmlns:a16="http://schemas.microsoft.com/office/drawing/2014/main" id="{E052A548-5019-F1E6-1C3E-97AD740E7C75}"/>
              </a:ext>
            </a:extLst>
          </p:cNvPr>
          <p:cNvSpPr>
            <a:spLocks noGrp="1"/>
          </p:cNvSpPr>
          <p:nvPr>
            <p:ph type="sldNum" sz="quarter" idx="4"/>
          </p:nvPr>
        </p:nvSpPr>
        <p:spPr/>
        <p:txBody>
          <a:bodyPr/>
          <a:lstStyle/>
          <a:p>
            <a:fld id="{40FC62D0-A2F2-4BF8-8DAC-E86C11000EC3}" type="slidenum">
              <a:rPr lang="en-GB" smtClean="0"/>
              <a:pPr/>
              <a:t>6</a:t>
            </a:fld>
            <a:endParaRPr lang="en-GB" dirty="0"/>
          </a:p>
        </p:txBody>
      </p:sp>
      <p:pic>
        <p:nvPicPr>
          <p:cNvPr id="8" name="Picture 7">
            <a:extLst>
              <a:ext uri="{FF2B5EF4-FFF2-40B4-BE49-F238E27FC236}">
                <a16:creationId xmlns:a16="http://schemas.microsoft.com/office/drawing/2014/main" id="{4587E35A-52B9-D6CA-17CD-23D43A42447C}"/>
              </a:ext>
            </a:extLst>
          </p:cNvPr>
          <p:cNvPicPr>
            <a:picLocks noChangeAspect="1"/>
          </p:cNvPicPr>
          <p:nvPr/>
        </p:nvPicPr>
        <p:blipFill>
          <a:blip r:embed="rId2"/>
          <a:stretch>
            <a:fillRect/>
          </a:stretch>
        </p:blipFill>
        <p:spPr>
          <a:xfrm>
            <a:off x="771730" y="3032340"/>
            <a:ext cx="7189347" cy="3855156"/>
          </a:xfrm>
          <a:prstGeom prst="rect">
            <a:avLst/>
          </a:prstGeom>
        </p:spPr>
      </p:pic>
      <p:pic>
        <p:nvPicPr>
          <p:cNvPr id="14" name="Picture 13">
            <a:extLst>
              <a:ext uri="{FF2B5EF4-FFF2-40B4-BE49-F238E27FC236}">
                <a16:creationId xmlns:a16="http://schemas.microsoft.com/office/drawing/2014/main" id="{48027338-5FF2-B9E7-EE15-AACE2964EA8B}"/>
              </a:ext>
            </a:extLst>
          </p:cNvPr>
          <p:cNvPicPr>
            <a:picLocks noChangeAspect="1"/>
          </p:cNvPicPr>
          <p:nvPr/>
        </p:nvPicPr>
        <p:blipFill>
          <a:blip r:embed="rId3"/>
          <a:stretch>
            <a:fillRect/>
          </a:stretch>
        </p:blipFill>
        <p:spPr>
          <a:xfrm>
            <a:off x="8128000" y="3032340"/>
            <a:ext cx="7593810" cy="3855156"/>
          </a:xfrm>
          <a:prstGeom prst="rect">
            <a:avLst/>
          </a:prstGeom>
        </p:spPr>
      </p:pic>
      <p:sp>
        <p:nvSpPr>
          <p:cNvPr id="15" name="TextBox 14">
            <a:extLst>
              <a:ext uri="{FF2B5EF4-FFF2-40B4-BE49-F238E27FC236}">
                <a16:creationId xmlns:a16="http://schemas.microsoft.com/office/drawing/2014/main" id="{2D870B6D-3F66-2AFE-F6DC-D593E6CA4244}"/>
              </a:ext>
            </a:extLst>
          </p:cNvPr>
          <p:cNvSpPr txBox="1"/>
          <p:nvPr/>
        </p:nvSpPr>
        <p:spPr>
          <a:xfrm>
            <a:off x="1536700" y="1387589"/>
            <a:ext cx="9677400" cy="584775"/>
          </a:xfrm>
          <a:prstGeom prst="rect">
            <a:avLst/>
          </a:prstGeom>
          <a:noFill/>
        </p:spPr>
        <p:txBody>
          <a:bodyPr wrap="square" rtlCol="0">
            <a:spAutoFit/>
          </a:bodyPr>
          <a:lstStyle/>
          <a:p>
            <a:r>
              <a:rPr lang="en-GB" sz="3200" b="1" dirty="0"/>
              <a:t>The pandemic was clearly an important factor.</a:t>
            </a:r>
          </a:p>
        </p:txBody>
      </p:sp>
      <p:sp>
        <p:nvSpPr>
          <p:cNvPr id="16" name="TextBox 15">
            <a:extLst>
              <a:ext uri="{FF2B5EF4-FFF2-40B4-BE49-F238E27FC236}">
                <a16:creationId xmlns:a16="http://schemas.microsoft.com/office/drawing/2014/main" id="{7CDA5A90-3F82-ED06-6737-2C7A06ACFDCF}"/>
              </a:ext>
            </a:extLst>
          </p:cNvPr>
          <p:cNvSpPr txBox="1"/>
          <p:nvPr/>
        </p:nvSpPr>
        <p:spPr>
          <a:xfrm>
            <a:off x="977900" y="2070100"/>
            <a:ext cx="13595277" cy="646331"/>
          </a:xfrm>
          <a:prstGeom prst="rect">
            <a:avLst/>
          </a:prstGeom>
          <a:noFill/>
        </p:spPr>
        <p:txBody>
          <a:bodyPr wrap="square" rtlCol="0">
            <a:spAutoFit/>
          </a:bodyPr>
          <a:lstStyle/>
          <a:p>
            <a:r>
              <a:rPr lang="en-GB" dirty="0"/>
              <a:t>Whilst many suggest the problem began before the pandemic, the trivial rise in LSA in 2019 is marginal and may reflect population and  demographic change.</a:t>
            </a:r>
          </a:p>
        </p:txBody>
      </p:sp>
    </p:spTree>
    <p:extLst>
      <p:ext uri="{BB962C8B-B14F-4D97-AF65-F5344CB8AC3E}">
        <p14:creationId xmlns:p14="http://schemas.microsoft.com/office/powerpoint/2010/main" val="8906405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a:extLst>
              <a:ext uri="{FF2B5EF4-FFF2-40B4-BE49-F238E27FC236}">
                <a16:creationId xmlns:a16="http://schemas.microsoft.com/office/drawing/2014/main" id="{F4877B0A-64E1-4B8B-8B99-0E5567C8FFDC}"/>
              </a:ext>
            </a:extLst>
          </p:cNvPr>
          <p:cNvSpPr>
            <a:spLocks noGrp="1"/>
          </p:cNvSpPr>
          <p:nvPr/>
        </p:nvSpPr>
        <p:spPr>
          <a:xfrm>
            <a:off x="809625" y="457200"/>
            <a:ext cx="14639925" cy="723900"/>
          </a:xfrm>
          <a:prstGeom prst="rect">
            <a:avLst/>
          </a:prstGeom>
          <a:noFill/>
          <a:ln w="0">
            <a:noFill/>
            <a:prstDash val="solid"/>
          </a:ln>
        </p:spPr>
        <p:txBody>
          <a:bodyPr wrap="square" lIns="0" tIns="0" rIns="0" bIns="0">
            <a:noAutofit/>
          </a:bodyPr>
          <a:lstStyle>
            <a:defPPr>
              <a:defRPr sz="4050" b="1">
                <a:solidFill>
                  <a:srgbClr val="002D72"/>
                </a:solidFill>
                <a:latin typeface="Arial"/>
                <a:ea typeface="Arial"/>
                <a:cs typeface="Arial"/>
              </a:defRPr>
            </a:defPPr>
          </a:lstStyle>
          <a:p>
            <a:pPr>
              <a:defRPr sz="4050" b="1">
                <a:solidFill>
                  <a:srgbClr val="002D72"/>
                </a:solidFill>
                <a:latin typeface="Arial"/>
                <a:ea typeface="Arial"/>
                <a:cs typeface="Arial"/>
              </a:defRPr>
            </a:pPr>
            <a:r>
              <a:rPr sz="4050" b="1" dirty="0">
                <a:solidFill>
                  <a:schemeClr val="tx1">
                    <a:lumMod val="50000"/>
                  </a:schemeClr>
                </a:solidFill>
                <a:latin typeface="Arial"/>
                <a:ea typeface="Arial"/>
                <a:cs typeface="Arial"/>
              </a:rPr>
              <a:t>The rise in sickness-related economic inactivity</a:t>
            </a:r>
          </a:p>
        </p:txBody>
      </p:sp>
      <p:sp>
        <p:nvSpPr>
          <p:cNvPr id="2" name="period">
            <a:extLst>
              <a:ext uri="{FF2B5EF4-FFF2-40B4-BE49-F238E27FC236}">
                <a16:creationId xmlns:a16="http://schemas.microsoft.com/office/drawing/2014/main" id="{9F407A9A-0E02-472D-82C3-388AFC290B66}"/>
              </a:ext>
            </a:extLst>
          </p:cNvPr>
          <p:cNvSpPr>
            <a:spLocks noGrp="1"/>
          </p:cNvSpPr>
          <p:nvPr/>
        </p:nvSpPr>
        <p:spPr>
          <a:xfrm>
            <a:off x="809625" y="1314450"/>
            <a:ext cx="14639925" cy="409575"/>
          </a:xfrm>
          <a:prstGeom prst="rect">
            <a:avLst/>
          </a:prstGeom>
          <a:noFill/>
          <a:ln w="0">
            <a:noFill/>
            <a:prstDash val="solid"/>
          </a:ln>
        </p:spPr>
        <p:txBody>
          <a:bodyPr wrap="square" lIns="0" tIns="0" rIns="0" bIns="0">
            <a:noAutofit/>
          </a:bodyPr>
          <a:lstStyle>
            <a:defPPr>
              <a:defRPr sz="2250" b="0">
                <a:solidFill>
                  <a:srgbClr val="626D7A"/>
                </a:solidFill>
                <a:latin typeface="Arial"/>
                <a:ea typeface="Arial"/>
                <a:cs typeface="Arial"/>
              </a:defRPr>
            </a:defPPr>
          </a:lstStyle>
          <a:p>
            <a:pPr>
              <a:defRPr sz="2250" b="0">
                <a:solidFill>
                  <a:srgbClr val="626D7A"/>
                </a:solidFill>
                <a:latin typeface="Arial"/>
                <a:ea typeface="Arial"/>
                <a:cs typeface="Arial"/>
              </a:defRPr>
            </a:pPr>
            <a:r>
              <a:rPr sz="2250" b="0">
                <a:solidFill>
                  <a:srgbClr val="626D7A"/>
                </a:solidFill>
                <a:latin typeface="Arial"/>
                <a:ea typeface="Arial"/>
                <a:cs typeface="Arial"/>
              </a:rPr>
              <a:t>UK, ages 16–64. Annual averages, 2019 to 2025</a:t>
            </a:r>
          </a:p>
        </p:txBody>
      </p:sp>
      <p:sp>
        <p:nvSpPr>
          <p:cNvPr id="3" name="total">
            <a:extLst>
              <a:ext uri="{FF2B5EF4-FFF2-40B4-BE49-F238E27FC236}">
                <a16:creationId xmlns:a16="http://schemas.microsoft.com/office/drawing/2014/main" id="{15E1A89B-E33F-402A-96ED-D90A9C10631B}"/>
              </a:ext>
            </a:extLst>
          </p:cNvPr>
          <p:cNvSpPr>
            <a:spLocks noGrp="1"/>
          </p:cNvSpPr>
          <p:nvPr/>
        </p:nvSpPr>
        <p:spPr>
          <a:xfrm>
            <a:off x="809625" y="1952625"/>
            <a:ext cx="5476875" cy="1190625"/>
          </a:xfrm>
          <a:prstGeom prst="rect">
            <a:avLst/>
          </a:prstGeom>
          <a:noFill/>
          <a:ln w="0">
            <a:noFill/>
            <a:prstDash val="solid"/>
          </a:ln>
        </p:spPr>
        <p:txBody>
          <a:bodyPr wrap="square" lIns="0" tIns="0" rIns="0" bIns="0">
            <a:noAutofit/>
          </a:bodyPr>
          <a:lstStyle>
            <a:defPPr>
              <a:defRPr sz="7425" b="1">
                <a:solidFill>
                  <a:srgbClr val="002D72"/>
                </a:solidFill>
                <a:latin typeface="Arial"/>
                <a:ea typeface="Arial"/>
                <a:cs typeface="Arial"/>
              </a:defRPr>
            </a:defPPr>
          </a:lstStyle>
          <a:p>
            <a:pPr>
              <a:defRPr sz="7425" b="1">
                <a:solidFill>
                  <a:srgbClr val="002D72"/>
                </a:solidFill>
                <a:latin typeface="Arial"/>
                <a:ea typeface="Arial"/>
                <a:cs typeface="Arial"/>
              </a:defRPr>
            </a:pPr>
            <a:r>
              <a:rPr sz="7425" b="1">
                <a:solidFill>
                  <a:srgbClr val="002D72"/>
                </a:solidFill>
                <a:latin typeface="Arial"/>
                <a:ea typeface="Arial"/>
                <a:cs typeface="Arial"/>
              </a:rPr>
              <a:t>+746,000</a:t>
            </a:r>
          </a:p>
        </p:txBody>
      </p:sp>
      <p:sp>
        <p:nvSpPr>
          <p:cNvPr id="4" name="outcome">
            <a:extLst>
              <a:ext uri="{FF2B5EF4-FFF2-40B4-BE49-F238E27FC236}">
                <a16:creationId xmlns:a16="http://schemas.microsoft.com/office/drawing/2014/main" id="{53CD4A58-EB52-4E57-8609-550C0B04748A}"/>
              </a:ext>
            </a:extLst>
          </p:cNvPr>
          <p:cNvSpPr>
            <a:spLocks noGrp="1"/>
          </p:cNvSpPr>
          <p:nvPr/>
        </p:nvSpPr>
        <p:spPr>
          <a:xfrm>
            <a:off x="6762750" y="2124075"/>
            <a:ext cx="8715375" cy="942975"/>
          </a:xfrm>
          <a:prstGeom prst="rect">
            <a:avLst/>
          </a:prstGeom>
          <a:noFill/>
          <a:ln w="0">
            <a:noFill/>
            <a:prstDash val="solid"/>
          </a:ln>
        </p:spPr>
        <p:txBody>
          <a:bodyPr wrap="square" lIns="0" tIns="0" rIns="0" bIns="0">
            <a:noAutofit/>
          </a:bodyPr>
          <a:lstStyle>
            <a:defPPr>
              <a:defRPr sz="2925" b="1">
                <a:solidFill>
                  <a:srgbClr val="3F3F3F"/>
                </a:solidFill>
                <a:latin typeface="Arial"/>
                <a:ea typeface="Arial"/>
                <a:cs typeface="Arial"/>
              </a:defRPr>
            </a:defPPr>
          </a:lstStyle>
          <a:p>
            <a:pPr>
              <a:defRPr sz="2925" b="1">
                <a:solidFill>
                  <a:srgbClr val="3F3F3F"/>
                </a:solidFill>
                <a:latin typeface="Arial"/>
                <a:ea typeface="Arial"/>
                <a:cs typeface="Arial"/>
              </a:defRPr>
            </a:pPr>
            <a:r>
              <a:rPr sz="2925" b="1">
                <a:solidFill>
                  <a:srgbClr val="3F3F3F"/>
                </a:solidFill>
                <a:latin typeface="Arial"/>
                <a:ea typeface="Arial"/>
                <a:cs typeface="Arial"/>
              </a:rPr>
              <a:t>More people economically inactive</a:t>
            </a:r>
          </a:p>
          <a:p>
            <a:pPr>
              <a:defRPr sz="2925" b="1">
                <a:solidFill>
                  <a:srgbClr val="3F3F3F"/>
                </a:solidFill>
                <a:latin typeface="Arial"/>
                <a:ea typeface="Arial"/>
                <a:cs typeface="Arial"/>
              </a:defRPr>
            </a:pPr>
            <a:r>
              <a:rPr sz="2925" b="1">
                <a:solidFill>
                  <a:srgbClr val="3F3F3F"/>
                </a:solidFill>
                <a:latin typeface="Arial"/>
                <a:ea typeface="Arial"/>
                <a:cs typeface="Arial"/>
              </a:rPr>
              <a:t>because of long-term sickness</a:t>
            </a:r>
          </a:p>
        </p:txBody>
      </p:sp>
      <p:sp>
        <p:nvSpPr>
          <p:cNvPr id="5" name="endpoints">
            <a:extLst>
              <a:ext uri="{FF2B5EF4-FFF2-40B4-BE49-F238E27FC236}">
                <a16:creationId xmlns:a16="http://schemas.microsoft.com/office/drawing/2014/main" id="{CDE49FF9-FD2C-42EC-80FC-46AEC63BF9E6}"/>
              </a:ext>
            </a:extLst>
          </p:cNvPr>
          <p:cNvSpPr>
            <a:spLocks noGrp="1"/>
          </p:cNvSpPr>
          <p:nvPr/>
        </p:nvSpPr>
        <p:spPr>
          <a:xfrm>
            <a:off x="809625" y="3190875"/>
            <a:ext cx="14639925" cy="390525"/>
          </a:xfrm>
          <a:prstGeom prst="rect">
            <a:avLst/>
          </a:prstGeom>
          <a:noFill/>
          <a:ln w="0">
            <a:noFill/>
            <a:prstDash val="solid"/>
          </a:ln>
        </p:spPr>
        <p:txBody>
          <a:bodyPr wrap="square" lIns="0" tIns="0" rIns="0" bIns="0">
            <a:noAutofit/>
          </a:bodyPr>
          <a:lstStyle>
            <a:defPPr>
              <a:defRPr sz="2100" b="0">
                <a:solidFill>
                  <a:srgbClr val="626D7A"/>
                </a:solidFill>
                <a:latin typeface="Arial"/>
                <a:ea typeface="Arial"/>
                <a:cs typeface="Arial"/>
              </a:defRPr>
            </a:defPPr>
          </a:lstStyle>
          <a:p>
            <a:pPr>
              <a:defRPr sz="2100" b="0">
                <a:solidFill>
                  <a:srgbClr val="626D7A"/>
                </a:solidFill>
                <a:latin typeface="Arial"/>
                <a:ea typeface="Arial"/>
                <a:cs typeface="Arial"/>
              </a:defRPr>
            </a:pPr>
            <a:r>
              <a:rPr sz="2100" b="0">
                <a:solidFill>
                  <a:srgbClr val="626D7A"/>
                </a:solidFill>
                <a:latin typeface="Arial"/>
                <a:ea typeface="Arial"/>
                <a:cs typeface="Arial"/>
              </a:rPr>
              <a:t>2.046 million in 2019 to 2.792 million in 2025 [1]</a:t>
            </a:r>
          </a:p>
        </p:txBody>
      </p:sp>
      <p:sp>
        <p:nvSpPr>
          <p:cNvPr id="6" name="allocation">
            <a:extLst>
              <a:ext uri="{FF2B5EF4-FFF2-40B4-BE49-F238E27FC236}">
                <a16:creationId xmlns:a16="http://schemas.microsoft.com/office/drawing/2014/main" id="{C58EA147-2267-473D-84A7-A71E50B7357E}"/>
              </a:ext>
            </a:extLst>
          </p:cNvPr>
          <p:cNvSpPr>
            <a:spLocks noGrp="1"/>
          </p:cNvSpPr>
          <p:nvPr/>
        </p:nvSpPr>
        <p:spPr>
          <a:xfrm>
            <a:off x="809625" y="3829050"/>
            <a:ext cx="14639925" cy="476250"/>
          </a:xfrm>
          <a:prstGeom prst="rect">
            <a:avLst/>
          </a:prstGeom>
          <a:noFill/>
          <a:ln w="0">
            <a:noFill/>
            <a:prstDash val="solid"/>
          </a:ln>
        </p:spPr>
        <p:txBody>
          <a:bodyPr wrap="square" lIns="0" tIns="0" rIns="0" bIns="0">
            <a:noAutofit/>
          </a:bodyPr>
          <a:lstStyle>
            <a:defPPr>
              <a:defRPr sz="2700" b="1">
                <a:solidFill>
                  <a:srgbClr val="002D72"/>
                </a:solidFill>
                <a:latin typeface="Arial"/>
                <a:ea typeface="Arial"/>
                <a:cs typeface="Arial"/>
              </a:defRPr>
            </a:defPPr>
          </a:lstStyle>
          <a:p>
            <a:pPr>
              <a:defRPr sz="2700" b="1">
                <a:solidFill>
                  <a:srgbClr val="002D72"/>
                </a:solidFill>
                <a:latin typeface="Arial"/>
                <a:ea typeface="Arial"/>
                <a:cs typeface="Arial"/>
              </a:defRPr>
            </a:pPr>
            <a:r>
              <a:rPr sz="2700" b="1">
                <a:solidFill>
                  <a:srgbClr val="002D72"/>
                </a:solidFill>
                <a:latin typeface="Arial"/>
                <a:ea typeface="Arial"/>
                <a:cs typeface="Arial"/>
              </a:rPr>
              <a:t>Illustrative allocation of the increase</a:t>
            </a:r>
          </a:p>
        </p:txBody>
      </p:sp>
      <p:graphicFrame>
        <p:nvGraphicFramePr>
          <p:cNvPr id="7" name="Chart">
            <a:extLst>
              <a:ext uri="{FF2B5EF4-FFF2-40B4-BE49-F238E27FC236}">
                <a16:creationId xmlns:a16="http://schemas.microsoft.com/office/drawing/2014/main" id="{C0B2340A-3D08-48A0-B693-45516F411F7C}"/>
              </a:ext>
            </a:extLst>
          </p:cNvPr>
          <p:cNvGraphicFramePr/>
          <p:nvPr/>
        </p:nvGraphicFramePr>
        <p:xfrm>
          <a:off x="809625" y="4324350"/>
          <a:ext cx="14639925" cy="933450"/>
        </p:xfrm>
        <a:graphic>
          <a:graphicData uri="http://schemas.openxmlformats.org/drawingml/2006/chart">
            <c:chart xmlns:c="http://schemas.openxmlformats.org/drawingml/2006/chart" xmlns:r="http://schemas.openxmlformats.org/officeDocument/2006/relationships" r:id="rId4"/>
          </a:graphicData>
        </a:graphic>
      </p:graphicFrame>
      <p:sp>
        <p:nvSpPr>
          <p:cNvPr id="8" name="component-0">
            <a:extLst>
              <a:ext uri="{FF2B5EF4-FFF2-40B4-BE49-F238E27FC236}">
                <a16:creationId xmlns:a16="http://schemas.microsoft.com/office/drawing/2014/main" id="{DBF4B639-60B1-4CAE-8EB4-5BD25DEB5BCA}"/>
              </a:ext>
            </a:extLst>
          </p:cNvPr>
          <p:cNvSpPr>
            <a:spLocks noGrp="1"/>
          </p:cNvSpPr>
          <p:nvPr/>
        </p:nvSpPr>
        <p:spPr>
          <a:xfrm>
            <a:off x="809625" y="5410200"/>
            <a:ext cx="4638675" cy="409575"/>
          </a:xfrm>
          <a:prstGeom prst="rect">
            <a:avLst/>
          </a:prstGeom>
          <a:noFill/>
          <a:ln w="0">
            <a:noFill/>
            <a:prstDash val="solid"/>
          </a:ln>
        </p:spPr>
        <p:txBody>
          <a:bodyPr wrap="square" lIns="0" tIns="0" rIns="0" bIns="0">
            <a:noAutofit/>
          </a:bodyPr>
          <a:lstStyle>
            <a:defPPr>
              <a:defRPr sz="2250" b="1">
                <a:solidFill>
                  <a:srgbClr val="002D72"/>
                </a:solidFill>
                <a:latin typeface="Arial"/>
                <a:ea typeface="Arial"/>
                <a:cs typeface="Arial"/>
              </a:defRPr>
            </a:defPPr>
          </a:lstStyle>
          <a:p>
            <a:pPr>
              <a:defRPr sz="2250" b="1">
                <a:solidFill>
                  <a:srgbClr val="002D72"/>
                </a:solidFill>
                <a:latin typeface="Arial"/>
                <a:ea typeface="Arial"/>
                <a:cs typeface="Arial"/>
              </a:defRPr>
            </a:pPr>
            <a:r>
              <a:rPr sz="2250" b="1">
                <a:solidFill>
                  <a:srgbClr val="002D72"/>
                </a:solidFill>
                <a:latin typeface="Arial"/>
                <a:ea typeface="Arial"/>
                <a:cs typeface="Arial"/>
              </a:rPr>
              <a:t>Population growth</a:t>
            </a:r>
          </a:p>
        </p:txBody>
      </p:sp>
      <p:sp>
        <p:nvSpPr>
          <p:cNvPr id="9" name="number-0">
            <a:extLst>
              <a:ext uri="{FF2B5EF4-FFF2-40B4-BE49-F238E27FC236}">
                <a16:creationId xmlns:a16="http://schemas.microsoft.com/office/drawing/2014/main" id="{E3589F1B-78AF-4BE5-98EB-31A94A9CAAD9}"/>
              </a:ext>
            </a:extLst>
          </p:cNvPr>
          <p:cNvSpPr>
            <a:spLocks noGrp="1"/>
          </p:cNvSpPr>
          <p:nvPr/>
        </p:nvSpPr>
        <p:spPr>
          <a:xfrm>
            <a:off x="809625" y="5857875"/>
            <a:ext cx="4638675" cy="809625"/>
          </a:xfrm>
          <a:prstGeom prst="rect">
            <a:avLst/>
          </a:prstGeom>
          <a:noFill/>
          <a:ln w="0">
            <a:noFill/>
            <a:prstDash val="solid"/>
          </a:ln>
        </p:spPr>
        <p:txBody>
          <a:bodyPr wrap="square" lIns="0" tIns="0" rIns="0" bIns="0">
            <a:noAutofit/>
          </a:bodyPr>
          <a:lstStyle>
            <a:defPPr>
              <a:defRPr sz="4800" b="1">
                <a:solidFill>
                  <a:srgbClr val="0097A9"/>
                </a:solidFill>
                <a:latin typeface="Arial"/>
                <a:ea typeface="Arial"/>
                <a:cs typeface="Arial"/>
              </a:defRPr>
            </a:defPPr>
          </a:lstStyle>
          <a:p>
            <a:pPr>
              <a:defRPr sz="4800" b="1">
                <a:solidFill>
                  <a:srgbClr val="0097A9"/>
                </a:solidFill>
                <a:latin typeface="Arial"/>
                <a:ea typeface="Arial"/>
                <a:cs typeface="Arial"/>
              </a:defRPr>
            </a:pPr>
            <a:r>
              <a:rPr sz="4800" b="1">
                <a:solidFill>
                  <a:srgbClr val="0097A9"/>
                </a:solidFill>
                <a:latin typeface="Arial"/>
                <a:ea typeface="Arial"/>
                <a:cs typeface="Arial"/>
              </a:rPr>
              <a:t>≈86,000</a:t>
            </a:r>
          </a:p>
        </p:txBody>
      </p:sp>
      <p:sp>
        <p:nvSpPr>
          <p:cNvPr id="10" name="share-0">
            <a:extLst>
              <a:ext uri="{FF2B5EF4-FFF2-40B4-BE49-F238E27FC236}">
                <a16:creationId xmlns:a16="http://schemas.microsoft.com/office/drawing/2014/main" id="{28771DBD-8524-4D1F-ADDD-87392B447812}"/>
              </a:ext>
            </a:extLst>
          </p:cNvPr>
          <p:cNvSpPr>
            <a:spLocks noGrp="1"/>
          </p:cNvSpPr>
          <p:nvPr/>
        </p:nvSpPr>
        <p:spPr>
          <a:xfrm>
            <a:off x="809625" y="6648450"/>
            <a:ext cx="4638675" cy="390525"/>
          </a:xfrm>
          <a:prstGeom prst="rect">
            <a:avLst/>
          </a:prstGeom>
          <a:noFill/>
          <a:ln w="0">
            <a:noFill/>
            <a:prstDash val="solid"/>
          </a:ln>
        </p:spPr>
        <p:txBody>
          <a:bodyPr wrap="square" lIns="0" tIns="0" rIns="0" bIns="0">
            <a:noAutofit/>
          </a:bodyPr>
          <a:lstStyle>
            <a:defPPr>
              <a:defRPr sz="2100" b="1">
                <a:solidFill>
                  <a:srgbClr val="3F3F3F"/>
                </a:solidFill>
                <a:latin typeface="Arial"/>
                <a:ea typeface="Arial"/>
                <a:cs typeface="Arial"/>
              </a:defRPr>
            </a:defPPr>
          </a:lstStyle>
          <a:p>
            <a:pPr>
              <a:defRPr sz="2100" b="1">
                <a:solidFill>
                  <a:srgbClr val="3F3F3F"/>
                </a:solidFill>
                <a:latin typeface="Arial"/>
                <a:ea typeface="Arial"/>
                <a:cs typeface="Arial"/>
              </a:defRPr>
            </a:pPr>
            <a:r>
              <a:rPr sz="2100" b="1">
                <a:solidFill>
                  <a:srgbClr val="3F3F3F"/>
                </a:solidFill>
                <a:latin typeface="Arial"/>
                <a:ea typeface="Arial"/>
                <a:cs typeface="Arial"/>
              </a:rPr>
              <a:t>11.5% of the increase</a:t>
            </a:r>
          </a:p>
        </p:txBody>
      </p:sp>
      <p:sp>
        <p:nvSpPr>
          <p:cNvPr id="11" name="method-0">
            <a:extLst>
              <a:ext uri="{FF2B5EF4-FFF2-40B4-BE49-F238E27FC236}">
                <a16:creationId xmlns:a16="http://schemas.microsoft.com/office/drawing/2014/main" id="{50367FFE-FD5C-4EA8-B9F4-52265EC4BD0D}"/>
              </a:ext>
            </a:extLst>
          </p:cNvPr>
          <p:cNvSpPr>
            <a:spLocks noGrp="1"/>
          </p:cNvSpPr>
          <p:nvPr/>
        </p:nvSpPr>
        <p:spPr>
          <a:xfrm>
            <a:off x="809625" y="7134225"/>
            <a:ext cx="4638675" cy="657225"/>
          </a:xfrm>
          <a:prstGeom prst="rect">
            <a:avLst/>
          </a:prstGeom>
          <a:noFill/>
          <a:ln w="0">
            <a:noFill/>
            <a:prstDash val="solid"/>
          </a:ln>
        </p:spPr>
        <p:txBody>
          <a:bodyPr wrap="square" lIns="0" tIns="0" rIns="0" bIns="0">
            <a:noAutofit/>
          </a:bodyPr>
          <a:lstStyle>
            <a:defPPr>
              <a:defRPr sz="1875" b="0">
                <a:solidFill>
                  <a:srgbClr val="626D7A"/>
                </a:solidFill>
                <a:latin typeface="Arial"/>
                <a:ea typeface="Arial"/>
                <a:cs typeface="Arial"/>
              </a:defRPr>
            </a:defPPr>
          </a:lstStyle>
          <a:p>
            <a:pPr>
              <a:defRPr sz="1875" b="0">
                <a:solidFill>
                  <a:srgbClr val="626D7A"/>
                </a:solidFill>
                <a:latin typeface="Arial"/>
                <a:ea typeface="Arial"/>
                <a:cs typeface="Arial"/>
              </a:defRPr>
            </a:pPr>
            <a:r>
              <a:rPr sz="1875" b="0">
                <a:solidFill>
                  <a:srgbClr val="626D7A"/>
                </a:solidFill>
                <a:latin typeface="Arial"/>
                <a:ea typeface="Arial"/>
                <a:cs typeface="Arial"/>
              </a:rPr>
              <a:t>Larger population, holding the</a:t>
            </a:r>
          </a:p>
          <a:p>
            <a:pPr>
              <a:defRPr sz="1875" b="0">
                <a:solidFill>
                  <a:srgbClr val="626D7A"/>
                </a:solidFill>
                <a:latin typeface="Arial"/>
                <a:ea typeface="Arial"/>
                <a:cs typeface="Arial"/>
              </a:defRPr>
            </a:pPr>
            <a:r>
              <a:rPr sz="1875" b="0">
                <a:solidFill>
                  <a:srgbClr val="626D7A"/>
                </a:solidFill>
                <a:latin typeface="Arial"/>
                <a:ea typeface="Arial"/>
                <a:cs typeface="Arial"/>
              </a:rPr>
              <a:t>2019 inactivity rate fixed. [1, 2]</a:t>
            </a:r>
          </a:p>
        </p:txBody>
      </p:sp>
      <p:sp>
        <p:nvSpPr>
          <p:cNvPr id="12" name="component-1">
            <a:extLst>
              <a:ext uri="{FF2B5EF4-FFF2-40B4-BE49-F238E27FC236}">
                <a16:creationId xmlns:a16="http://schemas.microsoft.com/office/drawing/2014/main" id="{D90E29E9-A040-4613-A878-D7A41EAD8171}"/>
              </a:ext>
            </a:extLst>
          </p:cNvPr>
          <p:cNvSpPr>
            <a:spLocks noGrp="1"/>
          </p:cNvSpPr>
          <p:nvPr/>
        </p:nvSpPr>
        <p:spPr>
          <a:xfrm>
            <a:off x="5810250" y="5410200"/>
            <a:ext cx="4638675" cy="409575"/>
          </a:xfrm>
          <a:prstGeom prst="rect">
            <a:avLst/>
          </a:prstGeom>
          <a:noFill/>
          <a:ln w="0">
            <a:noFill/>
            <a:prstDash val="solid"/>
          </a:ln>
        </p:spPr>
        <p:txBody>
          <a:bodyPr wrap="square" lIns="0" tIns="0" rIns="0" bIns="0">
            <a:noAutofit/>
          </a:bodyPr>
          <a:lstStyle>
            <a:defPPr>
              <a:defRPr sz="2250" b="1">
                <a:solidFill>
                  <a:srgbClr val="002D72"/>
                </a:solidFill>
                <a:latin typeface="Arial"/>
                <a:ea typeface="Arial"/>
                <a:cs typeface="Arial"/>
              </a:defRPr>
            </a:defPPr>
          </a:lstStyle>
          <a:p>
            <a:pPr>
              <a:defRPr sz="2250" b="1">
                <a:solidFill>
                  <a:srgbClr val="002D72"/>
                </a:solidFill>
                <a:latin typeface="Arial"/>
                <a:ea typeface="Arial"/>
                <a:cs typeface="Arial"/>
              </a:defRPr>
            </a:pPr>
            <a:r>
              <a:rPr sz="2250" b="1">
                <a:solidFill>
                  <a:srgbClr val="002D72"/>
                </a:solidFill>
                <a:latin typeface="Arial"/>
                <a:ea typeface="Arial"/>
                <a:cs typeface="Arial"/>
              </a:rPr>
              <a:t>Demographic change</a:t>
            </a:r>
          </a:p>
        </p:txBody>
      </p:sp>
      <p:sp>
        <p:nvSpPr>
          <p:cNvPr id="13" name="number-1">
            <a:extLst>
              <a:ext uri="{FF2B5EF4-FFF2-40B4-BE49-F238E27FC236}">
                <a16:creationId xmlns:a16="http://schemas.microsoft.com/office/drawing/2014/main" id="{EEEBACA6-E195-4A74-B664-1840C196AA4E}"/>
              </a:ext>
            </a:extLst>
          </p:cNvPr>
          <p:cNvSpPr>
            <a:spLocks noGrp="1"/>
          </p:cNvSpPr>
          <p:nvPr/>
        </p:nvSpPr>
        <p:spPr>
          <a:xfrm>
            <a:off x="5810250" y="5857875"/>
            <a:ext cx="4638675" cy="809625"/>
          </a:xfrm>
          <a:prstGeom prst="rect">
            <a:avLst/>
          </a:prstGeom>
          <a:noFill/>
          <a:ln w="0">
            <a:noFill/>
            <a:prstDash val="solid"/>
          </a:ln>
        </p:spPr>
        <p:txBody>
          <a:bodyPr wrap="square" lIns="0" tIns="0" rIns="0" bIns="0">
            <a:noAutofit/>
          </a:bodyPr>
          <a:lstStyle>
            <a:defPPr>
              <a:defRPr sz="4800" b="1">
                <a:solidFill>
                  <a:srgbClr val="002D72"/>
                </a:solidFill>
                <a:latin typeface="Arial"/>
                <a:ea typeface="Arial"/>
                <a:cs typeface="Arial"/>
              </a:defRPr>
            </a:defPPr>
          </a:lstStyle>
          <a:p>
            <a:pPr>
              <a:defRPr sz="4800" b="1">
                <a:solidFill>
                  <a:srgbClr val="002D72"/>
                </a:solidFill>
                <a:latin typeface="Arial"/>
                <a:ea typeface="Arial"/>
                <a:cs typeface="Arial"/>
              </a:defRPr>
            </a:pPr>
            <a:r>
              <a:rPr sz="4800" b="1">
                <a:solidFill>
                  <a:srgbClr val="002D72"/>
                </a:solidFill>
                <a:latin typeface="Arial"/>
                <a:ea typeface="Arial"/>
                <a:cs typeface="Arial"/>
              </a:rPr>
              <a:t>≈65,000</a:t>
            </a:r>
          </a:p>
        </p:txBody>
      </p:sp>
      <p:sp>
        <p:nvSpPr>
          <p:cNvPr id="14" name="share-1">
            <a:extLst>
              <a:ext uri="{FF2B5EF4-FFF2-40B4-BE49-F238E27FC236}">
                <a16:creationId xmlns:a16="http://schemas.microsoft.com/office/drawing/2014/main" id="{91009426-08F3-410B-A382-9495EDE3D0F5}"/>
              </a:ext>
            </a:extLst>
          </p:cNvPr>
          <p:cNvSpPr>
            <a:spLocks noGrp="1"/>
          </p:cNvSpPr>
          <p:nvPr/>
        </p:nvSpPr>
        <p:spPr>
          <a:xfrm>
            <a:off x="5810250" y="6648450"/>
            <a:ext cx="4638675" cy="390525"/>
          </a:xfrm>
          <a:prstGeom prst="rect">
            <a:avLst/>
          </a:prstGeom>
          <a:noFill/>
          <a:ln w="0">
            <a:noFill/>
            <a:prstDash val="solid"/>
          </a:ln>
        </p:spPr>
        <p:txBody>
          <a:bodyPr wrap="square" lIns="0" tIns="0" rIns="0" bIns="0">
            <a:noAutofit/>
          </a:bodyPr>
          <a:lstStyle>
            <a:defPPr>
              <a:defRPr sz="2100" b="1">
                <a:solidFill>
                  <a:srgbClr val="3F3F3F"/>
                </a:solidFill>
                <a:latin typeface="Arial"/>
                <a:ea typeface="Arial"/>
                <a:cs typeface="Arial"/>
              </a:defRPr>
            </a:defPPr>
          </a:lstStyle>
          <a:p>
            <a:pPr>
              <a:defRPr sz="2100" b="1">
                <a:solidFill>
                  <a:srgbClr val="3F3F3F"/>
                </a:solidFill>
                <a:latin typeface="Arial"/>
                <a:ea typeface="Arial"/>
                <a:cs typeface="Arial"/>
              </a:defRPr>
            </a:pPr>
            <a:r>
              <a:rPr sz="2100" b="1">
                <a:solidFill>
                  <a:srgbClr val="3F3F3F"/>
                </a:solidFill>
                <a:latin typeface="Arial"/>
                <a:ea typeface="Arial"/>
                <a:cs typeface="Arial"/>
              </a:rPr>
              <a:t>8.7% of the increase</a:t>
            </a:r>
          </a:p>
        </p:txBody>
      </p:sp>
      <p:sp>
        <p:nvSpPr>
          <p:cNvPr id="15" name="method-1">
            <a:extLst>
              <a:ext uri="{FF2B5EF4-FFF2-40B4-BE49-F238E27FC236}">
                <a16:creationId xmlns:a16="http://schemas.microsoft.com/office/drawing/2014/main" id="{344CAAC4-F96D-4FC0-9F5A-E3AA7EC827A9}"/>
              </a:ext>
            </a:extLst>
          </p:cNvPr>
          <p:cNvSpPr>
            <a:spLocks noGrp="1"/>
          </p:cNvSpPr>
          <p:nvPr/>
        </p:nvSpPr>
        <p:spPr>
          <a:xfrm>
            <a:off x="5810250" y="7134225"/>
            <a:ext cx="4638675" cy="657225"/>
          </a:xfrm>
          <a:prstGeom prst="rect">
            <a:avLst/>
          </a:prstGeom>
          <a:noFill/>
          <a:ln w="0">
            <a:noFill/>
            <a:prstDash val="solid"/>
          </a:ln>
        </p:spPr>
        <p:txBody>
          <a:bodyPr wrap="square" lIns="0" tIns="0" rIns="0" bIns="0">
            <a:noAutofit/>
          </a:bodyPr>
          <a:lstStyle>
            <a:defPPr>
              <a:defRPr sz="1875" b="0">
                <a:solidFill>
                  <a:srgbClr val="626D7A"/>
                </a:solidFill>
                <a:latin typeface="Arial"/>
                <a:ea typeface="Arial"/>
                <a:cs typeface="Arial"/>
              </a:defRPr>
            </a:defPPr>
          </a:lstStyle>
          <a:p>
            <a:pPr>
              <a:defRPr sz="1875" b="0">
                <a:solidFill>
                  <a:srgbClr val="626D7A"/>
                </a:solidFill>
                <a:latin typeface="Arial"/>
                <a:ea typeface="Arial"/>
                <a:cs typeface="Arial"/>
              </a:defRPr>
            </a:pPr>
            <a:r>
              <a:rPr sz="1875" b="0" dirty="0">
                <a:solidFill>
                  <a:srgbClr val="626D7A"/>
                </a:solidFill>
                <a:latin typeface="Arial"/>
                <a:ea typeface="Arial"/>
                <a:cs typeface="Arial"/>
              </a:rPr>
              <a:t>2019–2022 share extrapolated</a:t>
            </a:r>
          </a:p>
          <a:p>
            <a:pPr>
              <a:defRPr sz="1875" b="0">
                <a:solidFill>
                  <a:srgbClr val="626D7A"/>
                </a:solidFill>
                <a:latin typeface="Arial"/>
                <a:ea typeface="Arial"/>
                <a:cs typeface="Arial"/>
              </a:defRPr>
            </a:pPr>
            <a:r>
              <a:rPr sz="1875" b="0" dirty="0">
                <a:solidFill>
                  <a:srgbClr val="626D7A"/>
                </a:solidFill>
                <a:latin typeface="Arial"/>
                <a:ea typeface="Arial"/>
                <a:cs typeface="Arial"/>
              </a:rPr>
              <a:t>to 2019–2025. </a:t>
            </a:r>
          </a:p>
        </p:txBody>
      </p:sp>
      <p:sp>
        <p:nvSpPr>
          <p:cNvPr id="16" name="component-2">
            <a:extLst>
              <a:ext uri="{FF2B5EF4-FFF2-40B4-BE49-F238E27FC236}">
                <a16:creationId xmlns:a16="http://schemas.microsoft.com/office/drawing/2014/main" id="{ADA19B4D-5ED0-4A79-B23A-C681201246BC}"/>
              </a:ext>
            </a:extLst>
          </p:cNvPr>
          <p:cNvSpPr>
            <a:spLocks noGrp="1"/>
          </p:cNvSpPr>
          <p:nvPr/>
        </p:nvSpPr>
        <p:spPr>
          <a:xfrm>
            <a:off x="10810875" y="5410200"/>
            <a:ext cx="4638675" cy="409575"/>
          </a:xfrm>
          <a:prstGeom prst="rect">
            <a:avLst/>
          </a:prstGeom>
          <a:noFill/>
          <a:ln w="0">
            <a:noFill/>
            <a:prstDash val="solid"/>
          </a:ln>
        </p:spPr>
        <p:txBody>
          <a:bodyPr wrap="square" lIns="0" tIns="0" rIns="0" bIns="0">
            <a:noAutofit/>
          </a:bodyPr>
          <a:lstStyle>
            <a:defPPr>
              <a:defRPr sz="2250" b="1">
                <a:solidFill>
                  <a:srgbClr val="002D72"/>
                </a:solidFill>
                <a:latin typeface="Arial"/>
                <a:ea typeface="Arial"/>
                <a:cs typeface="Arial"/>
              </a:defRPr>
            </a:defPPr>
          </a:lstStyle>
          <a:p>
            <a:pPr>
              <a:defRPr sz="2250" b="1">
                <a:solidFill>
                  <a:srgbClr val="002D72"/>
                </a:solidFill>
                <a:latin typeface="Arial"/>
                <a:ea typeface="Arial"/>
                <a:cs typeface="Arial"/>
              </a:defRPr>
            </a:pPr>
            <a:r>
              <a:rPr sz="2250" b="1">
                <a:solidFill>
                  <a:srgbClr val="002D72"/>
                </a:solidFill>
                <a:latin typeface="Arial"/>
                <a:ea typeface="Arial"/>
                <a:cs typeface="Arial"/>
              </a:rPr>
              <a:t>Remaining increase</a:t>
            </a:r>
          </a:p>
        </p:txBody>
      </p:sp>
      <p:sp>
        <p:nvSpPr>
          <p:cNvPr id="17" name="number-2">
            <a:extLst>
              <a:ext uri="{FF2B5EF4-FFF2-40B4-BE49-F238E27FC236}">
                <a16:creationId xmlns:a16="http://schemas.microsoft.com/office/drawing/2014/main" id="{F127D47B-DBA8-416E-8438-5BAF5663D252}"/>
              </a:ext>
            </a:extLst>
          </p:cNvPr>
          <p:cNvSpPr>
            <a:spLocks noGrp="1"/>
          </p:cNvSpPr>
          <p:nvPr/>
        </p:nvSpPr>
        <p:spPr>
          <a:xfrm>
            <a:off x="10810875" y="5857875"/>
            <a:ext cx="4638675" cy="809625"/>
          </a:xfrm>
          <a:prstGeom prst="rect">
            <a:avLst/>
          </a:prstGeom>
          <a:noFill/>
          <a:ln w="0">
            <a:noFill/>
            <a:prstDash val="solid"/>
          </a:ln>
        </p:spPr>
        <p:txBody>
          <a:bodyPr wrap="square" lIns="0" tIns="0" rIns="0" bIns="0">
            <a:noAutofit/>
          </a:bodyPr>
          <a:lstStyle>
            <a:defPPr>
              <a:defRPr sz="4800" b="1">
                <a:solidFill>
                  <a:srgbClr val="002D72"/>
                </a:solidFill>
                <a:latin typeface="Arial"/>
                <a:ea typeface="Arial"/>
                <a:cs typeface="Arial"/>
              </a:defRPr>
            </a:defPPr>
          </a:lstStyle>
          <a:p>
            <a:pPr>
              <a:defRPr sz="4800" b="1">
                <a:solidFill>
                  <a:srgbClr val="002D72"/>
                </a:solidFill>
                <a:latin typeface="Arial"/>
                <a:ea typeface="Arial"/>
                <a:cs typeface="Arial"/>
              </a:defRPr>
            </a:pPr>
            <a:r>
              <a:rPr sz="4800" b="1">
                <a:solidFill>
                  <a:srgbClr val="002D72"/>
                </a:solidFill>
                <a:latin typeface="Arial"/>
                <a:ea typeface="Arial"/>
                <a:cs typeface="Arial"/>
              </a:rPr>
              <a:t>≈595,000</a:t>
            </a:r>
          </a:p>
        </p:txBody>
      </p:sp>
      <p:sp>
        <p:nvSpPr>
          <p:cNvPr id="18" name="share-2">
            <a:extLst>
              <a:ext uri="{FF2B5EF4-FFF2-40B4-BE49-F238E27FC236}">
                <a16:creationId xmlns:a16="http://schemas.microsoft.com/office/drawing/2014/main" id="{5B327635-A0D9-4120-BF6C-4DE79FD32FCC}"/>
              </a:ext>
            </a:extLst>
          </p:cNvPr>
          <p:cNvSpPr>
            <a:spLocks noGrp="1"/>
          </p:cNvSpPr>
          <p:nvPr/>
        </p:nvSpPr>
        <p:spPr>
          <a:xfrm>
            <a:off x="10810875" y="6648450"/>
            <a:ext cx="4638675" cy="390525"/>
          </a:xfrm>
          <a:prstGeom prst="rect">
            <a:avLst/>
          </a:prstGeom>
          <a:noFill/>
          <a:ln w="0">
            <a:noFill/>
            <a:prstDash val="solid"/>
          </a:ln>
        </p:spPr>
        <p:txBody>
          <a:bodyPr wrap="square" lIns="0" tIns="0" rIns="0" bIns="0">
            <a:noAutofit/>
          </a:bodyPr>
          <a:lstStyle>
            <a:defPPr>
              <a:defRPr sz="2100" b="1">
                <a:solidFill>
                  <a:srgbClr val="3F3F3F"/>
                </a:solidFill>
                <a:latin typeface="Arial"/>
                <a:ea typeface="Arial"/>
                <a:cs typeface="Arial"/>
              </a:defRPr>
            </a:defPPr>
          </a:lstStyle>
          <a:p>
            <a:pPr>
              <a:defRPr sz="2100" b="1">
                <a:solidFill>
                  <a:srgbClr val="3F3F3F"/>
                </a:solidFill>
                <a:latin typeface="Arial"/>
                <a:ea typeface="Arial"/>
                <a:cs typeface="Arial"/>
              </a:defRPr>
            </a:pPr>
            <a:r>
              <a:rPr sz="2100" b="1">
                <a:solidFill>
                  <a:srgbClr val="3F3F3F"/>
                </a:solidFill>
                <a:latin typeface="Arial"/>
                <a:ea typeface="Arial"/>
                <a:cs typeface="Arial"/>
              </a:rPr>
              <a:t>79.8% of the increase</a:t>
            </a:r>
          </a:p>
        </p:txBody>
      </p:sp>
      <p:sp>
        <p:nvSpPr>
          <p:cNvPr id="19" name="method-2">
            <a:extLst>
              <a:ext uri="{FF2B5EF4-FFF2-40B4-BE49-F238E27FC236}">
                <a16:creationId xmlns:a16="http://schemas.microsoft.com/office/drawing/2014/main" id="{75548DFA-F4BB-4806-8A51-7D8F5E1F7815}"/>
              </a:ext>
            </a:extLst>
          </p:cNvPr>
          <p:cNvSpPr>
            <a:spLocks noGrp="1"/>
          </p:cNvSpPr>
          <p:nvPr/>
        </p:nvSpPr>
        <p:spPr>
          <a:xfrm>
            <a:off x="10810875" y="7134225"/>
            <a:ext cx="4638675" cy="657225"/>
          </a:xfrm>
          <a:prstGeom prst="rect">
            <a:avLst/>
          </a:prstGeom>
          <a:noFill/>
          <a:ln w="0">
            <a:noFill/>
            <a:prstDash val="solid"/>
          </a:ln>
        </p:spPr>
        <p:txBody>
          <a:bodyPr wrap="square" lIns="0" tIns="0" rIns="0" bIns="0">
            <a:noAutofit/>
          </a:bodyPr>
          <a:lstStyle>
            <a:defPPr>
              <a:defRPr sz="1875" b="0">
                <a:solidFill>
                  <a:srgbClr val="626D7A"/>
                </a:solidFill>
                <a:latin typeface="Arial"/>
                <a:ea typeface="Arial"/>
                <a:cs typeface="Arial"/>
              </a:defRPr>
            </a:defPPr>
          </a:lstStyle>
          <a:p>
            <a:pPr>
              <a:defRPr sz="1875" b="0">
                <a:solidFill>
                  <a:srgbClr val="626D7A"/>
                </a:solidFill>
                <a:latin typeface="Arial"/>
                <a:ea typeface="Arial"/>
                <a:cs typeface="Arial"/>
              </a:defRPr>
            </a:pPr>
            <a:endParaRPr sz="1875" b="0" dirty="0">
              <a:solidFill>
                <a:srgbClr val="626D7A"/>
              </a:solidFill>
              <a:latin typeface="Arial"/>
              <a:ea typeface="Arial"/>
              <a:cs typeface="Arial"/>
            </a:endParaRPr>
          </a:p>
        </p:txBody>
      </p:sp>
      <p:sp>
        <p:nvSpPr>
          <p:cNvPr id="20" name="caveat">
            <a:extLst>
              <a:ext uri="{FF2B5EF4-FFF2-40B4-BE49-F238E27FC236}">
                <a16:creationId xmlns:a16="http://schemas.microsoft.com/office/drawing/2014/main" id="{B1E7BD57-AEA0-446E-9D56-18599AEE82D5}"/>
              </a:ext>
            </a:extLst>
          </p:cNvPr>
          <p:cNvSpPr>
            <a:spLocks noGrp="1"/>
          </p:cNvSpPr>
          <p:nvPr/>
        </p:nvSpPr>
        <p:spPr>
          <a:xfrm>
            <a:off x="809625" y="7962900"/>
            <a:ext cx="14639925" cy="361950"/>
          </a:xfrm>
          <a:prstGeom prst="rect">
            <a:avLst/>
          </a:prstGeom>
          <a:noFill/>
          <a:ln w="0">
            <a:noFill/>
            <a:prstDash val="solid"/>
          </a:ln>
        </p:spPr>
        <p:txBody>
          <a:bodyPr wrap="square" lIns="0" tIns="0" rIns="0" bIns="0">
            <a:noAutofit/>
          </a:bodyPr>
          <a:lstStyle>
            <a:defPPr>
              <a:defRPr sz="1725" b="0">
                <a:solidFill>
                  <a:srgbClr val="3F3F3F"/>
                </a:solidFill>
                <a:latin typeface="Arial"/>
                <a:ea typeface="Arial"/>
                <a:cs typeface="Arial"/>
              </a:defRPr>
            </a:defPPr>
          </a:lstStyle>
          <a:p>
            <a:pPr>
              <a:defRPr sz="1725" b="0">
                <a:solidFill>
                  <a:srgbClr val="3F3F3F"/>
                </a:solidFill>
                <a:latin typeface="Arial"/>
                <a:ea typeface="Arial"/>
                <a:cs typeface="Arial"/>
              </a:defRPr>
            </a:pPr>
            <a:r>
              <a:rPr sz="1725" b="0">
                <a:solidFill>
                  <a:srgbClr val="3F3F3F"/>
                </a:solidFill>
                <a:latin typeface="Arial"/>
                <a:ea typeface="Arial"/>
                <a:cs typeface="Arial"/>
              </a:rPr>
              <a:t>Assumes separate, additive effects of population size and age composition. The residual does not isolate worsening health.</a:t>
            </a:r>
          </a:p>
        </p:txBody>
      </p:sp>
      <p:sp>
        <p:nvSpPr>
          <p:cNvPr id="21" name="sources">
            <a:extLst>
              <a:ext uri="{FF2B5EF4-FFF2-40B4-BE49-F238E27FC236}">
                <a16:creationId xmlns:a16="http://schemas.microsoft.com/office/drawing/2014/main" id="{F80047A6-3CBC-4943-B5E3-67BB38E24026}"/>
              </a:ext>
            </a:extLst>
          </p:cNvPr>
          <p:cNvSpPr>
            <a:spLocks noGrp="1"/>
          </p:cNvSpPr>
          <p:nvPr/>
        </p:nvSpPr>
        <p:spPr>
          <a:xfrm>
            <a:off x="809625" y="8496300"/>
            <a:ext cx="14639925" cy="523875"/>
          </a:xfrm>
          <a:prstGeom prst="rect">
            <a:avLst/>
          </a:prstGeom>
          <a:noFill/>
          <a:ln w="0">
            <a:noFill/>
            <a:prstDash val="solid"/>
          </a:ln>
        </p:spPr>
        <p:txBody>
          <a:bodyPr wrap="square" lIns="0" tIns="0" rIns="0" bIns="0">
            <a:noAutofit/>
          </a:bodyPr>
          <a:lstStyle>
            <a:defPPr>
              <a:defRPr sz="1425" b="0">
                <a:solidFill>
                  <a:srgbClr val="626D7A"/>
                </a:solidFill>
                <a:latin typeface="Arial"/>
                <a:ea typeface="Arial"/>
                <a:cs typeface="Arial"/>
              </a:defRPr>
            </a:defPPr>
          </a:lstStyle>
          <a:p>
            <a:pPr>
              <a:defRPr sz="1425" b="0">
                <a:solidFill>
                  <a:srgbClr val="626D7A"/>
                </a:solidFill>
                <a:latin typeface="Arial"/>
                <a:ea typeface="Arial"/>
                <a:cs typeface="Arial"/>
              </a:defRPr>
            </a:pPr>
            <a:r>
              <a:rPr sz="1425" b="0" dirty="0">
                <a:solidFill>
                  <a:srgbClr val="626D7A"/>
                </a:solidFill>
                <a:latin typeface="Arial"/>
                <a:ea typeface="Arial"/>
                <a:cs typeface="Arial"/>
              </a:rPr>
              <a:t>Sources: [1] ONS LFS, LF69. [2] ONS LFS, LF2O. September 2026 release.</a:t>
            </a:r>
          </a:p>
          <a:p>
            <a:pPr>
              <a:defRPr sz="1425" b="0">
                <a:solidFill>
                  <a:srgbClr val="626D7A"/>
                </a:solidFill>
                <a:latin typeface="Arial"/>
                <a:ea typeface="Arial"/>
                <a:cs typeface="Arial"/>
              </a:defRPr>
            </a:pPr>
            <a:r>
              <a:rPr sz="1425" b="0" dirty="0">
                <a:solidFill>
                  <a:srgbClr val="626D7A"/>
                </a:solidFill>
                <a:latin typeface="Arial"/>
                <a:ea typeface="Arial"/>
                <a:cs typeface="Arial"/>
              </a:rPr>
              <a:t>Demographic share: </a:t>
            </a:r>
            <a:r>
              <a:rPr lang="en-GB" sz="1425" b="0" dirty="0">
                <a:solidFill>
                  <a:srgbClr val="626D7A"/>
                </a:solidFill>
                <a:latin typeface="Arial"/>
                <a:ea typeface="Arial"/>
                <a:cs typeface="Arial"/>
              </a:rPr>
              <a:t>Observed</a:t>
            </a:r>
            <a:r>
              <a:rPr sz="1425" b="0" dirty="0">
                <a:solidFill>
                  <a:srgbClr val="626D7A"/>
                </a:solidFill>
                <a:latin typeface="Arial"/>
                <a:ea typeface="Arial"/>
                <a:cs typeface="Arial"/>
              </a:rPr>
              <a:t> 8.7% </a:t>
            </a:r>
            <a:r>
              <a:rPr lang="en-GB" sz="1425" b="0" dirty="0">
                <a:solidFill>
                  <a:srgbClr val="626D7A"/>
                </a:solidFill>
                <a:latin typeface="Arial"/>
                <a:ea typeface="Arial"/>
                <a:cs typeface="Arial"/>
              </a:rPr>
              <a:t>of the increase between 2019 and 2022 projected to 2025.</a:t>
            </a:r>
            <a:endParaRPr sz="1425" b="0" dirty="0">
              <a:solidFill>
                <a:srgbClr val="626D7A"/>
              </a:solidFill>
              <a:latin typeface="Arial"/>
              <a:ea typeface="Arial"/>
              <a:cs typeface="Arial"/>
            </a:endParaRPr>
          </a:p>
        </p:txBody>
      </p:sp>
    </p:spTree>
    <p:extLst>
      <p:ext uri="{BB962C8B-B14F-4D97-AF65-F5344CB8AC3E}">
        <p14:creationId xmlns:p14="http://schemas.microsoft.com/office/powerpoint/2010/main" val="1353719407"/>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65E2A-26B5-FD1E-119B-75C708AC517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7F29554-1483-B8D3-F17C-9B9AB62C2B10}"/>
              </a:ext>
            </a:extLst>
          </p:cNvPr>
          <p:cNvSpPr>
            <a:spLocks noGrp="1"/>
          </p:cNvSpPr>
          <p:nvPr>
            <p:ph type="title"/>
          </p:nvPr>
        </p:nvSpPr>
        <p:spPr/>
        <p:txBody>
          <a:bodyPr>
            <a:normAutofit/>
          </a:bodyPr>
          <a:lstStyle/>
          <a:p>
            <a:r>
              <a:rPr lang="en-US" dirty="0"/>
              <a:t>The problem</a:t>
            </a:r>
            <a:endParaRPr lang="en-GB" dirty="0"/>
          </a:p>
        </p:txBody>
      </p:sp>
      <p:sp>
        <p:nvSpPr>
          <p:cNvPr id="5" name="Footer Placeholder 4">
            <a:extLst>
              <a:ext uri="{FF2B5EF4-FFF2-40B4-BE49-F238E27FC236}">
                <a16:creationId xmlns:a16="http://schemas.microsoft.com/office/drawing/2014/main" id="{68B7FBF6-DE18-7F5B-F4AC-61FA0B57E928}"/>
              </a:ext>
            </a:extLst>
          </p:cNvPr>
          <p:cNvSpPr>
            <a:spLocks noGrp="1"/>
          </p:cNvSpPr>
          <p:nvPr>
            <p:ph type="ftr" sz="quarter" idx="3"/>
          </p:nvPr>
        </p:nvSpPr>
        <p:spPr>
          <a:xfrm>
            <a:off x="1153143" y="8625949"/>
            <a:ext cx="11368098" cy="486833"/>
          </a:xfrm>
        </p:spPr>
        <p:txBody>
          <a:bodyPr/>
          <a:lstStyle/>
          <a:p>
            <a:r>
              <a:rPr lang="en-GB"/>
              <a:t>IFoA Life Conference</a:t>
            </a:r>
            <a:endParaRPr lang="en-GB" dirty="0"/>
          </a:p>
        </p:txBody>
      </p:sp>
      <p:sp>
        <p:nvSpPr>
          <p:cNvPr id="6" name="Slide Number Placeholder 5">
            <a:extLst>
              <a:ext uri="{FF2B5EF4-FFF2-40B4-BE49-F238E27FC236}">
                <a16:creationId xmlns:a16="http://schemas.microsoft.com/office/drawing/2014/main" id="{8CD0791A-80AD-EAE6-9930-0AB8B7541CE8}"/>
              </a:ext>
            </a:extLst>
          </p:cNvPr>
          <p:cNvSpPr>
            <a:spLocks noGrp="1"/>
          </p:cNvSpPr>
          <p:nvPr>
            <p:ph type="sldNum" sz="quarter" idx="4"/>
          </p:nvPr>
        </p:nvSpPr>
        <p:spPr/>
        <p:txBody>
          <a:bodyPr/>
          <a:lstStyle/>
          <a:p>
            <a:fld id="{40FC62D0-A2F2-4BF8-8DAC-E86C11000EC3}" type="slidenum">
              <a:rPr lang="en-GB" smtClean="0"/>
              <a:pPr/>
              <a:t>8</a:t>
            </a:fld>
            <a:endParaRPr lang="en-GB" dirty="0"/>
          </a:p>
        </p:txBody>
      </p:sp>
      <p:sp>
        <p:nvSpPr>
          <p:cNvPr id="9" name="TextBox 8">
            <a:extLst>
              <a:ext uri="{FF2B5EF4-FFF2-40B4-BE49-F238E27FC236}">
                <a16:creationId xmlns:a16="http://schemas.microsoft.com/office/drawing/2014/main" id="{53D56506-152C-689E-5E49-7E85BFB51D28}"/>
              </a:ext>
            </a:extLst>
          </p:cNvPr>
          <p:cNvSpPr txBox="1"/>
          <p:nvPr/>
        </p:nvSpPr>
        <p:spPr>
          <a:xfrm>
            <a:off x="12221737" y="256478"/>
            <a:ext cx="2096429" cy="369332"/>
          </a:xfrm>
          <a:prstGeom prst="rect">
            <a:avLst/>
          </a:prstGeom>
          <a:solidFill>
            <a:schemeClr val="accent1">
              <a:lumMod val="60000"/>
              <a:lumOff val="40000"/>
            </a:schemeClr>
          </a:solidFill>
        </p:spPr>
        <p:txBody>
          <a:bodyPr wrap="square" rtlCol="0">
            <a:spAutoFit/>
          </a:bodyPr>
          <a:lstStyle/>
          <a:p>
            <a:r>
              <a:rPr lang="en-GB" dirty="0"/>
              <a:t>Chris 5-10 mins</a:t>
            </a:r>
          </a:p>
        </p:txBody>
      </p:sp>
      <p:pic>
        <p:nvPicPr>
          <p:cNvPr id="11" name="Picture 10">
            <a:extLst>
              <a:ext uri="{FF2B5EF4-FFF2-40B4-BE49-F238E27FC236}">
                <a16:creationId xmlns:a16="http://schemas.microsoft.com/office/drawing/2014/main" id="{69720F83-27C7-B4DC-B3A1-4C116BEF60DE}"/>
              </a:ext>
            </a:extLst>
          </p:cNvPr>
          <p:cNvPicPr>
            <a:picLocks noChangeAspect="1"/>
          </p:cNvPicPr>
          <p:nvPr/>
        </p:nvPicPr>
        <p:blipFill>
          <a:blip r:embed="rId3"/>
          <a:stretch>
            <a:fillRect/>
          </a:stretch>
        </p:blipFill>
        <p:spPr>
          <a:xfrm>
            <a:off x="915655" y="1658364"/>
            <a:ext cx="2881222" cy="1913085"/>
          </a:xfrm>
          <a:prstGeom prst="rect">
            <a:avLst/>
          </a:prstGeom>
        </p:spPr>
      </p:pic>
      <p:sp>
        <p:nvSpPr>
          <p:cNvPr id="12" name="TextBox 11">
            <a:extLst>
              <a:ext uri="{FF2B5EF4-FFF2-40B4-BE49-F238E27FC236}">
                <a16:creationId xmlns:a16="http://schemas.microsoft.com/office/drawing/2014/main" id="{3B93CFC1-59DB-ADD1-0FD9-C9D1969B14C1}"/>
              </a:ext>
            </a:extLst>
          </p:cNvPr>
          <p:cNvSpPr txBox="1"/>
          <p:nvPr/>
        </p:nvSpPr>
        <p:spPr>
          <a:xfrm>
            <a:off x="3796877" y="1511138"/>
            <a:ext cx="6828503" cy="2123658"/>
          </a:xfrm>
          <a:prstGeom prst="rect">
            <a:avLst/>
          </a:prstGeom>
          <a:noFill/>
        </p:spPr>
        <p:txBody>
          <a:bodyPr wrap="square" rtlCol="0">
            <a:spAutoFit/>
          </a:bodyPr>
          <a:lstStyle/>
          <a:p>
            <a:r>
              <a:rPr lang="en-GB" sz="3600" b="1" dirty="0"/>
              <a:t>2024</a:t>
            </a:r>
          </a:p>
          <a:p>
            <a:r>
              <a:rPr lang="en-GB" sz="2400" b="1" dirty="0"/>
              <a:t>Lord Darzi’s independent review of the NHS</a:t>
            </a:r>
          </a:p>
          <a:p>
            <a:r>
              <a:rPr lang="en-GB" dirty="0"/>
              <a:t>Identified:</a:t>
            </a:r>
          </a:p>
          <a:p>
            <a:pPr marL="285750" indent="-285750">
              <a:buFont typeface="Arial" panose="020B0604020202020204" pitchFamily="34" charset="0"/>
              <a:buChar char="•"/>
            </a:pPr>
            <a:r>
              <a:rPr lang="en-GB" dirty="0"/>
              <a:t>Deteriorating working age health</a:t>
            </a:r>
          </a:p>
          <a:p>
            <a:pPr marL="285750" indent="-285750">
              <a:buFont typeface="Arial" panose="020B0604020202020204" pitchFamily="34" charset="0"/>
              <a:buChar char="•"/>
            </a:pPr>
            <a:r>
              <a:rPr lang="en-GB" dirty="0"/>
              <a:t>Deteriorating access to health care</a:t>
            </a:r>
          </a:p>
          <a:p>
            <a:pPr marL="285750" indent="-285750">
              <a:buFont typeface="Arial" panose="020B0604020202020204" pitchFamily="34" charset="0"/>
              <a:buChar char="•"/>
            </a:pPr>
            <a:r>
              <a:rPr lang="en-GB" dirty="0"/>
              <a:t>Rise in long-term economic inactivity due to poor health.</a:t>
            </a:r>
          </a:p>
        </p:txBody>
      </p:sp>
      <p:pic>
        <p:nvPicPr>
          <p:cNvPr id="14" name="Picture 13">
            <a:extLst>
              <a:ext uri="{FF2B5EF4-FFF2-40B4-BE49-F238E27FC236}">
                <a16:creationId xmlns:a16="http://schemas.microsoft.com/office/drawing/2014/main" id="{C5D6C27D-D05F-777A-13F7-9491399A63D7}"/>
              </a:ext>
            </a:extLst>
          </p:cNvPr>
          <p:cNvPicPr>
            <a:picLocks noChangeAspect="1"/>
          </p:cNvPicPr>
          <p:nvPr/>
        </p:nvPicPr>
        <p:blipFill>
          <a:blip r:embed="rId4"/>
          <a:stretch>
            <a:fillRect/>
          </a:stretch>
        </p:blipFill>
        <p:spPr>
          <a:xfrm>
            <a:off x="2533246" y="4458107"/>
            <a:ext cx="5550549" cy="1518312"/>
          </a:xfrm>
          <a:prstGeom prst="rect">
            <a:avLst/>
          </a:prstGeom>
        </p:spPr>
      </p:pic>
      <p:sp>
        <p:nvSpPr>
          <p:cNvPr id="16" name="TextBox 15">
            <a:extLst>
              <a:ext uri="{FF2B5EF4-FFF2-40B4-BE49-F238E27FC236}">
                <a16:creationId xmlns:a16="http://schemas.microsoft.com/office/drawing/2014/main" id="{E933D733-D231-00CD-61F1-94E4E1A40784}"/>
              </a:ext>
            </a:extLst>
          </p:cNvPr>
          <p:cNvSpPr txBox="1"/>
          <p:nvPr/>
        </p:nvSpPr>
        <p:spPr>
          <a:xfrm>
            <a:off x="8451334" y="4232801"/>
            <a:ext cx="6828503" cy="1569660"/>
          </a:xfrm>
          <a:prstGeom prst="rect">
            <a:avLst/>
          </a:prstGeom>
          <a:noFill/>
        </p:spPr>
        <p:txBody>
          <a:bodyPr wrap="square" rtlCol="0">
            <a:spAutoFit/>
          </a:bodyPr>
          <a:lstStyle/>
          <a:p>
            <a:r>
              <a:rPr lang="en-GB" sz="3600" b="1" dirty="0"/>
              <a:t>2024</a:t>
            </a:r>
          </a:p>
          <a:p>
            <a:r>
              <a:rPr lang="en-GB" sz="2400" b="1" dirty="0"/>
              <a:t>Get Britain Working</a:t>
            </a:r>
          </a:p>
          <a:p>
            <a:pPr marL="285750" indent="-285750">
              <a:buFont typeface="Arial" panose="020B0604020202020204" pitchFamily="34" charset="0"/>
              <a:buChar char="•"/>
            </a:pPr>
            <a:r>
              <a:rPr lang="en-GB" dirty="0"/>
              <a:t>80% employment ambition</a:t>
            </a:r>
          </a:p>
          <a:p>
            <a:pPr marL="285750" indent="-285750">
              <a:buFont typeface="Arial" panose="020B0604020202020204" pitchFamily="34" charset="0"/>
              <a:buChar char="•"/>
            </a:pPr>
            <a:r>
              <a:rPr lang="en-GB" dirty="0"/>
              <a:t>Joining up of health, employment and skills support</a:t>
            </a:r>
          </a:p>
        </p:txBody>
      </p:sp>
      <p:sp>
        <p:nvSpPr>
          <p:cNvPr id="17" name="Arrow: Bent 16">
            <a:extLst>
              <a:ext uri="{FF2B5EF4-FFF2-40B4-BE49-F238E27FC236}">
                <a16:creationId xmlns:a16="http://schemas.microsoft.com/office/drawing/2014/main" id="{05EC1F3A-5749-4FA4-2073-404EBA2AE159}"/>
              </a:ext>
            </a:extLst>
          </p:cNvPr>
          <p:cNvSpPr/>
          <p:nvPr/>
        </p:nvSpPr>
        <p:spPr>
          <a:xfrm flipV="1">
            <a:off x="1445341" y="4661561"/>
            <a:ext cx="855407" cy="760377"/>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pic>
        <p:nvPicPr>
          <p:cNvPr id="19" name="Picture 18">
            <a:extLst>
              <a:ext uri="{FF2B5EF4-FFF2-40B4-BE49-F238E27FC236}">
                <a16:creationId xmlns:a16="http://schemas.microsoft.com/office/drawing/2014/main" id="{42BC694D-5985-3550-3BCA-16E818A97FB7}"/>
              </a:ext>
            </a:extLst>
          </p:cNvPr>
          <p:cNvPicPr>
            <a:picLocks noChangeAspect="1"/>
          </p:cNvPicPr>
          <p:nvPr/>
        </p:nvPicPr>
        <p:blipFill>
          <a:blip r:embed="rId5"/>
          <a:stretch>
            <a:fillRect/>
          </a:stretch>
        </p:blipFill>
        <p:spPr>
          <a:xfrm>
            <a:off x="3796877" y="6480415"/>
            <a:ext cx="6343313" cy="1408332"/>
          </a:xfrm>
          <a:prstGeom prst="rect">
            <a:avLst/>
          </a:prstGeom>
        </p:spPr>
      </p:pic>
      <p:sp>
        <p:nvSpPr>
          <p:cNvPr id="20" name="TextBox 19">
            <a:extLst>
              <a:ext uri="{FF2B5EF4-FFF2-40B4-BE49-F238E27FC236}">
                <a16:creationId xmlns:a16="http://schemas.microsoft.com/office/drawing/2014/main" id="{EA61C318-3446-7135-0769-4AEC911017C2}"/>
              </a:ext>
            </a:extLst>
          </p:cNvPr>
          <p:cNvSpPr txBox="1"/>
          <p:nvPr/>
        </p:nvSpPr>
        <p:spPr>
          <a:xfrm>
            <a:off x="10556733" y="6444267"/>
            <a:ext cx="5322913" cy="1569660"/>
          </a:xfrm>
          <a:prstGeom prst="rect">
            <a:avLst/>
          </a:prstGeom>
          <a:noFill/>
        </p:spPr>
        <p:txBody>
          <a:bodyPr wrap="square" rtlCol="0">
            <a:spAutoFit/>
          </a:bodyPr>
          <a:lstStyle/>
          <a:p>
            <a:r>
              <a:rPr lang="en-GB" sz="3600" b="1" dirty="0"/>
              <a:t>2025 (Sep 2026 update)</a:t>
            </a:r>
          </a:p>
          <a:p>
            <a:r>
              <a:rPr lang="en-GB" sz="2400" b="1" dirty="0"/>
              <a:t>Keep Britain Working</a:t>
            </a:r>
          </a:p>
          <a:p>
            <a:pPr marL="285750" indent="-285750">
              <a:buFont typeface="Arial" panose="020B0604020202020204" pitchFamily="34" charset="0"/>
              <a:buChar char="•"/>
            </a:pPr>
            <a:r>
              <a:rPr lang="en-GB" dirty="0"/>
              <a:t>Employer perspective</a:t>
            </a:r>
          </a:p>
          <a:p>
            <a:pPr marL="285750" indent="-285750">
              <a:buFont typeface="Arial" panose="020B0604020202020204" pitchFamily="34" charset="0"/>
              <a:buChar char="•"/>
            </a:pPr>
            <a:r>
              <a:rPr lang="en-GB" dirty="0"/>
              <a:t>Plan for action</a:t>
            </a:r>
          </a:p>
        </p:txBody>
      </p:sp>
      <p:sp>
        <p:nvSpPr>
          <p:cNvPr id="25" name="Arrow: Bent 24">
            <a:extLst>
              <a:ext uri="{FF2B5EF4-FFF2-40B4-BE49-F238E27FC236}">
                <a16:creationId xmlns:a16="http://schemas.microsoft.com/office/drawing/2014/main" id="{54EA780A-E915-C462-12C2-DDCB97885935}"/>
              </a:ext>
            </a:extLst>
          </p:cNvPr>
          <p:cNvSpPr/>
          <p:nvPr/>
        </p:nvSpPr>
        <p:spPr>
          <a:xfrm flipV="1">
            <a:off x="2661054" y="6645454"/>
            <a:ext cx="855407" cy="760377"/>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pic>
        <p:nvPicPr>
          <p:cNvPr id="27" name="Picture 26">
            <a:extLst>
              <a:ext uri="{FF2B5EF4-FFF2-40B4-BE49-F238E27FC236}">
                <a16:creationId xmlns:a16="http://schemas.microsoft.com/office/drawing/2014/main" id="{F691A716-7883-0167-0A63-9F88F744656B}"/>
              </a:ext>
            </a:extLst>
          </p:cNvPr>
          <p:cNvPicPr>
            <a:picLocks noChangeAspect="1"/>
          </p:cNvPicPr>
          <p:nvPr/>
        </p:nvPicPr>
        <p:blipFill>
          <a:blip r:embed="rId6"/>
          <a:stretch>
            <a:fillRect/>
          </a:stretch>
        </p:blipFill>
        <p:spPr>
          <a:xfrm>
            <a:off x="11519391" y="1511138"/>
            <a:ext cx="4016390" cy="1460505"/>
          </a:xfrm>
          <a:prstGeom prst="rect">
            <a:avLst/>
          </a:prstGeom>
        </p:spPr>
      </p:pic>
      <p:sp>
        <p:nvSpPr>
          <p:cNvPr id="28" name="TextBox 27">
            <a:extLst>
              <a:ext uri="{FF2B5EF4-FFF2-40B4-BE49-F238E27FC236}">
                <a16:creationId xmlns:a16="http://schemas.microsoft.com/office/drawing/2014/main" id="{141EC5FB-A2F0-EA74-1ACA-E30D8B9C36AC}"/>
              </a:ext>
            </a:extLst>
          </p:cNvPr>
          <p:cNvSpPr txBox="1"/>
          <p:nvPr/>
        </p:nvSpPr>
        <p:spPr>
          <a:xfrm>
            <a:off x="11341508" y="2971643"/>
            <a:ext cx="4748981" cy="892552"/>
          </a:xfrm>
          <a:prstGeom prst="rect">
            <a:avLst/>
          </a:prstGeom>
          <a:noFill/>
        </p:spPr>
        <p:txBody>
          <a:bodyPr wrap="square" rtlCol="0">
            <a:spAutoFit/>
          </a:bodyPr>
          <a:lstStyle/>
          <a:p>
            <a:r>
              <a:rPr lang="en-GB" sz="3200" b="1" dirty="0"/>
              <a:t>2024-2026 reports</a:t>
            </a:r>
          </a:p>
          <a:p>
            <a:r>
              <a:rPr lang="en-GB" sz="2000" b="1" dirty="0"/>
              <a:t>A call to action to the government</a:t>
            </a:r>
            <a:endParaRPr lang="en-GB" sz="3200" b="1" dirty="0"/>
          </a:p>
        </p:txBody>
      </p:sp>
      <p:cxnSp>
        <p:nvCxnSpPr>
          <p:cNvPr id="30" name="Straight Connector 29">
            <a:extLst>
              <a:ext uri="{FF2B5EF4-FFF2-40B4-BE49-F238E27FC236}">
                <a16:creationId xmlns:a16="http://schemas.microsoft.com/office/drawing/2014/main" id="{4C367D09-A6F0-6A19-D030-87371ADA1644}"/>
              </a:ext>
            </a:extLst>
          </p:cNvPr>
          <p:cNvCxnSpPr/>
          <p:nvPr/>
        </p:nvCxnSpPr>
        <p:spPr>
          <a:xfrm>
            <a:off x="604684" y="3864195"/>
            <a:ext cx="15274962"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93623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68B7FBF6-DE18-7F5B-F4AC-61FA0B57E928}"/>
              </a:ext>
            </a:extLst>
          </p:cNvPr>
          <p:cNvSpPr>
            <a:spLocks noGrp="1"/>
          </p:cNvSpPr>
          <p:nvPr>
            <p:ph type="ftr" idx="3"/>
          </p:nvPr>
        </p:nvSpPr>
        <p:spPr/>
        <p:txBody>
          <a:bodyPr/>
          <a:lstStyle/>
          <a:p>
            <a:r>
              <a:t>IFoA Life Conference</a:t>
            </a:r>
          </a:p>
        </p:txBody>
      </p:sp>
      <p:sp>
        <p:nvSpPr>
          <p:cNvPr id="6" name="Slide Number Placeholder 5">
            <a:extLst>
              <a:ext uri="{FF2B5EF4-FFF2-40B4-BE49-F238E27FC236}">
                <a16:creationId xmlns:a16="http://schemas.microsoft.com/office/drawing/2014/main" id="{8CD0791A-80AD-EAE6-9930-0AB8B7541CE8}"/>
              </a:ext>
            </a:extLst>
          </p:cNvPr>
          <p:cNvSpPr>
            <a:spLocks noGrp="1"/>
          </p:cNvSpPr>
          <p:nvPr>
            <p:ph type="sldNum" idx="4"/>
          </p:nvPr>
        </p:nvSpPr>
        <p:spPr/>
        <p:txBody>
          <a:bodyPr/>
          <a:lstStyle/>
          <a:p>
            <a:fld id="{202359C0-8A7A-196E-DD58-8E6569619F09}" type="slidenum">
              <a:rPr/>
              <a:t>9</a:t>
            </a:fld>
            <a:endParaRPr/>
          </a:p>
        </p:txBody>
      </p:sp>
      <p:sp>
        <p:nvSpPr>
          <p:cNvPr id="7" name="title">
            <a:extLst>
              <a:ext uri="{FF2B5EF4-FFF2-40B4-BE49-F238E27FC236}">
                <a16:creationId xmlns:a16="http://schemas.microsoft.com/office/drawing/2014/main" id="{B89DB40A-7514-4A7E-AD9F-E2096175B5E4}"/>
              </a:ext>
            </a:extLst>
          </p:cNvPr>
          <p:cNvSpPr>
            <a:spLocks noGrp="1"/>
          </p:cNvSpPr>
          <p:nvPr/>
        </p:nvSpPr>
        <p:spPr>
          <a:xfrm>
            <a:off x="1117568" y="405098"/>
            <a:ext cx="14020800" cy="809720"/>
          </a:xfrm>
          <a:prstGeom prst="rect">
            <a:avLst/>
          </a:prstGeom>
          <a:noFill/>
          <a:ln w="0">
            <a:noFill/>
            <a:prstDash val="solid"/>
          </a:ln>
        </p:spPr>
        <p:txBody>
          <a:bodyPr lIns="91440" tIns="45720" rIns="91440" bIns="45720" anchor="ctr">
            <a:noAutofit/>
          </a:bodyPr>
          <a:lstStyle>
            <a:defPPr>
              <a:defRPr sz="4400" b="1">
                <a:solidFill>
                  <a:srgbClr val="3F3F3F"/>
                </a:solidFill>
                <a:latin typeface="Arial"/>
                <a:ea typeface="Arial"/>
                <a:cs typeface="Arial"/>
              </a:defRPr>
            </a:defPPr>
          </a:lstStyle>
          <a:p>
            <a:pPr>
              <a:buNone/>
              <a:defRPr sz="4400" b="1">
                <a:solidFill>
                  <a:srgbClr val="3F3F3F"/>
                </a:solidFill>
                <a:latin typeface="Arial"/>
                <a:ea typeface="Arial"/>
                <a:cs typeface="Arial"/>
              </a:defRPr>
            </a:pPr>
            <a:r>
              <a:rPr sz="4400" b="1">
                <a:solidFill>
                  <a:srgbClr val="3F3F3F"/>
                </a:solidFill>
                <a:latin typeface="Arial"/>
                <a:ea typeface="Arial"/>
                <a:cs typeface="Arial"/>
              </a:rPr>
              <a:t>Factors affecting absence and return</a:t>
            </a:r>
          </a:p>
        </p:txBody>
      </p:sp>
      <p:sp>
        <p:nvSpPr>
          <p:cNvPr id="8" name="concept">
            <a:extLst>
              <a:ext uri="{FF2B5EF4-FFF2-40B4-BE49-F238E27FC236}">
                <a16:creationId xmlns:a16="http://schemas.microsoft.com/office/drawing/2014/main" id="{2155159A-082E-47CF-87D3-8857843214B6}"/>
              </a:ext>
            </a:extLst>
          </p:cNvPr>
          <p:cNvSpPr>
            <a:spLocks noGrp="1"/>
          </p:cNvSpPr>
          <p:nvPr/>
        </p:nvSpPr>
        <p:spPr>
          <a:xfrm>
            <a:off x="1209675" y="1762125"/>
            <a:ext cx="13996458" cy="845344"/>
          </a:xfrm>
          <a:prstGeom prst="rect">
            <a:avLst/>
          </a:prstGeom>
          <a:noFill/>
          <a:ln w="0">
            <a:noFill/>
            <a:prstDash val="solid"/>
          </a:ln>
        </p:spPr>
        <p:txBody>
          <a:bodyPr wrap="square" lIns="0" tIns="0" rIns="0" bIns="0">
            <a:noAutofit/>
          </a:bodyPr>
          <a:lstStyle>
            <a:defPPr>
              <a:defRPr sz="3200" b="1">
                <a:solidFill>
                  <a:srgbClr val="0097A9"/>
                </a:solidFill>
                <a:latin typeface="Arial"/>
                <a:ea typeface="Arial"/>
                <a:cs typeface="Arial"/>
              </a:defRPr>
            </a:defPPr>
          </a:lstStyle>
          <a:p>
            <a:pPr>
              <a:buNone/>
              <a:defRPr sz="3200" b="1">
                <a:solidFill>
                  <a:srgbClr val="0097A9"/>
                </a:solidFill>
                <a:latin typeface="Arial"/>
                <a:ea typeface="Arial"/>
                <a:cs typeface="Arial"/>
              </a:defRPr>
            </a:pPr>
            <a:r>
              <a:rPr sz="3200" b="1">
                <a:solidFill>
                  <a:srgbClr val="0097A9"/>
                </a:solidFill>
                <a:latin typeface="Arial"/>
                <a:ea typeface="Arial"/>
                <a:cs typeface="Arial"/>
              </a:rPr>
              <a:t>Capacity has to match the job and the wider demands on the person</a:t>
            </a:r>
          </a:p>
        </p:txBody>
      </p:sp>
      <p:graphicFrame>
        <p:nvGraphicFramePr>
          <p:cNvPr id="9" name="Table 8">
            <a:extLst>
              <a:ext uri="{FF2B5EF4-FFF2-40B4-BE49-F238E27FC236}">
                <a16:creationId xmlns:a16="http://schemas.microsoft.com/office/drawing/2014/main" id="{5E88A108-44C5-41CA-8715-8BEB37A5652C}"/>
              </a:ext>
            </a:extLst>
          </p:cNvPr>
          <p:cNvGraphicFramePr/>
          <p:nvPr>
            <p:extLst>
              <p:ext uri="{D42A27DB-BD31-4B8C-83A1-F6EECF244321}">
                <p14:modId xmlns:p14="http://schemas.microsoft.com/office/powerpoint/2010/main" val="3871652905"/>
              </p:ext>
            </p:extLst>
          </p:nvPr>
        </p:nvGraphicFramePr>
        <p:xfrm>
          <a:off x="1209675" y="2905125"/>
          <a:ext cx="14020801" cy="4046220"/>
        </p:xfrm>
        <a:graphic>
          <a:graphicData uri="http://schemas.openxmlformats.org/drawingml/2006/table">
            <a:tbl>
              <a:tblPr/>
              <a:tblGrid>
                <a:gridCol w="2738438">
                  <a:extLst>
                    <a:ext uri="{9D8B030D-6E8A-4147-A177-3AD203B41FA5}">
                      <a16:colId xmlns:a16="http://schemas.microsoft.com/office/drawing/2014/main" val="20000"/>
                    </a:ext>
                  </a:extLst>
                </a:gridCol>
                <a:gridCol w="5476875">
                  <a:extLst>
                    <a:ext uri="{9D8B030D-6E8A-4147-A177-3AD203B41FA5}">
                      <a16:colId xmlns:a16="http://schemas.microsoft.com/office/drawing/2014/main" val="20001"/>
                    </a:ext>
                  </a:extLst>
                </a:gridCol>
                <a:gridCol w="5805488">
                  <a:extLst>
                    <a:ext uri="{9D8B030D-6E8A-4147-A177-3AD203B41FA5}">
                      <a16:colId xmlns:a16="http://schemas.microsoft.com/office/drawing/2014/main" val="20002"/>
                    </a:ext>
                  </a:extLst>
                </a:gridCol>
              </a:tblGrid>
              <a:tr h="952500">
                <a:tc>
                  <a:txBody>
                    <a:bodyPr/>
                    <a:lstStyle/>
                    <a:p>
                      <a:r>
                        <a:rPr sz="2500" b="1">
                          <a:solidFill>
                            <a:srgbClr val="FFFFFF"/>
                          </a:solidFill>
                          <a:latin typeface="Arial"/>
                          <a:ea typeface="Arial"/>
                          <a:cs typeface="Arial"/>
                        </a:rPr>
                        <a:t>Factor</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0097A9"/>
                    </a:solidFill>
                  </a:tcPr>
                </a:tc>
                <a:tc>
                  <a:txBody>
                    <a:bodyPr/>
                    <a:lstStyle/>
                    <a:p>
                      <a:r>
                        <a:rPr sz="2500" b="1">
                          <a:solidFill>
                            <a:srgbClr val="FFFFFF"/>
                          </a:solidFill>
                          <a:latin typeface="Arial"/>
                          <a:ea typeface="Arial"/>
                          <a:cs typeface="Arial"/>
                        </a:rPr>
                        <a:t>What can start an absence?</a:t>
                      </a:r>
                    </a:p>
                  </a:txBody>
                  <a:tcPr>
                    <a:lnL w="6668" cap="flat" cmpd="sng" algn="ctr">
                      <a:solidFill>
                        <a:srgbClr val="C7D1DE"/>
                      </a:solidFill>
                      <a:prstDash val="solid"/>
                      <a:round/>
                      <a:headEnd type="none" w="med" len="med"/>
                      <a:tailEnd type="none" w="med" len="med"/>
                    </a:lnL>
                    <a:lnR w="6668">
                      <a:solidFill>
                        <a:srgbClr val="C7D1DE"/>
                      </a:solidFill>
                      <a:prstDash val="solid"/>
                    </a:lnR>
                    <a:lnT w="6668">
                      <a:solidFill>
                        <a:srgbClr val="C7D1DE"/>
                      </a:solidFill>
                      <a:prstDash val="solid"/>
                    </a:lnT>
                    <a:lnB w="6668">
                      <a:solidFill>
                        <a:srgbClr val="C7D1DE"/>
                      </a:solidFill>
                      <a:prstDash val="solid"/>
                    </a:lnB>
                    <a:solidFill>
                      <a:srgbClr val="0097A9"/>
                    </a:solidFill>
                  </a:tcPr>
                </a:tc>
                <a:tc>
                  <a:txBody>
                    <a:bodyPr/>
                    <a:lstStyle/>
                    <a:p>
                      <a:r>
                        <a:rPr sz="2500" b="1">
                          <a:solidFill>
                            <a:srgbClr val="FFFFFF"/>
                          </a:solidFill>
                          <a:latin typeface="Arial"/>
                          <a:ea typeface="Arial"/>
                          <a:cs typeface="Arial"/>
                        </a:rPr>
                        <a:t>What can obstruct a return?</a:t>
                      </a:r>
                    </a:p>
                  </a:txBody>
                  <a:tcPr>
                    <a:lnL w="6668" cap="flat" cmpd="sng" algn="ctr">
                      <a:solidFill>
                        <a:srgbClr val="C7D1DE"/>
                      </a:solidFill>
                      <a:prstDash val="solid"/>
                      <a:round/>
                      <a:headEnd type="none" w="med" len="med"/>
                      <a:tailEnd type="none" w="med" len="med"/>
                    </a:lnL>
                    <a:lnR w="6668">
                      <a:solidFill>
                        <a:srgbClr val="C7D1DE"/>
                      </a:solidFill>
                      <a:prstDash val="solid"/>
                    </a:lnR>
                    <a:lnT w="6668">
                      <a:solidFill>
                        <a:srgbClr val="C7D1DE"/>
                      </a:solidFill>
                      <a:prstDash val="solid"/>
                    </a:lnT>
                    <a:lnB w="6668">
                      <a:solidFill>
                        <a:srgbClr val="C7D1DE"/>
                      </a:solidFill>
                      <a:prstDash val="solid"/>
                    </a:lnB>
                    <a:solidFill>
                      <a:srgbClr val="0097A9"/>
                    </a:solidFill>
                  </a:tcPr>
                </a:tc>
                <a:extLst>
                  <a:ext uri="{0D108BD9-81ED-4DB2-BD59-A6C34878D82A}">
                    <a16:rowId xmlns:a16="http://schemas.microsoft.com/office/drawing/2014/main" val="10000"/>
                  </a:ext>
                </a:extLst>
              </a:tr>
              <a:tr h="952500">
                <a:tc>
                  <a:txBody>
                    <a:bodyPr/>
                    <a:lstStyle/>
                    <a:p>
                      <a:r>
                        <a:rPr sz="2400" b="0">
                          <a:solidFill>
                            <a:srgbClr val="3F3F3F"/>
                          </a:solidFill>
                          <a:latin typeface="Arial"/>
                          <a:ea typeface="Arial"/>
                          <a:cs typeface="Arial"/>
                        </a:rPr>
                        <a:t>Illness or</a:t>
                      </a:r>
                    </a:p>
                    <a:p>
                      <a:r>
                        <a:rPr sz="2400" b="0">
                          <a:solidFill>
                            <a:srgbClr val="3F3F3F"/>
                          </a:solidFill>
                          <a:latin typeface="Arial"/>
                          <a:ea typeface="Arial"/>
                          <a:cs typeface="Arial"/>
                        </a:rPr>
                        <a:t>disability</a:t>
                      </a:r>
                    </a:p>
                  </a:txBody>
                  <a:tcPr>
                    <a:lnL w="6668">
                      <a:solidFill>
                        <a:srgbClr val="C7D1DE"/>
                      </a:solidFill>
                      <a:prstDash val="solid"/>
                    </a:lnL>
                    <a:lnR w="6668">
                      <a:solidFill>
                        <a:srgbClr val="C7D1DE"/>
                      </a:solidFill>
                      <a:prstDash val="solid"/>
                    </a:lnR>
                    <a:lnT w="6668" cap="flat" cmpd="sng" algn="ctr">
                      <a:solidFill>
                        <a:srgbClr val="C7D1DE"/>
                      </a:solidFill>
                      <a:prstDash val="solid"/>
                      <a:round/>
                      <a:headEnd type="none" w="med" len="med"/>
                      <a:tailEnd type="none" w="med" len="med"/>
                    </a:lnT>
                    <a:lnB w="6668">
                      <a:solidFill>
                        <a:srgbClr val="C7D1DE"/>
                      </a:solidFill>
                      <a:prstDash val="solid"/>
                    </a:lnB>
                    <a:solidFill>
                      <a:srgbClr val="FFFFFF"/>
                    </a:solidFill>
                  </a:tcPr>
                </a:tc>
                <a:tc>
                  <a:txBody>
                    <a:bodyPr/>
                    <a:lstStyle/>
                    <a:p>
                      <a:r>
                        <a:rPr sz="2400" b="0">
                          <a:solidFill>
                            <a:srgbClr val="3F3F3F"/>
                          </a:solidFill>
                          <a:latin typeface="Arial"/>
                          <a:ea typeface="Arial"/>
                          <a:cs typeface="Arial"/>
                        </a:rPr>
                        <a:t>Symptoms or impairment</a:t>
                      </a:r>
                    </a:p>
                    <a:p>
                      <a:r>
                        <a:rPr sz="2400" b="0">
                          <a:solidFill>
                            <a:srgbClr val="3F3F3F"/>
                          </a:solidFill>
                          <a:latin typeface="Arial"/>
                          <a:ea typeface="Arial"/>
                          <a:cs typeface="Arial"/>
                        </a:rPr>
                        <a:t>limit safe work</a:t>
                      </a:r>
                    </a:p>
                  </a:txBody>
                  <a:tcPr>
                    <a:lnL w="6668" cap="flat" cmpd="sng" algn="ctr">
                      <a:solidFill>
                        <a:srgbClr val="C7D1DE"/>
                      </a:solidFill>
                      <a:prstDash val="solid"/>
                      <a:round/>
                      <a:headEnd type="none" w="med" len="med"/>
                      <a:tailEnd type="none" w="med" len="med"/>
                    </a:lnL>
                    <a:lnR w="6668">
                      <a:solidFill>
                        <a:srgbClr val="C7D1DE"/>
                      </a:solidFill>
                      <a:prstDash val="solid"/>
                    </a:lnR>
                    <a:lnT w="6668" cap="flat" cmpd="sng" algn="ctr">
                      <a:solidFill>
                        <a:srgbClr val="C7D1DE"/>
                      </a:solidFill>
                      <a:prstDash val="solid"/>
                      <a:round/>
                      <a:headEnd type="none" w="med" len="med"/>
                      <a:tailEnd type="none" w="med" len="med"/>
                    </a:lnT>
                    <a:lnB w="6668">
                      <a:solidFill>
                        <a:srgbClr val="C7D1DE"/>
                      </a:solidFill>
                      <a:prstDash val="solid"/>
                    </a:lnB>
                    <a:solidFill>
                      <a:srgbClr val="FFFFFF"/>
                    </a:solidFill>
                  </a:tcPr>
                </a:tc>
                <a:tc>
                  <a:txBody>
                    <a:bodyPr/>
                    <a:lstStyle/>
                    <a:p>
                      <a:r>
                        <a:rPr sz="2400" b="0">
                          <a:solidFill>
                            <a:srgbClr val="3F3F3F"/>
                          </a:solidFill>
                          <a:latin typeface="Arial"/>
                          <a:ea typeface="Arial"/>
                          <a:cs typeface="Arial"/>
                        </a:rPr>
                        <a:t>Persistent impairment,</a:t>
                      </a:r>
                    </a:p>
                    <a:p>
                      <a:r>
                        <a:rPr sz="2400" b="0">
                          <a:solidFill>
                            <a:srgbClr val="3F3F3F"/>
                          </a:solidFill>
                          <a:latin typeface="Arial"/>
                          <a:ea typeface="Arial"/>
                          <a:cs typeface="Arial"/>
                        </a:rPr>
                        <a:t>fluctuation or treatment effects</a:t>
                      </a:r>
                    </a:p>
                  </a:txBody>
                  <a:tcPr>
                    <a:lnL w="6668" cap="flat" cmpd="sng" algn="ctr">
                      <a:solidFill>
                        <a:srgbClr val="C7D1DE"/>
                      </a:solidFill>
                      <a:prstDash val="solid"/>
                      <a:round/>
                      <a:headEnd type="none" w="med" len="med"/>
                      <a:tailEnd type="none" w="med" len="med"/>
                    </a:lnL>
                    <a:lnR w="6668">
                      <a:solidFill>
                        <a:srgbClr val="C7D1DE"/>
                      </a:solidFill>
                      <a:prstDash val="solid"/>
                    </a:lnR>
                    <a:lnT w="6668" cap="flat" cmpd="sng" algn="ctr">
                      <a:solidFill>
                        <a:srgbClr val="C7D1DE"/>
                      </a:solidFill>
                      <a:prstDash val="solid"/>
                      <a:round/>
                      <a:headEnd type="none" w="med" len="med"/>
                      <a:tailEnd type="none" w="med" len="med"/>
                    </a:lnT>
                    <a:lnB w="6668">
                      <a:solidFill>
                        <a:srgbClr val="C7D1DE"/>
                      </a:solidFill>
                      <a:prstDash val="solid"/>
                    </a:lnB>
                    <a:solidFill>
                      <a:srgbClr val="FFFFFF"/>
                    </a:solidFill>
                  </a:tcPr>
                </a:tc>
                <a:extLst>
                  <a:ext uri="{0D108BD9-81ED-4DB2-BD59-A6C34878D82A}">
                    <a16:rowId xmlns:a16="http://schemas.microsoft.com/office/drawing/2014/main" val="10001"/>
                  </a:ext>
                </a:extLst>
              </a:tr>
              <a:tr h="952500">
                <a:tc>
                  <a:txBody>
                    <a:bodyPr/>
                    <a:lstStyle/>
                    <a:p>
                      <a:r>
                        <a:rPr sz="2400" b="0" dirty="0">
                          <a:solidFill>
                            <a:srgbClr val="3F3F3F"/>
                          </a:solidFill>
                          <a:latin typeface="Arial"/>
                          <a:ea typeface="Arial"/>
                          <a:cs typeface="Arial"/>
                        </a:rPr>
                        <a:t>Workplace</a:t>
                      </a:r>
                      <a:r>
                        <a:rPr lang="en-GB" sz="2400" b="0" dirty="0">
                          <a:solidFill>
                            <a:srgbClr val="3F3F3F"/>
                          </a:solidFill>
                          <a:latin typeface="Arial"/>
                          <a:ea typeface="Arial"/>
                          <a:cs typeface="Arial"/>
                        </a:rPr>
                        <a:t> and role</a:t>
                      </a:r>
                      <a:endParaRPr sz="2400" b="0" dirty="0">
                        <a:solidFill>
                          <a:srgbClr val="3F3F3F"/>
                        </a:solidFill>
                        <a:latin typeface="Arial"/>
                        <a:ea typeface="Arial"/>
                        <a:cs typeface="Arial"/>
                      </a:endParaRPr>
                    </a:p>
                  </a:txBody>
                  <a:tcPr>
                    <a:lnL w="6668">
                      <a:solidFill>
                        <a:srgbClr val="C7D1DE"/>
                      </a:solidFill>
                      <a:prstDash val="solid"/>
                    </a:lnL>
                    <a:lnR w="6668">
                      <a:solidFill>
                        <a:srgbClr val="C7D1DE"/>
                      </a:solidFill>
                      <a:prstDash val="solid"/>
                    </a:lnR>
                    <a:lnT w="6668" cap="flat" cmpd="sng" algn="ctr">
                      <a:solidFill>
                        <a:srgbClr val="C7D1DE"/>
                      </a:solidFill>
                      <a:prstDash val="solid"/>
                      <a:round/>
                      <a:headEnd type="none" w="med" len="med"/>
                      <a:tailEnd type="none" w="med" len="med"/>
                    </a:lnT>
                    <a:lnB w="6668">
                      <a:solidFill>
                        <a:srgbClr val="C7D1DE"/>
                      </a:solidFill>
                      <a:prstDash val="solid"/>
                    </a:lnB>
                    <a:solidFill>
                      <a:srgbClr val="FFFFFF"/>
                    </a:solidFill>
                  </a:tcPr>
                </a:tc>
                <a:tc>
                  <a:txBody>
                    <a:bodyPr/>
                    <a:lstStyle/>
                    <a:p>
                      <a:r>
                        <a:rPr sz="2400" b="0">
                          <a:solidFill>
                            <a:srgbClr val="3F3F3F"/>
                          </a:solidFill>
                          <a:latin typeface="Arial"/>
                          <a:ea typeface="Arial"/>
                          <a:cs typeface="Arial"/>
                        </a:rPr>
                        <a:t>Tasks, exposures or</a:t>
                      </a:r>
                    </a:p>
                    <a:p>
                      <a:r>
                        <a:rPr sz="2400" b="0">
                          <a:solidFill>
                            <a:srgbClr val="3F3F3F"/>
                          </a:solidFill>
                          <a:latin typeface="Arial"/>
                          <a:ea typeface="Arial"/>
                          <a:cs typeface="Arial"/>
                        </a:rPr>
                        <a:t>relationships become difficult</a:t>
                      </a:r>
                    </a:p>
                  </a:txBody>
                  <a:tcPr>
                    <a:lnL w="6668" cap="flat" cmpd="sng" algn="ctr">
                      <a:solidFill>
                        <a:srgbClr val="C7D1DE"/>
                      </a:solidFill>
                      <a:prstDash val="solid"/>
                      <a:round/>
                      <a:headEnd type="none" w="med" len="med"/>
                      <a:tailEnd type="none" w="med" len="med"/>
                    </a:lnL>
                    <a:lnR w="6668">
                      <a:solidFill>
                        <a:srgbClr val="C7D1DE"/>
                      </a:solidFill>
                      <a:prstDash val="solid"/>
                    </a:lnR>
                    <a:lnT w="6668" cap="flat" cmpd="sng" algn="ctr">
                      <a:solidFill>
                        <a:srgbClr val="C7D1DE"/>
                      </a:solidFill>
                      <a:prstDash val="solid"/>
                      <a:round/>
                      <a:headEnd type="none" w="med" len="med"/>
                      <a:tailEnd type="none" w="med" len="med"/>
                    </a:lnT>
                    <a:lnB w="6668">
                      <a:solidFill>
                        <a:srgbClr val="C7D1DE"/>
                      </a:solidFill>
                      <a:prstDash val="solid"/>
                    </a:lnB>
                    <a:solidFill>
                      <a:srgbClr val="FFFFFF"/>
                    </a:solidFill>
                  </a:tcPr>
                </a:tc>
                <a:tc>
                  <a:txBody>
                    <a:bodyPr/>
                    <a:lstStyle/>
                    <a:p>
                      <a:r>
                        <a:rPr sz="2400" b="0">
                          <a:solidFill>
                            <a:srgbClr val="3F3F3F"/>
                          </a:solidFill>
                          <a:latin typeface="Arial"/>
                          <a:ea typeface="Arial"/>
                          <a:cs typeface="Arial"/>
                        </a:rPr>
                        <a:t>Feasible adjustments or</a:t>
                      </a:r>
                    </a:p>
                    <a:p>
                      <a:r>
                        <a:rPr sz="2400" b="0">
                          <a:solidFill>
                            <a:srgbClr val="3F3F3F"/>
                          </a:solidFill>
                          <a:latin typeface="Arial"/>
                          <a:ea typeface="Arial"/>
                          <a:cs typeface="Arial"/>
                        </a:rPr>
                        <a:t>alternative work are unavailable</a:t>
                      </a:r>
                    </a:p>
                  </a:txBody>
                  <a:tcPr>
                    <a:lnL w="6668" cap="flat" cmpd="sng" algn="ctr">
                      <a:solidFill>
                        <a:srgbClr val="C7D1DE"/>
                      </a:solidFill>
                      <a:prstDash val="solid"/>
                      <a:round/>
                      <a:headEnd type="none" w="med" len="med"/>
                      <a:tailEnd type="none" w="med" len="med"/>
                    </a:lnL>
                    <a:lnR w="6668">
                      <a:solidFill>
                        <a:srgbClr val="C7D1DE"/>
                      </a:solidFill>
                      <a:prstDash val="solid"/>
                    </a:lnR>
                    <a:lnT w="6668" cap="flat" cmpd="sng" algn="ctr">
                      <a:solidFill>
                        <a:srgbClr val="C7D1DE"/>
                      </a:solidFill>
                      <a:prstDash val="solid"/>
                      <a:round/>
                      <a:headEnd type="none" w="med" len="med"/>
                      <a:tailEnd type="none" w="med" len="med"/>
                    </a:lnT>
                    <a:lnB w="6668">
                      <a:solidFill>
                        <a:srgbClr val="C7D1DE"/>
                      </a:solidFill>
                      <a:prstDash val="solid"/>
                    </a:lnB>
                    <a:solidFill>
                      <a:srgbClr val="FFFFFF"/>
                    </a:solidFill>
                  </a:tcPr>
                </a:tc>
                <a:extLst>
                  <a:ext uri="{0D108BD9-81ED-4DB2-BD59-A6C34878D82A}">
                    <a16:rowId xmlns:a16="http://schemas.microsoft.com/office/drawing/2014/main" val="10002"/>
                  </a:ext>
                </a:extLst>
              </a:tr>
              <a:tr h="952500">
                <a:tc>
                  <a:txBody>
                    <a:bodyPr/>
                    <a:lstStyle/>
                    <a:p>
                      <a:r>
                        <a:rPr sz="2400" b="0" dirty="0" err="1">
                          <a:solidFill>
                            <a:srgbClr val="3F3F3F"/>
                          </a:solidFill>
                          <a:latin typeface="Arial"/>
                          <a:ea typeface="Arial"/>
                          <a:cs typeface="Arial"/>
                        </a:rPr>
                        <a:t>Soci</a:t>
                      </a:r>
                      <a:r>
                        <a:rPr lang="en-GB" sz="2400" b="0" dirty="0">
                          <a:solidFill>
                            <a:srgbClr val="3F3F3F"/>
                          </a:solidFill>
                          <a:latin typeface="Arial"/>
                          <a:ea typeface="Arial"/>
                          <a:cs typeface="Arial"/>
                        </a:rPr>
                        <a:t>al and economic</a:t>
                      </a:r>
                      <a:endParaRPr sz="2400" b="0" dirty="0">
                        <a:solidFill>
                          <a:srgbClr val="3F3F3F"/>
                        </a:solidFill>
                        <a:latin typeface="Arial"/>
                        <a:ea typeface="Arial"/>
                        <a:cs typeface="Arial"/>
                      </a:endParaRPr>
                    </a:p>
                    <a:p>
                      <a:r>
                        <a:rPr sz="2400" b="0" dirty="0">
                          <a:solidFill>
                            <a:srgbClr val="3F3F3F"/>
                          </a:solidFill>
                          <a:latin typeface="Arial"/>
                          <a:ea typeface="Arial"/>
                          <a:cs typeface="Arial"/>
                        </a:rPr>
                        <a:t>context</a:t>
                      </a:r>
                    </a:p>
                  </a:txBody>
                  <a:tcPr>
                    <a:lnL w="6668">
                      <a:solidFill>
                        <a:srgbClr val="C7D1DE"/>
                      </a:solidFill>
                      <a:prstDash val="solid"/>
                    </a:lnL>
                    <a:lnR w="6668">
                      <a:solidFill>
                        <a:srgbClr val="C7D1DE"/>
                      </a:solidFill>
                      <a:prstDash val="solid"/>
                    </a:lnR>
                    <a:lnT w="6668" cap="flat" cmpd="sng" algn="ctr">
                      <a:solidFill>
                        <a:srgbClr val="C7D1DE"/>
                      </a:solidFill>
                      <a:prstDash val="solid"/>
                      <a:round/>
                      <a:headEnd type="none" w="med" len="med"/>
                      <a:tailEnd type="none" w="med" len="med"/>
                    </a:lnT>
                    <a:lnB w="6668">
                      <a:solidFill>
                        <a:srgbClr val="C7D1DE"/>
                      </a:solidFill>
                      <a:prstDash val="solid"/>
                    </a:lnB>
                    <a:solidFill>
                      <a:srgbClr val="FFFFFF"/>
                    </a:solidFill>
                  </a:tcPr>
                </a:tc>
                <a:tc>
                  <a:txBody>
                    <a:bodyPr/>
                    <a:lstStyle/>
                    <a:p>
                      <a:r>
                        <a:rPr sz="2400" b="0">
                          <a:solidFill>
                            <a:srgbClr val="3F3F3F"/>
                          </a:solidFill>
                          <a:latin typeface="Arial"/>
                          <a:ea typeface="Arial"/>
                          <a:cs typeface="Arial"/>
                        </a:rPr>
                        <a:t>Domestic pressures or</a:t>
                      </a:r>
                    </a:p>
                    <a:p>
                      <a:r>
                        <a:rPr sz="2400" b="0">
                          <a:solidFill>
                            <a:srgbClr val="3F3F3F"/>
                          </a:solidFill>
                          <a:latin typeface="Arial"/>
                          <a:ea typeface="Arial"/>
                          <a:cs typeface="Arial"/>
                        </a:rPr>
                        <a:t>reduced support add strain</a:t>
                      </a:r>
                    </a:p>
                  </a:txBody>
                  <a:tcPr>
                    <a:lnL w="6668" cap="flat" cmpd="sng" algn="ctr">
                      <a:solidFill>
                        <a:srgbClr val="C7D1DE"/>
                      </a:solidFill>
                      <a:prstDash val="solid"/>
                      <a:round/>
                      <a:headEnd type="none" w="med" len="med"/>
                      <a:tailEnd type="none" w="med" len="med"/>
                    </a:lnL>
                    <a:lnR w="6668">
                      <a:solidFill>
                        <a:srgbClr val="C7D1DE"/>
                      </a:solidFill>
                      <a:prstDash val="solid"/>
                    </a:lnR>
                    <a:lnT w="6668" cap="flat" cmpd="sng" algn="ctr">
                      <a:solidFill>
                        <a:srgbClr val="C7D1DE"/>
                      </a:solidFill>
                      <a:prstDash val="solid"/>
                      <a:round/>
                      <a:headEnd type="none" w="med" len="med"/>
                      <a:tailEnd type="none" w="med" len="med"/>
                    </a:lnT>
                    <a:lnB w="6668">
                      <a:solidFill>
                        <a:srgbClr val="C7D1DE"/>
                      </a:solidFill>
                      <a:prstDash val="solid"/>
                    </a:lnB>
                    <a:solidFill>
                      <a:srgbClr val="FFFFFF"/>
                    </a:solidFill>
                  </a:tcPr>
                </a:tc>
                <a:tc>
                  <a:txBody>
                    <a:bodyPr/>
                    <a:lstStyle/>
                    <a:p>
                      <a:r>
                        <a:rPr sz="2400" b="0" dirty="0">
                          <a:solidFill>
                            <a:srgbClr val="3F3F3F"/>
                          </a:solidFill>
                          <a:latin typeface="Arial"/>
                          <a:ea typeface="Arial"/>
                          <a:cs typeface="Arial"/>
                        </a:rPr>
                        <a:t>Delayed care and competing</a:t>
                      </a:r>
                    </a:p>
                    <a:p>
                      <a:r>
                        <a:rPr sz="2400" b="0" dirty="0">
                          <a:solidFill>
                            <a:srgbClr val="3F3F3F"/>
                          </a:solidFill>
                          <a:latin typeface="Arial"/>
                          <a:ea typeface="Arial"/>
                          <a:cs typeface="Arial"/>
                        </a:rPr>
                        <a:t>demands continue</a:t>
                      </a:r>
                    </a:p>
                  </a:txBody>
                  <a:tcPr>
                    <a:lnL w="6668" cap="flat" cmpd="sng" algn="ctr">
                      <a:solidFill>
                        <a:srgbClr val="C7D1DE"/>
                      </a:solidFill>
                      <a:prstDash val="solid"/>
                      <a:round/>
                      <a:headEnd type="none" w="med" len="med"/>
                      <a:tailEnd type="none" w="med" len="med"/>
                    </a:lnL>
                    <a:lnR w="6668">
                      <a:solidFill>
                        <a:srgbClr val="C7D1DE"/>
                      </a:solidFill>
                      <a:prstDash val="solid"/>
                    </a:lnR>
                    <a:lnT w="6668" cap="flat" cmpd="sng" algn="ctr">
                      <a:solidFill>
                        <a:srgbClr val="C7D1DE"/>
                      </a:solidFill>
                      <a:prstDash val="solid"/>
                      <a:round/>
                      <a:headEnd type="none" w="med" len="med"/>
                      <a:tailEnd type="none" w="med" len="med"/>
                    </a:lnT>
                    <a:lnB w="6668">
                      <a:solidFill>
                        <a:srgbClr val="C7D1DE"/>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10" name="interactions">
            <a:extLst>
              <a:ext uri="{FF2B5EF4-FFF2-40B4-BE49-F238E27FC236}">
                <a16:creationId xmlns:a16="http://schemas.microsoft.com/office/drawing/2014/main" id="{AE221884-4DF5-40A7-BBAC-189B97C11345}"/>
              </a:ext>
            </a:extLst>
          </p:cNvPr>
          <p:cNvSpPr>
            <a:spLocks noGrp="1"/>
          </p:cNvSpPr>
          <p:nvPr/>
        </p:nvSpPr>
        <p:spPr>
          <a:xfrm>
            <a:off x="1209675" y="7060406"/>
            <a:ext cx="13874750" cy="547688"/>
          </a:xfrm>
          <a:prstGeom prst="rect">
            <a:avLst/>
          </a:prstGeom>
          <a:noFill/>
          <a:ln w="0">
            <a:noFill/>
            <a:prstDash val="solid"/>
          </a:ln>
        </p:spPr>
        <p:txBody>
          <a:bodyPr wrap="square" lIns="0" tIns="0" rIns="0" bIns="0">
            <a:noAutofit/>
          </a:bodyPr>
          <a:lstStyle>
            <a:defPPr>
              <a:defRPr sz="3000" b="1">
                <a:solidFill>
                  <a:srgbClr val="3F3F3F"/>
                </a:solidFill>
                <a:latin typeface="Arial"/>
                <a:ea typeface="Arial"/>
                <a:cs typeface="Arial"/>
              </a:defRPr>
            </a:defPPr>
          </a:lstStyle>
          <a:p>
            <a:pPr>
              <a:buNone/>
              <a:defRPr sz="3000" b="1">
                <a:solidFill>
                  <a:srgbClr val="3F3F3F"/>
                </a:solidFill>
                <a:latin typeface="Arial"/>
                <a:ea typeface="Arial"/>
                <a:cs typeface="Arial"/>
              </a:defRPr>
            </a:pPr>
            <a:r>
              <a:rPr sz="3000" b="1">
                <a:solidFill>
                  <a:srgbClr val="3F3F3F"/>
                </a:solidFill>
                <a:latin typeface="Arial"/>
                <a:ea typeface="Arial"/>
                <a:cs typeface="Arial"/>
              </a:rPr>
              <a:t>These factors interact. They can change during an absence.</a:t>
            </a:r>
          </a:p>
        </p:txBody>
      </p:sp>
      <p:sp>
        <p:nvSpPr>
          <p:cNvPr id="11" name="source">
            <a:extLst>
              <a:ext uri="{FF2B5EF4-FFF2-40B4-BE49-F238E27FC236}">
                <a16:creationId xmlns:a16="http://schemas.microsoft.com/office/drawing/2014/main" id="{3469A6B2-69D2-4EA9-8402-D6306BE56573}"/>
              </a:ext>
            </a:extLst>
          </p:cNvPr>
          <p:cNvSpPr>
            <a:spLocks noGrp="1"/>
          </p:cNvSpPr>
          <p:nvPr/>
        </p:nvSpPr>
        <p:spPr>
          <a:xfrm>
            <a:off x="1209675" y="7798594"/>
            <a:ext cx="13144500" cy="309563"/>
          </a:xfrm>
          <a:prstGeom prst="rect">
            <a:avLst/>
          </a:prstGeom>
          <a:noFill/>
          <a:ln w="0">
            <a:noFill/>
            <a:prstDash val="solid"/>
          </a:ln>
        </p:spPr>
        <p:txBody>
          <a:bodyPr wrap="square" lIns="0" tIns="0" rIns="0" bIns="0">
            <a:noAutofit/>
          </a:bodyPr>
          <a:lstStyle>
            <a:defPPr>
              <a:defRPr sz="1800" b="0">
                <a:solidFill>
                  <a:srgbClr val="3F3F3F"/>
                </a:solidFill>
                <a:latin typeface="Arial"/>
                <a:ea typeface="Arial"/>
                <a:cs typeface="Arial"/>
              </a:defRPr>
            </a:defPPr>
          </a:lstStyle>
          <a:p>
            <a:pPr>
              <a:buNone/>
              <a:defRPr sz="1800" b="0">
                <a:solidFill>
                  <a:srgbClr val="3F3F3F"/>
                </a:solidFill>
                <a:latin typeface="Arial"/>
                <a:ea typeface="Arial"/>
                <a:cs typeface="Arial"/>
              </a:defRPr>
            </a:pPr>
            <a:r>
              <a:rPr sz="1800" b="0">
                <a:solidFill>
                  <a:srgbClr val="3F3F3F"/>
                </a:solidFill>
                <a:latin typeface="Arial"/>
                <a:ea typeface="Arial"/>
                <a:cs typeface="Arial"/>
              </a:rPr>
              <a:t>Clinical framework informed by your notes and qualitative return-to-work research.</a:t>
            </a:r>
          </a:p>
        </p:txBody>
      </p:sp>
    </p:spTree>
    <p:extLst>
      <p:ext uri="{BB962C8B-B14F-4D97-AF65-F5344CB8AC3E}">
        <p14:creationId xmlns:p14="http://schemas.microsoft.com/office/powerpoint/2010/main" val="3178502729"/>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6F6C5742-1F6C-A710-52FA-1248F020C691}"/>
              </a:ext>
            </a:extLst>
          </p:cNvPr>
          <p:cNvSpPr>
            <a:spLocks noGrp="1"/>
          </p:cNvSpPr>
          <p:nvPr>
            <p:ph type="ftr" idx="3"/>
          </p:nvPr>
        </p:nvSpPr>
        <p:spPr>
          <a:xfrm>
            <a:off x="1117600" y="8382533"/>
            <a:ext cx="11368098" cy="486833"/>
          </a:xfrm>
          <a:prstGeom prst="rect">
            <a:avLst/>
          </a:prstGeom>
        </p:spPr>
        <p:txBody>
          <a:bodyPr vert="horz" lIns="91440" tIns="45720" rIns="91440" bIns="45720" anchor="ctr"/>
          <a:lstStyle>
            <a:lvl1pPr algn="r">
              <a:buNone/>
              <a:defRPr sz="1600">
                <a:solidFill>
                  <a:schemeClr val="tx1"/>
                </a:solidFill>
              </a:defRPr>
            </a:lvl1pPr>
          </a:lstStyle>
          <a:p>
            <a:r>
              <a:t>IFoA Life Conference</a:t>
            </a:r>
          </a:p>
        </p:txBody>
      </p:sp>
      <p:sp>
        <p:nvSpPr>
          <p:cNvPr id="8" name="Slide Number Placeholder 5">
            <a:extLst>
              <a:ext uri="{FF2B5EF4-FFF2-40B4-BE49-F238E27FC236}">
                <a16:creationId xmlns:a16="http://schemas.microsoft.com/office/drawing/2014/main" id="{A628090A-C45A-2639-D2CB-86DE80ECECC6}"/>
              </a:ext>
            </a:extLst>
          </p:cNvPr>
          <p:cNvSpPr>
            <a:spLocks noGrp="1"/>
          </p:cNvSpPr>
          <p:nvPr>
            <p:ph type="sldNum" idx="4"/>
          </p:nvPr>
        </p:nvSpPr>
        <p:spPr>
          <a:xfrm>
            <a:off x="14573177" y="8382533"/>
            <a:ext cx="529680" cy="486833"/>
          </a:xfrm>
          <a:prstGeom prst="rect">
            <a:avLst/>
          </a:prstGeom>
          <a:solidFill>
            <a:schemeClr val="tx1"/>
          </a:solidFill>
        </p:spPr>
        <p:txBody>
          <a:bodyPr vert="horz" lIns="91440" tIns="45720" rIns="91440" bIns="45720" anchor="ctr"/>
          <a:lstStyle>
            <a:lvl1pPr algn="ctr">
              <a:buNone/>
              <a:defRPr sz="1200" b="1" i="0">
                <a:solidFill>
                  <a:schemeClr val="bg1"/>
                </a:solidFill>
                <a:latin typeface="Arial"/>
                <a:ea typeface="Arial"/>
                <a:cs typeface="Arial"/>
              </a:defRPr>
            </a:lvl1pPr>
          </a:lstStyle>
          <a:p>
            <a:fld id="{EFD6AB9A-5F9E-5F59-51AB-3C8734130965}" type="slidenum">
              <a:rPr/>
              <a:t>10</a:t>
            </a:fld>
            <a:endParaRPr/>
          </a:p>
        </p:txBody>
      </p:sp>
      <p:sp>
        <p:nvSpPr>
          <p:cNvPr id="9" name="TextBox 8"/>
          <p:cNvSpPr txBox="1"/>
          <p:nvPr/>
        </p:nvSpPr>
        <p:spPr>
          <a:xfrm>
            <a:off x="1209008" y="515098"/>
            <a:ext cx="14020800" cy="809720"/>
          </a:xfrm>
          <a:prstGeom prst="rect">
            <a:avLst/>
          </a:prstGeom>
          <a:noFill/>
        </p:spPr>
        <p:txBody>
          <a:bodyPr wrap="square" lIns="0" tIns="0" rIns="0" bIns="0">
            <a:spAutoFit/>
          </a:bodyPr>
          <a:lstStyle/>
          <a:p>
            <a:r>
              <a:rPr sz="4400" b="1" i="0">
                <a:solidFill>
                  <a:srgbClr val="3F3F3F"/>
                </a:solidFill>
                <a:latin typeface="Arial"/>
              </a:rPr>
              <a:t>Illness and disability factors</a:t>
            </a:r>
          </a:p>
        </p:txBody>
      </p:sp>
      <p:sp>
        <p:nvSpPr>
          <p:cNvPr id="10" name="TextBox 9"/>
          <p:cNvSpPr txBox="1"/>
          <p:nvPr/>
        </p:nvSpPr>
        <p:spPr>
          <a:xfrm>
            <a:off x="1209675" y="1714500"/>
            <a:ext cx="14020800" cy="869156"/>
          </a:xfrm>
          <a:prstGeom prst="rect">
            <a:avLst/>
          </a:prstGeom>
          <a:noFill/>
        </p:spPr>
        <p:txBody>
          <a:bodyPr wrap="square" lIns="0" tIns="0" rIns="0" bIns="0">
            <a:spAutoFit/>
          </a:bodyPr>
          <a:lstStyle/>
          <a:p>
            <a:r>
              <a:rPr sz="3400" b="1" i="0">
                <a:solidFill>
                  <a:srgbClr val="0097A9"/>
                </a:solidFill>
                <a:latin typeface="Arial"/>
              </a:rPr>
              <a:t>Same condition, different work impact</a:t>
            </a:r>
          </a:p>
        </p:txBody>
      </p:sp>
      <p:graphicFrame>
        <p:nvGraphicFramePr>
          <p:cNvPr id="11" name="Table 10"/>
          <p:cNvGraphicFramePr>
            <a:graphicFrameLocks noGrp="1"/>
          </p:cNvGraphicFramePr>
          <p:nvPr/>
        </p:nvGraphicFramePr>
        <p:xfrm>
          <a:off x="1209675" y="2700000"/>
          <a:ext cx="14020800" cy="3960000"/>
        </p:xfrm>
        <a:graphic>
          <a:graphicData uri="http://schemas.openxmlformats.org/drawingml/2006/table">
            <a:tbl>
              <a:tblPr firstRow="1">
                <a:tableStyleId>{5C22544A-7EE6-4342-B048-85BDC9FD1C3A}</a:tableStyleId>
              </a:tblPr>
              <a:tblGrid>
                <a:gridCol w="2900000">
                  <a:extLst>
                    <a:ext uri="{9D8B030D-6E8A-4147-A177-3AD203B41FA5}">
                      <a16:colId xmlns:a16="http://schemas.microsoft.com/office/drawing/2014/main" val="20000"/>
                    </a:ext>
                  </a:extLst>
                </a:gridCol>
                <a:gridCol w="4300000">
                  <a:extLst>
                    <a:ext uri="{9D8B030D-6E8A-4147-A177-3AD203B41FA5}">
                      <a16:colId xmlns:a16="http://schemas.microsoft.com/office/drawing/2014/main" val="20001"/>
                    </a:ext>
                  </a:extLst>
                </a:gridCol>
                <a:gridCol w="6820800">
                  <a:extLst>
                    <a:ext uri="{9D8B030D-6E8A-4147-A177-3AD203B41FA5}">
                      <a16:colId xmlns:a16="http://schemas.microsoft.com/office/drawing/2014/main" val="20002"/>
                    </a:ext>
                  </a:extLst>
                </a:gridCol>
              </a:tblGrid>
              <a:tr h="640000">
                <a:tc>
                  <a:txBody>
                    <a:bodyPr/>
                    <a:lstStyle/>
                    <a:p>
                      <a:r>
                        <a:rPr sz="2600" b="1" i="0">
                          <a:solidFill>
                            <a:srgbClr val="FFFFFF"/>
                          </a:solidFill>
                          <a:latin typeface="Arial"/>
                        </a:rPr>
                        <a:t>Worker</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0097A9"/>
                    </a:solidFill>
                  </a:tcPr>
                </a:tc>
                <a:tc>
                  <a:txBody>
                    <a:bodyPr/>
                    <a:lstStyle/>
                    <a:p>
                      <a:r>
                        <a:rPr sz="2600" b="1" i="0">
                          <a:solidFill>
                            <a:srgbClr val="FFFFFF"/>
                          </a:solidFill>
                          <a:latin typeface="Arial"/>
                        </a:rPr>
                        <a:t>Health issue</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0097A9"/>
                    </a:solidFill>
                  </a:tcPr>
                </a:tc>
                <a:tc>
                  <a:txBody>
                    <a:bodyPr/>
                    <a:lstStyle/>
                    <a:p>
                      <a:r>
                        <a:rPr sz="2600" b="1" i="0">
                          <a:solidFill>
                            <a:srgbClr val="FFFFFF"/>
                          </a:solidFill>
                          <a:latin typeface="Arial"/>
                        </a:rPr>
                        <a:t>Why it stops work</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0097A9"/>
                    </a:solidFill>
                  </a:tcPr>
                </a:tc>
                <a:extLst>
                  <a:ext uri="{0D108BD9-81ED-4DB2-BD59-A6C34878D82A}">
                    <a16:rowId xmlns:a16="http://schemas.microsoft.com/office/drawing/2014/main" val="10000"/>
                  </a:ext>
                </a:extLst>
              </a:tr>
              <a:tr h="830000">
                <a:tc>
                  <a:txBody>
                    <a:bodyPr/>
                    <a:lstStyle/>
                    <a:p>
                      <a:r>
                        <a:rPr sz="2400" b="1" i="0">
                          <a:solidFill>
                            <a:srgbClr val="3F3F3F"/>
                          </a:solidFill>
                          <a:latin typeface="Arial"/>
                        </a:rPr>
                        <a:t>Warehouse worker</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tc>
                  <a:txBody>
                    <a:bodyPr/>
                    <a:lstStyle/>
                    <a:p>
                      <a:r>
                        <a:rPr sz="2400" b="0" i="0">
                          <a:solidFill>
                            <a:srgbClr val="3F3F3F"/>
                          </a:solidFill>
                          <a:latin typeface="Arial"/>
                        </a:rPr>
                        <a:t>Knee arthritis</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tc>
                  <a:txBody>
                    <a:bodyPr/>
                    <a:lstStyle/>
                    <a:p>
                      <a:r>
                        <a:rPr sz="2400" b="0" i="0">
                          <a:solidFill>
                            <a:srgbClr val="3F3F3F"/>
                          </a:solidFill>
                          <a:latin typeface="Arial"/>
                        </a:rPr>
                        <a:t>Unable to do manual work until the knee operation; a desk worker might barely notice it</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extLst>
                  <a:ext uri="{0D108BD9-81ED-4DB2-BD59-A6C34878D82A}">
                    <a16:rowId xmlns:a16="http://schemas.microsoft.com/office/drawing/2014/main" val="10001"/>
                  </a:ext>
                </a:extLst>
              </a:tr>
              <a:tr h="830000">
                <a:tc>
                  <a:txBody>
                    <a:bodyPr/>
                    <a:lstStyle/>
                    <a:p>
                      <a:r>
                        <a:rPr sz="2400" b="1" i="0">
                          <a:solidFill>
                            <a:srgbClr val="3F3F3F"/>
                          </a:solidFill>
                          <a:latin typeface="Arial"/>
                        </a:rPr>
                        <a:t>Lorry driver</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tc>
                  <a:txBody>
                    <a:bodyPr/>
                    <a:lstStyle/>
                    <a:p>
                      <a:r>
                        <a:rPr sz="2400" b="0" i="0">
                          <a:solidFill>
                            <a:srgbClr val="3F3F3F"/>
                          </a:solidFill>
                          <a:latin typeface="Arial"/>
                        </a:rPr>
                        <a:t>Depression, on sedating antidepressants</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tc>
                  <a:txBody>
                    <a:bodyPr/>
                    <a:lstStyle/>
                    <a:p>
                      <a:r>
                        <a:rPr sz="2400" b="0" i="0">
                          <a:solidFill>
                            <a:srgbClr val="3F3F3F"/>
                          </a:solidFill>
                          <a:latin typeface="Arial"/>
                        </a:rPr>
                        <a:t>Drowsiness rules out driving; severe depression can mean a stable period before driving again</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extLst>
                  <a:ext uri="{0D108BD9-81ED-4DB2-BD59-A6C34878D82A}">
                    <a16:rowId xmlns:a16="http://schemas.microsoft.com/office/drawing/2014/main" val="10002"/>
                  </a:ext>
                </a:extLst>
              </a:tr>
              <a:tr h="830000">
                <a:tc>
                  <a:txBody>
                    <a:bodyPr/>
                    <a:lstStyle/>
                    <a:p>
                      <a:r>
                        <a:rPr sz="2400" b="1" i="0">
                          <a:solidFill>
                            <a:srgbClr val="3F3F3F"/>
                          </a:solidFill>
                          <a:latin typeface="Arial"/>
                        </a:rPr>
                        <a:t>Surgeon</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tc>
                  <a:txBody>
                    <a:bodyPr/>
                    <a:lstStyle/>
                    <a:p>
                      <a:r>
                        <a:rPr sz="2400" b="0" i="0">
                          <a:solidFill>
                            <a:srgbClr val="3F3F3F"/>
                          </a:solidFill>
                          <a:latin typeface="Arial"/>
                        </a:rPr>
                        <a:t>Breast cancer, successfully treated</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tc>
                  <a:txBody>
                    <a:bodyPr/>
                    <a:lstStyle/>
                    <a:p>
                      <a:r>
                        <a:rPr sz="2400" b="0" i="0">
                          <a:solidFill>
                            <a:srgbClr val="3F3F3F"/>
                          </a:solidFill>
                          <a:latin typeface="Arial"/>
                        </a:rPr>
                        <a:t>Left with poorer eyesight and less sensation in her fingers, so operating is harder</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extLst>
                  <a:ext uri="{0D108BD9-81ED-4DB2-BD59-A6C34878D82A}">
                    <a16:rowId xmlns:a16="http://schemas.microsoft.com/office/drawing/2014/main" val="10003"/>
                  </a:ext>
                </a:extLst>
              </a:tr>
              <a:tr h="830000">
                <a:tc>
                  <a:txBody>
                    <a:bodyPr/>
                    <a:lstStyle/>
                    <a:p>
                      <a:r>
                        <a:rPr sz="2400" b="1" i="0">
                          <a:solidFill>
                            <a:srgbClr val="3F3F3F"/>
                          </a:solidFill>
                          <a:latin typeface="Arial"/>
                        </a:rPr>
                        <a:t>Firefighter</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tc>
                  <a:txBody>
                    <a:bodyPr/>
                    <a:lstStyle/>
                    <a:p>
                      <a:r>
                        <a:rPr sz="2400" b="0" i="0">
                          <a:solidFill>
                            <a:srgbClr val="3F3F3F"/>
                          </a:solidFill>
                          <a:latin typeface="Arial"/>
                        </a:rPr>
                        <a:t>Asthma triggered by smoke</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tc>
                  <a:txBody>
                    <a:bodyPr/>
                    <a:lstStyle/>
                    <a:p>
                      <a:r>
                        <a:rPr sz="2400" b="0" i="0">
                          <a:solidFill>
                            <a:srgbClr val="3F3F3F"/>
                          </a:solidFill>
                          <a:latin typeface="Arial"/>
                        </a:rPr>
                        <a:t>The trigger is the job's core exposure</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12" name="TextBox 11"/>
          <p:cNvSpPr txBox="1"/>
          <p:nvPr/>
        </p:nvSpPr>
        <p:spPr>
          <a:xfrm>
            <a:off x="1282033" y="6776344"/>
            <a:ext cx="13874750" cy="430887"/>
          </a:xfrm>
          <a:prstGeom prst="rect">
            <a:avLst/>
          </a:prstGeom>
          <a:noFill/>
        </p:spPr>
        <p:txBody>
          <a:bodyPr wrap="square" lIns="0" tIns="0" rIns="0" bIns="0">
            <a:spAutoFit/>
          </a:bodyPr>
          <a:lstStyle/>
          <a:p>
            <a:r>
              <a:rPr sz="2800" b="1" i="0" dirty="0">
                <a:solidFill>
                  <a:srgbClr val="0097A9"/>
                </a:solidFill>
                <a:latin typeface="Arial"/>
              </a:rPr>
              <a:t>Treatment, not only illness, can be the barrier.</a:t>
            </a:r>
          </a:p>
        </p:txBody>
      </p:sp>
      <p:sp>
        <p:nvSpPr>
          <p:cNvPr id="13" name="TextBox 12"/>
          <p:cNvSpPr txBox="1"/>
          <p:nvPr/>
        </p:nvSpPr>
        <p:spPr>
          <a:xfrm>
            <a:off x="1209675" y="7800000"/>
            <a:ext cx="13144500" cy="300000"/>
          </a:xfrm>
          <a:prstGeom prst="rect">
            <a:avLst/>
          </a:prstGeom>
          <a:noFill/>
        </p:spPr>
        <p:txBody>
          <a:bodyPr wrap="square" lIns="0" tIns="0" rIns="0" bIns="0">
            <a:spAutoFit/>
          </a:bodyPr>
          <a:lstStyle/>
          <a:p>
            <a:r>
              <a:rPr sz="1700" b="0" i="0">
                <a:solidFill>
                  <a:srgbClr val="595959"/>
                </a:solidFill>
                <a:latin typeface="Arial"/>
              </a:rPr>
              <a:t>Presenter examples (C. Martin, occupational health and GP experience). DVLA fitness-to-drive guidance.</a:t>
            </a:r>
          </a:p>
        </p:txBody>
      </p:sp>
    </p:spTree>
    <p:extLst>
      <p:ext uri="{BB962C8B-B14F-4D97-AF65-F5344CB8AC3E}">
        <p14:creationId xmlns:p14="http://schemas.microsoft.com/office/powerpoint/2010/main" val="1163830775"/>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6F6C5742-1F6C-A710-52FA-1248F020C691}"/>
              </a:ext>
            </a:extLst>
          </p:cNvPr>
          <p:cNvSpPr>
            <a:spLocks noGrp="1"/>
          </p:cNvSpPr>
          <p:nvPr>
            <p:ph type="ftr" idx="3"/>
          </p:nvPr>
        </p:nvSpPr>
        <p:spPr>
          <a:xfrm>
            <a:off x="1117600" y="8382533"/>
            <a:ext cx="11368098" cy="486833"/>
          </a:xfrm>
          <a:prstGeom prst="rect">
            <a:avLst/>
          </a:prstGeom>
        </p:spPr>
        <p:txBody>
          <a:bodyPr vert="horz" lIns="91440" tIns="45720" rIns="91440" bIns="45720" anchor="ctr"/>
          <a:lstStyle>
            <a:lvl1pPr algn="r">
              <a:buNone/>
              <a:defRPr sz="1600">
                <a:solidFill>
                  <a:schemeClr val="tx1"/>
                </a:solidFill>
              </a:defRPr>
            </a:lvl1pPr>
          </a:lstStyle>
          <a:p>
            <a:r>
              <a:t>IFoA Life Conference</a:t>
            </a:r>
          </a:p>
        </p:txBody>
      </p:sp>
      <p:sp>
        <p:nvSpPr>
          <p:cNvPr id="8" name="Slide Number Placeholder 5">
            <a:extLst>
              <a:ext uri="{FF2B5EF4-FFF2-40B4-BE49-F238E27FC236}">
                <a16:creationId xmlns:a16="http://schemas.microsoft.com/office/drawing/2014/main" id="{A628090A-C45A-2639-D2CB-86DE80ECECC6}"/>
              </a:ext>
            </a:extLst>
          </p:cNvPr>
          <p:cNvSpPr>
            <a:spLocks noGrp="1"/>
          </p:cNvSpPr>
          <p:nvPr>
            <p:ph type="sldNum" idx="4"/>
          </p:nvPr>
        </p:nvSpPr>
        <p:spPr>
          <a:xfrm>
            <a:off x="14573177" y="8382533"/>
            <a:ext cx="529680" cy="486833"/>
          </a:xfrm>
          <a:prstGeom prst="rect">
            <a:avLst/>
          </a:prstGeom>
          <a:solidFill>
            <a:schemeClr val="tx1"/>
          </a:solidFill>
        </p:spPr>
        <p:txBody>
          <a:bodyPr vert="horz" lIns="91440" tIns="45720" rIns="91440" bIns="45720" anchor="ctr"/>
          <a:lstStyle>
            <a:lvl1pPr algn="ctr">
              <a:buNone/>
              <a:defRPr sz="1200" b="1" i="0">
                <a:solidFill>
                  <a:schemeClr val="bg1"/>
                </a:solidFill>
                <a:latin typeface="Arial"/>
                <a:ea typeface="Arial"/>
                <a:cs typeface="Arial"/>
              </a:defRPr>
            </a:lvl1pPr>
          </a:lstStyle>
          <a:p>
            <a:fld id="{EFD6AB9A-5F9E-5F59-51AB-3C8734130965}" type="slidenum">
              <a:rPr/>
              <a:t>11</a:t>
            </a:fld>
            <a:endParaRPr/>
          </a:p>
        </p:txBody>
      </p:sp>
      <p:sp>
        <p:nvSpPr>
          <p:cNvPr id="9" name="TextBox 8"/>
          <p:cNvSpPr txBox="1"/>
          <p:nvPr/>
        </p:nvSpPr>
        <p:spPr>
          <a:xfrm>
            <a:off x="1209008" y="515098"/>
            <a:ext cx="14020800" cy="809720"/>
          </a:xfrm>
          <a:prstGeom prst="rect">
            <a:avLst/>
          </a:prstGeom>
          <a:noFill/>
        </p:spPr>
        <p:txBody>
          <a:bodyPr wrap="square" lIns="0" tIns="0" rIns="0" bIns="0">
            <a:spAutoFit/>
          </a:bodyPr>
          <a:lstStyle/>
          <a:p>
            <a:r>
              <a:rPr sz="4400" b="1" i="0">
                <a:solidFill>
                  <a:srgbClr val="3F3F3F"/>
                </a:solidFill>
                <a:latin typeface="Arial"/>
              </a:rPr>
              <a:t>Workplace and societal factors</a:t>
            </a:r>
          </a:p>
        </p:txBody>
      </p:sp>
      <p:sp>
        <p:nvSpPr>
          <p:cNvPr id="10" name="TextBox 9"/>
          <p:cNvSpPr txBox="1"/>
          <p:nvPr/>
        </p:nvSpPr>
        <p:spPr>
          <a:xfrm>
            <a:off x="1209675" y="1714500"/>
            <a:ext cx="14020800" cy="869156"/>
          </a:xfrm>
          <a:prstGeom prst="rect">
            <a:avLst/>
          </a:prstGeom>
          <a:noFill/>
        </p:spPr>
        <p:txBody>
          <a:bodyPr wrap="square" lIns="0" tIns="0" rIns="0" bIns="0">
            <a:spAutoFit/>
          </a:bodyPr>
          <a:lstStyle/>
          <a:p>
            <a:r>
              <a:rPr sz="3400" b="1" i="0">
                <a:solidFill>
                  <a:srgbClr val="0097A9"/>
                </a:solidFill>
                <a:latin typeface="Arial"/>
              </a:rPr>
              <a:t>Return depends on more than health</a:t>
            </a:r>
          </a:p>
        </p:txBody>
      </p:sp>
      <p:sp>
        <p:nvSpPr>
          <p:cNvPr id="11" name="TextBox 10"/>
          <p:cNvSpPr txBox="1"/>
          <p:nvPr/>
        </p:nvSpPr>
        <p:spPr>
          <a:xfrm>
            <a:off x="1209675" y="2800000"/>
            <a:ext cx="6750000" cy="3900000"/>
          </a:xfrm>
          <a:prstGeom prst="rect">
            <a:avLst/>
          </a:prstGeom>
          <a:noFill/>
        </p:spPr>
        <p:txBody>
          <a:bodyPr wrap="square" lIns="0" tIns="0" rIns="0" bIns="0">
            <a:spAutoFit/>
          </a:bodyPr>
          <a:lstStyle/>
          <a:p>
            <a:r>
              <a:rPr sz="2900" b="1" i="0">
                <a:solidFill>
                  <a:srgbClr val="3F3F3F"/>
                </a:solidFill>
                <a:latin typeface="Arial"/>
              </a:rPr>
              <a:t>The workplace</a:t>
            </a:r>
          </a:p>
          <a:p>
            <a:pPr marL="342900" indent="-342900">
              <a:spcBef>
                <a:spcPts val="1200"/>
              </a:spcBef>
              <a:buFont typeface="Arial"/>
              <a:buChar char="•"/>
            </a:pPr>
            <a:r>
              <a:rPr sz="2400" b="1" i="0">
                <a:solidFill>
                  <a:srgbClr val="3F3F3F"/>
                </a:solidFill>
                <a:latin typeface="Arial"/>
              </a:rPr>
              <a:t>Can the job adapt? </a:t>
            </a:r>
            <a:r>
              <a:rPr sz="2400" b="0" i="0">
                <a:solidFill>
                  <a:srgbClr val="3F3F3F"/>
                </a:solidFill>
                <a:latin typeface="Arial"/>
              </a:rPr>
              <a:t>Small firms may have no alternative role</a:t>
            </a:r>
          </a:p>
          <a:p>
            <a:pPr marL="342900" indent="-342900">
              <a:spcBef>
                <a:spcPts val="1200"/>
              </a:spcBef>
              <a:buFont typeface="Arial"/>
              <a:buChar char="•"/>
            </a:pPr>
            <a:r>
              <a:rPr sz="2400" b="0" i="0">
                <a:solidFill>
                  <a:srgbClr val="3F3F3F"/>
                </a:solidFill>
                <a:latin typeface="Arial"/>
              </a:rPr>
              <a:t>Doing only part of a job is often impractical</a:t>
            </a:r>
          </a:p>
          <a:p>
            <a:pPr marL="342900" indent="-342900">
              <a:spcBef>
                <a:spcPts val="1200"/>
              </a:spcBef>
              <a:buFont typeface="Arial"/>
              <a:buChar char="•"/>
            </a:pPr>
            <a:r>
              <a:rPr sz="2400" b="0" i="0">
                <a:solidFill>
                  <a:srgbClr val="3F3F3F"/>
                </a:solidFill>
                <a:latin typeface="Arial"/>
              </a:rPr>
              <a:t>Alternative roles must be in the right place</a:t>
            </a:r>
          </a:p>
          <a:p>
            <a:pPr marL="342900" indent="-342900">
              <a:spcBef>
                <a:spcPts val="1200"/>
              </a:spcBef>
              <a:buFont typeface="Arial"/>
              <a:buChar char="•"/>
            </a:pPr>
            <a:r>
              <a:rPr sz="2400" b="1" i="0">
                <a:solidFill>
                  <a:srgbClr val="3F3F3F"/>
                </a:solidFill>
                <a:latin typeface="Arial"/>
              </a:rPr>
              <a:t>Sometimes work is the problem: </a:t>
            </a:r>
            <a:r>
              <a:rPr sz="2400" b="0" i="0">
                <a:solidFill>
                  <a:srgbClr val="3F3F3F"/>
                </a:solidFill>
                <a:latin typeface="Arial"/>
              </a:rPr>
              <a:t>bullying, intimidation or abuse, real or perceived</a:t>
            </a:r>
          </a:p>
          <a:p>
            <a:pPr marL="342900" indent="-342900">
              <a:spcBef>
                <a:spcPts val="1200"/>
              </a:spcBef>
              <a:buFont typeface="Arial"/>
              <a:buChar char="•"/>
            </a:pPr>
            <a:r>
              <a:rPr sz="2400" b="0" i="0">
                <a:solidFill>
                  <a:srgbClr val="3F3F3F"/>
                </a:solidFill>
                <a:latin typeface="Arial"/>
              </a:rPr>
              <a:t>A culture that resists adaptation</a:t>
            </a:r>
          </a:p>
        </p:txBody>
      </p:sp>
      <p:cxnSp>
        <p:nvCxnSpPr>
          <p:cNvPr id="12" name="Connector 11"/>
          <p:cNvCxnSpPr/>
          <p:nvPr/>
        </p:nvCxnSpPr>
        <p:spPr>
          <a:xfrm>
            <a:off x="1209675" y="3330000"/>
            <a:ext cx="6750000" cy="0"/>
          </a:xfrm>
          <a:prstGeom prst="line">
            <a:avLst/>
          </a:prstGeom>
          <a:ln w="19050">
            <a:solidFill>
              <a:srgbClr val="0097A9"/>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480475" y="2800000"/>
            <a:ext cx="6750000" cy="3900000"/>
          </a:xfrm>
          <a:prstGeom prst="rect">
            <a:avLst/>
          </a:prstGeom>
          <a:noFill/>
        </p:spPr>
        <p:txBody>
          <a:bodyPr wrap="square" lIns="0" tIns="0" rIns="0" bIns="0">
            <a:spAutoFit/>
          </a:bodyPr>
          <a:lstStyle/>
          <a:p>
            <a:r>
              <a:rPr sz="2900" b="1" i="0">
                <a:solidFill>
                  <a:srgbClr val="3F3F3F"/>
                </a:solidFill>
                <a:latin typeface="Arial"/>
              </a:rPr>
              <a:t>Wider society</a:t>
            </a:r>
          </a:p>
          <a:p>
            <a:pPr marL="342900" indent="-342900">
              <a:spcBef>
                <a:spcPts val="1200"/>
              </a:spcBef>
              <a:buFont typeface="Arial"/>
              <a:buChar char="•"/>
            </a:pPr>
            <a:r>
              <a:rPr sz="2400" b="1" i="0">
                <a:solidFill>
                  <a:srgbClr val="3F3F3F"/>
                </a:solidFill>
                <a:latin typeface="Arial"/>
              </a:rPr>
              <a:t>A finite capacity to cope: </a:t>
            </a:r>
            <a:r>
              <a:rPr sz="2400" b="0" i="0">
                <a:solidFill>
                  <a:srgbClr val="3F3F3F"/>
                </a:solidFill>
                <a:latin typeface="Arial"/>
              </a:rPr>
              <a:t>domestic and caring demands can make a manageable condition incompatible with work</a:t>
            </a:r>
          </a:p>
          <a:p>
            <a:pPr marL="342900" indent="-342900">
              <a:spcBef>
                <a:spcPts val="1200"/>
              </a:spcBef>
              <a:buFont typeface="Arial"/>
              <a:buChar char="•"/>
            </a:pPr>
            <a:r>
              <a:rPr sz="2400" b="0" i="0">
                <a:solidFill>
                  <a:srgbClr val="3F3F3F"/>
                </a:solidFill>
                <a:latin typeface="Arial"/>
              </a:rPr>
              <a:t>Mental ill-health more widely accepted as a disability</a:t>
            </a:r>
          </a:p>
          <a:p>
            <a:pPr marL="342900" indent="-342900">
              <a:spcBef>
                <a:spcPts val="1200"/>
              </a:spcBef>
              <a:buFont typeface="Arial"/>
              <a:buChar char="•"/>
            </a:pPr>
            <a:r>
              <a:rPr sz="2400" b="0" i="0">
                <a:solidFill>
                  <a:srgbClr val="3F3F3F"/>
                </a:solidFill>
                <a:latin typeface="Arial"/>
              </a:rPr>
              <a:t>Possibly less presenteeism since the pandemic; the evidence is mixed</a:t>
            </a:r>
          </a:p>
        </p:txBody>
      </p:sp>
      <p:cxnSp>
        <p:nvCxnSpPr>
          <p:cNvPr id="14" name="Connector 13"/>
          <p:cNvCxnSpPr/>
          <p:nvPr/>
        </p:nvCxnSpPr>
        <p:spPr>
          <a:xfrm>
            <a:off x="8480475" y="3330000"/>
            <a:ext cx="6750000" cy="0"/>
          </a:xfrm>
          <a:prstGeom prst="line">
            <a:avLst/>
          </a:prstGeom>
          <a:ln w="19050">
            <a:solidFill>
              <a:srgbClr val="0097A9"/>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209675" y="6950000"/>
            <a:ext cx="13874750" cy="430887"/>
          </a:xfrm>
          <a:prstGeom prst="rect">
            <a:avLst/>
          </a:prstGeom>
          <a:noFill/>
        </p:spPr>
        <p:txBody>
          <a:bodyPr wrap="square" lIns="0" tIns="0" rIns="0" bIns="0">
            <a:spAutoFit/>
          </a:bodyPr>
          <a:lstStyle/>
          <a:p>
            <a:r>
              <a:rPr sz="2800" b="1" i="0" dirty="0">
                <a:solidFill>
                  <a:schemeClr val="tx1">
                    <a:lumMod val="50000"/>
                  </a:schemeClr>
                </a:solidFill>
                <a:latin typeface="Arial"/>
              </a:rPr>
              <a:t>Plausible mechanisms; their share of the rise since 2019 is not quantified</a:t>
            </a:r>
          </a:p>
        </p:txBody>
      </p:sp>
      <p:sp>
        <p:nvSpPr>
          <p:cNvPr id="16" name="TextBox 15"/>
          <p:cNvSpPr txBox="1"/>
          <p:nvPr/>
        </p:nvSpPr>
        <p:spPr>
          <a:xfrm>
            <a:off x="1209675" y="7800000"/>
            <a:ext cx="13144500" cy="300000"/>
          </a:xfrm>
          <a:prstGeom prst="rect">
            <a:avLst/>
          </a:prstGeom>
          <a:noFill/>
        </p:spPr>
        <p:txBody>
          <a:bodyPr wrap="square" lIns="0" tIns="0" rIns="0" bIns="0">
            <a:spAutoFit/>
          </a:bodyPr>
          <a:lstStyle/>
          <a:p>
            <a:r>
              <a:rPr sz="1700" b="0" i="0">
                <a:solidFill>
                  <a:srgbClr val="595959"/>
                </a:solidFill>
                <a:latin typeface="Arial"/>
              </a:rPr>
              <a:t>Presenter observations (C. Martin). CIPD 2025. Fonagy review, 2026. Sources in notes.</a:t>
            </a:r>
          </a:p>
        </p:txBody>
      </p:sp>
    </p:spTree>
    <p:extLst>
      <p:ext uri="{BB962C8B-B14F-4D97-AF65-F5344CB8AC3E}">
        <p14:creationId xmlns:p14="http://schemas.microsoft.com/office/powerpoint/2010/main" val="964511780"/>
      </p:ext>
    </p:extLst>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6F6C5742-1F6C-A710-52FA-1248F020C691}"/>
              </a:ext>
            </a:extLst>
          </p:cNvPr>
          <p:cNvSpPr>
            <a:spLocks noGrp="1"/>
          </p:cNvSpPr>
          <p:nvPr>
            <p:ph type="ftr" idx="3"/>
          </p:nvPr>
        </p:nvSpPr>
        <p:spPr>
          <a:xfrm>
            <a:off x="1117600" y="8382533"/>
            <a:ext cx="11368098" cy="486833"/>
          </a:xfrm>
          <a:prstGeom prst="rect">
            <a:avLst/>
          </a:prstGeom>
        </p:spPr>
        <p:txBody>
          <a:bodyPr vert="horz" lIns="91440" tIns="45720" rIns="91440" bIns="45720" anchor="ctr"/>
          <a:lstStyle>
            <a:lvl1pPr algn="r">
              <a:buNone/>
              <a:defRPr sz="1600">
                <a:solidFill>
                  <a:schemeClr val="tx1"/>
                </a:solidFill>
              </a:defRPr>
            </a:lvl1pPr>
          </a:lstStyle>
          <a:p>
            <a:r>
              <a:t>IFoA Life Conference</a:t>
            </a:r>
          </a:p>
        </p:txBody>
      </p:sp>
      <p:sp>
        <p:nvSpPr>
          <p:cNvPr id="8" name="Slide Number Placeholder 5">
            <a:extLst>
              <a:ext uri="{FF2B5EF4-FFF2-40B4-BE49-F238E27FC236}">
                <a16:creationId xmlns:a16="http://schemas.microsoft.com/office/drawing/2014/main" id="{A628090A-C45A-2639-D2CB-86DE80ECECC6}"/>
              </a:ext>
            </a:extLst>
          </p:cNvPr>
          <p:cNvSpPr>
            <a:spLocks noGrp="1"/>
          </p:cNvSpPr>
          <p:nvPr>
            <p:ph type="sldNum" idx="4"/>
          </p:nvPr>
        </p:nvSpPr>
        <p:spPr>
          <a:xfrm>
            <a:off x="14573177" y="8382533"/>
            <a:ext cx="529680" cy="486833"/>
          </a:xfrm>
          <a:prstGeom prst="rect">
            <a:avLst/>
          </a:prstGeom>
          <a:solidFill>
            <a:schemeClr val="tx1"/>
          </a:solidFill>
        </p:spPr>
        <p:txBody>
          <a:bodyPr vert="horz" lIns="91440" tIns="45720" rIns="91440" bIns="45720" anchor="ctr"/>
          <a:lstStyle>
            <a:lvl1pPr algn="ctr">
              <a:buNone/>
              <a:defRPr sz="1200" b="1" i="0">
                <a:solidFill>
                  <a:schemeClr val="bg1"/>
                </a:solidFill>
                <a:latin typeface="Arial"/>
                <a:ea typeface="Arial"/>
                <a:cs typeface="Arial"/>
              </a:defRPr>
            </a:lvl1pPr>
          </a:lstStyle>
          <a:p>
            <a:fld id="{EFD6AB9A-5F9E-5F59-51AB-3C8734130965}" type="slidenum">
              <a:rPr/>
              <a:t>12</a:t>
            </a:fld>
            <a:endParaRPr/>
          </a:p>
        </p:txBody>
      </p:sp>
      <p:sp>
        <p:nvSpPr>
          <p:cNvPr id="9" name="TextBox 8"/>
          <p:cNvSpPr txBox="1"/>
          <p:nvPr/>
        </p:nvSpPr>
        <p:spPr>
          <a:xfrm>
            <a:off x="1209008" y="515098"/>
            <a:ext cx="14020800" cy="809720"/>
          </a:xfrm>
          <a:prstGeom prst="rect">
            <a:avLst/>
          </a:prstGeom>
          <a:noFill/>
        </p:spPr>
        <p:txBody>
          <a:bodyPr wrap="square" lIns="0" tIns="0" rIns="0" bIns="0">
            <a:spAutoFit/>
          </a:bodyPr>
          <a:lstStyle/>
          <a:p>
            <a:r>
              <a:rPr sz="4400" b="1" i="0">
                <a:solidFill>
                  <a:srgbClr val="3F3F3F"/>
                </a:solidFill>
                <a:latin typeface="Arial"/>
              </a:rPr>
              <a:t>Proposed changes</a:t>
            </a:r>
          </a:p>
        </p:txBody>
      </p:sp>
      <p:sp>
        <p:nvSpPr>
          <p:cNvPr id="10" name="TextBox 9"/>
          <p:cNvSpPr txBox="1"/>
          <p:nvPr/>
        </p:nvSpPr>
        <p:spPr>
          <a:xfrm>
            <a:off x="1209675" y="1714500"/>
            <a:ext cx="14020800" cy="869156"/>
          </a:xfrm>
          <a:prstGeom prst="rect">
            <a:avLst/>
          </a:prstGeom>
          <a:noFill/>
        </p:spPr>
        <p:txBody>
          <a:bodyPr wrap="square" lIns="0" tIns="0" rIns="0" bIns="0">
            <a:spAutoFit/>
          </a:bodyPr>
          <a:lstStyle/>
          <a:p>
            <a:r>
              <a:rPr sz="3400" b="1" i="0">
                <a:solidFill>
                  <a:srgbClr val="0097A9"/>
                </a:solidFill>
                <a:latin typeface="Arial"/>
              </a:rPr>
              <a:t>Promising proposals, with caveats</a:t>
            </a:r>
          </a:p>
        </p:txBody>
      </p:sp>
      <p:graphicFrame>
        <p:nvGraphicFramePr>
          <p:cNvPr id="11" name="Table 10"/>
          <p:cNvGraphicFramePr>
            <a:graphicFrameLocks noGrp="1"/>
          </p:cNvGraphicFramePr>
          <p:nvPr/>
        </p:nvGraphicFramePr>
        <p:xfrm>
          <a:off x="1209675" y="2700000"/>
          <a:ext cx="14020800" cy="3130000"/>
        </p:xfrm>
        <a:graphic>
          <a:graphicData uri="http://schemas.openxmlformats.org/drawingml/2006/table">
            <a:tbl>
              <a:tblPr firstRow="1">
                <a:tableStyleId>{5C22544A-7EE6-4342-B048-85BDC9FD1C3A}</a:tableStyleId>
              </a:tblPr>
              <a:tblGrid>
                <a:gridCol w="3600000">
                  <a:extLst>
                    <a:ext uri="{9D8B030D-6E8A-4147-A177-3AD203B41FA5}">
                      <a16:colId xmlns:a16="http://schemas.microsoft.com/office/drawing/2014/main" val="20000"/>
                    </a:ext>
                  </a:extLst>
                </a:gridCol>
                <a:gridCol w="4800000">
                  <a:extLst>
                    <a:ext uri="{9D8B030D-6E8A-4147-A177-3AD203B41FA5}">
                      <a16:colId xmlns:a16="http://schemas.microsoft.com/office/drawing/2014/main" val="20001"/>
                    </a:ext>
                  </a:extLst>
                </a:gridCol>
                <a:gridCol w="5620800">
                  <a:extLst>
                    <a:ext uri="{9D8B030D-6E8A-4147-A177-3AD203B41FA5}">
                      <a16:colId xmlns:a16="http://schemas.microsoft.com/office/drawing/2014/main" val="20002"/>
                    </a:ext>
                  </a:extLst>
                </a:gridCol>
              </a:tblGrid>
              <a:tr h="640000">
                <a:tc>
                  <a:txBody>
                    <a:bodyPr/>
                    <a:lstStyle/>
                    <a:p>
                      <a:r>
                        <a:rPr sz="2600" b="1" i="0">
                          <a:solidFill>
                            <a:srgbClr val="FFFFFF"/>
                          </a:solidFill>
                          <a:latin typeface="Arial"/>
                        </a:rPr>
                        <a:t>Proposal</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0097A9"/>
                    </a:solidFill>
                  </a:tcPr>
                </a:tc>
                <a:tc>
                  <a:txBody>
                    <a:bodyPr/>
                    <a:lstStyle/>
                    <a:p>
                      <a:r>
                        <a:rPr sz="2600" b="1" i="0">
                          <a:solidFill>
                            <a:srgbClr val="FFFFFF"/>
                          </a:solidFill>
                          <a:latin typeface="Arial"/>
                        </a:rPr>
                        <a:t>What it could do</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0097A9"/>
                    </a:solidFill>
                  </a:tcPr>
                </a:tc>
                <a:tc>
                  <a:txBody>
                    <a:bodyPr/>
                    <a:lstStyle/>
                    <a:p>
                      <a:r>
                        <a:rPr sz="2600" b="1" i="0">
                          <a:solidFill>
                            <a:srgbClr val="FFFFFF"/>
                          </a:solidFill>
                          <a:latin typeface="Arial"/>
                        </a:rPr>
                        <a:t>Clinical caveat</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0097A9"/>
                    </a:solidFill>
                  </a:tcPr>
                </a:tc>
                <a:extLst>
                  <a:ext uri="{0D108BD9-81ED-4DB2-BD59-A6C34878D82A}">
                    <a16:rowId xmlns:a16="http://schemas.microsoft.com/office/drawing/2014/main" val="10000"/>
                  </a:ext>
                </a:extLst>
              </a:tr>
              <a:tr h="830000">
                <a:tc>
                  <a:txBody>
                    <a:bodyPr/>
                    <a:lstStyle/>
                    <a:p>
                      <a:r>
                        <a:rPr sz="2400" b="1" i="0">
                          <a:solidFill>
                            <a:srgbClr val="3F3F3F"/>
                          </a:solidFill>
                          <a:latin typeface="Arial"/>
                        </a:rPr>
                        <a:t>Workplace health provision</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tc>
                  <a:txBody>
                    <a:bodyPr/>
                    <a:lstStyle/>
                    <a:p>
                      <a:r>
                        <a:rPr sz="2400" b="0" i="0">
                          <a:solidFill>
                            <a:srgbClr val="3F3F3F"/>
                          </a:solidFill>
                          <a:latin typeface="Arial"/>
                        </a:rPr>
                        <a:t>Help employers adapt roles and phase returns</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tc>
                  <a:txBody>
                    <a:bodyPr/>
                    <a:lstStyle/>
                    <a:p>
                      <a:r>
                        <a:rPr sz="2400" b="0" i="0">
                          <a:solidFill>
                            <a:srgbClr val="3F3F3F"/>
                          </a:solidFill>
                          <a:latin typeface="Arial"/>
                        </a:rPr>
                        <a:t>Still relies on NHS services for anything beyond minor episodes</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extLst>
                  <a:ext uri="{0D108BD9-81ED-4DB2-BD59-A6C34878D82A}">
                    <a16:rowId xmlns:a16="http://schemas.microsoft.com/office/drawing/2014/main" val="10001"/>
                  </a:ext>
                </a:extLst>
              </a:tr>
              <a:tr h="830000">
                <a:tc>
                  <a:txBody>
                    <a:bodyPr/>
                    <a:lstStyle/>
                    <a:p>
                      <a:r>
                        <a:rPr sz="2400" b="1" i="0">
                          <a:solidFill>
                            <a:srgbClr val="3F3F3F"/>
                          </a:solidFill>
                          <a:latin typeface="Arial"/>
                        </a:rPr>
                        <a:t>Early contact during absence</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tc>
                  <a:txBody>
                    <a:bodyPr/>
                    <a:lstStyle/>
                    <a:p>
                      <a:r>
                        <a:rPr sz="2400" b="0" i="0">
                          <a:solidFill>
                            <a:srgbClr val="3F3F3F"/>
                          </a:solidFill>
                          <a:latin typeface="Arial"/>
                        </a:rPr>
                        <a:t>Keep people connected to their job</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tc>
                  <a:txBody>
                    <a:bodyPr/>
                    <a:lstStyle/>
                    <a:p>
                      <a:r>
                        <a:rPr sz="2400" b="0" i="0">
                          <a:solidFill>
                            <a:srgbClr val="3F3F3F"/>
                          </a:solidFill>
                          <a:latin typeface="Arial"/>
                        </a:rPr>
                        <a:t>Can feel like harassment when stress is work-related; making it routine may help</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extLst>
                  <a:ext uri="{0D108BD9-81ED-4DB2-BD59-A6C34878D82A}">
                    <a16:rowId xmlns:a16="http://schemas.microsoft.com/office/drawing/2014/main" val="10002"/>
                  </a:ext>
                </a:extLst>
              </a:tr>
              <a:tr h="830000">
                <a:tc>
                  <a:txBody>
                    <a:bodyPr/>
                    <a:lstStyle/>
                    <a:p>
                      <a:r>
                        <a:rPr sz="2400" b="1" i="0">
                          <a:solidFill>
                            <a:srgbClr val="3F3F3F"/>
                          </a:solidFill>
                          <a:latin typeface="Arial"/>
                        </a:rPr>
                        <a:t>Healthy Working Lifecycle</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tc>
                  <a:txBody>
                    <a:bodyPr/>
                    <a:lstStyle/>
                    <a:p>
                      <a:r>
                        <a:rPr sz="2400" b="0" i="0">
                          <a:solidFill>
                            <a:srgbClr val="3F3F3F"/>
                          </a:solidFill>
                          <a:latin typeface="Arial"/>
                        </a:rPr>
                        <a:t>A conceptual basis for building workplace health provision</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tc>
                  <a:txBody>
                    <a:bodyPr/>
                    <a:lstStyle/>
                    <a:p>
                      <a:r>
                        <a:rPr sz="2400" b="0" i="0">
                          <a:solidFill>
                            <a:srgbClr val="3F3F3F"/>
                          </a:solidFill>
                          <a:latin typeface="Arial"/>
                        </a:rPr>
                        <a:t>Its value is at system level, more than for keeping individual cases in work</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12" name="Rounded Rectangle 11"/>
          <p:cNvSpPr/>
          <p:nvPr/>
        </p:nvSpPr>
        <p:spPr>
          <a:xfrm>
            <a:off x="1209675" y="6250000"/>
            <a:ext cx="14020800" cy="1150000"/>
          </a:xfrm>
          <a:prstGeom prst="roundRect">
            <a:avLst/>
          </a:prstGeom>
          <a:solidFill>
            <a:srgbClr val="0097A9"/>
          </a:solidFill>
          <a:ln>
            <a:noFill/>
          </a:ln>
          <a:effectLst/>
        </p:spPr>
        <p:style>
          <a:lnRef idx="1">
            <a:schemeClr val="accent1"/>
          </a:lnRef>
          <a:fillRef idx="3">
            <a:schemeClr val="accent1"/>
          </a:fillRef>
          <a:effectRef idx="2">
            <a:schemeClr val="accent1"/>
          </a:effectRef>
          <a:fontRef idx="minor">
            <a:schemeClr val="lt1"/>
          </a:fontRef>
        </p:style>
        <p:txBody>
          <a:bodyPr wrap="square" lIns="300000" rIns="300000" rtlCol="0" anchor="ctr"/>
          <a:lstStyle/>
          <a:p>
            <a:pPr algn="ctr"/>
            <a:r>
              <a:rPr sz="2600" b="1" i="0">
                <a:solidFill>
                  <a:srgbClr val="FFFFFF"/>
                </a:solidFill>
                <a:latin typeface="Arial"/>
              </a:rPr>
              <a:t>The measurement gap: </a:t>
            </a:r>
            <a:r>
              <a:rPr sz="2600" b="0" i="0">
                <a:solidFill>
                  <a:srgbClr val="FFFFFF"/>
                </a:solidFill>
                <a:latin typeface="Arial"/>
              </a:rPr>
              <a:t>sustained return to work is seldom measured consistently. Modelling onset, recovery and recurrence can help fill it.</a:t>
            </a:r>
          </a:p>
        </p:txBody>
      </p:sp>
      <p:sp>
        <p:nvSpPr>
          <p:cNvPr id="13" name="TextBox 12"/>
          <p:cNvSpPr txBox="1"/>
          <p:nvPr/>
        </p:nvSpPr>
        <p:spPr>
          <a:xfrm>
            <a:off x="1209675" y="7800000"/>
            <a:ext cx="13144500" cy="300000"/>
          </a:xfrm>
          <a:prstGeom prst="rect">
            <a:avLst/>
          </a:prstGeom>
          <a:noFill/>
        </p:spPr>
        <p:txBody>
          <a:bodyPr wrap="square" lIns="0" tIns="0" rIns="0" bIns="0">
            <a:spAutoFit/>
          </a:bodyPr>
          <a:lstStyle/>
          <a:p>
            <a:r>
              <a:rPr sz="1700" b="0" i="0">
                <a:solidFill>
                  <a:srgbClr val="595959"/>
                </a:solidFill>
                <a:latin typeface="Arial"/>
              </a:rPr>
              <a:t>Mayfield, Keep Britain Working (Nov 2025) and September 2026 update. Caveats: C. Martin.</a:t>
            </a:r>
          </a:p>
        </p:txBody>
      </p:sp>
    </p:spTree>
    <p:extLst>
      <p:ext uri="{BB962C8B-B14F-4D97-AF65-F5344CB8AC3E}">
        <p14:creationId xmlns:p14="http://schemas.microsoft.com/office/powerpoint/2010/main" val="3409496997"/>
      </p:ext>
    </p:extLst>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500000" y="3400000"/>
            <a:ext cx="13256000" cy="2200000"/>
          </a:xfrm>
        </p:spPr>
        <p:txBody>
          <a:bodyPr/>
          <a:lstStyle/>
          <a:p>
            <a:pPr marL="0" lvl="0" indent="0">
              <a:buNone/>
            </a:pPr>
            <a:r>
              <a:rPr dirty="0">
                <a:solidFill>
                  <a:schemeClr val="bg1"/>
                </a:solidFill>
              </a:rPr>
              <a:t>From survey data to administrative data</a:t>
            </a:r>
          </a:p>
        </p:txBody>
      </p:sp>
      <p:sp>
        <p:nvSpPr>
          <p:cNvPr id="8" name="Footer Placeholder 4">
            <a:extLst>
              <a:ext uri="{FF2B5EF4-FFF2-40B4-BE49-F238E27FC236}">
                <a16:creationId xmlns:a16="http://schemas.microsoft.com/office/drawing/2014/main" id="{15C406F6-FE38-14E0-8BF8-B9AC42B3EF15}"/>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bg1"/>
                </a:solidFill>
              </a:defRPr>
            </a:lvl1pPr>
          </a:lstStyle>
          <a:p>
            <a:r>
              <a:rPr lang="en-GB"/>
              <a:t>IFoA Life Conference</a:t>
            </a:r>
            <a:endParaRPr lang="en-GB" dirty="0"/>
          </a:p>
        </p:txBody>
      </p:sp>
      <p:sp>
        <p:nvSpPr>
          <p:cNvPr id="9" name="Slide Number Placeholder 5">
            <a:extLst>
              <a:ext uri="{FF2B5EF4-FFF2-40B4-BE49-F238E27FC236}">
                <a16:creationId xmlns:a16="http://schemas.microsoft.com/office/drawing/2014/main" id="{C18B60AF-E1FE-C3E6-C9A3-0721F1D08E6F}"/>
              </a:ext>
            </a:extLst>
          </p:cNvPr>
          <p:cNvSpPr>
            <a:spLocks noGrp="1"/>
          </p:cNvSpPr>
          <p:nvPr>
            <p:ph type="sldNum" sz="quarter" idx="4"/>
          </p:nvPr>
        </p:nvSpPr>
        <p:spPr>
          <a:xfrm>
            <a:off x="14573177" y="8382533"/>
            <a:ext cx="529680" cy="486833"/>
          </a:xfrm>
          <a:prstGeom prst="rect">
            <a:avLst/>
          </a:prstGeom>
          <a:solidFill>
            <a:schemeClr val="bg1"/>
          </a:solidFill>
        </p:spPr>
        <p:txBody>
          <a:bodyPr vert="horz" lIns="91440" tIns="45720" rIns="91440" bIns="45720" rtlCol="0" anchor="ctr"/>
          <a:lstStyle>
            <a:lvl1pPr algn="ctr">
              <a:defRPr sz="1200" b="1" i="0">
                <a:solidFill>
                  <a:schemeClr val="tx1"/>
                </a:solidFill>
                <a:latin typeface="Arial" panose="020B0604020202020204" pitchFamily="34" charset="0"/>
                <a:cs typeface="Arial" panose="020B0604020202020204" pitchFamily="34" charset="0"/>
              </a:defRPr>
            </a:lvl1pPr>
          </a:lstStyle>
          <a:p>
            <a:fld id="{40FC62D0-A2F2-4BF8-8DAC-E86C11000EC3}" type="slidenum">
              <a:rPr lang="en-GB" smtClean="0"/>
              <a:pPr/>
              <a:t>13</a:t>
            </a:fld>
            <a:endParaRPr lang="en-GB" dirty="0"/>
          </a:p>
        </p:txBody>
      </p:sp>
      <p:sp>
        <p:nvSpPr>
          <p:cNvPr id="3" name="TextBox 2">
            <a:extLst>
              <a:ext uri="{FF2B5EF4-FFF2-40B4-BE49-F238E27FC236}">
                <a16:creationId xmlns:a16="http://schemas.microsoft.com/office/drawing/2014/main" id="{1C9A448C-6B9C-6891-17DC-4CF9DDCB84DA}"/>
              </a:ext>
            </a:extLst>
          </p:cNvPr>
          <p:cNvSpPr txBox="1"/>
          <p:nvPr/>
        </p:nvSpPr>
        <p:spPr>
          <a:xfrm>
            <a:off x="12221737" y="256478"/>
            <a:ext cx="2096429" cy="369332"/>
          </a:xfrm>
          <a:prstGeom prst="rect">
            <a:avLst/>
          </a:prstGeom>
          <a:solidFill>
            <a:schemeClr val="accent5">
              <a:lumMod val="60000"/>
              <a:lumOff val="40000"/>
            </a:schemeClr>
          </a:solidFill>
        </p:spPr>
        <p:txBody>
          <a:bodyPr wrap="square" rtlCol="0">
            <a:spAutoFit/>
          </a:bodyPr>
          <a:lstStyle/>
          <a:p>
            <a:r>
              <a:rPr lang="en-GB" dirty="0"/>
              <a:t>Jon 5 - 10 mins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4020798" cy="809696"/>
          </a:xfrm>
        </p:spPr>
        <p:txBody>
          <a:bodyPr/>
          <a:lstStyle/>
          <a:p>
            <a:pPr marL="0" lvl="0" indent="0">
              <a:buNone/>
            </a:pPr>
            <a:r>
              <a:t>Multi-state models: a reminder</a:t>
            </a:r>
          </a:p>
        </p:txBody>
      </p:sp>
      <p:pic>
        <p:nvPicPr>
          <p:cNvPr id="2" name="Picture 1" descr="media/bridge_states_stacked.png"/>
          <p:cNvPicPr>
            <a:picLocks noGrp="1" noChangeAspect="1"/>
          </p:cNvPicPr>
          <p:nvPr/>
        </p:nvPicPr>
        <p:blipFill>
          <a:blip r:embed="rId3"/>
          <a:stretch>
            <a:fillRect/>
          </a:stretch>
        </p:blipFill>
        <p:spPr bwMode="auto">
          <a:xfrm>
            <a:off x="1752600" y="2260600"/>
            <a:ext cx="5600700" cy="5448300"/>
          </a:xfrm>
          <a:prstGeom prst="rect">
            <a:avLst/>
          </a:prstGeom>
          <a:noFill/>
          <a:ln w="9525">
            <a:noFill/>
            <a:headEnd/>
            <a:tailEnd/>
          </a:ln>
        </p:spPr>
      </p:pic>
      <p:sp>
        <p:nvSpPr>
          <p:cNvPr id="9" name="Content Placeholder 9">
            <a:extLst>
              <a:ext uri="{FF2B5EF4-FFF2-40B4-BE49-F238E27FC236}">
                <a16:creationId xmlns:a16="http://schemas.microsoft.com/office/drawing/2014/main" id="{8BE77E02-92D4-079E-ADD9-4455ABC3C3FA}"/>
              </a:ext>
            </a:extLst>
          </p:cNvPr>
          <p:cNvSpPr>
            <a:spLocks noGrp="1"/>
          </p:cNvSpPr>
          <p:nvPr>
            <p:ph sz="quarter" idx="25" hasCustomPrompt="1"/>
          </p:nvPr>
        </p:nvSpPr>
        <p:spPr>
          <a:xfrm>
            <a:off x="8229600" y="2269322"/>
            <a:ext cx="6896104" cy="5459309"/>
          </a:xfrm>
        </p:spPr>
        <p:txBody>
          <a:bodyPr wrap="square" rtlCol="0">
            <a:normAutofit/>
          </a:bodyPr>
          <a:lstStyle/>
          <a:p>
            <a:pPr lvl="0"/>
            <a:r>
              <a:t>A life table is a two-state model. Add states, and the same machinery gives </a:t>
            </a:r>
            <a:r>
              <a:rPr b="1"/>
              <a:t>expected time in each state</a:t>
            </a:r>
            <a:r>
              <a:t>: HWLE is expected years </a:t>
            </a:r>
            <a:r>
              <a:rPr i="1"/>
              <a:t>working</a:t>
            </a:r>
            <a:r>
              <a:t>.</a:t>
            </a:r>
          </a:p>
          <a:p>
            <a:pPr lvl="0"/>
            <a:r>
              <a:rPr b="1"/>
              <a:t>Absorbing</a:t>
            </a:r>
            <a:r>
              <a:t> states can’t be left (death, double border). </a:t>
            </a:r>
            <a:r>
              <a:rPr b="1"/>
              <a:t>Non-absorbing</a:t>
            </a:r>
            <a:r>
              <a:t> states can: sickness allows recovery.</a:t>
            </a:r>
          </a:p>
          <a:p>
            <a:pPr lvl="0"/>
            <a:r>
              <a:t>Retirement is usually modelled as one-way, but in life it isn’t quite absorbing.</a:t>
            </a:r>
          </a:p>
        </p:txBody>
      </p:sp>
      <p:sp>
        <p:nvSpPr>
          <p:cNvPr id="7" name="Footer Placeholder 4">
            <a:extLst>
              <a:ext uri="{FF2B5EF4-FFF2-40B4-BE49-F238E27FC236}">
                <a16:creationId xmlns:a16="http://schemas.microsoft.com/office/drawing/2014/main" id="{6F6C5742-1F6C-A710-52FA-1248F020C691}"/>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8" name="Slide Number Placeholder 5">
            <a:extLst>
              <a:ext uri="{FF2B5EF4-FFF2-40B4-BE49-F238E27FC236}">
                <a16:creationId xmlns:a16="http://schemas.microsoft.com/office/drawing/2014/main" id="{A628090A-C45A-2639-D2CB-86DE80ECECC6}"/>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14</a:t>
            </a:fld>
            <a:endParaRPr lang="en-GB" dirty="0"/>
          </a:p>
        </p:txBody>
      </p:sp>
      <p:sp>
        <p:nvSpPr>
          <p:cNvPr id="4" name="TextBox 3">
            <a:extLst>
              <a:ext uri="{FF2B5EF4-FFF2-40B4-BE49-F238E27FC236}">
                <a16:creationId xmlns:a16="http://schemas.microsoft.com/office/drawing/2014/main" id="{CDFEF028-593D-B003-19A4-014E4D5163A2}"/>
              </a:ext>
            </a:extLst>
          </p:cNvPr>
          <p:cNvSpPr txBox="1"/>
          <p:nvPr/>
        </p:nvSpPr>
        <p:spPr>
          <a:xfrm>
            <a:off x="12221737" y="256478"/>
            <a:ext cx="2096429" cy="369332"/>
          </a:xfrm>
          <a:prstGeom prst="rect">
            <a:avLst/>
          </a:prstGeom>
          <a:solidFill>
            <a:schemeClr val="accent5">
              <a:lumMod val="60000"/>
              <a:lumOff val="40000"/>
            </a:schemeClr>
          </a:solidFill>
        </p:spPr>
        <p:txBody>
          <a:bodyPr wrap="square" rtlCol="0">
            <a:spAutoFit/>
          </a:bodyPr>
          <a:lstStyle/>
          <a:p>
            <a:r>
              <a:rPr lang="en-GB" dirty="0"/>
              <a:t>Jon 2 - 3 mins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4020798" cy="809696"/>
          </a:xfrm>
        </p:spPr>
        <p:txBody>
          <a:bodyPr/>
          <a:lstStyle/>
          <a:p>
            <a:pPr marL="0" lvl="0" indent="0">
              <a:buNone/>
            </a:pPr>
            <a:r>
              <a:t>Same machinery, two traditions</a:t>
            </a:r>
          </a:p>
        </p:txBody>
      </p:sp>
      <p:sp>
        <p:nvSpPr>
          <p:cNvPr id="23" name="Content Placeholder 9">
            <a:extLst>
              <a:ext uri="{FF2B5EF4-FFF2-40B4-BE49-F238E27FC236}">
                <a16:creationId xmlns:a16="http://schemas.microsoft.com/office/drawing/2014/main" id="{0C532851-4697-4B02-B344-E4852AF78CBF}"/>
              </a:ext>
            </a:extLst>
          </p:cNvPr>
          <p:cNvSpPr>
            <a:spLocks noGrp="1"/>
          </p:cNvSpPr>
          <p:nvPr>
            <p:ph sz="quarter" idx="13" hasCustomPrompt="1"/>
          </p:nvPr>
        </p:nvSpPr>
        <p:spPr>
          <a:xfrm>
            <a:off x="1104904" y="2269323"/>
            <a:ext cx="6896104" cy="5459310"/>
          </a:xfrm>
        </p:spPr>
        <p:txBody>
          <a:bodyPr wrap="square" rtlCol="0">
            <a:normAutofit/>
          </a:bodyPr>
          <a:lstStyle/>
          <a:p>
            <a:pPr marL="0" lvl="0" indent="0">
              <a:buNone/>
            </a:pPr>
            <a:r>
              <a:rPr b="1"/>
              <a:t>Health economics</a:t>
            </a:r>
          </a:p>
          <a:p>
            <a:pPr lvl="0"/>
            <a:r>
              <a:t>Markov </a:t>
            </a:r>
            <a:r>
              <a:rPr i="1"/>
              <a:t>cohort</a:t>
            </a:r>
            <a:r>
              <a:t> models with many states, recovery included</a:t>
            </a:r>
          </a:p>
          <a:p>
            <a:pPr lvl="0"/>
            <a:r>
              <a:t>Each state carries a </a:t>
            </a:r>
            <a:r>
              <a:rPr b="1"/>
              <a:t>cost</a:t>
            </a:r>
            <a:r>
              <a:t> and a </a:t>
            </a:r>
            <a:r>
              <a:rPr b="1"/>
              <a:t>utility</a:t>
            </a:r>
            <a:r>
              <a:t> (quality of life)</a:t>
            </a:r>
          </a:p>
          <a:p>
            <a:pPr lvl="0"/>
            <a:r>
              <a:t>Question: </a:t>
            </a:r>
            <a:r>
              <a:rPr i="1"/>
              <a:t>is this intervention worth paying for?</a:t>
            </a:r>
            <a:r>
              <a:t> (cost per QALY)</a:t>
            </a:r>
          </a:p>
          <a:p>
            <a:pPr lvl="0"/>
            <a:r>
              <a:t>Usually parameterised from trials and </a:t>
            </a:r>
            <a:r>
              <a:rPr b="1"/>
              <a:t>surveys</a:t>
            </a:r>
          </a:p>
        </p:txBody>
      </p:sp>
      <p:sp>
        <p:nvSpPr>
          <p:cNvPr id="9" name="Content Placeholder 9">
            <a:extLst>
              <a:ext uri="{FF2B5EF4-FFF2-40B4-BE49-F238E27FC236}">
                <a16:creationId xmlns:a16="http://schemas.microsoft.com/office/drawing/2014/main" id="{8BE77E02-92D4-079E-ADD9-4455ABC3C3FA}"/>
              </a:ext>
            </a:extLst>
          </p:cNvPr>
          <p:cNvSpPr>
            <a:spLocks noGrp="1"/>
          </p:cNvSpPr>
          <p:nvPr>
            <p:ph sz="quarter" idx="25" hasCustomPrompt="1"/>
          </p:nvPr>
        </p:nvSpPr>
        <p:spPr>
          <a:xfrm>
            <a:off x="8229600" y="2269322"/>
            <a:ext cx="6896104" cy="5459309"/>
          </a:xfrm>
        </p:spPr>
        <p:txBody>
          <a:bodyPr wrap="square" rtlCol="0">
            <a:normAutofit/>
          </a:bodyPr>
          <a:lstStyle/>
          <a:p>
            <a:pPr marL="0" lvl="0" indent="0">
              <a:buNone/>
            </a:pPr>
            <a:r>
              <a:rPr b="1"/>
              <a:t>Actuarial</a:t>
            </a:r>
          </a:p>
          <a:p>
            <a:pPr lvl="0"/>
            <a:r>
              <a:t>Multi-state models from </a:t>
            </a:r>
            <a:r>
              <a:rPr b="1"/>
              <a:t>dated events</a:t>
            </a:r>
            <a:r>
              <a:t> (time-to-event)</a:t>
            </a:r>
          </a:p>
          <a:p>
            <a:pPr lvl="0"/>
            <a:r>
              <a:t>Rates can depend on </a:t>
            </a:r>
            <a:r>
              <a:rPr b="1"/>
              <a:t>duration</a:t>
            </a:r>
            <a:r>
              <a:t> in a state</a:t>
            </a:r>
          </a:p>
          <a:p>
            <a:pPr lvl="0"/>
            <a:r>
              <a:t>Question: </a:t>
            </a:r>
            <a:r>
              <a:rPr i="1"/>
              <a:t>how long, and at what cost, in each state?</a:t>
            </a:r>
          </a:p>
          <a:p>
            <a:pPr lvl="0"/>
            <a:r>
              <a:t>Usually parameterised from </a:t>
            </a:r>
            <a:r>
              <a:rPr b="1"/>
              <a:t>experience data</a:t>
            </a:r>
          </a:p>
          <a:p>
            <a:pPr marL="0" lvl="0" indent="0">
              <a:buNone/>
            </a:pPr>
            <a:r>
              <a:rPr i="1"/>
              <a:t>HWLE sits between them: a public-health question answered with actuarial tools.</a:t>
            </a:r>
          </a:p>
        </p:txBody>
      </p:sp>
      <p:sp>
        <p:nvSpPr>
          <p:cNvPr id="7" name="Footer Placeholder 4">
            <a:extLst>
              <a:ext uri="{FF2B5EF4-FFF2-40B4-BE49-F238E27FC236}">
                <a16:creationId xmlns:a16="http://schemas.microsoft.com/office/drawing/2014/main" id="{6F6C5742-1F6C-A710-52FA-1248F020C691}"/>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8" name="Slide Number Placeholder 5">
            <a:extLst>
              <a:ext uri="{FF2B5EF4-FFF2-40B4-BE49-F238E27FC236}">
                <a16:creationId xmlns:a16="http://schemas.microsoft.com/office/drawing/2014/main" id="{A628090A-C45A-2639-D2CB-86DE80ECECC6}"/>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15</a:t>
            </a:fld>
            <a:endParaRPr lang="en-GB" dirty="0"/>
          </a:p>
        </p:txBody>
      </p:sp>
      <p:sp>
        <p:nvSpPr>
          <p:cNvPr id="3" name="TextBox 2">
            <a:extLst>
              <a:ext uri="{FF2B5EF4-FFF2-40B4-BE49-F238E27FC236}">
                <a16:creationId xmlns:a16="http://schemas.microsoft.com/office/drawing/2014/main" id="{0A6240D4-15D8-0ACD-B9A5-40D096D7C11F}"/>
              </a:ext>
            </a:extLst>
          </p:cNvPr>
          <p:cNvSpPr txBox="1"/>
          <p:nvPr/>
        </p:nvSpPr>
        <p:spPr>
          <a:xfrm>
            <a:off x="12221737" y="256478"/>
            <a:ext cx="2096429" cy="369332"/>
          </a:xfrm>
          <a:prstGeom prst="rect">
            <a:avLst/>
          </a:prstGeom>
          <a:solidFill>
            <a:schemeClr val="accent5">
              <a:lumMod val="60000"/>
              <a:lumOff val="40000"/>
            </a:schemeClr>
          </a:solidFill>
        </p:spPr>
        <p:txBody>
          <a:bodyPr wrap="square" rtlCol="0">
            <a:spAutoFit/>
          </a:bodyPr>
          <a:lstStyle/>
          <a:p>
            <a:r>
              <a:rPr lang="en-GB" dirty="0"/>
              <a:t>Jon 2 - 3 mins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4020798" cy="809696"/>
          </a:xfrm>
        </p:spPr>
        <p:txBody>
          <a:bodyPr/>
          <a:lstStyle/>
          <a:p>
            <a:pPr marL="0" lvl="0" indent="0">
              <a:buNone/>
            </a:pPr>
            <a:r>
              <a:t>What survey data give us, and what they force on us</a:t>
            </a:r>
          </a:p>
        </p:txBody>
      </p:sp>
      <p:sp>
        <p:nvSpPr>
          <p:cNvPr id="23" name="Content Placeholder 9">
            <a:extLst>
              <a:ext uri="{FF2B5EF4-FFF2-40B4-BE49-F238E27FC236}">
                <a16:creationId xmlns:a16="http://schemas.microsoft.com/office/drawing/2014/main" id="{0C532851-4697-4B02-B344-E4852AF78CBF}"/>
              </a:ext>
            </a:extLst>
          </p:cNvPr>
          <p:cNvSpPr>
            <a:spLocks noGrp="1"/>
          </p:cNvSpPr>
          <p:nvPr>
            <p:ph sz="quarter" idx="13" hasCustomPrompt="1"/>
          </p:nvPr>
        </p:nvSpPr>
        <p:spPr>
          <a:xfrm>
            <a:off x="1104904" y="2269323"/>
            <a:ext cx="6896104" cy="5459310"/>
          </a:xfrm>
        </p:spPr>
        <p:txBody>
          <a:bodyPr wrap="square" rtlCol="0">
            <a:normAutofit/>
          </a:bodyPr>
          <a:lstStyle/>
          <a:p>
            <a:pPr marL="0" lvl="0" indent="0">
              <a:buNone/>
            </a:pPr>
            <a:r>
              <a:rPr b="1"/>
              <a:t>Surveys give us</a:t>
            </a:r>
            <a:r>
              <a:t> (ELSA, Understanding Society)</a:t>
            </a:r>
          </a:p>
          <a:p>
            <a:pPr lvl="0"/>
            <a:r>
              <a:t>The whole population, including people </a:t>
            </a:r>
            <a:r>
              <a:rPr i="1"/>
              <a:t>not</a:t>
            </a:r>
            <a:r>
              <a:t> working or insured</a:t>
            </a:r>
          </a:p>
          <a:p>
            <a:pPr lvl="0"/>
            <a:r>
              <a:t>Health </a:t>
            </a:r>
            <a:r>
              <a:rPr i="1"/>
              <a:t>and</a:t>
            </a:r>
            <a:r>
              <a:t> work status, observed together</a:t>
            </a:r>
          </a:p>
          <a:p>
            <a:pPr lvl="0"/>
            <a:r>
              <a:t>Accessible, well understood, long-running</a:t>
            </a:r>
          </a:p>
        </p:txBody>
      </p:sp>
      <p:sp>
        <p:nvSpPr>
          <p:cNvPr id="9" name="Content Placeholder 9">
            <a:extLst>
              <a:ext uri="{FF2B5EF4-FFF2-40B4-BE49-F238E27FC236}">
                <a16:creationId xmlns:a16="http://schemas.microsoft.com/office/drawing/2014/main" id="{8BE77E02-92D4-079E-ADD9-4455ABC3C3FA}"/>
              </a:ext>
            </a:extLst>
          </p:cNvPr>
          <p:cNvSpPr>
            <a:spLocks noGrp="1"/>
          </p:cNvSpPr>
          <p:nvPr>
            <p:ph sz="quarter" idx="25" hasCustomPrompt="1"/>
          </p:nvPr>
        </p:nvSpPr>
        <p:spPr>
          <a:xfrm>
            <a:off x="8229600" y="2269322"/>
            <a:ext cx="6896104" cy="5459309"/>
          </a:xfrm>
        </p:spPr>
        <p:txBody>
          <a:bodyPr wrap="square" rtlCol="0">
            <a:normAutofit/>
          </a:bodyPr>
          <a:lstStyle/>
          <a:p>
            <a:pPr marL="0" lvl="0" indent="0">
              <a:buNone/>
            </a:pPr>
            <a:r>
              <a:rPr b="1"/>
              <a:t>Surveys force on us</a:t>
            </a:r>
          </a:p>
          <a:p>
            <a:pPr lvl="0"/>
            <a:r>
              <a:t>Roughly </a:t>
            </a:r>
            <a:r>
              <a:rPr b="1"/>
              <a:t>annual waves</a:t>
            </a:r>
            <a:r>
              <a:t>: status at snapshots, not dated events</a:t>
            </a:r>
          </a:p>
          <a:p>
            <a:pPr lvl="0"/>
            <a:r>
              <a:t>So: </a:t>
            </a:r>
            <a:r>
              <a:rPr b="1"/>
              <a:t>one-year Markov steps</a:t>
            </a:r>
            <a:r>
              <a:t>; moves between waves are unseen</a:t>
            </a:r>
          </a:p>
          <a:p>
            <a:pPr lvl="0"/>
            <a:r>
              <a:t>No </a:t>
            </a:r>
            <a:r>
              <a:rPr b="1"/>
              <a:t>duration</a:t>
            </a:r>
            <a:r>
              <a:t> since onset, so recovery can’t depend on it</a:t>
            </a:r>
          </a:p>
          <a:p>
            <a:pPr lvl="0"/>
            <a:r>
              <a:t>Self-reported states; tens of thousands of people at best</a:t>
            </a:r>
          </a:p>
          <a:p>
            <a:pPr marL="0" lvl="0" indent="0">
              <a:buNone/>
            </a:pPr>
            <a:r>
              <a:t>→ Administrative data relax these. </a:t>
            </a:r>
            <a:r>
              <a:rPr b="1"/>
              <a:t>Over to David:</a:t>
            </a:r>
            <a:r>
              <a:t> HWLE from insurers’ claims.</a:t>
            </a:r>
          </a:p>
        </p:txBody>
      </p:sp>
      <p:sp>
        <p:nvSpPr>
          <p:cNvPr id="7" name="Footer Placeholder 4">
            <a:extLst>
              <a:ext uri="{FF2B5EF4-FFF2-40B4-BE49-F238E27FC236}">
                <a16:creationId xmlns:a16="http://schemas.microsoft.com/office/drawing/2014/main" id="{6F6C5742-1F6C-A710-52FA-1248F020C691}"/>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8" name="Slide Number Placeholder 5">
            <a:extLst>
              <a:ext uri="{FF2B5EF4-FFF2-40B4-BE49-F238E27FC236}">
                <a16:creationId xmlns:a16="http://schemas.microsoft.com/office/drawing/2014/main" id="{A628090A-C45A-2639-D2CB-86DE80ECECC6}"/>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16</a:t>
            </a:fld>
            <a:endParaRPr lang="en-GB" dirty="0"/>
          </a:p>
        </p:txBody>
      </p:sp>
      <p:sp>
        <p:nvSpPr>
          <p:cNvPr id="3" name="TextBox 2">
            <a:extLst>
              <a:ext uri="{FF2B5EF4-FFF2-40B4-BE49-F238E27FC236}">
                <a16:creationId xmlns:a16="http://schemas.microsoft.com/office/drawing/2014/main" id="{90666324-CACA-662E-EEB0-15BA4CCC3E04}"/>
              </a:ext>
            </a:extLst>
          </p:cNvPr>
          <p:cNvSpPr txBox="1"/>
          <p:nvPr/>
        </p:nvSpPr>
        <p:spPr>
          <a:xfrm>
            <a:off x="12221737" y="256478"/>
            <a:ext cx="2096429" cy="369332"/>
          </a:xfrm>
          <a:prstGeom prst="rect">
            <a:avLst/>
          </a:prstGeom>
          <a:solidFill>
            <a:schemeClr val="accent5">
              <a:lumMod val="60000"/>
              <a:lumOff val="40000"/>
            </a:schemeClr>
          </a:solidFill>
        </p:spPr>
        <p:txBody>
          <a:bodyPr wrap="square" rtlCol="0">
            <a:spAutoFit/>
          </a:bodyPr>
          <a:lstStyle/>
          <a:p>
            <a:r>
              <a:rPr lang="en-GB" dirty="0"/>
              <a:t>Jon 2 - 3 mins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500000" y="3400000"/>
            <a:ext cx="13256000" cy="2200000"/>
          </a:xfrm>
        </p:spPr>
        <p:txBody>
          <a:bodyPr/>
          <a:lstStyle/>
          <a:p>
            <a:pPr marL="0" lvl="0" indent="0">
              <a:buNone/>
            </a:pPr>
            <a:r>
              <a:rPr dirty="0">
                <a:solidFill>
                  <a:schemeClr val="bg1"/>
                </a:solidFill>
              </a:rPr>
              <a:t>HWLE estimates</a:t>
            </a:r>
          </a:p>
        </p:txBody>
      </p:sp>
      <p:sp>
        <p:nvSpPr>
          <p:cNvPr id="8" name="Footer Placeholder 4">
            <a:extLst>
              <a:ext uri="{FF2B5EF4-FFF2-40B4-BE49-F238E27FC236}">
                <a16:creationId xmlns:a16="http://schemas.microsoft.com/office/drawing/2014/main" id="{15C406F6-FE38-14E0-8BF8-B9AC42B3EF15}"/>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bg1"/>
                </a:solidFill>
              </a:defRPr>
            </a:lvl1pPr>
          </a:lstStyle>
          <a:p>
            <a:r>
              <a:rPr lang="en-GB"/>
              <a:t>IFoA Life Conference</a:t>
            </a:r>
            <a:endParaRPr lang="en-GB" dirty="0"/>
          </a:p>
        </p:txBody>
      </p:sp>
      <p:sp>
        <p:nvSpPr>
          <p:cNvPr id="9" name="Slide Number Placeholder 5">
            <a:extLst>
              <a:ext uri="{FF2B5EF4-FFF2-40B4-BE49-F238E27FC236}">
                <a16:creationId xmlns:a16="http://schemas.microsoft.com/office/drawing/2014/main" id="{C18B60AF-E1FE-C3E6-C9A3-0721F1D08E6F}"/>
              </a:ext>
            </a:extLst>
          </p:cNvPr>
          <p:cNvSpPr>
            <a:spLocks noGrp="1"/>
          </p:cNvSpPr>
          <p:nvPr>
            <p:ph type="sldNum" sz="quarter" idx="4"/>
          </p:nvPr>
        </p:nvSpPr>
        <p:spPr>
          <a:xfrm>
            <a:off x="14573177" y="8382533"/>
            <a:ext cx="529680" cy="486833"/>
          </a:xfrm>
          <a:prstGeom prst="rect">
            <a:avLst/>
          </a:prstGeom>
          <a:solidFill>
            <a:schemeClr val="bg1"/>
          </a:solidFill>
        </p:spPr>
        <p:txBody>
          <a:bodyPr vert="horz" lIns="91440" tIns="45720" rIns="91440" bIns="45720" rtlCol="0" anchor="ctr"/>
          <a:lstStyle>
            <a:lvl1pPr algn="ctr">
              <a:defRPr sz="1200" b="1" i="0">
                <a:solidFill>
                  <a:schemeClr val="tx1"/>
                </a:solidFill>
                <a:latin typeface="Arial" panose="020B0604020202020204" pitchFamily="34" charset="0"/>
                <a:cs typeface="Arial" panose="020B0604020202020204" pitchFamily="34" charset="0"/>
              </a:defRPr>
            </a:lvl1pPr>
          </a:lstStyle>
          <a:p>
            <a:fld id="{40FC62D0-A2F2-4BF8-8DAC-E86C11000EC3}" type="slidenum">
              <a:rPr lang="en-GB" smtClean="0"/>
              <a:pPr/>
              <a:t>17</a:t>
            </a:fld>
            <a:endParaRPr lang="en-GB" dirty="0"/>
          </a:p>
        </p:txBody>
      </p:sp>
      <p:sp>
        <p:nvSpPr>
          <p:cNvPr id="3" name="TextBox 2">
            <a:extLst>
              <a:ext uri="{FF2B5EF4-FFF2-40B4-BE49-F238E27FC236}">
                <a16:creationId xmlns:a16="http://schemas.microsoft.com/office/drawing/2014/main" id="{9E228F5A-D3F6-33C6-818C-6719884950D4}"/>
              </a:ext>
            </a:extLst>
          </p:cNvPr>
          <p:cNvSpPr txBox="1"/>
          <p:nvPr/>
        </p:nvSpPr>
        <p:spPr>
          <a:xfrm>
            <a:off x="12221737" y="256478"/>
            <a:ext cx="2096429" cy="646331"/>
          </a:xfrm>
          <a:prstGeom prst="rect">
            <a:avLst/>
          </a:prstGeom>
          <a:solidFill>
            <a:srgbClr val="EF25E1"/>
          </a:solidFill>
        </p:spPr>
        <p:txBody>
          <a:bodyPr wrap="square" rtlCol="0">
            <a:spAutoFit/>
          </a:bodyPr>
          <a:lstStyle/>
          <a:p>
            <a:r>
              <a:rPr lang="en-GB" dirty="0"/>
              <a:t>David 15 mins for this section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E03EF-0969-1A21-8EAE-7BA2A7DA585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06663CF-BEF0-6906-D38A-07FA0F3179EE}"/>
              </a:ext>
            </a:extLst>
          </p:cNvPr>
          <p:cNvSpPr>
            <a:spLocks noGrp="1"/>
          </p:cNvSpPr>
          <p:nvPr>
            <p:ph type="title"/>
          </p:nvPr>
        </p:nvSpPr>
        <p:spPr/>
        <p:txBody>
          <a:bodyPr/>
          <a:lstStyle/>
          <a:p>
            <a:r>
              <a:rPr lang="en-GB" dirty="0"/>
              <a:t>Healthy Working Life Expectancy as a metric</a:t>
            </a:r>
          </a:p>
        </p:txBody>
      </p:sp>
      <p:sp>
        <p:nvSpPr>
          <p:cNvPr id="5" name="Footer Placeholder 4">
            <a:extLst>
              <a:ext uri="{FF2B5EF4-FFF2-40B4-BE49-F238E27FC236}">
                <a16:creationId xmlns:a16="http://schemas.microsoft.com/office/drawing/2014/main" id="{7C3CFE26-6787-FE08-1676-83B4CF190913}"/>
              </a:ext>
            </a:extLst>
          </p:cNvPr>
          <p:cNvSpPr>
            <a:spLocks noGrp="1"/>
          </p:cNvSpPr>
          <p:nvPr>
            <p:ph type="ftr" sz="quarter" idx="3"/>
          </p:nvPr>
        </p:nvSpPr>
        <p:spPr/>
        <p:txBody>
          <a:bodyPr/>
          <a:lstStyle/>
          <a:p>
            <a:r>
              <a:rPr lang="en-GB"/>
              <a:t>IFoA Life Conference</a:t>
            </a:r>
            <a:endParaRPr lang="en-GB" dirty="0"/>
          </a:p>
        </p:txBody>
      </p:sp>
      <p:sp>
        <p:nvSpPr>
          <p:cNvPr id="6" name="Slide Number Placeholder 5">
            <a:extLst>
              <a:ext uri="{FF2B5EF4-FFF2-40B4-BE49-F238E27FC236}">
                <a16:creationId xmlns:a16="http://schemas.microsoft.com/office/drawing/2014/main" id="{528473B1-5CB6-7BBF-4DAA-30E5003532C1}"/>
              </a:ext>
            </a:extLst>
          </p:cNvPr>
          <p:cNvSpPr>
            <a:spLocks noGrp="1"/>
          </p:cNvSpPr>
          <p:nvPr>
            <p:ph type="sldNum" sz="quarter" idx="4"/>
          </p:nvPr>
        </p:nvSpPr>
        <p:spPr/>
        <p:txBody>
          <a:bodyPr/>
          <a:lstStyle/>
          <a:p>
            <a:fld id="{40FC62D0-A2F2-4BF8-8DAC-E86C11000EC3}" type="slidenum">
              <a:rPr lang="en-GB" smtClean="0"/>
              <a:pPr/>
              <a:t>18</a:t>
            </a:fld>
            <a:endParaRPr lang="en-GB" dirty="0"/>
          </a:p>
        </p:txBody>
      </p:sp>
      <p:sp>
        <p:nvSpPr>
          <p:cNvPr id="7" name="Text Placeholder 6">
            <a:extLst>
              <a:ext uri="{FF2B5EF4-FFF2-40B4-BE49-F238E27FC236}">
                <a16:creationId xmlns:a16="http://schemas.microsoft.com/office/drawing/2014/main" id="{5656079D-D5C1-6369-3C8F-C3D5A96CC6D3}"/>
              </a:ext>
            </a:extLst>
          </p:cNvPr>
          <p:cNvSpPr>
            <a:spLocks noGrp="1"/>
          </p:cNvSpPr>
          <p:nvPr>
            <p:ph type="body" sz="quarter" idx="24"/>
          </p:nvPr>
        </p:nvSpPr>
        <p:spPr/>
        <p:txBody>
          <a:bodyPr/>
          <a:lstStyle/>
          <a:p>
            <a:r>
              <a:rPr lang="en-US" sz="2400" dirty="0">
                <a:latin typeface="+mn-lt"/>
              </a:rPr>
              <a:t>Healthy working-life expectancy first appears as a term in the public health literature in 2007</a:t>
            </a:r>
          </a:p>
        </p:txBody>
      </p:sp>
      <p:sp>
        <p:nvSpPr>
          <p:cNvPr id="9" name="TextBox 8">
            <a:extLst>
              <a:ext uri="{FF2B5EF4-FFF2-40B4-BE49-F238E27FC236}">
                <a16:creationId xmlns:a16="http://schemas.microsoft.com/office/drawing/2014/main" id="{C897B118-A7EC-DD79-8388-D85FB2CAC9B7}"/>
              </a:ext>
            </a:extLst>
          </p:cNvPr>
          <p:cNvSpPr txBox="1"/>
          <p:nvPr/>
        </p:nvSpPr>
        <p:spPr>
          <a:xfrm>
            <a:off x="12221737" y="256478"/>
            <a:ext cx="2096429" cy="369332"/>
          </a:xfrm>
          <a:prstGeom prst="rect">
            <a:avLst/>
          </a:prstGeom>
          <a:solidFill>
            <a:srgbClr val="EF25E1"/>
          </a:solidFill>
        </p:spPr>
        <p:txBody>
          <a:bodyPr wrap="square" rtlCol="0">
            <a:spAutoFit/>
          </a:bodyPr>
          <a:lstStyle/>
          <a:p>
            <a:r>
              <a:rPr lang="en-GB" dirty="0"/>
              <a:t>David 2 mins</a:t>
            </a:r>
          </a:p>
        </p:txBody>
      </p:sp>
      <p:sp>
        <p:nvSpPr>
          <p:cNvPr id="186" name="Shape 87">
            <a:extLst>
              <a:ext uri="{FF2B5EF4-FFF2-40B4-BE49-F238E27FC236}">
                <a16:creationId xmlns:a16="http://schemas.microsoft.com/office/drawing/2014/main" id="{1611BD8C-7445-AA8D-2F60-71F5AF9154A8}"/>
              </a:ext>
            </a:extLst>
          </p:cNvPr>
          <p:cNvSpPr/>
          <p:nvPr/>
        </p:nvSpPr>
        <p:spPr>
          <a:xfrm>
            <a:off x="1284619" y="7239659"/>
            <a:ext cx="13818231" cy="809117"/>
          </a:xfrm>
          <a:prstGeom prst="roundRect">
            <a:avLst>
              <a:gd name="adj" fmla="val 6897"/>
            </a:avLst>
          </a:prstGeom>
          <a:solidFill>
            <a:srgbClr val="EEF2F6"/>
          </a:solidFill>
          <a:ln w="12700">
            <a:solidFill>
              <a:srgbClr val="EEF2F6"/>
            </a:solidFill>
            <a:prstDash val="solid"/>
          </a:ln>
        </p:spPr>
        <p:txBody>
          <a:bodyPr/>
          <a:lstStyle/>
          <a:p>
            <a:endParaRPr lang="en-GB" sz="1200"/>
          </a:p>
        </p:txBody>
      </p:sp>
      <p:sp>
        <p:nvSpPr>
          <p:cNvPr id="188" name="Text 88">
            <a:extLst>
              <a:ext uri="{FF2B5EF4-FFF2-40B4-BE49-F238E27FC236}">
                <a16:creationId xmlns:a16="http://schemas.microsoft.com/office/drawing/2014/main" id="{CC1DE9A7-00F2-E8E4-2F0A-D68E66607C7C}"/>
              </a:ext>
            </a:extLst>
          </p:cNvPr>
          <p:cNvSpPr/>
          <p:nvPr/>
        </p:nvSpPr>
        <p:spPr>
          <a:xfrm>
            <a:off x="1467499" y="7368837"/>
            <a:ext cx="13635353" cy="561068"/>
          </a:xfrm>
          <a:prstGeom prst="rect">
            <a:avLst/>
          </a:prstGeom>
          <a:noFill/>
          <a:ln/>
        </p:spPr>
        <p:txBody>
          <a:bodyPr wrap="square" lIns="127" tIns="127" rIns="127" bIns="127" rtlCol="0" anchor="ctr">
            <a:noAutofit/>
          </a:bodyPr>
          <a:lstStyle/>
          <a:p>
            <a:pPr marL="0" indent="0">
              <a:buNone/>
            </a:pPr>
            <a:r>
              <a:rPr lang="en-US" dirty="0">
                <a:solidFill>
                  <a:srgbClr val="344256"/>
                </a:solidFill>
              </a:rPr>
              <a:t>…. but similar concepts had been presented in actuarial journals and other literature decades earlier</a:t>
            </a:r>
            <a:endParaRPr lang="en-US" dirty="0"/>
          </a:p>
        </p:txBody>
      </p:sp>
      <p:cxnSp>
        <p:nvCxnSpPr>
          <p:cNvPr id="13" name="Connector 9">
            <a:extLst>
              <a:ext uri="{FF2B5EF4-FFF2-40B4-BE49-F238E27FC236}">
                <a16:creationId xmlns:a16="http://schemas.microsoft.com/office/drawing/2014/main" id="{78A9992F-5D3B-7934-4798-D35979F33E20}"/>
              </a:ext>
            </a:extLst>
          </p:cNvPr>
          <p:cNvCxnSpPr/>
          <p:nvPr/>
        </p:nvCxnSpPr>
        <p:spPr>
          <a:xfrm>
            <a:off x="2217978" y="4720587"/>
            <a:ext cx="10424160" cy="0"/>
          </a:xfrm>
          <a:prstGeom prst="line">
            <a:avLst/>
          </a:prstGeom>
          <a:ln w="27940">
            <a:solidFill>
              <a:srgbClr val="122742"/>
            </a:solidFill>
          </a:ln>
        </p:spPr>
        <p:style>
          <a:lnRef idx="2">
            <a:schemeClr val="accent1"/>
          </a:lnRef>
          <a:fillRef idx="0">
            <a:schemeClr val="accent1"/>
          </a:fillRef>
          <a:effectRef idx="1">
            <a:schemeClr val="accent1"/>
          </a:effectRef>
          <a:fontRef idx="minor">
            <a:schemeClr val="tx1"/>
          </a:fontRef>
        </p:style>
      </p:cxnSp>
      <p:cxnSp>
        <p:nvCxnSpPr>
          <p:cNvPr id="14" name="Connector 10">
            <a:extLst>
              <a:ext uri="{FF2B5EF4-FFF2-40B4-BE49-F238E27FC236}">
                <a16:creationId xmlns:a16="http://schemas.microsoft.com/office/drawing/2014/main" id="{F92DFE1F-E335-736B-00D5-7DE0F98A7A84}"/>
              </a:ext>
            </a:extLst>
          </p:cNvPr>
          <p:cNvCxnSpPr/>
          <p:nvPr/>
        </p:nvCxnSpPr>
        <p:spPr>
          <a:xfrm>
            <a:off x="2217978" y="4638291"/>
            <a:ext cx="0" cy="164591"/>
          </a:xfrm>
          <a:prstGeom prst="line">
            <a:avLst/>
          </a:prstGeom>
          <a:ln w="13970">
            <a:solidFill>
              <a:srgbClr val="122742"/>
            </a:solidFill>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111DBC14-7923-6F01-5E25-A0CD5CA927D8}"/>
              </a:ext>
            </a:extLst>
          </p:cNvPr>
          <p:cNvSpPr txBox="1"/>
          <p:nvPr/>
        </p:nvSpPr>
        <p:spPr>
          <a:xfrm>
            <a:off x="2026772" y="4856586"/>
            <a:ext cx="382413" cy="240066"/>
          </a:xfrm>
          <a:prstGeom prst="rect">
            <a:avLst/>
          </a:prstGeom>
          <a:noFill/>
        </p:spPr>
        <p:txBody>
          <a:bodyPr wrap="none" lIns="27432" tIns="27432" rIns="27432" bIns="27432" anchor="ctr">
            <a:spAutoFit/>
          </a:bodyPr>
          <a:lstStyle/>
          <a:p>
            <a:pPr algn="ctr">
              <a:defRPr sz="900" b="0">
                <a:solidFill>
                  <a:srgbClr val="5B6978"/>
                </a:solidFill>
                <a:latin typeface="Aptos"/>
              </a:defRPr>
            </a:pPr>
            <a:r>
              <a:rPr sz="1200"/>
              <a:t>2007</a:t>
            </a:r>
          </a:p>
        </p:txBody>
      </p:sp>
      <p:cxnSp>
        <p:nvCxnSpPr>
          <p:cNvPr id="17" name="Connector 12">
            <a:extLst>
              <a:ext uri="{FF2B5EF4-FFF2-40B4-BE49-F238E27FC236}">
                <a16:creationId xmlns:a16="http://schemas.microsoft.com/office/drawing/2014/main" id="{C0B7751B-CFAA-B88F-FAD5-387F7B54C797}"/>
              </a:ext>
            </a:extLst>
          </p:cNvPr>
          <p:cNvCxnSpPr/>
          <p:nvPr/>
        </p:nvCxnSpPr>
        <p:spPr>
          <a:xfrm>
            <a:off x="3863898" y="4638291"/>
            <a:ext cx="0" cy="164591"/>
          </a:xfrm>
          <a:prstGeom prst="line">
            <a:avLst/>
          </a:prstGeom>
          <a:ln w="13970">
            <a:solidFill>
              <a:srgbClr val="122742"/>
            </a:solidFill>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F2EDFFDB-4644-AD1B-9A52-438447EF348F}"/>
              </a:ext>
            </a:extLst>
          </p:cNvPr>
          <p:cNvSpPr txBox="1"/>
          <p:nvPr/>
        </p:nvSpPr>
        <p:spPr>
          <a:xfrm>
            <a:off x="3672692" y="4856586"/>
            <a:ext cx="382413" cy="240066"/>
          </a:xfrm>
          <a:prstGeom prst="rect">
            <a:avLst/>
          </a:prstGeom>
          <a:noFill/>
        </p:spPr>
        <p:txBody>
          <a:bodyPr wrap="none" lIns="27432" tIns="27432" rIns="27432" bIns="27432" anchor="ctr">
            <a:spAutoFit/>
          </a:bodyPr>
          <a:lstStyle/>
          <a:p>
            <a:pPr algn="ctr">
              <a:defRPr sz="900" b="0">
                <a:solidFill>
                  <a:srgbClr val="5B6978"/>
                </a:solidFill>
                <a:latin typeface="Aptos"/>
              </a:defRPr>
            </a:pPr>
            <a:r>
              <a:rPr sz="1200"/>
              <a:t>2010</a:t>
            </a:r>
          </a:p>
        </p:txBody>
      </p:sp>
      <p:cxnSp>
        <p:nvCxnSpPr>
          <p:cNvPr id="21" name="Connector 14">
            <a:extLst>
              <a:ext uri="{FF2B5EF4-FFF2-40B4-BE49-F238E27FC236}">
                <a16:creationId xmlns:a16="http://schemas.microsoft.com/office/drawing/2014/main" id="{B0A8D506-B1B3-781A-C293-F63822FE996E}"/>
              </a:ext>
            </a:extLst>
          </p:cNvPr>
          <p:cNvCxnSpPr/>
          <p:nvPr/>
        </p:nvCxnSpPr>
        <p:spPr>
          <a:xfrm>
            <a:off x="6607098" y="4638291"/>
            <a:ext cx="0" cy="164591"/>
          </a:xfrm>
          <a:prstGeom prst="line">
            <a:avLst/>
          </a:prstGeom>
          <a:ln w="13970">
            <a:solidFill>
              <a:srgbClr val="122742"/>
            </a:solidFill>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9F3FFDEB-F4AD-D116-FEDE-58A2E7A74EC5}"/>
              </a:ext>
            </a:extLst>
          </p:cNvPr>
          <p:cNvSpPr txBox="1"/>
          <p:nvPr/>
        </p:nvSpPr>
        <p:spPr>
          <a:xfrm>
            <a:off x="6415892" y="4856586"/>
            <a:ext cx="382413" cy="240066"/>
          </a:xfrm>
          <a:prstGeom prst="rect">
            <a:avLst/>
          </a:prstGeom>
          <a:noFill/>
        </p:spPr>
        <p:txBody>
          <a:bodyPr wrap="none" lIns="27432" tIns="27432" rIns="27432" bIns="27432" anchor="ctr">
            <a:spAutoFit/>
          </a:bodyPr>
          <a:lstStyle/>
          <a:p>
            <a:pPr algn="ctr">
              <a:defRPr sz="900" b="0">
                <a:solidFill>
                  <a:srgbClr val="5B6978"/>
                </a:solidFill>
                <a:latin typeface="Aptos"/>
              </a:defRPr>
            </a:pPr>
            <a:r>
              <a:rPr sz="1200"/>
              <a:t>2015</a:t>
            </a:r>
          </a:p>
        </p:txBody>
      </p:sp>
      <p:cxnSp>
        <p:nvCxnSpPr>
          <p:cNvPr id="25" name="Connector 16">
            <a:extLst>
              <a:ext uri="{FF2B5EF4-FFF2-40B4-BE49-F238E27FC236}">
                <a16:creationId xmlns:a16="http://schemas.microsoft.com/office/drawing/2014/main" id="{0B91F977-BC11-1794-D758-70F508E95C5D}"/>
              </a:ext>
            </a:extLst>
          </p:cNvPr>
          <p:cNvCxnSpPr/>
          <p:nvPr/>
        </p:nvCxnSpPr>
        <p:spPr>
          <a:xfrm>
            <a:off x="9350298" y="4638291"/>
            <a:ext cx="0" cy="164591"/>
          </a:xfrm>
          <a:prstGeom prst="line">
            <a:avLst/>
          </a:prstGeom>
          <a:ln w="13970">
            <a:solidFill>
              <a:srgbClr val="122742"/>
            </a:solidFill>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2BF39AC4-9518-A919-8740-EC89C0560C6A}"/>
              </a:ext>
            </a:extLst>
          </p:cNvPr>
          <p:cNvSpPr txBox="1"/>
          <p:nvPr/>
        </p:nvSpPr>
        <p:spPr>
          <a:xfrm>
            <a:off x="9159092" y="4856586"/>
            <a:ext cx="382413" cy="240066"/>
          </a:xfrm>
          <a:prstGeom prst="rect">
            <a:avLst/>
          </a:prstGeom>
          <a:noFill/>
        </p:spPr>
        <p:txBody>
          <a:bodyPr wrap="none" lIns="27432" tIns="27432" rIns="27432" bIns="27432" anchor="ctr">
            <a:spAutoFit/>
          </a:bodyPr>
          <a:lstStyle/>
          <a:p>
            <a:pPr algn="ctr">
              <a:defRPr sz="900" b="0">
                <a:solidFill>
                  <a:srgbClr val="5B6978"/>
                </a:solidFill>
                <a:latin typeface="Aptos"/>
              </a:defRPr>
            </a:pPr>
            <a:r>
              <a:rPr sz="1200"/>
              <a:t>2020</a:t>
            </a:r>
          </a:p>
        </p:txBody>
      </p:sp>
      <p:cxnSp>
        <p:nvCxnSpPr>
          <p:cNvPr id="29" name="Connector 18">
            <a:extLst>
              <a:ext uri="{FF2B5EF4-FFF2-40B4-BE49-F238E27FC236}">
                <a16:creationId xmlns:a16="http://schemas.microsoft.com/office/drawing/2014/main" id="{5F6DD0A4-2D14-52E0-D9DD-8416FBF61B27}"/>
              </a:ext>
            </a:extLst>
          </p:cNvPr>
          <p:cNvCxnSpPr/>
          <p:nvPr/>
        </p:nvCxnSpPr>
        <p:spPr>
          <a:xfrm>
            <a:off x="12093497" y="4638291"/>
            <a:ext cx="0" cy="164591"/>
          </a:xfrm>
          <a:prstGeom prst="line">
            <a:avLst/>
          </a:prstGeom>
          <a:ln w="13970">
            <a:solidFill>
              <a:srgbClr val="122742"/>
            </a:solidFill>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FC72FBA6-DA0A-C14D-CEE5-06F83075F9E6}"/>
              </a:ext>
            </a:extLst>
          </p:cNvPr>
          <p:cNvSpPr txBox="1"/>
          <p:nvPr/>
        </p:nvSpPr>
        <p:spPr>
          <a:xfrm>
            <a:off x="11902291" y="4856586"/>
            <a:ext cx="382413" cy="240066"/>
          </a:xfrm>
          <a:prstGeom prst="rect">
            <a:avLst/>
          </a:prstGeom>
          <a:noFill/>
        </p:spPr>
        <p:txBody>
          <a:bodyPr wrap="none" lIns="27432" tIns="27432" rIns="27432" bIns="27432" anchor="ctr">
            <a:spAutoFit/>
          </a:bodyPr>
          <a:lstStyle/>
          <a:p>
            <a:pPr algn="ctr">
              <a:defRPr sz="900" b="0">
                <a:solidFill>
                  <a:srgbClr val="5B6978"/>
                </a:solidFill>
                <a:latin typeface="Aptos"/>
              </a:defRPr>
            </a:pPr>
            <a:r>
              <a:rPr sz="1200"/>
              <a:t>2025</a:t>
            </a:r>
          </a:p>
        </p:txBody>
      </p:sp>
      <p:cxnSp>
        <p:nvCxnSpPr>
          <p:cNvPr id="33" name="Connector 20">
            <a:extLst>
              <a:ext uri="{FF2B5EF4-FFF2-40B4-BE49-F238E27FC236}">
                <a16:creationId xmlns:a16="http://schemas.microsoft.com/office/drawing/2014/main" id="{8D546253-DEF1-A3C5-AA08-2AF500E46FC1}"/>
              </a:ext>
            </a:extLst>
          </p:cNvPr>
          <p:cNvCxnSpPr/>
          <p:nvPr/>
        </p:nvCxnSpPr>
        <p:spPr>
          <a:xfrm>
            <a:off x="12642138" y="4638291"/>
            <a:ext cx="0" cy="164591"/>
          </a:xfrm>
          <a:prstGeom prst="line">
            <a:avLst/>
          </a:prstGeom>
          <a:ln w="13970">
            <a:solidFill>
              <a:srgbClr val="122742"/>
            </a:solidFill>
          </a:ln>
        </p:spPr>
        <p:style>
          <a:lnRef idx="2">
            <a:schemeClr val="accent1"/>
          </a:lnRef>
          <a:fillRef idx="0">
            <a:schemeClr val="accent1"/>
          </a:fillRef>
          <a:effectRef idx="1">
            <a:schemeClr val="accent1"/>
          </a:effectRef>
          <a:fontRef idx="minor">
            <a:schemeClr val="tx1"/>
          </a:fontRef>
        </p:style>
      </p:cxnSp>
      <p:cxnSp>
        <p:nvCxnSpPr>
          <p:cNvPr id="37" name="Connector 22">
            <a:extLst>
              <a:ext uri="{FF2B5EF4-FFF2-40B4-BE49-F238E27FC236}">
                <a16:creationId xmlns:a16="http://schemas.microsoft.com/office/drawing/2014/main" id="{779CD654-55B1-3DA3-A3E5-AD47A0176600}"/>
              </a:ext>
            </a:extLst>
          </p:cNvPr>
          <p:cNvCxnSpPr/>
          <p:nvPr/>
        </p:nvCxnSpPr>
        <p:spPr>
          <a:xfrm flipV="1">
            <a:off x="2217978" y="3422139"/>
            <a:ext cx="0" cy="1298448"/>
          </a:xfrm>
          <a:prstGeom prst="line">
            <a:avLst/>
          </a:prstGeom>
          <a:ln w="13970">
            <a:solidFill>
              <a:srgbClr val="E1E7EC"/>
            </a:solidFill>
          </a:ln>
        </p:spPr>
        <p:style>
          <a:lnRef idx="2">
            <a:schemeClr val="accent1"/>
          </a:lnRef>
          <a:fillRef idx="0">
            <a:schemeClr val="accent1"/>
          </a:fillRef>
          <a:effectRef idx="1">
            <a:schemeClr val="accent1"/>
          </a:effectRef>
          <a:fontRef idx="minor">
            <a:schemeClr val="tx1"/>
          </a:fontRef>
        </p:style>
      </p:cxnSp>
      <p:sp>
        <p:nvSpPr>
          <p:cNvPr id="39" name="Oval 38">
            <a:extLst>
              <a:ext uri="{FF2B5EF4-FFF2-40B4-BE49-F238E27FC236}">
                <a16:creationId xmlns:a16="http://schemas.microsoft.com/office/drawing/2014/main" id="{BE54AE46-E74A-7DD4-28C5-A3551A7F0F68}"/>
              </a:ext>
            </a:extLst>
          </p:cNvPr>
          <p:cNvSpPr/>
          <p:nvPr/>
        </p:nvSpPr>
        <p:spPr>
          <a:xfrm>
            <a:off x="2131110" y="4633718"/>
            <a:ext cx="173736" cy="173736"/>
          </a:xfrm>
          <a:prstGeom prst="ellipse">
            <a:avLst/>
          </a:prstGeom>
          <a:solidFill>
            <a:srgbClr val="1F6FB4"/>
          </a:solidFill>
          <a:ln>
            <a:solidFill>
              <a:srgbClr val="1F6F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41" name="Rounded Rectangle 24">
            <a:extLst>
              <a:ext uri="{FF2B5EF4-FFF2-40B4-BE49-F238E27FC236}">
                <a16:creationId xmlns:a16="http://schemas.microsoft.com/office/drawing/2014/main" id="{0179217F-B571-BBCB-A57D-1C34D6C55B4C}"/>
              </a:ext>
            </a:extLst>
          </p:cNvPr>
          <p:cNvSpPr/>
          <p:nvPr/>
        </p:nvSpPr>
        <p:spPr>
          <a:xfrm>
            <a:off x="1669338" y="2452874"/>
            <a:ext cx="1828800" cy="1024128"/>
          </a:xfrm>
          <a:prstGeom prst="roundRect">
            <a:avLst/>
          </a:prstGeom>
          <a:solidFill>
            <a:srgbClr val="FFFFFF"/>
          </a:solidFill>
          <a:ln w="10160">
            <a:solidFill>
              <a:srgbClr val="E1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43" name="Rectangle 42">
            <a:extLst>
              <a:ext uri="{FF2B5EF4-FFF2-40B4-BE49-F238E27FC236}">
                <a16:creationId xmlns:a16="http://schemas.microsoft.com/office/drawing/2014/main" id="{A119B76D-482D-FD32-521B-2653813D4B00}"/>
              </a:ext>
            </a:extLst>
          </p:cNvPr>
          <p:cNvSpPr/>
          <p:nvPr/>
        </p:nvSpPr>
        <p:spPr>
          <a:xfrm>
            <a:off x="1669338" y="2452874"/>
            <a:ext cx="50292" cy="1024128"/>
          </a:xfrm>
          <a:prstGeom prst="rect">
            <a:avLst/>
          </a:prstGeom>
          <a:solidFill>
            <a:srgbClr val="1F6F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45" name="TextBox 44">
            <a:extLst>
              <a:ext uri="{FF2B5EF4-FFF2-40B4-BE49-F238E27FC236}">
                <a16:creationId xmlns:a16="http://schemas.microsoft.com/office/drawing/2014/main" id="{78A4F0DC-1EF9-D2AF-55BB-8CE6669B21C1}"/>
              </a:ext>
            </a:extLst>
          </p:cNvPr>
          <p:cNvSpPr txBox="1"/>
          <p:nvPr/>
        </p:nvSpPr>
        <p:spPr>
          <a:xfrm>
            <a:off x="1779066" y="2497434"/>
            <a:ext cx="1245790" cy="240066"/>
          </a:xfrm>
          <a:prstGeom prst="rect">
            <a:avLst/>
          </a:prstGeom>
          <a:noFill/>
        </p:spPr>
        <p:txBody>
          <a:bodyPr wrap="none" lIns="27432" tIns="27432" rIns="27432" bIns="27432" anchor="ctr">
            <a:spAutoFit/>
          </a:bodyPr>
          <a:lstStyle/>
          <a:p>
            <a:pPr algn="l">
              <a:defRPr sz="1050" b="1">
                <a:solidFill>
                  <a:srgbClr val="122742"/>
                </a:solidFill>
                <a:latin typeface="Aptos"/>
              </a:defRPr>
            </a:pPr>
            <a:r>
              <a:rPr sz="1200"/>
              <a:t>2007  Lièvre et al.</a:t>
            </a:r>
          </a:p>
        </p:txBody>
      </p:sp>
      <p:sp>
        <p:nvSpPr>
          <p:cNvPr id="47" name="TextBox 46">
            <a:extLst>
              <a:ext uri="{FF2B5EF4-FFF2-40B4-BE49-F238E27FC236}">
                <a16:creationId xmlns:a16="http://schemas.microsoft.com/office/drawing/2014/main" id="{EB85214C-C4BD-4EA8-BE6B-8093BD3D2326}"/>
              </a:ext>
            </a:extLst>
          </p:cNvPr>
          <p:cNvSpPr txBox="1"/>
          <p:nvPr/>
        </p:nvSpPr>
        <p:spPr>
          <a:xfrm>
            <a:off x="1779066" y="2680314"/>
            <a:ext cx="1788054" cy="240066"/>
          </a:xfrm>
          <a:prstGeom prst="rect">
            <a:avLst/>
          </a:prstGeom>
          <a:noFill/>
        </p:spPr>
        <p:txBody>
          <a:bodyPr wrap="none" lIns="27432" tIns="27432" rIns="27432" bIns="27432" anchor="ctr">
            <a:spAutoFit/>
          </a:bodyPr>
          <a:lstStyle/>
          <a:p>
            <a:pPr algn="l">
              <a:defRPr sz="750" b="1">
                <a:solidFill>
                  <a:srgbClr val="1F6FB4"/>
                </a:solidFill>
                <a:latin typeface="Aptos"/>
              </a:defRPr>
            </a:pPr>
            <a:r>
              <a:rPr sz="1200"/>
              <a:t>EUROPE · 12 COUNTRIES</a:t>
            </a:r>
          </a:p>
        </p:txBody>
      </p:sp>
      <p:sp>
        <p:nvSpPr>
          <p:cNvPr id="49" name="TextBox 48">
            <a:extLst>
              <a:ext uri="{FF2B5EF4-FFF2-40B4-BE49-F238E27FC236}">
                <a16:creationId xmlns:a16="http://schemas.microsoft.com/office/drawing/2014/main" id="{38D5E8FB-4B85-9062-4F84-97220A99F480}"/>
              </a:ext>
            </a:extLst>
          </p:cNvPr>
          <p:cNvSpPr txBox="1"/>
          <p:nvPr/>
        </p:nvSpPr>
        <p:spPr>
          <a:xfrm>
            <a:off x="1779066" y="2972921"/>
            <a:ext cx="4318105" cy="240066"/>
          </a:xfrm>
          <a:prstGeom prst="rect">
            <a:avLst/>
          </a:prstGeom>
          <a:noFill/>
        </p:spPr>
        <p:txBody>
          <a:bodyPr wrap="none" lIns="27432" tIns="27432" rIns="27432" bIns="27432" anchor="ctr">
            <a:spAutoFit/>
          </a:bodyPr>
          <a:lstStyle/>
          <a:p>
            <a:pPr algn="l">
              <a:defRPr sz="810" b="0">
                <a:solidFill>
                  <a:srgbClr val="191F26"/>
                </a:solidFill>
                <a:latin typeface="Aptos"/>
              </a:defRPr>
            </a:pPr>
            <a:r>
              <a:rPr sz="1200"/>
              <a:t>Introduces HWLE as a combined health + employment indicator.</a:t>
            </a:r>
          </a:p>
        </p:txBody>
      </p:sp>
      <p:sp>
        <p:nvSpPr>
          <p:cNvPr id="51" name="TextBox 50">
            <a:extLst>
              <a:ext uri="{FF2B5EF4-FFF2-40B4-BE49-F238E27FC236}">
                <a16:creationId xmlns:a16="http://schemas.microsoft.com/office/drawing/2014/main" id="{B5A2EF74-C0B0-BE6F-FE0E-2887006197E0}"/>
              </a:ext>
            </a:extLst>
          </p:cNvPr>
          <p:cNvSpPr txBox="1"/>
          <p:nvPr/>
        </p:nvSpPr>
        <p:spPr>
          <a:xfrm>
            <a:off x="1779066" y="3228954"/>
            <a:ext cx="1313501" cy="240066"/>
          </a:xfrm>
          <a:prstGeom prst="rect">
            <a:avLst/>
          </a:prstGeom>
          <a:noFill/>
        </p:spPr>
        <p:txBody>
          <a:bodyPr wrap="none" lIns="27432" tIns="27432" rIns="27432" bIns="27432" anchor="ctr">
            <a:spAutoFit/>
          </a:bodyPr>
          <a:lstStyle/>
          <a:p>
            <a:pPr algn="l">
              <a:defRPr sz="680" b="0">
                <a:solidFill>
                  <a:srgbClr val="5B6978"/>
                </a:solidFill>
                <a:latin typeface="Aptos"/>
              </a:defRPr>
            </a:pPr>
            <a:r>
              <a:rPr sz="1200"/>
              <a:t>J Nutr Health Aging</a:t>
            </a:r>
          </a:p>
        </p:txBody>
      </p:sp>
      <p:cxnSp>
        <p:nvCxnSpPr>
          <p:cNvPr id="53" name="Connector 30">
            <a:extLst>
              <a:ext uri="{FF2B5EF4-FFF2-40B4-BE49-F238E27FC236}">
                <a16:creationId xmlns:a16="http://schemas.microsoft.com/office/drawing/2014/main" id="{3285D477-BDA9-97D0-2A45-62765EE03956}"/>
              </a:ext>
            </a:extLst>
          </p:cNvPr>
          <p:cNvCxnSpPr/>
          <p:nvPr/>
        </p:nvCxnSpPr>
        <p:spPr>
          <a:xfrm flipV="1">
            <a:off x="9350298" y="3559299"/>
            <a:ext cx="0" cy="1161288"/>
          </a:xfrm>
          <a:prstGeom prst="line">
            <a:avLst/>
          </a:prstGeom>
          <a:ln w="13970">
            <a:solidFill>
              <a:srgbClr val="E1E7EC"/>
            </a:solidFill>
          </a:ln>
        </p:spPr>
        <p:style>
          <a:lnRef idx="2">
            <a:schemeClr val="accent1"/>
          </a:lnRef>
          <a:fillRef idx="0">
            <a:schemeClr val="accent1"/>
          </a:fillRef>
          <a:effectRef idx="1">
            <a:schemeClr val="accent1"/>
          </a:effectRef>
          <a:fontRef idx="minor">
            <a:schemeClr val="tx1"/>
          </a:fontRef>
        </p:style>
      </p:cxnSp>
      <p:sp>
        <p:nvSpPr>
          <p:cNvPr id="55" name="Oval 54">
            <a:extLst>
              <a:ext uri="{FF2B5EF4-FFF2-40B4-BE49-F238E27FC236}">
                <a16:creationId xmlns:a16="http://schemas.microsoft.com/office/drawing/2014/main" id="{58C7E360-7B8B-4D38-8CD8-6B049090FC2B}"/>
              </a:ext>
            </a:extLst>
          </p:cNvPr>
          <p:cNvSpPr/>
          <p:nvPr/>
        </p:nvSpPr>
        <p:spPr>
          <a:xfrm>
            <a:off x="9263429" y="4633718"/>
            <a:ext cx="173736" cy="173736"/>
          </a:xfrm>
          <a:prstGeom prst="ellipse">
            <a:avLst/>
          </a:prstGeom>
          <a:solidFill>
            <a:srgbClr val="1C9187"/>
          </a:solidFill>
          <a:ln>
            <a:solidFill>
              <a:srgbClr val="1C91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57" name="Rounded Rectangle 32">
            <a:extLst>
              <a:ext uri="{FF2B5EF4-FFF2-40B4-BE49-F238E27FC236}">
                <a16:creationId xmlns:a16="http://schemas.microsoft.com/office/drawing/2014/main" id="{1406F3D7-B94B-0851-D175-2D60374D5EB2}"/>
              </a:ext>
            </a:extLst>
          </p:cNvPr>
          <p:cNvSpPr/>
          <p:nvPr/>
        </p:nvSpPr>
        <p:spPr>
          <a:xfrm>
            <a:off x="9291973" y="2510912"/>
            <a:ext cx="1828800" cy="1024128"/>
          </a:xfrm>
          <a:prstGeom prst="roundRect">
            <a:avLst/>
          </a:prstGeom>
          <a:solidFill>
            <a:srgbClr val="FFFFFF"/>
          </a:solidFill>
          <a:ln w="10160">
            <a:solidFill>
              <a:srgbClr val="E1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59" name="Rectangle 58">
            <a:extLst>
              <a:ext uri="{FF2B5EF4-FFF2-40B4-BE49-F238E27FC236}">
                <a16:creationId xmlns:a16="http://schemas.microsoft.com/office/drawing/2014/main" id="{F5C3B40C-F326-248C-1A3B-EFA8198F7537}"/>
              </a:ext>
            </a:extLst>
          </p:cNvPr>
          <p:cNvSpPr/>
          <p:nvPr/>
        </p:nvSpPr>
        <p:spPr>
          <a:xfrm>
            <a:off x="9291973" y="2510912"/>
            <a:ext cx="50292" cy="1024128"/>
          </a:xfrm>
          <a:prstGeom prst="rect">
            <a:avLst/>
          </a:prstGeom>
          <a:solidFill>
            <a:srgbClr val="1C91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61" name="TextBox 60">
            <a:extLst>
              <a:ext uri="{FF2B5EF4-FFF2-40B4-BE49-F238E27FC236}">
                <a16:creationId xmlns:a16="http://schemas.microsoft.com/office/drawing/2014/main" id="{B3A3E27C-96AE-B88A-ADAA-3D3B63BC1A9E}"/>
              </a:ext>
            </a:extLst>
          </p:cNvPr>
          <p:cNvSpPr txBox="1"/>
          <p:nvPr/>
        </p:nvSpPr>
        <p:spPr>
          <a:xfrm>
            <a:off x="9401701" y="2555471"/>
            <a:ext cx="1275157" cy="240066"/>
          </a:xfrm>
          <a:prstGeom prst="rect">
            <a:avLst/>
          </a:prstGeom>
          <a:noFill/>
        </p:spPr>
        <p:txBody>
          <a:bodyPr wrap="none" lIns="27432" tIns="27432" rIns="27432" bIns="27432" anchor="ctr">
            <a:spAutoFit/>
          </a:bodyPr>
          <a:lstStyle/>
          <a:p>
            <a:pPr algn="l">
              <a:defRPr sz="1050" b="1">
                <a:solidFill>
                  <a:srgbClr val="122742"/>
                </a:solidFill>
                <a:latin typeface="Aptos"/>
              </a:defRPr>
            </a:pPr>
            <a:r>
              <a:rPr sz="1200"/>
              <a:t>2020  Parker et al.</a:t>
            </a:r>
          </a:p>
        </p:txBody>
      </p:sp>
      <p:sp>
        <p:nvSpPr>
          <p:cNvPr id="63" name="TextBox 62">
            <a:extLst>
              <a:ext uri="{FF2B5EF4-FFF2-40B4-BE49-F238E27FC236}">
                <a16:creationId xmlns:a16="http://schemas.microsoft.com/office/drawing/2014/main" id="{C298CDD2-8AD1-C1A3-1D88-13803520C5C6}"/>
              </a:ext>
            </a:extLst>
          </p:cNvPr>
          <p:cNvSpPr txBox="1"/>
          <p:nvPr/>
        </p:nvSpPr>
        <p:spPr>
          <a:xfrm>
            <a:off x="9401701" y="2738351"/>
            <a:ext cx="761747" cy="240066"/>
          </a:xfrm>
          <a:prstGeom prst="rect">
            <a:avLst/>
          </a:prstGeom>
          <a:noFill/>
        </p:spPr>
        <p:txBody>
          <a:bodyPr wrap="none" lIns="27432" tIns="27432" rIns="27432" bIns="27432" anchor="ctr">
            <a:spAutoFit/>
          </a:bodyPr>
          <a:lstStyle/>
          <a:p>
            <a:pPr algn="l">
              <a:defRPr sz="750" b="1">
                <a:solidFill>
                  <a:srgbClr val="1C9187"/>
                </a:solidFill>
                <a:latin typeface="Aptos"/>
              </a:defRPr>
            </a:pPr>
            <a:r>
              <a:rPr sz="1200"/>
              <a:t>ENGLAND</a:t>
            </a:r>
          </a:p>
        </p:txBody>
      </p:sp>
      <p:sp>
        <p:nvSpPr>
          <p:cNvPr id="65" name="TextBox 64">
            <a:extLst>
              <a:ext uri="{FF2B5EF4-FFF2-40B4-BE49-F238E27FC236}">
                <a16:creationId xmlns:a16="http://schemas.microsoft.com/office/drawing/2014/main" id="{6AACCEA0-7DAD-9A0E-231C-580FABEA1554}"/>
              </a:ext>
            </a:extLst>
          </p:cNvPr>
          <p:cNvSpPr txBox="1"/>
          <p:nvPr/>
        </p:nvSpPr>
        <p:spPr>
          <a:xfrm>
            <a:off x="9401701" y="3030959"/>
            <a:ext cx="4797660" cy="240066"/>
          </a:xfrm>
          <a:prstGeom prst="rect">
            <a:avLst/>
          </a:prstGeom>
          <a:noFill/>
        </p:spPr>
        <p:txBody>
          <a:bodyPr wrap="none" lIns="27432" tIns="27432" rIns="27432" bIns="27432" anchor="ctr">
            <a:spAutoFit/>
          </a:bodyPr>
          <a:lstStyle/>
          <a:p>
            <a:pPr algn="l">
              <a:defRPr sz="810" b="0">
                <a:solidFill>
                  <a:srgbClr val="191F26"/>
                </a:solidFill>
                <a:latin typeface="Aptos"/>
              </a:defRPr>
            </a:pPr>
            <a:r>
              <a:rPr sz="1200"/>
              <a:t>Population estimates at age 50; large socioeconomic and regional gaps.</a:t>
            </a:r>
          </a:p>
        </p:txBody>
      </p:sp>
      <p:sp>
        <p:nvSpPr>
          <p:cNvPr id="67" name="TextBox 66">
            <a:extLst>
              <a:ext uri="{FF2B5EF4-FFF2-40B4-BE49-F238E27FC236}">
                <a16:creationId xmlns:a16="http://schemas.microsoft.com/office/drawing/2014/main" id="{4E4FE5F0-DD2E-1A2F-809B-269B945F47A0}"/>
              </a:ext>
            </a:extLst>
          </p:cNvPr>
          <p:cNvSpPr txBox="1"/>
          <p:nvPr/>
        </p:nvSpPr>
        <p:spPr>
          <a:xfrm>
            <a:off x="9401701" y="3286991"/>
            <a:ext cx="1437573" cy="240066"/>
          </a:xfrm>
          <a:prstGeom prst="rect">
            <a:avLst/>
          </a:prstGeom>
          <a:noFill/>
        </p:spPr>
        <p:txBody>
          <a:bodyPr wrap="none" lIns="27432" tIns="27432" rIns="27432" bIns="27432" anchor="ctr">
            <a:spAutoFit/>
          </a:bodyPr>
          <a:lstStyle/>
          <a:p>
            <a:pPr algn="l">
              <a:defRPr sz="680" b="0">
                <a:solidFill>
                  <a:srgbClr val="5B6978"/>
                </a:solidFill>
                <a:latin typeface="Aptos"/>
              </a:defRPr>
            </a:pPr>
            <a:r>
              <a:rPr sz="1200"/>
              <a:t>Lancet Public Health</a:t>
            </a:r>
          </a:p>
        </p:txBody>
      </p:sp>
      <p:cxnSp>
        <p:nvCxnSpPr>
          <p:cNvPr id="69" name="Connector 38">
            <a:extLst>
              <a:ext uri="{FF2B5EF4-FFF2-40B4-BE49-F238E27FC236}">
                <a16:creationId xmlns:a16="http://schemas.microsoft.com/office/drawing/2014/main" id="{E55023E8-7281-6F50-50B6-8B54ECACE287}"/>
              </a:ext>
            </a:extLst>
          </p:cNvPr>
          <p:cNvCxnSpPr/>
          <p:nvPr/>
        </p:nvCxnSpPr>
        <p:spPr>
          <a:xfrm>
            <a:off x="9597186" y="4720587"/>
            <a:ext cx="0" cy="813816"/>
          </a:xfrm>
          <a:prstGeom prst="line">
            <a:avLst/>
          </a:prstGeom>
          <a:ln w="13970">
            <a:solidFill>
              <a:srgbClr val="E1E7EC"/>
            </a:solidFill>
          </a:ln>
        </p:spPr>
        <p:style>
          <a:lnRef idx="2">
            <a:schemeClr val="accent1"/>
          </a:lnRef>
          <a:fillRef idx="0">
            <a:schemeClr val="accent1"/>
          </a:fillRef>
          <a:effectRef idx="1">
            <a:schemeClr val="accent1"/>
          </a:effectRef>
          <a:fontRef idx="minor">
            <a:schemeClr val="tx1"/>
          </a:fontRef>
        </p:style>
      </p:cxnSp>
      <p:sp>
        <p:nvSpPr>
          <p:cNvPr id="71" name="Oval 70">
            <a:extLst>
              <a:ext uri="{FF2B5EF4-FFF2-40B4-BE49-F238E27FC236}">
                <a16:creationId xmlns:a16="http://schemas.microsoft.com/office/drawing/2014/main" id="{2B9F807C-3B56-D5CD-B7DA-B56B19170311}"/>
              </a:ext>
            </a:extLst>
          </p:cNvPr>
          <p:cNvSpPr/>
          <p:nvPr/>
        </p:nvSpPr>
        <p:spPr>
          <a:xfrm>
            <a:off x="9510318" y="4633718"/>
            <a:ext cx="173736" cy="173736"/>
          </a:xfrm>
          <a:prstGeom prst="ellipse">
            <a:avLst/>
          </a:prstGeom>
          <a:solidFill>
            <a:srgbClr val="1F6FB4"/>
          </a:solidFill>
          <a:ln>
            <a:solidFill>
              <a:srgbClr val="1F6F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73" name="Rounded Rectangle 40">
            <a:extLst>
              <a:ext uri="{FF2B5EF4-FFF2-40B4-BE49-F238E27FC236}">
                <a16:creationId xmlns:a16="http://schemas.microsoft.com/office/drawing/2014/main" id="{4B210D5D-3568-F0B2-EEA5-775A2C0BA36A}"/>
              </a:ext>
            </a:extLst>
          </p:cNvPr>
          <p:cNvSpPr/>
          <p:nvPr/>
        </p:nvSpPr>
        <p:spPr>
          <a:xfrm>
            <a:off x="9579028" y="5121763"/>
            <a:ext cx="1828800" cy="1024128"/>
          </a:xfrm>
          <a:prstGeom prst="roundRect">
            <a:avLst/>
          </a:prstGeom>
          <a:solidFill>
            <a:srgbClr val="FFFFFF"/>
          </a:solidFill>
          <a:ln w="10160">
            <a:solidFill>
              <a:srgbClr val="E1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75" name="Rectangle 74">
            <a:extLst>
              <a:ext uri="{FF2B5EF4-FFF2-40B4-BE49-F238E27FC236}">
                <a16:creationId xmlns:a16="http://schemas.microsoft.com/office/drawing/2014/main" id="{6EDA52EA-517C-59B3-A619-463E2940A903}"/>
              </a:ext>
            </a:extLst>
          </p:cNvPr>
          <p:cNvSpPr/>
          <p:nvPr/>
        </p:nvSpPr>
        <p:spPr>
          <a:xfrm>
            <a:off x="9579028" y="5121763"/>
            <a:ext cx="50292" cy="1024128"/>
          </a:xfrm>
          <a:prstGeom prst="rect">
            <a:avLst/>
          </a:prstGeom>
          <a:solidFill>
            <a:srgbClr val="1F6F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77" name="TextBox 76">
            <a:extLst>
              <a:ext uri="{FF2B5EF4-FFF2-40B4-BE49-F238E27FC236}">
                <a16:creationId xmlns:a16="http://schemas.microsoft.com/office/drawing/2014/main" id="{82F50C72-11FC-9DE7-D0B8-B4F5772D769D}"/>
              </a:ext>
            </a:extLst>
          </p:cNvPr>
          <p:cNvSpPr txBox="1"/>
          <p:nvPr/>
        </p:nvSpPr>
        <p:spPr>
          <a:xfrm>
            <a:off x="9688756" y="5166322"/>
            <a:ext cx="1275157" cy="240066"/>
          </a:xfrm>
          <a:prstGeom prst="rect">
            <a:avLst/>
          </a:prstGeom>
          <a:noFill/>
        </p:spPr>
        <p:txBody>
          <a:bodyPr wrap="none" lIns="27432" tIns="27432" rIns="27432" bIns="27432" anchor="ctr">
            <a:spAutoFit/>
          </a:bodyPr>
          <a:lstStyle/>
          <a:p>
            <a:pPr algn="l">
              <a:defRPr sz="1050" b="1">
                <a:solidFill>
                  <a:srgbClr val="122742"/>
                </a:solidFill>
                <a:latin typeface="Aptos"/>
              </a:defRPr>
            </a:pPr>
            <a:r>
              <a:rPr sz="1200"/>
              <a:t>2020  Parker et al.</a:t>
            </a:r>
          </a:p>
        </p:txBody>
      </p:sp>
      <p:sp>
        <p:nvSpPr>
          <p:cNvPr id="79" name="TextBox 78">
            <a:extLst>
              <a:ext uri="{FF2B5EF4-FFF2-40B4-BE49-F238E27FC236}">
                <a16:creationId xmlns:a16="http://schemas.microsoft.com/office/drawing/2014/main" id="{737942B4-A36E-398B-06AC-BDB17E6EDC94}"/>
              </a:ext>
            </a:extLst>
          </p:cNvPr>
          <p:cNvSpPr txBox="1"/>
          <p:nvPr/>
        </p:nvSpPr>
        <p:spPr>
          <a:xfrm>
            <a:off x="9688756" y="5349202"/>
            <a:ext cx="1521379" cy="240066"/>
          </a:xfrm>
          <a:prstGeom prst="rect">
            <a:avLst/>
          </a:prstGeom>
          <a:noFill/>
        </p:spPr>
        <p:txBody>
          <a:bodyPr wrap="none" lIns="27432" tIns="27432" rIns="27432" bIns="27432" anchor="ctr">
            <a:spAutoFit/>
          </a:bodyPr>
          <a:lstStyle/>
          <a:p>
            <a:pPr algn="l">
              <a:defRPr sz="750" b="1">
                <a:solidFill>
                  <a:srgbClr val="1F6FB4"/>
                </a:solidFill>
                <a:latin typeface="Aptos"/>
              </a:defRPr>
            </a:pPr>
            <a:r>
              <a:rPr sz="1200"/>
              <a:t>SYSTEMATIC REVIEW</a:t>
            </a:r>
          </a:p>
        </p:txBody>
      </p:sp>
      <p:sp>
        <p:nvSpPr>
          <p:cNvPr id="81" name="TextBox 80">
            <a:extLst>
              <a:ext uri="{FF2B5EF4-FFF2-40B4-BE49-F238E27FC236}">
                <a16:creationId xmlns:a16="http://schemas.microsoft.com/office/drawing/2014/main" id="{E0B61F78-64A6-0E3A-D522-7215E004481D}"/>
              </a:ext>
            </a:extLst>
          </p:cNvPr>
          <p:cNvSpPr txBox="1"/>
          <p:nvPr/>
        </p:nvSpPr>
        <p:spPr>
          <a:xfrm>
            <a:off x="9688756" y="5641810"/>
            <a:ext cx="5080237" cy="240066"/>
          </a:xfrm>
          <a:prstGeom prst="rect">
            <a:avLst/>
          </a:prstGeom>
          <a:noFill/>
        </p:spPr>
        <p:txBody>
          <a:bodyPr wrap="none" lIns="27432" tIns="27432" rIns="27432" bIns="27432" anchor="ctr">
            <a:spAutoFit/>
          </a:bodyPr>
          <a:lstStyle/>
          <a:p>
            <a:pPr algn="l">
              <a:defRPr sz="810" b="0">
                <a:solidFill>
                  <a:srgbClr val="191F26"/>
                </a:solidFill>
                <a:latin typeface="Aptos"/>
              </a:defRPr>
            </a:pPr>
            <a:r>
              <a:rPr sz="1200" dirty="0"/>
              <a:t>Synthesizes early HWLE evidence and highlights limited use of the measure.</a:t>
            </a:r>
          </a:p>
        </p:txBody>
      </p:sp>
      <p:sp>
        <p:nvSpPr>
          <p:cNvPr id="83" name="TextBox 82">
            <a:extLst>
              <a:ext uri="{FF2B5EF4-FFF2-40B4-BE49-F238E27FC236}">
                <a16:creationId xmlns:a16="http://schemas.microsoft.com/office/drawing/2014/main" id="{08DB95CA-570B-AE7F-E23B-62BC10FE10A6}"/>
              </a:ext>
            </a:extLst>
          </p:cNvPr>
          <p:cNvSpPr txBox="1"/>
          <p:nvPr/>
        </p:nvSpPr>
        <p:spPr>
          <a:xfrm>
            <a:off x="9688756" y="5897842"/>
            <a:ext cx="1824923" cy="240066"/>
          </a:xfrm>
          <a:prstGeom prst="rect">
            <a:avLst/>
          </a:prstGeom>
          <a:noFill/>
        </p:spPr>
        <p:txBody>
          <a:bodyPr wrap="none" lIns="27432" tIns="27432" rIns="27432" bIns="27432" anchor="ctr">
            <a:spAutoFit/>
          </a:bodyPr>
          <a:lstStyle/>
          <a:p>
            <a:pPr algn="l">
              <a:defRPr sz="680" b="0">
                <a:solidFill>
                  <a:srgbClr val="5B6978"/>
                </a:solidFill>
                <a:latin typeface="Aptos"/>
              </a:defRPr>
            </a:pPr>
            <a:r>
              <a:rPr sz="1200"/>
              <a:t>Social Indicators Research</a:t>
            </a:r>
          </a:p>
        </p:txBody>
      </p:sp>
      <p:cxnSp>
        <p:nvCxnSpPr>
          <p:cNvPr id="101" name="Connector 54">
            <a:extLst>
              <a:ext uri="{FF2B5EF4-FFF2-40B4-BE49-F238E27FC236}">
                <a16:creationId xmlns:a16="http://schemas.microsoft.com/office/drawing/2014/main" id="{D3A9C0D3-586B-2464-9EC3-2153245FACA5}"/>
              </a:ext>
            </a:extLst>
          </p:cNvPr>
          <p:cNvCxnSpPr/>
          <p:nvPr/>
        </p:nvCxnSpPr>
        <p:spPr>
          <a:xfrm>
            <a:off x="10447578" y="4720587"/>
            <a:ext cx="0" cy="841248"/>
          </a:xfrm>
          <a:prstGeom prst="line">
            <a:avLst/>
          </a:prstGeom>
          <a:ln w="13970">
            <a:solidFill>
              <a:srgbClr val="E1E7EC"/>
            </a:solidFill>
          </a:ln>
        </p:spPr>
        <p:style>
          <a:lnRef idx="2">
            <a:schemeClr val="accent1"/>
          </a:lnRef>
          <a:fillRef idx="0">
            <a:schemeClr val="accent1"/>
          </a:fillRef>
          <a:effectRef idx="1">
            <a:schemeClr val="accent1"/>
          </a:effectRef>
          <a:fontRef idx="minor">
            <a:schemeClr val="tx1"/>
          </a:fontRef>
        </p:style>
      </p:cxnSp>
      <p:sp>
        <p:nvSpPr>
          <p:cNvPr id="103" name="Oval 102">
            <a:extLst>
              <a:ext uri="{FF2B5EF4-FFF2-40B4-BE49-F238E27FC236}">
                <a16:creationId xmlns:a16="http://schemas.microsoft.com/office/drawing/2014/main" id="{FBD0C011-4531-8749-EA51-3FD0BB0017DF}"/>
              </a:ext>
            </a:extLst>
          </p:cNvPr>
          <p:cNvSpPr/>
          <p:nvPr/>
        </p:nvSpPr>
        <p:spPr>
          <a:xfrm>
            <a:off x="10360709" y="4633718"/>
            <a:ext cx="173736" cy="173736"/>
          </a:xfrm>
          <a:prstGeom prst="ellipse">
            <a:avLst/>
          </a:prstGeom>
          <a:solidFill>
            <a:srgbClr val="1C9187"/>
          </a:solidFill>
          <a:ln>
            <a:solidFill>
              <a:srgbClr val="1C91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05" name="Rounded Rectangle 56">
            <a:extLst>
              <a:ext uri="{FF2B5EF4-FFF2-40B4-BE49-F238E27FC236}">
                <a16:creationId xmlns:a16="http://schemas.microsoft.com/office/drawing/2014/main" id="{FAEA4DDC-F262-6099-DAEC-B011F8BBD270}"/>
              </a:ext>
            </a:extLst>
          </p:cNvPr>
          <p:cNvSpPr/>
          <p:nvPr/>
        </p:nvSpPr>
        <p:spPr>
          <a:xfrm>
            <a:off x="10447578" y="6215530"/>
            <a:ext cx="1828800" cy="1024128"/>
          </a:xfrm>
          <a:prstGeom prst="roundRect">
            <a:avLst/>
          </a:prstGeom>
          <a:solidFill>
            <a:srgbClr val="FFFFFF"/>
          </a:solidFill>
          <a:ln w="10160">
            <a:solidFill>
              <a:srgbClr val="E1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07" name="Rectangle 106">
            <a:extLst>
              <a:ext uri="{FF2B5EF4-FFF2-40B4-BE49-F238E27FC236}">
                <a16:creationId xmlns:a16="http://schemas.microsoft.com/office/drawing/2014/main" id="{40C2A073-923E-3127-2B9E-88DBCB51E6A0}"/>
              </a:ext>
            </a:extLst>
          </p:cNvPr>
          <p:cNvSpPr/>
          <p:nvPr/>
        </p:nvSpPr>
        <p:spPr>
          <a:xfrm>
            <a:off x="10447578" y="6215530"/>
            <a:ext cx="50292" cy="1024128"/>
          </a:xfrm>
          <a:prstGeom prst="rect">
            <a:avLst/>
          </a:prstGeom>
          <a:solidFill>
            <a:srgbClr val="1C91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09" name="TextBox 108">
            <a:extLst>
              <a:ext uri="{FF2B5EF4-FFF2-40B4-BE49-F238E27FC236}">
                <a16:creationId xmlns:a16="http://schemas.microsoft.com/office/drawing/2014/main" id="{A7F7F129-750D-6AC0-354A-29C8F422C30D}"/>
              </a:ext>
            </a:extLst>
          </p:cNvPr>
          <p:cNvSpPr txBox="1"/>
          <p:nvPr/>
        </p:nvSpPr>
        <p:spPr>
          <a:xfrm>
            <a:off x="10557306" y="6260089"/>
            <a:ext cx="1243225" cy="240066"/>
          </a:xfrm>
          <a:prstGeom prst="rect">
            <a:avLst/>
          </a:prstGeom>
          <a:noFill/>
        </p:spPr>
        <p:txBody>
          <a:bodyPr wrap="none" lIns="27432" tIns="27432" rIns="27432" bIns="27432" anchor="ctr">
            <a:spAutoFit/>
          </a:bodyPr>
          <a:lstStyle/>
          <a:p>
            <a:pPr algn="l">
              <a:defRPr sz="1050" b="1">
                <a:solidFill>
                  <a:srgbClr val="122742"/>
                </a:solidFill>
                <a:latin typeface="Aptos"/>
              </a:defRPr>
            </a:pPr>
            <a:r>
              <a:rPr sz="1200"/>
              <a:t>2022  Lynch et al.</a:t>
            </a:r>
          </a:p>
        </p:txBody>
      </p:sp>
      <p:sp>
        <p:nvSpPr>
          <p:cNvPr id="111" name="TextBox 110">
            <a:extLst>
              <a:ext uri="{FF2B5EF4-FFF2-40B4-BE49-F238E27FC236}">
                <a16:creationId xmlns:a16="http://schemas.microsoft.com/office/drawing/2014/main" id="{1C02E63E-1845-39CB-30A2-51716BDB8154}"/>
              </a:ext>
            </a:extLst>
          </p:cNvPr>
          <p:cNvSpPr txBox="1"/>
          <p:nvPr/>
        </p:nvSpPr>
        <p:spPr>
          <a:xfrm>
            <a:off x="10557306" y="6442969"/>
            <a:ext cx="1858907" cy="240066"/>
          </a:xfrm>
          <a:prstGeom prst="rect">
            <a:avLst/>
          </a:prstGeom>
          <a:noFill/>
        </p:spPr>
        <p:txBody>
          <a:bodyPr wrap="none" lIns="27432" tIns="27432" rIns="27432" bIns="27432" anchor="ctr">
            <a:spAutoFit/>
          </a:bodyPr>
          <a:lstStyle/>
          <a:p>
            <a:pPr algn="l">
              <a:defRPr sz="750" b="1">
                <a:solidFill>
                  <a:srgbClr val="1C9187"/>
                </a:solidFill>
                <a:latin typeface="Aptos"/>
              </a:defRPr>
            </a:pPr>
            <a:r>
              <a:rPr sz="1200"/>
              <a:t>ENGLAND · PROJECTIONS</a:t>
            </a:r>
          </a:p>
        </p:txBody>
      </p:sp>
      <p:sp>
        <p:nvSpPr>
          <p:cNvPr id="113" name="TextBox 112">
            <a:extLst>
              <a:ext uri="{FF2B5EF4-FFF2-40B4-BE49-F238E27FC236}">
                <a16:creationId xmlns:a16="http://schemas.microsoft.com/office/drawing/2014/main" id="{FAFFAC0A-B81F-482E-3B54-5A0782B381B4}"/>
              </a:ext>
            </a:extLst>
          </p:cNvPr>
          <p:cNvSpPr txBox="1"/>
          <p:nvPr/>
        </p:nvSpPr>
        <p:spPr>
          <a:xfrm>
            <a:off x="10557306" y="6735577"/>
            <a:ext cx="4706353" cy="240066"/>
          </a:xfrm>
          <a:prstGeom prst="rect">
            <a:avLst/>
          </a:prstGeom>
          <a:noFill/>
        </p:spPr>
        <p:txBody>
          <a:bodyPr wrap="square" lIns="27432" tIns="27432" rIns="27432" bIns="27432" anchor="ctr">
            <a:spAutoFit/>
          </a:bodyPr>
          <a:lstStyle/>
          <a:p>
            <a:pPr algn="l">
              <a:defRPr sz="810" b="0">
                <a:solidFill>
                  <a:srgbClr val="191F26"/>
                </a:solidFill>
                <a:latin typeface="Aptos"/>
              </a:defRPr>
            </a:pPr>
            <a:r>
              <a:rPr sz="1200" dirty="0"/>
              <a:t>Projects HWLE to 2035; gains lag life expectancy and policy ambitions.</a:t>
            </a:r>
          </a:p>
        </p:txBody>
      </p:sp>
      <p:sp>
        <p:nvSpPr>
          <p:cNvPr id="115" name="TextBox 114">
            <a:extLst>
              <a:ext uri="{FF2B5EF4-FFF2-40B4-BE49-F238E27FC236}">
                <a16:creationId xmlns:a16="http://schemas.microsoft.com/office/drawing/2014/main" id="{5967AFB7-E7F7-8BC3-305F-E863DB92C81D}"/>
              </a:ext>
            </a:extLst>
          </p:cNvPr>
          <p:cNvSpPr txBox="1"/>
          <p:nvPr/>
        </p:nvSpPr>
        <p:spPr>
          <a:xfrm>
            <a:off x="10557306" y="6991609"/>
            <a:ext cx="910890" cy="240066"/>
          </a:xfrm>
          <a:prstGeom prst="rect">
            <a:avLst/>
          </a:prstGeom>
          <a:noFill/>
        </p:spPr>
        <p:txBody>
          <a:bodyPr wrap="none" lIns="27432" tIns="27432" rIns="27432" bIns="27432" anchor="ctr">
            <a:spAutoFit/>
          </a:bodyPr>
          <a:lstStyle/>
          <a:p>
            <a:pPr algn="l">
              <a:defRPr sz="680" b="0">
                <a:solidFill>
                  <a:srgbClr val="5B6978"/>
                </a:solidFill>
                <a:latin typeface="Aptos"/>
              </a:defRPr>
            </a:pPr>
            <a:r>
              <a:rPr sz="1200"/>
              <a:t>Nature Aging</a:t>
            </a:r>
          </a:p>
        </p:txBody>
      </p:sp>
      <p:sp>
        <p:nvSpPr>
          <p:cNvPr id="192" name="TextBox 191">
            <a:extLst>
              <a:ext uri="{FF2B5EF4-FFF2-40B4-BE49-F238E27FC236}">
                <a16:creationId xmlns:a16="http://schemas.microsoft.com/office/drawing/2014/main" id="{E82C6D59-BACB-4438-7833-AD93DE220E33}"/>
              </a:ext>
            </a:extLst>
          </p:cNvPr>
          <p:cNvSpPr txBox="1"/>
          <p:nvPr/>
        </p:nvSpPr>
        <p:spPr>
          <a:xfrm>
            <a:off x="1117600" y="1890410"/>
            <a:ext cx="9530366" cy="301621"/>
          </a:xfrm>
          <a:prstGeom prst="rect">
            <a:avLst/>
          </a:prstGeom>
          <a:noFill/>
        </p:spPr>
        <p:txBody>
          <a:bodyPr wrap="none" lIns="27432" tIns="27432" rIns="27432" bIns="27432" anchor="ctr">
            <a:spAutoFit/>
          </a:bodyPr>
          <a:lstStyle/>
          <a:p>
            <a:pPr algn="l">
              <a:defRPr sz="650" b="0">
                <a:solidFill>
                  <a:srgbClr val="5B6978"/>
                </a:solidFill>
                <a:latin typeface="Aptos"/>
              </a:defRPr>
            </a:pPr>
            <a:r>
              <a:rPr sz="1600" dirty="0"/>
              <a:t>Selected peer-reviewed milestones (not exhaustive). Sources: Lièvre 2007; Parker 2020; Lynch 2022, 2024</a:t>
            </a:r>
            <a:r>
              <a:rPr lang="de-CH" sz="1600" dirty="0"/>
              <a:t>.</a:t>
            </a:r>
            <a:endParaRPr sz="1600" dirty="0"/>
          </a:p>
        </p:txBody>
      </p:sp>
      <p:sp>
        <p:nvSpPr>
          <p:cNvPr id="4" name="TextBox 3">
            <a:extLst>
              <a:ext uri="{FF2B5EF4-FFF2-40B4-BE49-F238E27FC236}">
                <a16:creationId xmlns:a16="http://schemas.microsoft.com/office/drawing/2014/main" id="{8363B60D-41F1-9CDB-F939-C5F3AE3B7FB6}"/>
              </a:ext>
            </a:extLst>
          </p:cNvPr>
          <p:cNvSpPr txBox="1"/>
          <p:nvPr/>
        </p:nvSpPr>
        <p:spPr>
          <a:xfrm>
            <a:off x="4580544" y="5983489"/>
            <a:ext cx="2096429" cy="923330"/>
          </a:xfrm>
          <a:prstGeom prst="rect">
            <a:avLst/>
          </a:prstGeom>
          <a:solidFill>
            <a:srgbClr val="EF25E1"/>
          </a:solidFill>
        </p:spPr>
        <p:txBody>
          <a:bodyPr wrap="square" rtlCol="0">
            <a:spAutoFit/>
          </a:bodyPr>
          <a:lstStyle/>
          <a:p>
            <a:r>
              <a:rPr lang="en-GB" dirty="0"/>
              <a:t>add/remove other papers? E.g. other countries</a:t>
            </a:r>
          </a:p>
        </p:txBody>
      </p:sp>
    </p:spTree>
    <p:extLst>
      <p:ext uri="{BB962C8B-B14F-4D97-AF65-F5344CB8AC3E}">
        <p14:creationId xmlns:p14="http://schemas.microsoft.com/office/powerpoint/2010/main" val="40106605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D7387-DF24-CC69-48DD-B819F78F2BB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23C4AC8-E456-25B4-FF99-03DCB932DB17}"/>
              </a:ext>
            </a:extLst>
          </p:cNvPr>
          <p:cNvSpPr>
            <a:spLocks noGrp="1"/>
          </p:cNvSpPr>
          <p:nvPr>
            <p:ph type="title"/>
          </p:nvPr>
        </p:nvSpPr>
        <p:spPr/>
        <p:txBody>
          <a:bodyPr/>
          <a:lstStyle/>
          <a:p>
            <a:r>
              <a:rPr lang="en-GB" dirty="0"/>
              <a:t>Healthy Working Life Expectancy as a metric</a:t>
            </a:r>
          </a:p>
        </p:txBody>
      </p:sp>
      <p:sp>
        <p:nvSpPr>
          <p:cNvPr id="5" name="Footer Placeholder 4">
            <a:extLst>
              <a:ext uri="{FF2B5EF4-FFF2-40B4-BE49-F238E27FC236}">
                <a16:creationId xmlns:a16="http://schemas.microsoft.com/office/drawing/2014/main" id="{34828260-A684-A600-D863-D15EFAA99D0B}"/>
              </a:ext>
            </a:extLst>
          </p:cNvPr>
          <p:cNvSpPr>
            <a:spLocks noGrp="1"/>
          </p:cNvSpPr>
          <p:nvPr>
            <p:ph type="ftr" sz="quarter" idx="3"/>
          </p:nvPr>
        </p:nvSpPr>
        <p:spPr/>
        <p:txBody>
          <a:bodyPr/>
          <a:lstStyle/>
          <a:p>
            <a:r>
              <a:rPr lang="en-GB" dirty="0" err="1"/>
              <a:t>IFoA</a:t>
            </a:r>
            <a:r>
              <a:rPr lang="en-GB" dirty="0"/>
              <a:t> Life Conference</a:t>
            </a:r>
          </a:p>
        </p:txBody>
      </p:sp>
      <p:sp>
        <p:nvSpPr>
          <p:cNvPr id="6" name="Slide Number Placeholder 5">
            <a:extLst>
              <a:ext uri="{FF2B5EF4-FFF2-40B4-BE49-F238E27FC236}">
                <a16:creationId xmlns:a16="http://schemas.microsoft.com/office/drawing/2014/main" id="{D55B0635-D115-CD8C-B194-D7C31531E649}"/>
              </a:ext>
            </a:extLst>
          </p:cNvPr>
          <p:cNvSpPr>
            <a:spLocks noGrp="1"/>
          </p:cNvSpPr>
          <p:nvPr>
            <p:ph type="sldNum" sz="quarter" idx="4"/>
          </p:nvPr>
        </p:nvSpPr>
        <p:spPr/>
        <p:txBody>
          <a:bodyPr/>
          <a:lstStyle/>
          <a:p>
            <a:fld id="{40FC62D0-A2F2-4BF8-8DAC-E86C11000EC3}" type="slidenum">
              <a:rPr lang="en-GB" smtClean="0"/>
              <a:pPr/>
              <a:t>19</a:t>
            </a:fld>
            <a:endParaRPr lang="en-GB" dirty="0"/>
          </a:p>
        </p:txBody>
      </p:sp>
      <p:sp>
        <p:nvSpPr>
          <p:cNvPr id="7" name="Text Placeholder 6">
            <a:extLst>
              <a:ext uri="{FF2B5EF4-FFF2-40B4-BE49-F238E27FC236}">
                <a16:creationId xmlns:a16="http://schemas.microsoft.com/office/drawing/2014/main" id="{1DD8544A-E26F-5C4F-E61E-A476D99EA758}"/>
              </a:ext>
            </a:extLst>
          </p:cNvPr>
          <p:cNvSpPr>
            <a:spLocks noGrp="1"/>
          </p:cNvSpPr>
          <p:nvPr>
            <p:ph type="body" sz="quarter" idx="24"/>
          </p:nvPr>
        </p:nvSpPr>
        <p:spPr/>
        <p:txBody>
          <a:bodyPr/>
          <a:lstStyle/>
          <a:p>
            <a:r>
              <a:rPr lang="en-US" sz="2400" dirty="0">
                <a:latin typeface="+mn-lt"/>
              </a:rPr>
              <a:t>Concepts similar to HWLE presented in the actuarial journals: tracing the move from working-life tables to multi-state models and healthy working life expectancy</a:t>
            </a:r>
          </a:p>
        </p:txBody>
      </p:sp>
      <p:sp>
        <p:nvSpPr>
          <p:cNvPr id="9" name="TextBox 8">
            <a:extLst>
              <a:ext uri="{FF2B5EF4-FFF2-40B4-BE49-F238E27FC236}">
                <a16:creationId xmlns:a16="http://schemas.microsoft.com/office/drawing/2014/main" id="{B19D9C97-242A-C3EE-D11D-FB844A656A61}"/>
              </a:ext>
            </a:extLst>
          </p:cNvPr>
          <p:cNvSpPr txBox="1"/>
          <p:nvPr/>
        </p:nvSpPr>
        <p:spPr>
          <a:xfrm>
            <a:off x="12221737" y="256478"/>
            <a:ext cx="2096429" cy="369332"/>
          </a:xfrm>
          <a:prstGeom prst="rect">
            <a:avLst/>
          </a:prstGeom>
          <a:solidFill>
            <a:srgbClr val="EF25E1"/>
          </a:solidFill>
        </p:spPr>
        <p:txBody>
          <a:bodyPr wrap="square" rtlCol="0">
            <a:spAutoFit/>
          </a:bodyPr>
          <a:lstStyle/>
          <a:p>
            <a:r>
              <a:rPr lang="en-GB" dirty="0"/>
              <a:t>David 2 mins</a:t>
            </a:r>
          </a:p>
        </p:txBody>
      </p:sp>
      <p:sp>
        <p:nvSpPr>
          <p:cNvPr id="198" name="Shape 6">
            <a:extLst>
              <a:ext uri="{FF2B5EF4-FFF2-40B4-BE49-F238E27FC236}">
                <a16:creationId xmlns:a16="http://schemas.microsoft.com/office/drawing/2014/main" id="{43D7236D-C149-EC32-C9F4-6F74F865A94A}"/>
              </a:ext>
            </a:extLst>
          </p:cNvPr>
          <p:cNvSpPr/>
          <p:nvPr/>
        </p:nvSpPr>
        <p:spPr>
          <a:xfrm>
            <a:off x="1040057" y="5145080"/>
            <a:ext cx="14264640" cy="0"/>
          </a:xfrm>
          <a:prstGeom prst="line">
            <a:avLst/>
          </a:prstGeom>
          <a:noFill/>
          <a:ln w="25400">
            <a:solidFill>
              <a:srgbClr val="AEB6C2"/>
            </a:solidFill>
            <a:prstDash val="solid"/>
          </a:ln>
        </p:spPr>
        <p:txBody>
          <a:bodyPr/>
          <a:lstStyle/>
          <a:p>
            <a:endParaRPr lang="en-GB" sz="2400"/>
          </a:p>
        </p:txBody>
      </p:sp>
      <p:sp>
        <p:nvSpPr>
          <p:cNvPr id="200" name="Shape 7">
            <a:extLst>
              <a:ext uri="{FF2B5EF4-FFF2-40B4-BE49-F238E27FC236}">
                <a16:creationId xmlns:a16="http://schemas.microsoft.com/office/drawing/2014/main" id="{D8BBA177-B090-0CAF-26E4-92B8CCA884C0}"/>
              </a:ext>
            </a:extLst>
          </p:cNvPr>
          <p:cNvSpPr/>
          <p:nvPr/>
        </p:nvSpPr>
        <p:spPr>
          <a:xfrm>
            <a:off x="1230252" y="5071928"/>
            <a:ext cx="0" cy="146304"/>
          </a:xfrm>
          <a:prstGeom prst="line">
            <a:avLst/>
          </a:prstGeom>
          <a:noFill/>
          <a:ln w="12700">
            <a:solidFill>
              <a:srgbClr val="C8CDD5"/>
            </a:solidFill>
            <a:prstDash val="solid"/>
          </a:ln>
        </p:spPr>
        <p:txBody>
          <a:bodyPr/>
          <a:lstStyle/>
          <a:p>
            <a:endParaRPr lang="en-GB" sz="2400"/>
          </a:p>
        </p:txBody>
      </p:sp>
      <p:sp>
        <p:nvSpPr>
          <p:cNvPr id="202" name="Text 8">
            <a:extLst>
              <a:ext uri="{FF2B5EF4-FFF2-40B4-BE49-F238E27FC236}">
                <a16:creationId xmlns:a16="http://schemas.microsoft.com/office/drawing/2014/main" id="{0A8A62ED-9BD2-5495-4BB2-728ECFADBE7F}"/>
              </a:ext>
            </a:extLst>
          </p:cNvPr>
          <p:cNvSpPr/>
          <p:nvPr/>
        </p:nvSpPr>
        <p:spPr>
          <a:xfrm>
            <a:off x="962028" y="5303576"/>
            <a:ext cx="536448" cy="219456"/>
          </a:xfrm>
          <a:prstGeom prst="rect">
            <a:avLst/>
          </a:prstGeom>
          <a:noFill/>
          <a:ln/>
        </p:spPr>
        <p:txBody>
          <a:bodyPr wrap="square" lIns="0" tIns="0" rIns="0" bIns="0" rtlCol="0" anchor="ctr"/>
          <a:lstStyle/>
          <a:p>
            <a:pPr algn="ctr"/>
            <a:r>
              <a:rPr lang="en-US" sz="1000" dirty="0">
                <a:solidFill>
                  <a:srgbClr val="7A8492"/>
                </a:solidFill>
              </a:rPr>
              <a:t>1950</a:t>
            </a:r>
            <a:endParaRPr lang="en-US" sz="1000" dirty="0"/>
          </a:p>
        </p:txBody>
      </p:sp>
      <p:sp>
        <p:nvSpPr>
          <p:cNvPr id="204" name="Shape 9">
            <a:extLst>
              <a:ext uri="{FF2B5EF4-FFF2-40B4-BE49-F238E27FC236}">
                <a16:creationId xmlns:a16="http://schemas.microsoft.com/office/drawing/2014/main" id="{6D659190-09B1-DE16-CC54-87D07010E64E}"/>
              </a:ext>
            </a:extLst>
          </p:cNvPr>
          <p:cNvSpPr/>
          <p:nvPr/>
        </p:nvSpPr>
        <p:spPr>
          <a:xfrm>
            <a:off x="3132204" y="5071928"/>
            <a:ext cx="0" cy="146304"/>
          </a:xfrm>
          <a:prstGeom prst="line">
            <a:avLst/>
          </a:prstGeom>
          <a:noFill/>
          <a:ln w="12700">
            <a:solidFill>
              <a:srgbClr val="C8CDD5"/>
            </a:solidFill>
            <a:prstDash val="solid"/>
          </a:ln>
        </p:spPr>
        <p:txBody>
          <a:bodyPr/>
          <a:lstStyle/>
          <a:p>
            <a:endParaRPr lang="en-GB" sz="2400"/>
          </a:p>
        </p:txBody>
      </p:sp>
      <p:sp>
        <p:nvSpPr>
          <p:cNvPr id="206" name="Text 10">
            <a:extLst>
              <a:ext uri="{FF2B5EF4-FFF2-40B4-BE49-F238E27FC236}">
                <a16:creationId xmlns:a16="http://schemas.microsoft.com/office/drawing/2014/main" id="{0CB19DF7-CBA3-3F40-B6C0-79B930579B7B}"/>
              </a:ext>
            </a:extLst>
          </p:cNvPr>
          <p:cNvSpPr/>
          <p:nvPr/>
        </p:nvSpPr>
        <p:spPr>
          <a:xfrm>
            <a:off x="2863980" y="5303576"/>
            <a:ext cx="536448" cy="219456"/>
          </a:xfrm>
          <a:prstGeom prst="rect">
            <a:avLst/>
          </a:prstGeom>
          <a:noFill/>
          <a:ln/>
        </p:spPr>
        <p:txBody>
          <a:bodyPr wrap="square" lIns="0" tIns="0" rIns="0" bIns="0" rtlCol="0" anchor="ctr"/>
          <a:lstStyle/>
          <a:p>
            <a:pPr algn="ctr"/>
            <a:r>
              <a:rPr lang="en-US" sz="1000" dirty="0">
                <a:solidFill>
                  <a:srgbClr val="7A8492"/>
                </a:solidFill>
              </a:rPr>
              <a:t>1960</a:t>
            </a:r>
            <a:endParaRPr lang="en-US" sz="1000" dirty="0"/>
          </a:p>
        </p:txBody>
      </p:sp>
      <p:sp>
        <p:nvSpPr>
          <p:cNvPr id="208" name="Shape 11">
            <a:extLst>
              <a:ext uri="{FF2B5EF4-FFF2-40B4-BE49-F238E27FC236}">
                <a16:creationId xmlns:a16="http://schemas.microsoft.com/office/drawing/2014/main" id="{EB1454EA-4201-C0FA-A67C-4601A30F4769}"/>
              </a:ext>
            </a:extLst>
          </p:cNvPr>
          <p:cNvSpPr/>
          <p:nvPr/>
        </p:nvSpPr>
        <p:spPr>
          <a:xfrm>
            <a:off x="5034156" y="5071928"/>
            <a:ext cx="0" cy="146304"/>
          </a:xfrm>
          <a:prstGeom prst="line">
            <a:avLst/>
          </a:prstGeom>
          <a:noFill/>
          <a:ln w="12700">
            <a:solidFill>
              <a:srgbClr val="C8CDD5"/>
            </a:solidFill>
            <a:prstDash val="solid"/>
          </a:ln>
        </p:spPr>
        <p:txBody>
          <a:bodyPr/>
          <a:lstStyle/>
          <a:p>
            <a:endParaRPr lang="en-GB" sz="2400"/>
          </a:p>
        </p:txBody>
      </p:sp>
      <p:sp>
        <p:nvSpPr>
          <p:cNvPr id="210" name="Text 12">
            <a:extLst>
              <a:ext uri="{FF2B5EF4-FFF2-40B4-BE49-F238E27FC236}">
                <a16:creationId xmlns:a16="http://schemas.microsoft.com/office/drawing/2014/main" id="{B31A03E9-3FBC-093E-A43D-A15E46BB29B7}"/>
              </a:ext>
            </a:extLst>
          </p:cNvPr>
          <p:cNvSpPr/>
          <p:nvPr/>
        </p:nvSpPr>
        <p:spPr>
          <a:xfrm>
            <a:off x="4765932" y="5303576"/>
            <a:ext cx="536448" cy="219456"/>
          </a:xfrm>
          <a:prstGeom prst="rect">
            <a:avLst/>
          </a:prstGeom>
          <a:noFill/>
          <a:ln/>
        </p:spPr>
        <p:txBody>
          <a:bodyPr wrap="square" lIns="0" tIns="0" rIns="0" bIns="0" rtlCol="0" anchor="ctr"/>
          <a:lstStyle/>
          <a:p>
            <a:pPr algn="ctr"/>
            <a:r>
              <a:rPr lang="en-US" sz="1000" dirty="0">
                <a:solidFill>
                  <a:srgbClr val="7A8492"/>
                </a:solidFill>
              </a:rPr>
              <a:t>1970</a:t>
            </a:r>
            <a:endParaRPr lang="en-US" sz="1000" dirty="0"/>
          </a:p>
        </p:txBody>
      </p:sp>
      <p:sp>
        <p:nvSpPr>
          <p:cNvPr id="212" name="Shape 13">
            <a:extLst>
              <a:ext uri="{FF2B5EF4-FFF2-40B4-BE49-F238E27FC236}">
                <a16:creationId xmlns:a16="http://schemas.microsoft.com/office/drawing/2014/main" id="{FB04136A-2FE7-5E06-EF9C-C6ACD841146A}"/>
              </a:ext>
            </a:extLst>
          </p:cNvPr>
          <p:cNvSpPr/>
          <p:nvPr/>
        </p:nvSpPr>
        <p:spPr>
          <a:xfrm>
            <a:off x="6936108" y="5071928"/>
            <a:ext cx="0" cy="146304"/>
          </a:xfrm>
          <a:prstGeom prst="line">
            <a:avLst/>
          </a:prstGeom>
          <a:noFill/>
          <a:ln w="12700">
            <a:solidFill>
              <a:srgbClr val="C8CDD5"/>
            </a:solidFill>
            <a:prstDash val="solid"/>
          </a:ln>
        </p:spPr>
        <p:txBody>
          <a:bodyPr/>
          <a:lstStyle/>
          <a:p>
            <a:endParaRPr lang="en-GB" sz="2400"/>
          </a:p>
        </p:txBody>
      </p:sp>
      <p:sp>
        <p:nvSpPr>
          <p:cNvPr id="214" name="Text 14">
            <a:extLst>
              <a:ext uri="{FF2B5EF4-FFF2-40B4-BE49-F238E27FC236}">
                <a16:creationId xmlns:a16="http://schemas.microsoft.com/office/drawing/2014/main" id="{ED30CA34-83D9-A0C7-E91B-C6DA36E73B82}"/>
              </a:ext>
            </a:extLst>
          </p:cNvPr>
          <p:cNvSpPr/>
          <p:nvPr/>
        </p:nvSpPr>
        <p:spPr>
          <a:xfrm>
            <a:off x="6667884" y="5303576"/>
            <a:ext cx="536448" cy="219456"/>
          </a:xfrm>
          <a:prstGeom prst="rect">
            <a:avLst/>
          </a:prstGeom>
          <a:noFill/>
          <a:ln/>
        </p:spPr>
        <p:txBody>
          <a:bodyPr wrap="square" lIns="0" tIns="0" rIns="0" bIns="0" rtlCol="0" anchor="ctr"/>
          <a:lstStyle/>
          <a:p>
            <a:pPr algn="ctr"/>
            <a:r>
              <a:rPr lang="en-US" sz="1000" dirty="0">
                <a:solidFill>
                  <a:srgbClr val="7A8492"/>
                </a:solidFill>
              </a:rPr>
              <a:t>1980</a:t>
            </a:r>
            <a:endParaRPr lang="en-US" sz="1000" dirty="0"/>
          </a:p>
        </p:txBody>
      </p:sp>
      <p:sp>
        <p:nvSpPr>
          <p:cNvPr id="216" name="Shape 15">
            <a:extLst>
              <a:ext uri="{FF2B5EF4-FFF2-40B4-BE49-F238E27FC236}">
                <a16:creationId xmlns:a16="http://schemas.microsoft.com/office/drawing/2014/main" id="{F68C8F5D-4B44-2064-6A18-2BE772580D6E}"/>
              </a:ext>
            </a:extLst>
          </p:cNvPr>
          <p:cNvSpPr/>
          <p:nvPr/>
        </p:nvSpPr>
        <p:spPr>
          <a:xfrm>
            <a:off x="8838060" y="5071928"/>
            <a:ext cx="0" cy="146304"/>
          </a:xfrm>
          <a:prstGeom prst="line">
            <a:avLst/>
          </a:prstGeom>
          <a:noFill/>
          <a:ln w="12700">
            <a:solidFill>
              <a:srgbClr val="C8CDD5"/>
            </a:solidFill>
            <a:prstDash val="solid"/>
          </a:ln>
        </p:spPr>
        <p:txBody>
          <a:bodyPr/>
          <a:lstStyle/>
          <a:p>
            <a:endParaRPr lang="en-GB" sz="2400"/>
          </a:p>
        </p:txBody>
      </p:sp>
      <p:sp>
        <p:nvSpPr>
          <p:cNvPr id="218" name="Text 16">
            <a:extLst>
              <a:ext uri="{FF2B5EF4-FFF2-40B4-BE49-F238E27FC236}">
                <a16:creationId xmlns:a16="http://schemas.microsoft.com/office/drawing/2014/main" id="{F390078E-A34E-40CE-4C5C-3341183F802A}"/>
              </a:ext>
            </a:extLst>
          </p:cNvPr>
          <p:cNvSpPr/>
          <p:nvPr/>
        </p:nvSpPr>
        <p:spPr>
          <a:xfrm>
            <a:off x="8569836" y="5303576"/>
            <a:ext cx="536448" cy="219456"/>
          </a:xfrm>
          <a:prstGeom prst="rect">
            <a:avLst/>
          </a:prstGeom>
          <a:noFill/>
          <a:ln/>
        </p:spPr>
        <p:txBody>
          <a:bodyPr wrap="square" lIns="0" tIns="0" rIns="0" bIns="0" rtlCol="0" anchor="ctr"/>
          <a:lstStyle/>
          <a:p>
            <a:pPr algn="ctr"/>
            <a:r>
              <a:rPr lang="en-US" sz="1000" dirty="0">
                <a:solidFill>
                  <a:srgbClr val="7A8492"/>
                </a:solidFill>
              </a:rPr>
              <a:t>1990</a:t>
            </a:r>
            <a:endParaRPr lang="en-US" sz="1000" dirty="0"/>
          </a:p>
        </p:txBody>
      </p:sp>
      <p:sp>
        <p:nvSpPr>
          <p:cNvPr id="220" name="Shape 17">
            <a:extLst>
              <a:ext uri="{FF2B5EF4-FFF2-40B4-BE49-F238E27FC236}">
                <a16:creationId xmlns:a16="http://schemas.microsoft.com/office/drawing/2014/main" id="{8FC0E0FA-98BF-A7B8-748F-E176AB470829}"/>
              </a:ext>
            </a:extLst>
          </p:cNvPr>
          <p:cNvSpPr/>
          <p:nvPr/>
        </p:nvSpPr>
        <p:spPr>
          <a:xfrm>
            <a:off x="10740012" y="5071928"/>
            <a:ext cx="0" cy="146304"/>
          </a:xfrm>
          <a:prstGeom prst="line">
            <a:avLst/>
          </a:prstGeom>
          <a:noFill/>
          <a:ln w="12700">
            <a:solidFill>
              <a:srgbClr val="C8CDD5"/>
            </a:solidFill>
            <a:prstDash val="solid"/>
          </a:ln>
        </p:spPr>
        <p:txBody>
          <a:bodyPr/>
          <a:lstStyle/>
          <a:p>
            <a:endParaRPr lang="en-GB" sz="2400"/>
          </a:p>
        </p:txBody>
      </p:sp>
      <p:sp>
        <p:nvSpPr>
          <p:cNvPr id="222" name="Text 18">
            <a:extLst>
              <a:ext uri="{FF2B5EF4-FFF2-40B4-BE49-F238E27FC236}">
                <a16:creationId xmlns:a16="http://schemas.microsoft.com/office/drawing/2014/main" id="{FC254533-84FA-C772-D6BC-053E96A05FE9}"/>
              </a:ext>
            </a:extLst>
          </p:cNvPr>
          <p:cNvSpPr/>
          <p:nvPr/>
        </p:nvSpPr>
        <p:spPr>
          <a:xfrm>
            <a:off x="10471788" y="5303576"/>
            <a:ext cx="536448" cy="219456"/>
          </a:xfrm>
          <a:prstGeom prst="rect">
            <a:avLst/>
          </a:prstGeom>
          <a:noFill/>
          <a:ln/>
        </p:spPr>
        <p:txBody>
          <a:bodyPr wrap="square" lIns="0" tIns="0" rIns="0" bIns="0" rtlCol="0" anchor="ctr"/>
          <a:lstStyle/>
          <a:p>
            <a:pPr algn="ctr"/>
            <a:r>
              <a:rPr lang="en-US" sz="1000" dirty="0">
                <a:solidFill>
                  <a:srgbClr val="7A8492"/>
                </a:solidFill>
              </a:rPr>
              <a:t>2000</a:t>
            </a:r>
            <a:endParaRPr lang="en-US" sz="1000" dirty="0"/>
          </a:p>
        </p:txBody>
      </p:sp>
      <p:sp>
        <p:nvSpPr>
          <p:cNvPr id="224" name="Shape 19">
            <a:extLst>
              <a:ext uri="{FF2B5EF4-FFF2-40B4-BE49-F238E27FC236}">
                <a16:creationId xmlns:a16="http://schemas.microsoft.com/office/drawing/2014/main" id="{4C313703-75F1-0DE0-8B1A-65E3C6F2B416}"/>
              </a:ext>
            </a:extLst>
          </p:cNvPr>
          <p:cNvSpPr/>
          <p:nvPr/>
        </p:nvSpPr>
        <p:spPr>
          <a:xfrm>
            <a:off x="12641964" y="5071928"/>
            <a:ext cx="0" cy="146304"/>
          </a:xfrm>
          <a:prstGeom prst="line">
            <a:avLst/>
          </a:prstGeom>
          <a:noFill/>
          <a:ln w="12700">
            <a:solidFill>
              <a:srgbClr val="C8CDD5"/>
            </a:solidFill>
            <a:prstDash val="solid"/>
          </a:ln>
        </p:spPr>
        <p:txBody>
          <a:bodyPr/>
          <a:lstStyle/>
          <a:p>
            <a:endParaRPr lang="en-GB" sz="2400"/>
          </a:p>
        </p:txBody>
      </p:sp>
      <p:sp>
        <p:nvSpPr>
          <p:cNvPr id="226" name="Text 20">
            <a:extLst>
              <a:ext uri="{FF2B5EF4-FFF2-40B4-BE49-F238E27FC236}">
                <a16:creationId xmlns:a16="http://schemas.microsoft.com/office/drawing/2014/main" id="{F7918458-66E8-48E6-5821-0D0ECF15ABCE}"/>
              </a:ext>
            </a:extLst>
          </p:cNvPr>
          <p:cNvSpPr/>
          <p:nvPr/>
        </p:nvSpPr>
        <p:spPr>
          <a:xfrm>
            <a:off x="12373740" y="5303576"/>
            <a:ext cx="536448" cy="219456"/>
          </a:xfrm>
          <a:prstGeom prst="rect">
            <a:avLst/>
          </a:prstGeom>
          <a:noFill/>
          <a:ln/>
        </p:spPr>
        <p:txBody>
          <a:bodyPr wrap="square" lIns="0" tIns="0" rIns="0" bIns="0" rtlCol="0" anchor="ctr"/>
          <a:lstStyle/>
          <a:p>
            <a:pPr algn="ctr"/>
            <a:r>
              <a:rPr lang="en-US" sz="1000" dirty="0">
                <a:solidFill>
                  <a:srgbClr val="7A8492"/>
                </a:solidFill>
              </a:rPr>
              <a:t>2010</a:t>
            </a:r>
            <a:endParaRPr lang="en-US" sz="1000" dirty="0"/>
          </a:p>
        </p:txBody>
      </p:sp>
      <p:sp>
        <p:nvSpPr>
          <p:cNvPr id="228" name="Shape 21">
            <a:extLst>
              <a:ext uri="{FF2B5EF4-FFF2-40B4-BE49-F238E27FC236}">
                <a16:creationId xmlns:a16="http://schemas.microsoft.com/office/drawing/2014/main" id="{591CD708-3CF2-C617-9E02-253053289C0C}"/>
              </a:ext>
            </a:extLst>
          </p:cNvPr>
          <p:cNvSpPr/>
          <p:nvPr/>
        </p:nvSpPr>
        <p:spPr>
          <a:xfrm>
            <a:off x="14543916" y="5071928"/>
            <a:ext cx="0" cy="146304"/>
          </a:xfrm>
          <a:prstGeom prst="line">
            <a:avLst/>
          </a:prstGeom>
          <a:noFill/>
          <a:ln w="12700">
            <a:solidFill>
              <a:srgbClr val="C8CDD5"/>
            </a:solidFill>
            <a:prstDash val="solid"/>
          </a:ln>
        </p:spPr>
        <p:txBody>
          <a:bodyPr/>
          <a:lstStyle/>
          <a:p>
            <a:endParaRPr lang="en-GB" sz="2400"/>
          </a:p>
        </p:txBody>
      </p:sp>
      <p:sp>
        <p:nvSpPr>
          <p:cNvPr id="230" name="Text 22">
            <a:extLst>
              <a:ext uri="{FF2B5EF4-FFF2-40B4-BE49-F238E27FC236}">
                <a16:creationId xmlns:a16="http://schemas.microsoft.com/office/drawing/2014/main" id="{6B5533B9-3915-3B7B-1182-D3EC357CDF80}"/>
              </a:ext>
            </a:extLst>
          </p:cNvPr>
          <p:cNvSpPr/>
          <p:nvPr/>
        </p:nvSpPr>
        <p:spPr>
          <a:xfrm>
            <a:off x="14275692" y="5303576"/>
            <a:ext cx="536448" cy="219456"/>
          </a:xfrm>
          <a:prstGeom prst="rect">
            <a:avLst/>
          </a:prstGeom>
          <a:noFill/>
          <a:ln/>
        </p:spPr>
        <p:txBody>
          <a:bodyPr wrap="square" lIns="0" tIns="0" rIns="0" bIns="0" rtlCol="0" anchor="ctr"/>
          <a:lstStyle/>
          <a:p>
            <a:pPr algn="ctr"/>
            <a:r>
              <a:rPr lang="en-US" sz="1000" dirty="0">
                <a:solidFill>
                  <a:srgbClr val="7A8492"/>
                </a:solidFill>
              </a:rPr>
              <a:t>2020</a:t>
            </a:r>
            <a:endParaRPr lang="en-US" sz="1000" dirty="0"/>
          </a:p>
        </p:txBody>
      </p:sp>
      <p:sp>
        <p:nvSpPr>
          <p:cNvPr id="232" name="Shape 23">
            <a:extLst>
              <a:ext uri="{FF2B5EF4-FFF2-40B4-BE49-F238E27FC236}">
                <a16:creationId xmlns:a16="http://schemas.microsoft.com/office/drawing/2014/main" id="{77BCDF15-090C-BBD9-F8CE-6E07768D50C1}"/>
              </a:ext>
            </a:extLst>
          </p:cNvPr>
          <p:cNvSpPr/>
          <p:nvPr/>
        </p:nvSpPr>
        <p:spPr>
          <a:xfrm>
            <a:off x="1040057" y="4194104"/>
            <a:ext cx="0" cy="950976"/>
          </a:xfrm>
          <a:prstGeom prst="line">
            <a:avLst/>
          </a:prstGeom>
          <a:noFill/>
          <a:ln w="13970">
            <a:solidFill>
              <a:srgbClr val="255B87"/>
            </a:solidFill>
            <a:prstDash val="solid"/>
          </a:ln>
        </p:spPr>
        <p:txBody>
          <a:bodyPr/>
          <a:lstStyle/>
          <a:p>
            <a:endParaRPr lang="en-GB" sz="2400"/>
          </a:p>
        </p:txBody>
      </p:sp>
      <p:sp>
        <p:nvSpPr>
          <p:cNvPr id="234" name="Shape 24">
            <a:extLst>
              <a:ext uri="{FF2B5EF4-FFF2-40B4-BE49-F238E27FC236}">
                <a16:creationId xmlns:a16="http://schemas.microsoft.com/office/drawing/2014/main" id="{E97DFF2A-C70B-F91F-9491-41A80969D579}"/>
              </a:ext>
            </a:extLst>
          </p:cNvPr>
          <p:cNvSpPr/>
          <p:nvPr/>
        </p:nvSpPr>
        <p:spPr>
          <a:xfrm>
            <a:off x="948617" y="5053640"/>
            <a:ext cx="182880" cy="182880"/>
          </a:xfrm>
          <a:prstGeom prst="ellipse">
            <a:avLst/>
          </a:prstGeom>
          <a:solidFill>
            <a:srgbClr val="255B87"/>
          </a:solidFill>
          <a:ln w="12700">
            <a:solidFill>
              <a:srgbClr val="255B87"/>
            </a:solidFill>
            <a:prstDash val="solid"/>
          </a:ln>
        </p:spPr>
        <p:txBody>
          <a:bodyPr/>
          <a:lstStyle/>
          <a:p>
            <a:endParaRPr lang="en-GB" sz="2400"/>
          </a:p>
        </p:txBody>
      </p:sp>
      <p:sp>
        <p:nvSpPr>
          <p:cNvPr id="236" name="Shape 25">
            <a:extLst>
              <a:ext uri="{FF2B5EF4-FFF2-40B4-BE49-F238E27FC236}">
                <a16:creationId xmlns:a16="http://schemas.microsoft.com/office/drawing/2014/main" id="{87C8BCEA-B9AB-91E5-34A9-777C56DCB3C9}"/>
              </a:ext>
            </a:extLst>
          </p:cNvPr>
          <p:cNvSpPr/>
          <p:nvPr/>
        </p:nvSpPr>
        <p:spPr>
          <a:xfrm>
            <a:off x="674297" y="2304344"/>
            <a:ext cx="2218944" cy="1889760"/>
          </a:xfrm>
          <a:prstGeom prst="roundRect">
            <a:avLst>
              <a:gd name="adj" fmla="val 3226"/>
            </a:avLst>
          </a:prstGeom>
          <a:solidFill>
            <a:srgbClr val="FFFFFF"/>
          </a:solidFill>
          <a:ln w="10160">
            <a:solidFill>
              <a:srgbClr val="D8DDE4"/>
            </a:solidFill>
            <a:prstDash val="solid"/>
          </a:ln>
          <a:effectLst>
            <a:outerShdw blurRad="12700" dist="50800" dir="2700000" algn="bl" rotWithShape="0">
              <a:srgbClr val="AAB2BD">
                <a:alpha val="12000"/>
              </a:srgbClr>
            </a:outerShdw>
          </a:effectLst>
        </p:spPr>
        <p:txBody>
          <a:bodyPr/>
          <a:lstStyle/>
          <a:p>
            <a:endParaRPr lang="en-GB" sz="2400"/>
          </a:p>
        </p:txBody>
      </p:sp>
      <p:sp>
        <p:nvSpPr>
          <p:cNvPr id="238" name="Text 26">
            <a:extLst>
              <a:ext uri="{FF2B5EF4-FFF2-40B4-BE49-F238E27FC236}">
                <a16:creationId xmlns:a16="http://schemas.microsoft.com/office/drawing/2014/main" id="{9023CE2F-090A-20D8-91F8-6CEF7E841EC8}"/>
              </a:ext>
            </a:extLst>
          </p:cNvPr>
          <p:cNvSpPr/>
          <p:nvPr/>
        </p:nvSpPr>
        <p:spPr>
          <a:xfrm>
            <a:off x="820601" y="2426264"/>
            <a:ext cx="633984" cy="292608"/>
          </a:xfrm>
          <a:prstGeom prst="rect">
            <a:avLst/>
          </a:prstGeom>
          <a:noFill/>
          <a:ln/>
        </p:spPr>
        <p:txBody>
          <a:bodyPr wrap="square" lIns="0" tIns="0" rIns="0" bIns="0" rtlCol="0" anchor="ctr"/>
          <a:lstStyle/>
          <a:p>
            <a:r>
              <a:rPr lang="en-US" sz="1467" b="1" dirty="0">
                <a:solidFill>
                  <a:srgbClr val="255B87"/>
                </a:solidFill>
              </a:rPr>
              <a:t>1949</a:t>
            </a:r>
            <a:endParaRPr lang="en-US" sz="1467" dirty="0"/>
          </a:p>
        </p:txBody>
      </p:sp>
      <p:sp>
        <p:nvSpPr>
          <p:cNvPr id="240" name="Text 27">
            <a:extLst>
              <a:ext uri="{FF2B5EF4-FFF2-40B4-BE49-F238E27FC236}">
                <a16:creationId xmlns:a16="http://schemas.microsoft.com/office/drawing/2014/main" id="{D2EE0A80-E238-13F6-2385-C6E04A1346F2}"/>
              </a:ext>
            </a:extLst>
          </p:cNvPr>
          <p:cNvSpPr/>
          <p:nvPr/>
        </p:nvSpPr>
        <p:spPr>
          <a:xfrm>
            <a:off x="820601" y="2767640"/>
            <a:ext cx="1926336" cy="560832"/>
          </a:xfrm>
          <a:prstGeom prst="rect">
            <a:avLst/>
          </a:prstGeom>
          <a:noFill/>
          <a:ln/>
        </p:spPr>
        <p:txBody>
          <a:bodyPr wrap="square" lIns="0" tIns="0" rIns="0" bIns="0" rtlCol="0" anchor="ctr">
            <a:normAutofit/>
          </a:bodyPr>
          <a:lstStyle/>
          <a:p>
            <a:r>
              <a:rPr lang="en-US" sz="1133" b="1" dirty="0">
                <a:solidFill>
                  <a:srgbClr val="172033"/>
                </a:solidFill>
              </a:rPr>
              <a:t>The Length of Working Life</a:t>
            </a:r>
            <a:endParaRPr lang="en-US" sz="1133" dirty="0"/>
          </a:p>
        </p:txBody>
      </p:sp>
      <p:sp>
        <p:nvSpPr>
          <p:cNvPr id="242" name="Text 28">
            <a:extLst>
              <a:ext uri="{FF2B5EF4-FFF2-40B4-BE49-F238E27FC236}">
                <a16:creationId xmlns:a16="http://schemas.microsoft.com/office/drawing/2014/main" id="{805EB635-54B6-14B1-44FA-3F34CAFACFF9}"/>
              </a:ext>
            </a:extLst>
          </p:cNvPr>
          <p:cNvSpPr/>
          <p:nvPr/>
        </p:nvSpPr>
        <p:spPr>
          <a:xfrm>
            <a:off x="820601" y="3365048"/>
            <a:ext cx="1926336" cy="377952"/>
          </a:xfrm>
          <a:prstGeom prst="rect">
            <a:avLst/>
          </a:prstGeom>
          <a:noFill/>
          <a:ln/>
        </p:spPr>
        <p:txBody>
          <a:bodyPr wrap="square" lIns="0" tIns="0" rIns="0" bIns="0" rtlCol="0" anchor="ctr">
            <a:normAutofit/>
          </a:bodyPr>
          <a:lstStyle/>
          <a:p>
            <a:r>
              <a:rPr lang="en-US" sz="947" i="1" dirty="0">
                <a:solidFill>
                  <a:srgbClr val="566273"/>
                </a:solidFill>
              </a:rPr>
              <a:t>S. L. Wolfbein</a:t>
            </a:r>
            <a:endParaRPr lang="en-US" sz="947" dirty="0"/>
          </a:p>
          <a:p>
            <a:r>
              <a:rPr lang="en-US" sz="947" i="1" dirty="0">
                <a:solidFill>
                  <a:srgbClr val="566273"/>
                </a:solidFill>
              </a:rPr>
              <a:t>Population Studies</a:t>
            </a:r>
            <a:endParaRPr lang="en-US" sz="947" dirty="0"/>
          </a:p>
        </p:txBody>
      </p:sp>
      <p:sp>
        <p:nvSpPr>
          <p:cNvPr id="244" name="Text 29">
            <a:extLst>
              <a:ext uri="{FF2B5EF4-FFF2-40B4-BE49-F238E27FC236}">
                <a16:creationId xmlns:a16="http://schemas.microsoft.com/office/drawing/2014/main" id="{2D3ABDFC-5E0D-76E7-0D46-C80BDB6EEA38}"/>
              </a:ext>
            </a:extLst>
          </p:cNvPr>
          <p:cNvSpPr/>
          <p:nvPr/>
        </p:nvSpPr>
        <p:spPr>
          <a:xfrm>
            <a:off x="820601" y="3755192"/>
            <a:ext cx="1926336" cy="329184"/>
          </a:xfrm>
          <a:prstGeom prst="rect">
            <a:avLst/>
          </a:prstGeom>
          <a:noFill/>
          <a:ln/>
        </p:spPr>
        <p:txBody>
          <a:bodyPr wrap="square" lIns="0" tIns="0" rIns="0" bIns="0" rtlCol="0" anchor="ctr">
            <a:normAutofit/>
          </a:bodyPr>
          <a:lstStyle/>
          <a:p>
            <a:r>
              <a:rPr lang="en-US" sz="907" dirty="0">
                <a:solidFill>
                  <a:srgbClr val="6B7280"/>
                </a:solidFill>
              </a:rPr>
              <a:t>Life-table measurement of work-life span.</a:t>
            </a:r>
            <a:endParaRPr lang="en-US" sz="907" dirty="0"/>
          </a:p>
        </p:txBody>
      </p:sp>
      <p:sp>
        <p:nvSpPr>
          <p:cNvPr id="246" name="Shape 30">
            <a:extLst>
              <a:ext uri="{FF2B5EF4-FFF2-40B4-BE49-F238E27FC236}">
                <a16:creationId xmlns:a16="http://schemas.microsoft.com/office/drawing/2014/main" id="{269E604F-0A12-71FA-E011-2C1093C3ACE1}"/>
              </a:ext>
            </a:extLst>
          </p:cNvPr>
          <p:cNvSpPr/>
          <p:nvPr/>
        </p:nvSpPr>
        <p:spPr>
          <a:xfrm>
            <a:off x="6365522" y="5145080"/>
            <a:ext cx="0" cy="609600"/>
          </a:xfrm>
          <a:prstGeom prst="line">
            <a:avLst/>
          </a:prstGeom>
          <a:noFill/>
          <a:ln w="13970">
            <a:solidFill>
              <a:srgbClr val="255B87"/>
            </a:solidFill>
            <a:prstDash val="solid"/>
          </a:ln>
        </p:spPr>
        <p:txBody>
          <a:bodyPr/>
          <a:lstStyle/>
          <a:p>
            <a:endParaRPr lang="en-GB" sz="2400"/>
          </a:p>
        </p:txBody>
      </p:sp>
      <p:sp>
        <p:nvSpPr>
          <p:cNvPr id="248" name="Shape 31">
            <a:extLst>
              <a:ext uri="{FF2B5EF4-FFF2-40B4-BE49-F238E27FC236}">
                <a16:creationId xmlns:a16="http://schemas.microsoft.com/office/drawing/2014/main" id="{63EB1182-0D7B-0720-BE9D-244263E5E245}"/>
              </a:ext>
            </a:extLst>
          </p:cNvPr>
          <p:cNvSpPr/>
          <p:nvPr/>
        </p:nvSpPr>
        <p:spPr>
          <a:xfrm>
            <a:off x="6274082" y="5053640"/>
            <a:ext cx="182880" cy="182880"/>
          </a:xfrm>
          <a:prstGeom prst="ellipse">
            <a:avLst/>
          </a:prstGeom>
          <a:solidFill>
            <a:srgbClr val="255B87"/>
          </a:solidFill>
          <a:ln w="12700">
            <a:solidFill>
              <a:srgbClr val="255B87"/>
            </a:solidFill>
            <a:prstDash val="solid"/>
          </a:ln>
        </p:spPr>
        <p:txBody>
          <a:bodyPr/>
          <a:lstStyle/>
          <a:p>
            <a:endParaRPr lang="en-GB" sz="2400"/>
          </a:p>
        </p:txBody>
      </p:sp>
      <p:sp>
        <p:nvSpPr>
          <p:cNvPr id="250" name="Shape 32">
            <a:extLst>
              <a:ext uri="{FF2B5EF4-FFF2-40B4-BE49-F238E27FC236}">
                <a16:creationId xmlns:a16="http://schemas.microsoft.com/office/drawing/2014/main" id="{B23B9BAE-4A0E-3224-A203-5E14D7CB4A79}"/>
              </a:ext>
            </a:extLst>
          </p:cNvPr>
          <p:cNvSpPr/>
          <p:nvPr/>
        </p:nvSpPr>
        <p:spPr>
          <a:xfrm>
            <a:off x="5073170" y="5754680"/>
            <a:ext cx="2218944" cy="1804416"/>
          </a:xfrm>
          <a:prstGeom prst="roundRect">
            <a:avLst>
              <a:gd name="adj" fmla="val 3378"/>
            </a:avLst>
          </a:prstGeom>
          <a:solidFill>
            <a:srgbClr val="FFFFFF"/>
          </a:solidFill>
          <a:ln w="10160">
            <a:solidFill>
              <a:srgbClr val="D8DDE4"/>
            </a:solidFill>
            <a:prstDash val="solid"/>
          </a:ln>
          <a:effectLst>
            <a:outerShdw blurRad="12700" dist="50800" dir="2700000" algn="bl" rotWithShape="0">
              <a:srgbClr val="AAB2BD">
                <a:alpha val="12000"/>
              </a:srgbClr>
            </a:outerShdw>
          </a:effectLst>
        </p:spPr>
        <p:txBody>
          <a:bodyPr/>
          <a:lstStyle/>
          <a:p>
            <a:endParaRPr lang="en-GB" sz="2400"/>
          </a:p>
        </p:txBody>
      </p:sp>
      <p:sp>
        <p:nvSpPr>
          <p:cNvPr id="252" name="Text 33">
            <a:extLst>
              <a:ext uri="{FF2B5EF4-FFF2-40B4-BE49-F238E27FC236}">
                <a16:creationId xmlns:a16="http://schemas.microsoft.com/office/drawing/2014/main" id="{62197DB1-B184-2499-433E-75EFF429EEAC}"/>
              </a:ext>
            </a:extLst>
          </p:cNvPr>
          <p:cNvSpPr/>
          <p:nvPr/>
        </p:nvSpPr>
        <p:spPr>
          <a:xfrm>
            <a:off x="5219474" y="5876600"/>
            <a:ext cx="633984" cy="292608"/>
          </a:xfrm>
          <a:prstGeom prst="rect">
            <a:avLst/>
          </a:prstGeom>
          <a:noFill/>
          <a:ln/>
        </p:spPr>
        <p:txBody>
          <a:bodyPr wrap="square" lIns="0" tIns="0" rIns="0" bIns="0" rtlCol="0" anchor="ctr"/>
          <a:lstStyle/>
          <a:p>
            <a:r>
              <a:rPr lang="en-US" sz="1467" b="1" dirty="0">
                <a:solidFill>
                  <a:srgbClr val="255B87"/>
                </a:solidFill>
              </a:rPr>
              <a:t>1977</a:t>
            </a:r>
            <a:endParaRPr lang="en-US" sz="1467" dirty="0"/>
          </a:p>
        </p:txBody>
      </p:sp>
      <p:sp>
        <p:nvSpPr>
          <p:cNvPr id="254" name="Text 34">
            <a:extLst>
              <a:ext uri="{FF2B5EF4-FFF2-40B4-BE49-F238E27FC236}">
                <a16:creationId xmlns:a16="http://schemas.microsoft.com/office/drawing/2014/main" id="{763BDD9D-F513-A189-6CB0-6881AA3B1DEF}"/>
              </a:ext>
            </a:extLst>
          </p:cNvPr>
          <p:cNvSpPr/>
          <p:nvPr/>
        </p:nvSpPr>
        <p:spPr>
          <a:xfrm>
            <a:off x="5219474" y="6217976"/>
            <a:ext cx="1926336" cy="560832"/>
          </a:xfrm>
          <a:prstGeom prst="rect">
            <a:avLst/>
          </a:prstGeom>
          <a:noFill/>
          <a:ln/>
        </p:spPr>
        <p:txBody>
          <a:bodyPr wrap="square" lIns="0" tIns="0" rIns="0" bIns="0" rtlCol="0" anchor="ctr">
            <a:normAutofit/>
          </a:bodyPr>
          <a:lstStyle/>
          <a:p>
            <a:r>
              <a:rPr lang="en-US" sz="1133" b="1" dirty="0">
                <a:solidFill>
                  <a:srgbClr val="172033"/>
                </a:solidFill>
              </a:rPr>
              <a:t>A Markov chain model of working life tables</a:t>
            </a:r>
            <a:endParaRPr lang="en-US" sz="1133" dirty="0"/>
          </a:p>
        </p:txBody>
      </p:sp>
      <p:sp>
        <p:nvSpPr>
          <p:cNvPr id="256" name="Text 35">
            <a:extLst>
              <a:ext uri="{FF2B5EF4-FFF2-40B4-BE49-F238E27FC236}">
                <a16:creationId xmlns:a16="http://schemas.microsoft.com/office/drawing/2014/main" id="{337A67AF-D736-CCF2-391A-B677766ECCB7}"/>
              </a:ext>
            </a:extLst>
          </p:cNvPr>
          <p:cNvSpPr/>
          <p:nvPr/>
        </p:nvSpPr>
        <p:spPr>
          <a:xfrm>
            <a:off x="5219474" y="6815384"/>
            <a:ext cx="1926336" cy="377952"/>
          </a:xfrm>
          <a:prstGeom prst="rect">
            <a:avLst/>
          </a:prstGeom>
          <a:noFill/>
          <a:ln/>
        </p:spPr>
        <p:txBody>
          <a:bodyPr wrap="square" lIns="0" tIns="0" rIns="0" bIns="0" rtlCol="0" anchor="ctr">
            <a:normAutofit/>
          </a:bodyPr>
          <a:lstStyle/>
          <a:p>
            <a:r>
              <a:rPr lang="en-US" sz="947" i="1" dirty="0">
                <a:solidFill>
                  <a:srgbClr val="566273"/>
                </a:solidFill>
              </a:rPr>
              <a:t>J. M. Hoem</a:t>
            </a:r>
            <a:endParaRPr lang="en-US" sz="947" dirty="0"/>
          </a:p>
          <a:p>
            <a:r>
              <a:rPr lang="en-US" sz="947" i="1" dirty="0">
                <a:solidFill>
                  <a:srgbClr val="566273"/>
                </a:solidFill>
              </a:rPr>
              <a:t>Scandinavian Actuarial Journal</a:t>
            </a:r>
            <a:endParaRPr lang="en-US" sz="947" dirty="0"/>
          </a:p>
        </p:txBody>
      </p:sp>
      <p:sp>
        <p:nvSpPr>
          <p:cNvPr id="258" name="Text 36">
            <a:extLst>
              <a:ext uri="{FF2B5EF4-FFF2-40B4-BE49-F238E27FC236}">
                <a16:creationId xmlns:a16="http://schemas.microsoft.com/office/drawing/2014/main" id="{793A83B2-43B3-B1D0-4B9B-66DDBF01CC3C}"/>
              </a:ext>
            </a:extLst>
          </p:cNvPr>
          <p:cNvSpPr/>
          <p:nvPr/>
        </p:nvSpPr>
        <p:spPr>
          <a:xfrm>
            <a:off x="5219474" y="7205528"/>
            <a:ext cx="1926336" cy="243840"/>
          </a:xfrm>
          <a:prstGeom prst="rect">
            <a:avLst/>
          </a:prstGeom>
          <a:noFill/>
          <a:ln/>
        </p:spPr>
        <p:txBody>
          <a:bodyPr wrap="square" lIns="0" tIns="0" rIns="0" bIns="0" rtlCol="0" anchor="ctr">
            <a:normAutofit fontScale="92500"/>
          </a:bodyPr>
          <a:lstStyle/>
          <a:p>
            <a:r>
              <a:rPr lang="en-US" sz="907" dirty="0">
                <a:solidFill>
                  <a:srgbClr val="6B7280"/>
                </a:solidFill>
              </a:rPr>
              <a:t>Continuous-time Markov approach to labour-force entry and exit.</a:t>
            </a:r>
            <a:endParaRPr lang="en-US" sz="907" dirty="0"/>
          </a:p>
        </p:txBody>
      </p:sp>
      <p:sp>
        <p:nvSpPr>
          <p:cNvPr id="260" name="Shape 44">
            <a:extLst>
              <a:ext uri="{FF2B5EF4-FFF2-40B4-BE49-F238E27FC236}">
                <a16:creationId xmlns:a16="http://schemas.microsoft.com/office/drawing/2014/main" id="{65503555-4201-B1F4-7114-83969765377E}"/>
              </a:ext>
            </a:extLst>
          </p:cNvPr>
          <p:cNvSpPr/>
          <p:nvPr/>
        </p:nvSpPr>
        <p:spPr>
          <a:xfrm>
            <a:off x="8838060" y="5145080"/>
            <a:ext cx="0" cy="609600"/>
          </a:xfrm>
          <a:prstGeom prst="line">
            <a:avLst/>
          </a:prstGeom>
          <a:noFill/>
          <a:ln w="13970">
            <a:solidFill>
              <a:srgbClr val="A4553D"/>
            </a:solidFill>
            <a:prstDash val="solid"/>
          </a:ln>
        </p:spPr>
        <p:txBody>
          <a:bodyPr/>
          <a:lstStyle/>
          <a:p>
            <a:endParaRPr lang="en-GB" sz="2400"/>
          </a:p>
        </p:txBody>
      </p:sp>
      <p:sp>
        <p:nvSpPr>
          <p:cNvPr id="262" name="Shape 45">
            <a:extLst>
              <a:ext uri="{FF2B5EF4-FFF2-40B4-BE49-F238E27FC236}">
                <a16:creationId xmlns:a16="http://schemas.microsoft.com/office/drawing/2014/main" id="{E7E71B23-5105-CD86-1AFA-89F0DABCBDE6}"/>
              </a:ext>
            </a:extLst>
          </p:cNvPr>
          <p:cNvSpPr/>
          <p:nvPr/>
        </p:nvSpPr>
        <p:spPr>
          <a:xfrm>
            <a:off x="8746620" y="5053640"/>
            <a:ext cx="182880" cy="182880"/>
          </a:xfrm>
          <a:prstGeom prst="ellipse">
            <a:avLst/>
          </a:prstGeom>
          <a:solidFill>
            <a:srgbClr val="A4553D"/>
          </a:solidFill>
          <a:ln w="12700">
            <a:solidFill>
              <a:srgbClr val="A4553D"/>
            </a:solidFill>
            <a:prstDash val="solid"/>
          </a:ln>
        </p:spPr>
        <p:txBody>
          <a:bodyPr/>
          <a:lstStyle/>
          <a:p>
            <a:endParaRPr lang="en-GB" sz="2400"/>
          </a:p>
        </p:txBody>
      </p:sp>
      <p:sp>
        <p:nvSpPr>
          <p:cNvPr id="264" name="Shape 46">
            <a:extLst>
              <a:ext uri="{FF2B5EF4-FFF2-40B4-BE49-F238E27FC236}">
                <a16:creationId xmlns:a16="http://schemas.microsoft.com/office/drawing/2014/main" id="{0CDBDD33-333D-BCAC-0091-84703B50396B}"/>
              </a:ext>
            </a:extLst>
          </p:cNvPr>
          <p:cNvSpPr/>
          <p:nvPr/>
        </p:nvSpPr>
        <p:spPr>
          <a:xfrm>
            <a:off x="7813932" y="5754680"/>
            <a:ext cx="2657856" cy="1804416"/>
          </a:xfrm>
          <a:prstGeom prst="roundRect">
            <a:avLst>
              <a:gd name="adj" fmla="val 3378"/>
            </a:avLst>
          </a:prstGeom>
          <a:solidFill>
            <a:srgbClr val="FFF7F2"/>
          </a:solidFill>
          <a:ln w="19050">
            <a:solidFill>
              <a:srgbClr val="A4553D"/>
            </a:solidFill>
            <a:prstDash val="solid"/>
          </a:ln>
          <a:effectLst>
            <a:outerShdw blurRad="12700" dist="50800" dir="2700000" algn="bl" rotWithShape="0">
              <a:srgbClr val="AAB2BD">
                <a:alpha val="12000"/>
              </a:srgbClr>
            </a:outerShdw>
          </a:effectLst>
        </p:spPr>
        <p:txBody>
          <a:bodyPr/>
          <a:lstStyle/>
          <a:p>
            <a:endParaRPr lang="en-GB" sz="2400"/>
          </a:p>
        </p:txBody>
      </p:sp>
      <p:sp>
        <p:nvSpPr>
          <p:cNvPr id="266" name="Text 47">
            <a:extLst>
              <a:ext uri="{FF2B5EF4-FFF2-40B4-BE49-F238E27FC236}">
                <a16:creationId xmlns:a16="http://schemas.microsoft.com/office/drawing/2014/main" id="{EE2169DE-73F8-39D3-8DC3-C76AB9EB6F3C}"/>
              </a:ext>
            </a:extLst>
          </p:cNvPr>
          <p:cNvSpPr/>
          <p:nvPr/>
        </p:nvSpPr>
        <p:spPr>
          <a:xfrm>
            <a:off x="7960236" y="5876600"/>
            <a:ext cx="633984" cy="292608"/>
          </a:xfrm>
          <a:prstGeom prst="rect">
            <a:avLst/>
          </a:prstGeom>
          <a:noFill/>
          <a:ln/>
        </p:spPr>
        <p:txBody>
          <a:bodyPr wrap="square" lIns="0" tIns="0" rIns="0" bIns="0" rtlCol="0" anchor="ctr"/>
          <a:lstStyle/>
          <a:p>
            <a:r>
              <a:rPr lang="en-US" sz="1467" b="1" dirty="0">
                <a:solidFill>
                  <a:srgbClr val="A4553D"/>
                </a:solidFill>
              </a:rPr>
              <a:t>1990</a:t>
            </a:r>
            <a:endParaRPr lang="en-US" sz="1467" dirty="0"/>
          </a:p>
        </p:txBody>
      </p:sp>
      <p:sp>
        <p:nvSpPr>
          <p:cNvPr id="268" name="Text 48">
            <a:extLst>
              <a:ext uri="{FF2B5EF4-FFF2-40B4-BE49-F238E27FC236}">
                <a16:creationId xmlns:a16="http://schemas.microsoft.com/office/drawing/2014/main" id="{873ECFF6-5767-0EA9-D6F8-E9ED85B3A581}"/>
              </a:ext>
            </a:extLst>
          </p:cNvPr>
          <p:cNvSpPr/>
          <p:nvPr/>
        </p:nvSpPr>
        <p:spPr>
          <a:xfrm>
            <a:off x="9886572" y="5876600"/>
            <a:ext cx="414528" cy="243840"/>
          </a:xfrm>
          <a:prstGeom prst="rect">
            <a:avLst/>
          </a:prstGeom>
          <a:noFill/>
          <a:ln/>
        </p:spPr>
        <p:txBody>
          <a:bodyPr wrap="square" lIns="0" tIns="0" rIns="0" bIns="0" rtlCol="0" anchor="ctr"/>
          <a:lstStyle/>
          <a:p>
            <a:pPr algn="r"/>
            <a:r>
              <a:rPr lang="en-US" sz="1067" b="1" dirty="0">
                <a:solidFill>
                  <a:srgbClr val="A4553D"/>
                </a:solidFill>
              </a:rPr>
              <a:t>JIA</a:t>
            </a:r>
            <a:endParaRPr lang="en-US" sz="1067" dirty="0"/>
          </a:p>
        </p:txBody>
      </p:sp>
      <p:sp>
        <p:nvSpPr>
          <p:cNvPr id="270" name="Text 49">
            <a:extLst>
              <a:ext uri="{FF2B5EF4-FFF2-40B4-BE49-F238E27FC236}">
                <a16:creationId xmlns:a16="http://schemas.microsoft.com/office/drawing/2014/main" id="{A7427EDF-7F07-4264-71C3-A19B55F9F0F3}"/>
              </a:ext>
            </a:extLst>
          </p:cNvPr>
          <p:cNvSpPr/>
          <p:nvPr/>
        </p:nvSpPr>
        <p:spPr>
          <a:xfrm>
            <a:off x="7960236" y="6217976"/>
            <a:ext cx="2365248" cy="560832"/>
          </a:xfrm>
          <a:prstGeom prst="rect">
            <a:avLst/>
          </a:prstGeom>
          <a:noFill/>
          <a:ln/>
        </p:spPr>
        <p:txBody>
          <a:bodyPr wrap="square" lIns="0" tIns="0" rIns="0" bIns="0" rtlCol="0" anchor="ctr">
            <a:normAutofit/>
          </a:bodyPr>
          <a:lstStyle/>
          <a:p>
            <a:r>
              <a:rPr lang="en-US" sz="1133" b="1" dirty="0">
                <a:solidFill>
                  <a:srgbClr val="172033"/>
                </a:solidFill>
              </a:rPr>
              <a:t>Work time lost to sickness, unemployment and stoppages</a:t>
            </a:r>
            <a:endParaRPr lang="en-US" sz="1133" dirty="0"/>
          </a:p>
        </p:txBody>
      </p:sp>
      <p:sp>
        <p:nvSpPr>
          <p:cNvPr id="272" name="Text 50">
            <a:extLst>
              <a:ext uri="{FF2B5EF4-FFF2-40B4-BE49-F238E27FC236}">
                <a16:creationId xmlns:a16="http://schemas.microsoft.com/office/drawing/2014/main" id="{B0D858E3-60FF-AEA4-1EAD-8B4512FA720C}"/>
              </a:ext>
            </a:extLst>
          </p:cNvPr>
          <p:cNvSpPr/>
          <p:nvPr/>
        </p:nvSpPr>
        <p:spPr>
          <a:xfrm>
            <a:off x="7960236" y="6815384"/>
            <a:ext cx="2365248" cy="377952"/>
          </a:xfrm>
          <a:prstGeom prst="rect">
            <a:avLst/>
          </a:prstGeom>
          <a:noFill/>
          <a:ln/>
        </p:spPr>
        <p:txBody>
          <a:bodyPr wrap="square" lIns="0" tIns="0" rIns="0" bIns="0" rtlCol="0" anchor="ctr">
            <a:normAutofit/>
          </a:bodyPr>
          <a:lstStyle/>
          <a:p>
            <a:r>
              <a:rPr lang="en-US" sz="947" i="1" dirty="0">
                <a:solidFill>
                  <a:srgbClr val="566273"/>
                </a:solidFill>
              </a:rPr>
              <a:t>S. Haberman &amp; D. S. F. Bloomfield</a:t>
            </a:r>
            <a:endParaRPr lang="en-US" sz="947" dirty="0"/>
          </a:p>
          <a:p>
            <a:r>
              <a:rPr lang="en-US" sz="947" i="1" dirty="0">
                <a:solidFill>
                  <a:srgbClr val="566273"/>
                </a:solidFill>
              </a:rPr>
              <a:t>Journal of the Institute of Actuaries 117(3)</a:t>
            </a:r>
            <a:endParaRPr lang="en-US" sz="947" dirty="0"/>
          </a:p>
        </p:txBody>
      </p:sp>
      <p:sp>
        <p:nvSpPr>
          <p:cNvPr id="274" name="Text 51">
            <a:extLst>
              <a:ext uri="{FF2B5EF4-FFF2-40B4-BE49-F238E27FC236}">
                <a16:creationId xmlns:a16="http://schemas.microsoft.com/office/drawing/2014/main" id="{CA6782BF-0F51-D480-3792-8BB702963DF4}"/>
              </a:ext>
            </a:extLst>
          </p:cNvPr>
          <p:cNvSpPr/>
          <p:nvPr/>
        </p:nvSpPr>
        <p:spPr>
          <a:xfrm>
            <a:off x="7960236" y="7205528"/>
            <a:ext cx="2365248" cy="243840"/>
          </a:xfrm>
          <a:prstGeom prst="rect">
            <a:avLst/>
          </a:prstGeom>
          <a:noFill/>
          <a:ln/>
        </p:spPr>
        <p:txBody>
          <a:bodyPr wrap="square" lIns="0" tIns="0" rIns="0" bIns="0" rtlCol="0" anchor="ctr">
            <a:normAutofit fontScale="92500"/>
          </a:bodyPr>
          <a:lstStyle/>
          <a:p>
            <a:r>
              <a:rPr lang="en-US" sz="907" dirty="0">
                <a:solidFill>
                  <a:srgbClr val="6B7280"/>
                </a:solidFill>
              </a:rPr>
              <a:t>Multiple-state working-life table; sickness and other work-time losses.</a:t>
            </a:r>
            <a:endParaRPr lang="en-US" sz="907" dirty="0"/>
          </a:p>
        </p:txBody>
      </p:sp>
      <p:sp>
        <p:nvSpPr>
          <p:cNvPr id="276" name="Shape 60">
            <a:extLst>
              <a:ext uri="{FF2B5EF4-FFF2-40B4-BE49-F238E27FC236}">
                <a16:creationId xmlns:a16="http://schemas.microsoft.com/office/drawing/2014/main" id="{D4D97D4E-4062-BA12-49C9-EF05D99458B8}"/>
              </a:ext>
            </a:extLst>
          </p:cNvPr>
          <p:cNvSpPr/>
          <p:nvPr/>
        </p:nvSpPr>
        <p:spPr>
          <a:xfrm>
            <a:off x="12550524" y="5053640"/>
            <a:ext cx="182880" cy="182880"/>
          </a:xfrm>
          <a:prstGeom prst="ellipse">
            <a:avLst/>
          </a:prstGeom>
          <a:solidFill>
            <a:srgbClr val="255B87"/>
          </a:solidFill>
          <a:ln w="12700">
            <a:solidFill>
              <a:srgbClr val="255B87"/>
            </a:solidFill>
            <a:prstDash val="solid"/>
          </a:ln>
        </p:spPr>
        <p:txBody>
          <a:bodyPr/>
          <a:lstStyle/>
          <a:p>
            <a:endParaRPr lang="en-GB" sz="2400"/>
          </a:p>
        </p:txBody>
      </p:sp>
      <p:sp>
        <p:nvSpPr>
          <p:cNvPr id="278" name="Shape 66">
            <a:extLst>
              <a:ext uri="{FF2B5EF4-FFF2-40B4-BE49-F238E27FC236}">
                <a16:creationId xmlns:a16="http://schemas.microsoft.com/office/drawing/2014/main" id="{6F049022-048A-D798-067C-4C58A53E9EAD}"/>
              </a:ext>
            </a:extLst>
          </p:cNvPr>
          <p:cNvSpPr/>
          <p:nvPr/>
        </p:nvSpPr>
        <p:spPr>
          <a:xfrm>
            <a:off x="14543916" y="4194104"/>
            <a:ext cx="0" cy="950976"/>
          </a:xfrm>
          <a:prstGeom prst="line">
            <a:avLst/>
          </a:prstGeom>
          <a:noFill/>
          <a:ln w="13970">
            <a:solidFill>
              <a:srgbClr val="A4553D"/>
            </a:solidFill>
            <a:prstDash val="solid"/>
          </a:ln>
        </p:spPr>
        <p:txBody>
          <a:bodyPr/>
          <a:lstStyle/>
          <a:p>
            <a:endParaRPr lang="en-GB" sz="2400"/>
          </a:p>
        </p:txBody>
      </p:sp>
      <p:sp>
        <p:nvSpPr>
          <p:cNvPr id="280" name="Shape 67">
            <a:extLst>
              <a:ext uri="{FF2B5EF4-FFF2-40B4-BE49-F238E27FC236}">
                <a16:creationId xmlns:a16="http://schemas.microsoft.com/office/drawing/2014/main" id="{19AC4F17-C09C-A157-973E-82F8E3F06DE7}"/>
              </a:ext>
            </a:extLst>
          </p:cNvPr>
          <p:cNvSpPr/>
          <p:nvPr/>
        </p:nvSpPr>
        <p:spPr>
          <a:xfrm>
            <a:off x="14452476" y="5053640"/>
            <a:ext cx="182880" cy="182880"/>
          </a:xfrm>
          <a:prstGeom prst="ellipse">
            <a:avLst/>
          </a:prstGeom>
          <a:solidFill>
            <a:srgbClr val="A4553D"/>
          </a:solidFill>
          <a:ln w="12700">
            <a:solidFill>
              <a:srgbClr val="A4553D"/>
            </a:solidFill>
            <a:prstDash val="solid"/>
          </a:ln>
        </p:spPr>
        <p:txBody>
          <a:bodyPr/>
          <a:lstStyle/>
          <a:p>
            <a:endParaRPr lang="en-GB" sz="2400"/>
          </a:p>
        </p:txBody>
      </p:sp>
      <p:sp>
        <p:nvSpPr>
          <p:cNvPr id="282" name="Shape 68">
            <a:extLst>
              <a:ext uri="{FF2B5EF4-FFF2-40B4-BE49-F238E27FC236}">
                <a16:creationId xmlns:a16="http://schemas.microsoft.com/office/drawing/2014/main" id="{A0D312A2-D198-281E-8717-AD5C34ADDA24}"/>
              </a:ext>
            </a:extLst>
          </p:cNvPr>
          <p:cNvSpPr/>
          <p:nvPr/>
        </p:nvSpPr>
        <p:spPr>
          <a:xfrm>
            <a:off x="12215244" y="2304344"/>
            <a:ext cx="2218944" cy="1889760"/>
          </a:xfrm>
          <a:prstGeom prst="roundRect">
            <a:avLst>
              <a:gd name="adj" fmla="val 3226"/>
            </a:avLst>
          </a:prstGeom>
          <a:solidFill>
            <a:srgbClr val="FFFFFF"/>
          </a:solidFill>
          <a:ln w="10160">
            <a:solidFill>
              <a:srgbClr val="D8DDE4"/>
            </a:solidFill>
            <a:prstDash val="solid"/>
          </a:ln>
          <a:effectLst>
            <a:outerShdw blurRad="12700" dist="50800" dir="2700000" algn="bl" rotWithShape="0">
              <a:srgbClr val="AAB2BD">
                <a:alpha val="12000"/>
              </a:srgbClr>
            </a:outerShdw>
          </a:effectLst>
        </p:spPr>
        <p:txBody>
          <a:bodyPr/>
          <a:lstStyle/>
          <a:p>
            <a:endParaRPr lang="en-GB" sz="2400"/>
          </a:p>
        </p:txBody>
      </p:sp>
      <p:sp>
        <p:nvSpPr>
          <p:cNvPr id="284" name="Text 69">
            <a:extLst>
              <a:ext uri="{FF2B5EF4-FFF2-40B4-BE49-F238E27FC236}">
                <a16:creationId xmlns:a16="http://schemas.microsoft.com/office/drawing/2014/main" id="{0B0272AB-C347-0A74-449D-E20A45C46167}"/>
              </a:ext>
            </a:extLst>
          </p:cNvPr>
          <p:cNvSpPr/>
          <p:nvPr/>
        </p:nvSpPr>
        <p:spPr>
          <a:xfrm>
            <a:off x="12361548" y="2426264"/>
            <a:ext cx="633984" cy="292608"/>
          </a:xfrm>
          <a:prstGeom prst="rect">
            <a:avLst/>
          </a:prstGeom>
          <a:noFill/>
          <a:ln/>
        </p:spPr>
        <p:txBody>
          <a:bodyPr wrap="square" lIns="0" tIns="0" rIns="0" bIns="0" rtlCol="0" anchor="ctr"/>
          <a:lstStyle/>
          <a:p>
            <a:r>
              <a:rPr lang="en-US" sz="1467" b="1" dirty="0">
                <a:solidFill>
                  <a:srgbClr val="A4553D"/>
                </a:solidFill>
              </a:rPr>
              <a:t>2020</a:t>
            </a:r>
            <a:endParaRPr lang="en-US" sz="1467" dirty="0"/>
          </a:p>
        </p:txBody>
      </p:sp>
      <p:sp>
        <p:nvSpPr>
          <p:cNvPr id="286" name="Text 70">
            <a:extLst>
              <a:ext uri="{FF2B5EF4-FFF2-40B4-BE49-F238E27FC236}">
                <a16:creationId xmlns:a16="http://schemas.microsoft.com/office/drawing/2014/main" id="{03F47E18-9FFE-3213-B558-B578B93C7A6E}"/>
              </a:ext>
            </a:extLst>
          </p:cNvPr>
          <p:cNvSpPr/>
          <p:nvPr/>
        </p:nvSpPr>
        <p:spPr>
          <a:xfrm>
            <a:off x="12361548" y="2767640"/>
            <a:ext cx="1926336" cy="560832"/>
          </a:xfrm>
          <a:prstGeom prst="rect">
            <a:avLst/>
          </a:prstGeom>
          <a:noFill/>
          <a:ln/>
        </p:spPr>
        <p:txBody>
          <a:bodyPr wrap="square" lIns="0" tIns="0" rIns="0" bIns="0" rtlCol="0" anchor="ctr">
            <a:normAutofit/>
          </a:bodyPr>
          <a:lstStyle/>
          <a:p>
            <a:r>
              <a:rPr lang="en-US" sz="1133" b="1" dirty="0">
                <a:solidFill>
                  <a:srgbClr val="172033"/>
                </a:solidFill>
              </a:rPr>
              <a:t>Population-based estimates of healthy working life expectancy…</a:t>
            </a:r>
            <a:endParaRPr lang="en-US" sz="1133" dirty="0"/>
          </a:p>
        </p:txBody>
      </p:sp>
      <p:sp>
        <p:nvSpPr>
          <p:cNvPr id="288" name="Text 71">
            <a:extLst>
              <a:ext uri="{FF2B5EF4-FFF2-40B4-BE49-F238E27FC236}">
                <a16:creationId xmlns:a16="http://schemas.microsoft.com/office/drawing/2014/main" id="{A9B7DF03-1A97-16C0-00B6-7FFE252AF599}"/>
              </a:ext>
            </a:extLst>
          </p:cNvPr>
          <p:cNvSpPr/>
          <p:nvPr/>
        </p:nvSpPr>
        <p:spPr>
          <a:xfrm>
            <a:off x="12361548" y="3365048"/>
            <a:ext cx="1926336" cy="377952"/>
          </a:xfrm>
          <a:prstGeom prst="rect">
            <a:avLst/>
          </a:prstGeom>
          <a:noFill/>
          <a:ln/>
        </p:spPr>
        <p:txBody>
          <a:bodyPr wrap="square" lIns="0" tIns="0" rIns="0" bIns="0" rtlCol="0" anchor="ctr">
            <a:normAutofit fontScale="92500" lnSpcReduction="10000"/>
          </a:bodyPr>
          <a:lstStyle/>
          <a:p>
            <a:r>
              <a:rPr lang="en-US" sz="947" i="1" dirty="0">
                <a:solidFill>
                  <a:srgbClr val="566273"/>
                </a:solidFill>
              </a:rPr>
              <a:t>M. Parker, M. Bucknall, C. Jagger &amp; R. Wilkie</a:t>
            </a:r>
            <a:endParaRPr lang="en-US" sz="947" dirty="0"/>
          </a:p>
          <a:p>
            <a:r>
              <a:rPr lang="en-US" sz="947" i="1" dirty="0">
                <a:solidFill>
                  <a:srgbClr val="566273"/>
                </a:solidFill>
              </a:rPr>
              <a:t>The Lancet Public Health</a:t>
            </a:r>
            <a:endParaRPr lang="en-US" sz="947" dirty="0"/>
          </a:p>
        </p:txBody>
      </p:sp>
      <p:sp>
        <p:nvSpPr>
          <p:cNvPr id="290" name="Text 72">
            <a:extLst>
              <a:ext uri="{FF2B5EF4-FFF2-40B4-BE49-F238E27FC236}">
                <a16:creationId xmlns:a16="http://schemas.microsoft.com/office/drawing/2014/main" id="{731DCBEF-D261-C6C7-469B-4C941D9B16BB}"/>
              </a:ext>
            </a:extLst>
          </p:cNvPr>
          <p:cNvSpPr/>
          <p:nvPr/>
        </p:nvSpPr>
        <p:spPr>
          <a:xfrm>
            <a:off x="12361548" y="3755192"/>
            <a:ext cx="1926336" cy="329184"/>
          </a:xfrm>
          <a:prstGeom prst="rect">
            <a:avLst/>
          </a:prstGeom>
          <a:noFill/>
          <a:ln/>
        </p:spPr>
        <p:txBody>
          <a:bodyPr wrap="square" lIns="0" tIns="0" rIns="0" bIns="0" rtlCol="0" anchor="ctr">
            <a:normAutofit/>
          </a:bodyPr>
          <a:lstStyle/>
          <a:p>
            <a:r>
              <a:rPr lang="en-US" sz="907" dirty="0">
                <a:solidFill>
                  <a:srgbClr val="6B7280"/>
                </a:solidFill>
              </a:rPr>
              <a:t>Establishes HWLE at age 50 using ELSA multi-state modelling.</a:t>
            </a:r>
            <a:endParaRPr lang="en-US" sz="907" dirty="0"/>
          </a:p>
        </p:txBody>
      </p:sp>
      <p:sp>
        <p:nvSpPr>
          <p:cNvPr id="292" name="Shape 73">
            <a:extLst>
              <a:ext uri="{FF2B5EF4-FFF2-40B4-BE49-F238E27FC236}">
                <a16:creationId xmlns:a16="http://schemas.microsoft.com/office/drawing/2014/main" id="{D2BC229B-FA7C-1551-BE77-5CC861DB1FFB}"/>
              </a:ext>
            </a:extLst>
          </p:cNvPr>
          <p:cNvSpPr/>
          <p:nvPr/>
        </p:nvSpPr>
        <p:spPr>
          <a:xfrm>
            <a:off x="14734112" y="5145080"/>
            <a:ext cx="0" cy="609600"/>
          </a:xfrm>
          <a:prstGeom prst="line">
            <a:avLst/>
          </a:prstGeom>
          <a:noFill/>
          <a:ln w="13970">
            <a:solidFill>
              <a:srgbClr val="A4553D"/>
            </a:solidFill>
            <a:prstDash val="solid"/>
          </a:ln>
        </p:spPr>
        <p:txBody>
          <a:bodyPr/>
          <a:lstStyle/>
          <a:p>
            <a:endParaRPr lang="en-GB" sz="2400"/>
          </a:p>
        </p:txBody>
      </p:sp>
      <p:sp>
        <p:nvSpPr>
          <p:cNvPr id="294" name="Shape 74">
            <a:extLst>
              <a:ext uri="{FF2B5EF4-FFF2-40B4-BE49-F238E27FC236}">
                <a16:creationId xmlns:a16="http://schemas.microsoft.com/office/drawing/2014/main" id="{666EAA00-41E7-C824-1A06-4F4D6350FA31}"/>
              </a:ext>
            </a:extLst>
          </p:cNvPr>
          <p:cNvSpPr/>
          <p:nvPr/>
        </p:nvSpPr>
        <p:spPr>
          <a:xfrm>
            <a:off x="14642672" y="5053640"/>
            <a:ext cx="182880" cy="182880"/>
          </a:xfrm>
          <a:prstGeom prst="ellipse">
            <a:avLst/>
          </a:prstGeom>
          <a:solidFill>
            <a:srgbClr val="A4553D"/>
          </a:solidFill>
          <a:ln w="12700">
            <a:solidFill>
              <a:srgbClr val="A4553D"/>
            </a:solidFill>
            <a:prstDash val="solid"/>
          </a:ln>
        </p:spPr>
        <p:txBody>
          <a:bodyPr/>
          <a:lstStyle/>
          <a:p>
            <a:endParaRPr lang="en-GB" sz="2400"/>
          </a:p>
        </p:txBody>
      </p:sp>
      <p:sp>
        <p:nvSpPr>
          <p:cNvPr id="296" name="Shape 75">
            <a:extLst>
              <a:ext uri="{FF2B5EF4-FFF2-40B4-BE49-F238E27FC236}">
                <a16:creationId xmlns:a16="http://schemas.microsoft.com/office/drawing/2014/main" id="{2BDC89D7-5585-24B8-D5E9-D1D6B43BB795}"/>
              </a:ext>
            </a:extLst>
          </p:cNvPr>
          <p:cNvSpPr/>
          <p:nvPr/>
        </p:nvSpPr>
        <p:spPr>
          <a:xfrm>
            <a:off x="12954080" y="5754680"/>
            <a:ext cx="2218944" cy="1804416"/>
          </a:xfrm>
          <a:prstGeom prst="roundRect">
            <a:avLst>
              <a:gd name="adj" fmla="val 3378"/>
            </a:avLst>
          </a:prstGeom>
          <a:solidFill>
            <a:srgbClr val="FFFFFF"/>
          </a:solidFill>
          <a:ln w="10160">
            <a:solidFill>
              <a:srgbClr val="D8DDE4"/>
            </a:solidFill>
            <a:prstDash val="solid"/>
          </a:ln>
          <a:effectLst>
            <a:outerShdw blurRad="12700" dist="50800" dir="2700000" algn="bl" rotWithShape="0">
              <a:srgbClr val="AAB2BD">
                <a:alpha val="12000"/>
              </a:srgbClr>
            </a:outerShdw>
          </a:effectLst>
        </p:spPr>
        <p:txBody>
          <a:bodyPr/>
          <a:lstStyle/>
          <a:p>
            <a:endParaRPr lang="en-GB" sz="2400"/>
          </a:p>
        </p:txBody>
      </p:sp>
      <p:sp>
        <p:nvSpPr>
          <p:cNvPr id="298" name="Text 76">
            <a:extLst>
              <a:ext uri="{FF2B5EF4-FFF2-40B4-BE49-F238E27FC236}">
                <a16:creationId xmlns:a16="http://schemas.microsoft.com/office/drawing/2014/main" id="{226929AD-89D6-3BBB-D8E3-D836FF6296AD}"/>
              </a:ext>
            </a:extLst>
          </p:cNvPr>
          <p:cNvSpPr/>
          <p:nvPr/>
        </p:nvSpPr>
        <p:spPr>
          <a:xfrm>
            <a:off x="13100384" y="5876600"/>
            <a:ext cx="633984" cy="292608"/>
          </a:xfrm>
          <a:prstGeom prst="rect">
            <a:avLst/>
          </a:prstGeom>
          <a:noFill/>
          <a:ln/>
        </p:spPr>
        <p:txBody>
          <a:bodyPr wrap="square" lIns="0" tIns="0" rIns="0" bIns="0" rtlCol="0" anchor="ctr"/>
          <a:lstStyle/>
          <a:p>
            <a:r>
              <a:rPr lang="en-US" sz="1467" b="1" dirty="0">
                <a:solidFill>
                  <a:srgbClr val="A4553D"/>
                </a:solidFill>
              </a:rPr>
              <a:t>2021</a:t>
            </a:r>
            <a:endParaRPr lang="en-US" sz="1467" dirty="0"/>
          </a:p>
        </p:txBody>
      </p:sp>
      <p:sp>
        <p:nvSpPr>
          <p:cNvPr id="300" name="Text 77">
            <a:extLst>
              <a:ext uri="{FF2B5EF4-FFF2-40B4-BE49-F238E27FC236}">
                <a16:creationId xmlns:a16="http://schemas.microsoft.com/office/drawing/2014/main" id="{2CFF224D-E0FA-767B-6847-7E636B723CE3}"/>
              </a:ext>
            </a:extLst>
          </p:cNvPr>
          <p:cNvSpPr/>
          <p:nvPr/>
        </p:nvSpPr>
        <p:spPr>
          <a:xfrm>
            <a:off x="13100384" y="6217976"/>
            <a:ext cx="1926336" cy="560832"/>
          </a:xfrm>
          <a:prstGeom prst="rect">
            <a:avLst/>
          </a:prstGeom>
          <a:noFill/>
          <a:ln/>
        </p:spPr>
        <p:txBody>
          <a:bodyPr wrap="square" lIns="0" tIns="0" rIns="0" bIns="0" rtlCol="0" anchor="ctr">
            <a:normAutofit/>
          </a:bodyPr>
          <a:lstStyle/>
          <a:p>
            <a:r>
              <a:rPr lang="en-US" sz="1133" b="1" dirty="0">
                <a:solidFill>
                  <a:srgbClr val="172033"/>
                </a:solidFill>
              </a:rPr>
              <a:t>Changes in healthy and unhealthy working-life expectancy…</a:t>
            </a:r>
            <a:endParaRPr lang="en-US" sz="1133" dirty="0"/>
          </a:p>
        </p:txBody>
      </p:sp>
      <p:sp>
        <p:nvSpPr>
          <p:cNvPr id="302" name="Text 78">
            <a:extLst>
              <a:ext uri="{FF2B5EF4-FFF2-40B4-BE49-F238E27FC236}">
                <a16:creationId xmlns:a16="http://schemas.microsoft.com/office/drawing/2014/main" id="{57182648-F99A-E30B-92A0-FEB3238DD084}"/>
              </a:ext>
            </a:extLst>
          </p:cNvPr>
          <p:cNvSpPr/>
          <p:nvPr/>
        </p:nvSpPr>
        <p:spPr>
          <a:xfrm>
            <a:off x="13100384" y="6815384"/>
            <a:ext cx="1926336" cy="377952"/>
          </a:xfrm>
          <a:prstGeom prst="rect">
            <a:avLst/>
          </a:prstGeom>
          <a:noFill/>
          <a:ln/>
        </p:spPr>
        <p:txBody>
          <a:bodyPr wrap="square" lIns="0" tIns="0" rIns="0" bIns="0" rtlCol="0" anchor="ctr">
            <a:normAutofit/>
          </a:bodyPr>
          <a:lstStyle/>
          <a:p>
            <a:r>
              <a:rPr lang="en-US" sz="947" i="1" dirty="0">
                <a:solidFill>
                  <a:srgbClr val="566273"/>
                </a:solidFill>
              </a:rPr>
              <a:t>Multi-country study</a:t>
            </a:r>
            <a:endParaRPr lang="en-US" sz="947" dirty="0"/>
          </a:p>
          <a:p>
            <a:r>
              <a:rPr lang="en-US" sz="947" i="1" dirty="0">
                <a:solidFill>
                  <a:srgbClr val="566273"/>
                </a:solidFill>
              </a:rPr>
              <a:t>The Lancet Healthy Longevity</a:t>
            </a:r>
            <a:endParaRPr lang="en-US" sz="947" dirty="0"/>
          </a:p>
        </p:txBody>
      </p:sp>
      <p:sp>
        <p:nvSpPr>
          <p:cNvPr id="304" name="Text 79">
            <a:extLst>
              <a:ext uri="{FF2B5EF4-FFF2-40B4-BE49-F238E27FC236}">
                <a16:creationId xmlns:a16="http://schemas.microsoft.com/office/drawing/2014/main" id="{B08A3D40-3A26-6734-F538-A5A2E9FB2D8B}"/>
              </a:ext>
            </a:extLst>
          </p:cNvPr>
          <p:cNvSpPr/>
          <p:nvPr/>
        </p:nvSpPr>
        <p:spPr>
          <a:xfrm>
            <a:off x="13100384" y="7205528"/>
            <a:ext cx="1926336" cy="243840"/>
          </a:xfrm>
          <a:prstGeom prst="rect">
            <a:avLst/>
          </a:prstGeom>
          <a:noFill/>
          <a:ln/>
        </p:spPr>
        <p:txBody>
          <a:bodyPr wrap="square" lIns="0" tIns="0" rIns="0" bIns="0" rtlCol="0" anchor="ctr">
            <a:normAutofit fontScale="92500"/>
          </a:bodyPr>
          <a:lstStyle/>
          <a:p>
            <a:r>
              <a:rPr lang="en-US" sz="907" dirty="0">
                <a:solidFill>
                  <a:srgbClr val="6B7280"/>
                </a:solidFill>
              </a:rPr>
              <a:t>Tracks healthy/unhealthy WLE across 14 OECD countries.</a:t>
            </a:r>
            <a:endParaRPr lang="en-US" sz="907" dirty="0"/>
          </a:p>
        </p:txBody>
      </p:sp>
      <p:sp>
        <p:nvSpPr>
          <p:cNvPr id="2" name="Oval 1">
            <a:extLst>
              <a:ext uri="{FF2B5EF4-FFF2-40B4-BE49-F238E27FC236}">
                <a16:creationId xmlns:a16="http://schemas.microsoft.com/office/drawing/2014/main" id="{C647E38B-DF99-2E0E-FE61-E7AD52FA14D4}"/>
              </a:ext>
            </a:extLst>
          </p:cNvPr>
          <p:cNvSpPr/>
          <p:nvPr/>
        </p:nvSpPr>
        <p:spPr>
          <a:xfrm>
            <a:off x="0" y="7929217"/>
            <a:ext cx="2054087" cy="1159412"/>
          </a:xfrm>
          <a:prstGeom prst="ellipse">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‘expectation of disease-free life’</a:t>
            </a:r>
          </a:p>
        </p:txBody>
      </p:sp>
      <p:sp>
        <p:nvSpPr>
          <p:cNvPr id="8" name="Oval 7">
            <a:extLst>
              <a:ext uri="{FF2B5EF4-FFF2-40B4-BE49-F238E27FC236}">
                <a16:creationId xmlns:a16="http://schemas.microsoft.com/office/drawing/2014/main" id="{37FC35E6-17C6-B0C1-4865-01C555D4EE85}"/>
              </a:ext>
            </a:extLst>
          </p:cNvPr>
          <p:cNvSpPr/>
          <p:nvPr/>
        </p:nvSpPr>
        <p:spPr>
          <a:xfrm>
            <a:off x="4045279" y="8022392"/>
            <a:ext cx="2055782" cy="958277"/>
          </a:xfrm>
          <a:prstGeom prst="ellipse">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‘working life expectancy’</a:t>
            </a:r>
            <a:r>
              <a:rPr lang="en-GB" dirty="0"/>
              <a:t>’</a:t>
            </a:r>
          </a:p>
        </p:txBody>
      </p:sp>
      <p:sp>
        <p:nvSpPr>
          <p:cNvPr id="11" name="TextBox 10">
            <a:extLst>
              <a:ext uri="{FF2B5EF4-FFF2-40B4-BE49-F238E27FC236}">
                <a16:creationId xmlns:a16="http://schemas.microsoft.com/office/drawing/2014/main" id="{833B0857-5B7C-1D05-CE69-8B78B39A6CBD}"/>
              </a:ext>
            </a:extLst>
          </p:cNvPr>
          <p:cNvSpPr txBox="1"/>
          <p:nvPr/>
        </p:nvSpPr>
        <p:spPr>
          <a:xfrm>
            <a:off x="3506940" y="3328472"/>
            <a:ext cx="2096429" cy="923330"/>
          </a:xfrm>
          <a:prstGeom prst="rect">
            <a:avLst/>
          </a:prstGeom>
          <a:solidFill>
            <a:srgbClr val="EF25E1"/>
          </a:solidFill>
        </p:spPr>
        <p:txBody>
          <a:bodyPr wrap="square" rtlCol="0">
            <a:spAutoFit/>
          </a:bodyPr>
          <a:lstStyle/>
          <a:p>
            <a:r>
              <a:rPr lang="en-GB" dirty="0"/>
              <a:t>add/remove other papers? E.g. Haberman, CMI</a:t>
            </a:r>
          </a:p>
        </p:txBody>
      </p:sp>
      <p:sp>
        <p:nvSpPr>
          <p:cNvPr id="13" name="Oval 12">
            <a:extLst>
              <a:ext uri="{FF2B5EF4-FFF2-40B4-BE49-F238E27FC236}">
                <a16:creationId xmlns:a16="http://schemas.microsoft.com/office/drawing/2014/main" id="{56EE09B0-1144-5BCB-3560-3EDA17E19195}"/>
              </a:ext>
            </a:extLst>
          </p:cNvPr>
          <p:cNvSpPr/>
          <p:nvPr/>
        </p:nvSpPr>
        <p:spPr>
          <a:xfrm>
            <a:off x="2188775" y="7929215"/>
            <a:ext cx="1800130" cy="1159413"/>
          </a:xfrm>
          <a:prstGeom prst="ellipse">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‘average duration of sickness’</a:t>
            </a:r>
            <a:r>
              <a:rPr lang="en-GB" dirty="0"/>
              <a:t>’</a:t>
            </a:r>
          </a:p>
        </p:txBody>
      </p:sp>
      <p:sp>
        <p:nvSpPr>
          <p:cNvPr id="4" name="Rectangle 3">
            <a:extLst>
              <a:ext uri="{FF2B5EF4-FFF2-40B4-BE49-F238E27FC236}">
                <a16:creationId xmlns:a16="http://schemas.microsoft.com/office/drawing/2014/main" id="{2F577D22-18C7-3313-8255-DCA6F1A95E89}"/>
              </a:ext>
            </a:extLst>
          </p:cNvPr>
          <p:cNvSpPr/>
          <p:nvPr/>
        </p:nvSpPr>
        <p:spPr>
          <a:xfrm>
            <a:off x="0" y="7929215"/>
            <a:ext cx="6101061" cy="114616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8304823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8953F8F-A21B-8F0F-275B-8192CBA579AE}"/>
              </a:ext>
            </a:extLst>
          </p:cNvPr>
          <p:cNvSpPr>
            <a:spLocks noGrp="1"/>
          </p:cNvSpPr>
          <p:nvPr>
            <p:ph sz="quarter" idx="13"/>
          </p:nvPr>
        </p:nvSpPr>
        <p:spPr/>
        <p:txBody>
          <a:bodyPr/>
          <a:lstStyle/>
          <a:p>
            <a:r>
              <a:rPr lang="en-US" dirty="0"/>
              <a:t>Usefulness and applicability to the life and health insurance domain</a:t>
            </a:r>
          </a:p>
          <a:p>
            <a:pPr marL="457200" indent="-457200">
              <a:buFont typeface="Arial" panose="020B0604020202020204" pitchFamily="34" charset="0"/>
              <a:buChar char="•"/>
            </a:pPr>
            <a:r>
              <a:rPr lang="en-US" dirty="0"/>
              <a:t>comparing existing pricing and reserving bases</a:t>
            </a:r>
          </a:p>
          <a:p>
            <a:pPr marL="457200" indent="-457200">
              <a:buFont typeface="Arial" panose="020B0604020202020204" pitchFamily="34" charset="0"/>
              <a:buChar char="•"/>
            </a:pPr>
            <a:r>
              <a:rPr lang="en-US" dirty="0"/>
              <a:t>benchmarking pricing and reserving bases against wider population</a:t>
            </a:r>
          </a:p>
          <a:p>
            <a:pPr marL="457200" indent="-457200">
              <a:buFont typeface="Arial" panose="020B0604020202020204" pitchFamily="34" charset="0"/>
              <a:buChar char="•"/>
            </a:pPr>
            <a:r>
              <a:rPr lang="en-US" dirty="0"/>
              <a:t>product development for new population segments</a:t>
            </a:r>
          </a:p>
          <a:p>
            <a:pPr marL="457200" indent="-457200">
              <a:buFont typeface="Arial" panose="020B0604020202020204" pitchFamily="34" charset="0"/>
              <a:buChar char="•"/>
            </a:pPr>
            <a:endParaRPr lang="en-US" dirty="0"/>
          </a:p>
          <a:p>
            <a:endParaRPr lang="en-GB" dirty="0"/>
          </a:p>
        </p:txBody>
      </p:sp>
      <p:sp>
        <p:nvSpPr>
          <p:cNvPr id="3" name="Title 2">
            <a:extLst>
              <a:ext uri="{FF2B5EF4-FFF2-40B4-BE49-F238E27FC236}">
                <a16:creationId xmlns:a16="http://schemas.microsoft.com/office/drawing/2014/main" id="{749C4B29-0DA0-7459-509E-D58456A1E032}"/>
              </a:ext>
            </a:extLst>
          </p:cNvPr>
          <p:cNvSpPr>
            <a:spLocks noGrp="1"/>
          </p:cNvSpPr>
          <p:nvPr>
            <p:ph type="title"/>
          </p:nvPr>
        </p:nvSpPr>
        <p:spPr/>
        <p:txBody>
          <a:bodyPr/>
          <a:lstStyle/>
          <a:p>
            <a:r>
              <a:rPr lang="en-GB" dirty="0"/>
              <a:t>Healthy Working Life Expectancy as a metric</a:t>
            </a:r>
          </a:p>
        </p:txBody>
      </p:sp>
      <p:sp>
        <p:nvSpPr>
          <p:cNvPr id="4" name="Content Placeholder 3">
            <a:extLst>
              <a:ext uri="{FF2B5EF4-FFF2-40B4-BE49-F238E27FC236}">
                <a16:creationId xmlns:a16="http://schemas.microsoft.com/office/drawing/2014/main" id="{66F9FFDA-D063-06DE-F212-DFAE48D878DE}"/>
              </a:ext>
            </a:extLst>
          </p:cNvPr>
          <p:cNvSpPr>
            <a:spLocks noGrp="1"/>
          </p:cNvSpPr>
          <p:nvPr>
            <p:ph sz="quarter" idx="25"/>
          </p:nvPr>
        </p:nvSpPr>
        <p:spPr/>
        <p:txBody>
          <a:bodyPr/>
          <a:lstStyle/>
          <a:p>
            <a:r>
              <a:rPr lang="en-US" dirty="0"/>
              <a:t>Usefulness and applicability to health economics and public policy-making</a:t>
            </a:r>
          </a:p>
          <a:p>
            <a:pPr marL="457200" indent="-457200">
              <a:buFont typeface="Arial" panose="020B0604020202020204" pitchFamily="34" charset="0"/>
              <a:buChar char="•"/>
            </a:pPr>
            <a:r>
              <a:rPr lang="en-US" dirty="0"/>
              <a:t>social security benefits demand projections;</a:t>
            </a:r>
          </a:p>
          <a:p>
            <a:pPr marL="457200" indent="-457200">
              <a:buFont typeface="Arial" panose="020B0604020202020204" pitchFamily="34" charset="0"/>
              <a:buChar char="•"/>
            </a:pPr>
            <a:r>
              <a:rPr lang="en-US" dirty="0"/>
              <a:t>health service demand projections;</a:t>
            </a:r>
          </a:p>
          <a:p>
            <a:pPr marL="457200" indent="-457200">
              <a:buFont typeface="Arial" panose="020B0604020202020204" pitchFamily="34" charset="0"/>
              <a:buChar char="•"/>
            </a:pPr>
            <a:r>
              <a:rPr lang="en-US" dirty="0"/>
              <a:t>economic analyses incorporating projections of the future UK workforce;</a:t>
            </a:r>
          </a:p>
          <a:p>
            <a:pPr marL="457200" indent="-457200">
              <a:buFont typeface="Arial" panose="020B0604020202020204" pitchFamily="34" charset="0"/>
              <a:buChar char="•"/>
            </a:pPr>
            <a:r>
              <a:rPr lang="en-US" dirty="0"/>
              <a:t>setting retirement ages and state pensions policy.</a:t>
            </a:r>
          </a:p>
        </p:txBody>
      </p:sp>
      <p:sp>
        <p:nvSpPr>
          <p:cNvPr id="5" name="Footer Placeholder 4">
            <a:extLst>
              <a:ext uri="{FF2B5EF4-FFF2-40B4-BE49-F238E27FC236}">
                <a16:creationId xmlns:a16="http://schemas.microsoft.com/office/drawing/2014/main" id="{638FBE29-7E39-E7D0-3899-F76F1C11A2FB}"/>
              </a:ext>
            </a:extLst>
          </p:cNvPr>
          <p:cNvSpPr>
            <a:spLocks noGrp="1"/>
          </p:cNvSpPr>
          <p:nvPr>
            <p:ph type="ftr" sz="quarter" idx="3"/>
          </p:nvPr>
        </p:nvSpPr>
        <p:spPr/>
        <p:txBody>
          <a:bodyPr/>
          <a:lstStyle/>
          <a:p>
            <a:r>
              <a:rPr lang="en-GB"/>
              <a:t>IFoA Life Conference</a:t>
            </a:r>
            <a:endParaRPr lang="en-GB" dirty="0"/>
          </a:p>
        </p:txBody>
      </p:sp>
      <p:sp>
        <p:nvSpPr>
          <p:cNvPr id="6" name="Slide Number Placeholder 5">
            <a:extLst>
              <a:ext uri="{FF2B5EF4-FFF2-40B4-BE49-F238E27FC236}">
                <a16:creationId xmlns:a16="http://schemas.microsoft.com/office/drawing/2014/main" id="{DEB4FAC6-731D-4268-269C-90FE7B00DBC0}"/>
              </a:ext>
            </a:extLst>
          </p:cNvPr>
          <p:cNvSpPr>
            <a:spLocks noGrp="1"/>
          </p:cNvSpPr>
          <p:nvPr>
            <p:ph type="sldNum" sz="quarter" idx="4"/>
          </p:nvPr>
        </p:nvSpPr>
        <p:spPr/>
        <p:txBody>
          <a:bodyPr/>
          <a:lstStyle/>
          <a:p>
            <a:fld id="{40FC62D0-A2F2-4BF8-8DAC-E86C11000EC3}" type="slidenum">
              <a:rPr lang="en-GB" smtClean="0"/>
              <a:pPr/>
              <a:t>20</a:t>
            </a:fld>
            <a:endParaRPr lang="en-GB" dirty="0"/>
          </a:p>
        </p:txBody>
      </p:sp>
      <p:sp>
        <p:nvSpPr>
          <p:cNvPr id="7" name="Text Placeholder 6">
            <a:extLst>
              <a:ext uri="{FF2B5EF4-FFF2-40B4-BE49-F238E27FC236}">
                <a16:creationId xmlns:a16="http://schemas.microsoft.com/office/drawing/2014/main" id="{D38BFF88-E30D-1673-94F7-FBB2FA23AF9D}"/>
              </a:ext>
            </a:extLst>
          </p:cNvPr>
          <p:cNvSpPr>
            <a:spLocks noGrp="1"/>
          </p:cNvSpPr>
          <p:nvPr>
            <p:ph type="body" sz="quarter" idx="24"/>
          </p:nvPr>
        </p:nvSpPr>
        <p:spPr/>
        <p:txBody>
          <a:bodyPr/>
          <a:lstStyle/>
          <a:p>
            <a:r>
              <a:rPr lang="en-GB" dirty="0"/>
              <a:t>along with Not-Healthy-Not-Working Life Expectancy</a:t>
            </a:r>
          </a:p>
        </p:txBody>
      </p:sp>
      <p:sp>
        <p:nvSpPr>
          <p:cNvPr id="9" name="TextBox 8">
            <a:extLst>
              <a:ext uri="{FF2B5EF4-FFF2-40B4-BE49-F238E27FC236}">
                <a16:creationId xmlns:a16="http://schemas.microsoft.com/office/drawing/2014/main" id="{B86ACBCF-4B97-F37D-1FF9-D27D8CD460DF}"/>
              </a:ext>
            </a:extLst>
          </p:cNvPr>
          <p:cNvSpPr txBox="1"/>
          <p:nvPr/>
        </p:nvSpPr>
        <p:spPr>
          <a:xfrm>
            <a:off x="12221737" y="256478"/>
            <a:ext cx="2096429" cy="369332"/>
          </a:xfrm>
          <a:prstGeom prst="rect">
            <a:avLst/>
          </a:prstGeom>
          <a:solidFill>
            <a:srgbClr val="EF25E1"/>
          </a:solidFill>
        </p:spPr>
        <p:txBody>
          <a:bodyPr wrap="square" rtlCol="0">
            <a:spAutoFit/>
          </a:bodyPr>
          <a:lstStyle/>
          <a:p>
            <a:r>
              <a:rPr lang="en-GB" dirty="0"/>
              <a:t>David 2 mins</a:t>
            </a:r>
          </a:p>
        </p:txBody>
      </p:sp>
    </p:spTree>
    <p:extLst>
      <p:ext uri="{BB962C8B-B14F-4D97-AF65-F5344CB8AC3E}">
        <p14:creationId xmlns:p14="http://schemas.microsoft.com/office/powerpoint/2010/main" val="30232931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Content Placeholder 33">
            <a:extLst>
              <a:ext uri="{FF2B5EF4-FFF2-40B4-BE49-F238E27FC236}">
                <a16:creationId xmlns:a16="http://schemas.microsoft.com/office/drawing/2014/main" id="{1E7C3372-5C9C-516E-A791-4306FFFF84FF}"/>
              </a:ext>
            </a:extLst>
          </p:cNvPr>
          <p:cNvPicPr>
            <a:picLocks noGrp="1" noChangeAspect="1"/>
          </p:cNvPicPr>
          <p:nvPr>
            <p:ph sz="quarter" idx="25"/>
          </p:nvPr>
        </p:nvPicPr>
        <p:blipFill>
          <a:blip r:embed="rId3"/>
          <a:stretch>
            <a:fillRect/>
          </a:stretch>
        </p:blipFill>
        <p:spPr>
          <a:xfrm>
            <a:off x="1117599" y="2256115"/>
            <a:ext cx="6994431" cy="6126418"/>
          </a:xfrm>
          <a:prstGeom prst="rect">
            <a:avLst/>
          </a:prstGeom>
        </p:spPr>
      </p:pic>
      <p:sp>
        <p:nvSpPr>
          <p:cNvPr id="3" name="Content Placeholder 2">
            <a:extLst>
              <a:ext uri="{FF2B5EF4-FFF2-40B4-BE49-F238E27FC236}">
                <a16:creationId xmlns:a16="http://schemas.microsoft.com/office/drawing/2014/main" id="{57FD6E17-621F-74B6-87A3-E34E8BD892D7}"/>
              </a:ext>
            </a:extLst>
          </p:cNvPr>
          <p:cNvSpPr>
            <a:spLocks noGrp="1"/>
          </p:cNvSpPr>
          <p:nvPr>
            <p:ph sz="quarter" idx="26"/>
          </p:nvPr>
        </p:nvSpPr>
        <p:spPr>
          <a:xfrm>
            <a:off x="9097096" y="4482790"/>
            <a:ext cx="6005759" cy="3800206"/>
          </a:xfrm>
        </p:spPr>
        <p:txBody>
          <a:bodyPr>
            <a:noAutofit/>
          </a:bodyPr>
          <a:lstStyle/>
          <a:p>
            <a:pPr marL="457200" indent="-457200">
              <a:spcBef>
                <a:spcPts val="600"/>
              </a:spcBef>
              <a:buFont typeface="Arial" panose="020B0604020202020204" pitchFamily="34" charset="0"/>
              <a:buChar char="•"/>
            </a:pPr>
            <a:r>
              <a:rPr lang="en-GB" sz="2000" dirty="0"/>
              <a:t>4 states with 7 transition routes</a:t>
            </a:r>
          </a:p>
          <a:p>
            <a:pPr>
              <a:spcBef>
                <a:spcPts val="600"/>
              </a:spcBef>
            </a:pPr>
            <a:r>
              <a:rPr lang="en-GB" sz="2000" dirty="0"/>
              <a:t>Advantages</a:t>
            </a:r>
          </a:p>
          <a:p>
            <a:pPr marL="457200" indent="-457200">
              <a:spcBef>
                <a:spcPts val="600"/>
              </a:spcBef>
              <a:buFont typeface="Arial" panose="020B0604020202020204" pitchFamily="34" charset="0"/>
              <a:buChar char="•"/>
            </a:pPr>
            <a:r>
              <a:rPr lang="en-GB" sz="2000" dirty="0"/>
              <a:t>transitions out of NN state are duration-dependent</a:t>
            </a:r>
          </a:p>
          <a:p>
            <a:pPr marL="457200" indent="-457200">
              <a:spcBef>
                <a:spcPts val="600"/>
              </a:spcBef>
              <a:buFont typeface="Arial" panose="020B0604020202020204" pitchFamily="34" charset="0"/>
              <a:buChar char="•"/>
            </a:pPr>
            <a:r>
              <a:rPr lang="en-GB" sz="2000" dirty="0"/>
              <a:t>explicit allowance for expected retirement age</a:t>
            </a:r>
          </a:p>
          <a:p>
            <a:pPr>
              <a:spcBef>
                <a:spcPts val="600"/>
              </a:spcBef>
            </a:pPr>
            <a:r>
              <a:rPr lang="en-GB" sz="2000" dirty="0"/>
              <a:t>Disadvantages</a:t>
            </a:r>
          </a:p>
          <a:p>
            <a:pPr marL="457200" indent="-457200">
              <a:spcBef>
                <a:spcPts val="600"/>
              </a:spcBef>
              <a:buFont typeface="Arial" panose="020B0604020202020204" pitchFamily="34" charset="0"/>
              <a:buChar char="•"/>
            </a:pPr>
            <a:r>
              <a:rPr lang="en-GB" sz="2000" dirty="0"/>
              <a:t>currently limited data availability in the UK beyond insured populations</a:t>
            </a:r>
          </a:p>
          <a:p>
            <a:pPr marL="457200" indent="-457200">
              <a:spcBef>
                <a:spcPts val="600"/>
              </a:spcBef>
              <a:buFont typeface="Arial" panose="020B0604020202020204" pitchFamily="34" charset="0"/>
              <a:buChar char="•"/>
            </a:pPr>
            <a:r>
              <a:rPr lang="en-GB" sz="2000" dirty="0"/>
              <a:t>CMI claim inception rates used as a proxy for sickness inception rates</a:t>
            </a:r>
          </a:p>
        </p:txBody>
      </p:sp>
      <p:sp>
        <p:nvSpPr>
          <p:cNvPr id="4" name="Footer Placeholder 3">
            <a:extLst>
              <a:ext uri="{FF2B5EF4-FFF2-40B4-BE49-F238E27FC236}">
                <a16:creationId xmlns:a16="http://schemas.microsoft.com/office/drawing/2014/main" id="{B40387C7-48A7-B812-889B-F8A99AC6DB17}"/>
              </a:ext>
            </a:extLst>
          </p:cNvPr>
          <p:cNvSpPr>
            <a:spLocks noGrp="1"/>
          </p:cNvSpPr>
          <p:nvPr>
            <p:ph type="ftr" sz="quarter" idx="3"/>
          </p:nvPr>
        </p:nvSpPr>
        <p:spPr/>
        <p:txBody>
          <a:bodyPr/>
          <a:lstStyle/>
          <a:p>
            <a:r>
              <a:rPr lang="en-GB" dirty="0" err="1"/>
              <a:t>IFoA</a:t>
            </a:r>
            <a:r>
              <a:rPr lang="en-GB" dirty="0"/>
              <a:t> Life Conference</a:t>
            </a:r>
          </a:p>
        </p:txBody>
      </p:sp>
      <p:sp>
        <p:nvSpPr>
          <p:cNvPr id="5" name="Slide Number Placeholder 4">
            <a:extLst>
              <a:ext uri="{FF2B5EF4-FFF2-40B4-BE49-F238E27FC236}">
                <a16:creationId xmlns:a16="http://schemas.microsoft.com/office/drawing/2014/main" id="{1F97049E-74BB-72F6-51B5-1BFD174BD033}"/>
              </a:ext>
            </a:extLst>
          </p:cNvPr>
          <p:cNvSpPr>
            <a:spLocks noGrp="1"/>
          </p:cNvSpPr>
          <p:nvPr>
            <p:ph type="sldNum" sz="quarter" idx="4"/>
          </p:nvPr>
        </p:nvSpPr>
        <p:spPr/>
        <p:txBody>
          <a:bodyPr/>
          <a:lstStyle/>
          <a:p>
            <a:fld id="{40FC62D0-A2F2-4BF8-8DAC-E86C11000EC3}" type="slidenum">
              <a:rPr lang="en-GB" smtClean="0"/>
              <a:pPr/>
              <a:t>21</a:t>
            </a:fld>
            <a:endParaRPr lang="en-GB" dirty="0"/>
          </a:p>
        </p:txBody>
      </p:sp>
      <p:sp>
        <p:nvSpPr>
          <p:cNvPr id="6" name="Text Placeholder 5">
            <a:extLst>
              <a:ext uri="{FF2B5EF4-FFF2-40B4-BE49-F238E27FC236}">
                <a16:creationId xmlns:a16="http://schemas.microsoft.com/office/drawing/2014/main" id="{0EFA36DF-88F1-DDD1-F989-2E995C9C0E6E}"/>
              </a:ext>
            </a:extLst>
          </p:cNvPr>
          <p:cNvSpPr>
            <a:spLocks noGrp="1"/>
          </p:cNvSpPr>
          <p:nvPr>
            <p:ph type="body" sz="quarter" idx="24"/>
          </p:nvPr>
        </p:nvSpPr>
        <p:spPr/>
        <p:txBody>
          <a:bodyPr/>
          <a:lstStyle/>
          <a:p>
            <a:r>
              <a:rPr lang="en-GB" dirty="0"/>
              <a:t>leading to an increment-decrement life table</a:t>
            </a:r>
          </a:p>
        </p:txBody>
      </p:sp>
      <p:sp>
        <p:nvSpPr>
          <p:cNvPr id="7" name="Title 6">
            <a:extLst>
              <a:ext uri="{FF2B5EF4-FFF2-40B4-BE49-F238E27FC236}">
                <a16:creationId xmlns:a16="http://schemas.microsoft.com/office/drawing/2014/main" id="{87279CE6-EBFE-14D5-7E52-AC22FF55B8C9}"/>
              </a:ext>
            </a:extLst>
          </p:cNvPr>
          <p:cNvSpPr>
            <a:spLocks noGrp="1"/>
          </p:cNvSpPr>
          <p:nvPr>
            <p:ph type="title"/>
          </p:nvPr>
        </p:nvSpPr>
        <p:spPr/>
        <p:txBody>
          <a:bodyPr/>
          <a:lstStyle/>
          <a:p>
            <a:r>
              <a:rPr lang="en-GB" dirty="0"/>
              <a:t>Multi-state model method</a:t>
            </a:r>
          </a:p>
        </p:txBody>
      </p:sp>
      <p:sp>
        <p:nvSpPr>
          <p:cNvPr id="8" name="TextBox 7">
            <a:extLst>
              <a:ext uri="{FF2B5EF4-FFF2-40B4-BE49-F238E27FC236}">
                <a16:creationId xmlns:a16="http://schemas.microsoft.com/office/drawing/2014/main" id="{70CEA76B-3535-B0C2-BF44-C70E1CE57F28}"/>
              </a:ext>
            </a:extLst>
          </p:cNvPr>
          <p:cNvSpPr txBox="1"/>
          <p:nvPr/>
        </p:nvSpPr>
        <p:spPr>
          <a:xfrm>
            <a:off x="12221737" y="256478"/>
            <a:ext cx="2096429" cy="369332"/>
          </a:xfrm>
          <a:prstGeom prst="rect">
            <a:avLst/>
          </a:prstGeom>
          <a:solidFill>
            <a:srgbClr val="EF25E1"/>
          </a:solidFill>
        </p:spPr>
        <p:txBody>
          <a:bodyPr wrap="square" rtlCol="0">
            <a:spAutoFit/>
          </a:bodyPr>
          <a:lstStyle/>
          <a:p>
            <a:r>
              <a:rPr lang="en-GB" dirty="0"/>
              <a:t>David 4 mins</a:t>
            </a:r>
          </a:p>
        </p:txBody>
      </p:sp>
      <p:graphicFrame>
        <p:nvGraphicFramePr>
          <p:cNvPr id="2" name="Content Placeholder 5">
            <a:extLst>
              <a:ext uri="{FF2B5EF4-FFF2-40B4-BE49-F238E27FC236}">
                <a16:creationId xmlns:a16="http://schemas.microsoft.com/office/drawing/2014/main" id="{97720DE3-434C-B496-3D83-61ABC630BDC6}"/>
              </a:ext>
            </a:extLst>
          </p:cNvPr>
          <p:cNvGraphicFramePr>
            <a:graphicFrameLocks/>
          </p:cNvGraphicFramePr>
          <p:nvPr>
            <p:extLst>
              <p:ext uri="{D42A27DB-BD31-4B8C-83A1-F6EECF244321}">
                <p14:modId xmlns:p14="http://schemas.microsoft.com/office/powerpoint/2010/main" val="1554480713"/>
              </p:ext>
            </p:extLst>
          </p:nvPr>
        </p:nvGraphicFramePr>
        <p:xfrm>
          <a:off x="9097096" y="2005813"/>
          <a:ext cx="6005758" cy="2377440"/>
        </p:xfrm>
        <a:graphic>
          <a:graphicData uri="http://schemas.openxmlformats.org/drawingml/2006/table">
            <a:tbl>
              <a:tblPr firstRow="1" bandRow="1">
                <a:tableStyleId>{5C22544A-7EE6-4342-B048-85BDC9FD1C3A}</a:tableStyleId>
              </a:tblPr>
              <a:tblGrid>
                <a:gridCol w="1990704">
                  <a:extLst>
                    <a:ext uri="{9D8B030D-6E8A-4147-A177-3AD203B41FA5}">
                      <a16:colId xmlns:a16="http://schemas.microsoft.com/office/drawing/2014/main" val="20000"/>
                    </a:ext>
                  </a:extLst>
                </a:gridCol>
                <a:gridCol w="4015054">
                  <a:extLst>
                    <a:ext uri="{9D8B030D-6E8A-4147-A177-3AD203B41FA5}">
                      <a16:colId xmlns:a16="http://schemas.microsoft.com/office/drawing/2014/main" val="20002"/>
                    </a:ext>
                  </a:extLst>
                </a:gridCol>
              </a:tblGrid>
              <a:tr h="0">
                <a:tc>
                  <a:txBody>
                    <a:bodyPr/>
                    <a:lstStyle/>
                    <a:p>
                      <a:pPr marL="0" lvl="0" indent="0">
                        <a:buNone/>
                      </a:pPr>
                      <a:r>
                        <a:rPr sz="2000" dirty="0"/>
                        <a:t>Rate</a:t>
                      </a:r>
                    </a:p>
                  </a:txBody>
                  <a:tcPr/>
                </a:tc>
                <a:tc>
                  <a:txBody>
                    <a:bodyPr/>
                    <a:lstStyle/>
                    <a:p>
                      <a:pPr marL="0" lvl="0" indent="0">
                        <a:buNone/>
                      </a:pPr>
                      <a:r>
                        <a:rPr sz="2000" dirty="0"/>
                        <a:t>Basis</a:t>
                      </a:r>
                    </a:p>
                  </a:txBody>
                  <a:tcPr/>
                </a:tc>
                <a:extLst>
                  <a:ext uri="{0D108BD9-81ED-4DB2-BD59-A6C34878D82A}">
                    <a16:rowId xmlns:a16="http://schemas.microsoft.com/office/drawing/2014/main" val="10000"/>
                  </a:ext>
                </a:extLst>
              </a:tr>
              <a:tr h="0">
                <a:tc>
                  <a:txBody>
                    <a:bodyPr/>
                    <a:lstStyle/>
                    <a:p>
                      <a:pPr marL="0" lvl="0" indent="0">
                        <a:buNone/>
                      </a:pPr>
                      <a:r>
                        <a:rPr sz="2000" dirty="0" err="1"/>
                        <a:t>nn</a:t>
                      </a:r>
                      <a:r>
                        <a:rPr sz="2000" dirty="0"/>
                        <a:t>(x)</a:t>
                      </a:r>
                    </a:p>
                  </a:txBody>
                  <a:tcPr/>
                </a:tc>
                <a:tc>
                  <a:txBody>
                    <a:bodyPr/>
                    <a:lstStyle/>
                    <a:p>
                      <a:pPr marL="0" lvl="0" indent="0">
                        <a:buNone/>
                      </a:pPr>
                      <a:r>
                        <a:rPr sz="2000" dirty="0"/>
                        <a:t>CMI IP11 claim inception, DP4</a:t>
                      </a:r>
                    </a:p>
                  </a:txBody>
                  <a:tcPr/>
                </a:tc>
                <a:extLst>
                  <a:ext uri="{0D108BD9-81ED-4DB2-BD59-A6C34878D82A}">
                    <a16:rowId xmlns:a16="http://schemas.microsoft.com/office/drawing/2014/main" val="10001"/>
                  </a:ext>
                </a:extLst>
              </a:tr>
              <a:tr h="0">
                <a:tc>
                  <a:txBody>
                    <a:bodyPr/>
                    <a:lstStyle/>
                    <a:p>
                      <a:pPr marL="0" lvl="0" indent="0">
                        <a:buNone/>
                      </a:pPr>
                      <a:r>
                        <a:rPr sz="2000" dirty="0"/>
                        <a:t>w(</a:t>
                      </a:r>
                      <a:r>
                        <a:rPr sz="2000" dirty="0" err="1"/>
                        <a:t>x,z</a:t>
                      </a:r>
                      <a:r>
                        <a:rPr sz="2000" dirty="0"/>
                        <a:t>)</a:t>
                      </a:r>
                    </a:p>
                  </a:txBody>
                  <a:tcPr/>
                </a:tc>
                <a:tc>
                  <a:txBody>
                    <a:bodyPr/>
                    <a:lstStyle/>
                    <a:p>
                      <a:pPr marL="0" lvl="0" indent="0">
                        <a:buNone/>
                      </a:pPr>
                      <a:r>
                        <a:rPr sz="2000" dirty="0"/>
                        <a:t>CMI IP11 recovery rates</a:t>
                      </a:r>
                    </a:p>
                  </a:txBody>
                  <a:tcPr/>
                </a:tc>
                <a:extLst>
                  <a:ext uri="{0D108BD9-81ED-4DB2-BD59-A6C34878D82A}">
                    <a16:rowId xmlns:a16="http://schemas.microsoft.com/office/drawing/2014/main" val="10002"/>
                  </a:ext>
                </a:extLst>
              </a:tr>
              <a:tr h="0">
                <a:tc>
                  <a:txBody>
                    <a:bodyPr/>
                    <a:lstStyle/>
                    <a:p>
                      <a:pPr marL="0" lvl="0" indent="0">
                        <a:buNone/>
                      </a:pPr>
                      <a:r>
                        <a:rPr sz="2000"/>
                        <a:t>dw(x), dr(x)</a:t>
                      </a:r>
                    </a:p>
                  </a:txBody>
                  <a:tcPr/>
                </a:tc>
                <a:tc>
                  <a:txBody>
                    <a:bodyPr/>
                    <a:lstStyle/>
                    <a:p>
                      <a:pPr marL="0" lvl="0" indent="0">
                        <a:buNone/>
                      </a:pPr>
                      <a:r>
                        <a:rPr sz="2000" dirty="0"/>
                        <a:t>ONS UK 2022–24</a:t>
                      </a:r>
                    </a:p>
                  </a:txBody>
                  <a:tcPr/>
                </a:tc>
                <a:extLst>
                  <a:ext uri="{0D108BD9-81ED-4DB2-BD59-A6C34878D82A}">
                    <a16:rowId xmlns:a16="http://schemas.microsoft.com/office/drawing/2014/main" val="10003"/>
                  </a:ext>
                </a:extLst>
              </a:tr>
              <a:tr h="0">
                <a:tc>
                  <a:txBody>
                    <a:bodyPr/>
                    <a:lstStyle/>
                    <a:p>
                      <a:pPr marL="0" lvl="0" indent="0">
                        <a:buNone/>
                      </a:pPr>
                      <a:r>
                        <a:rPr sz="2000"/>
                        <a:t>dnn(x,z)</a:t>
                      </a:r>
                    </a:p>
                  </a:txBody>
                  <a:tcPr/>
                </a:tc>
                <a:tc>
                  <a:txBody>
                    <a:bodyPr/>
                    <a:lstStyle/>
                    <a:p>
                      <a:pPr marL="0" lvl="0" indent="0">
                        <a:buNone/>
                      </a:pPr>
                      <a:r>
                        <a:rPr sz="2000" dirty="0"/>
                        <a:t>CMI IP11 claimant mortality</a:t>
                      </a:r>
                    </a:p>
                  </a:txBody>
                  <a:tcPr/>
                </a:tc>
                <a:extLst>
                  <a:ext uri="{0D108BD9-81ED-4DB2-BD59-A6C34878D82A}">
                    <a16:rowId xmlns:a16="http://schemas.microsoft.com/office/drawing/2014/main" val="10004"/>
                  </a:ext>
                </a:extLst>
              </a:tr>
              <a:tr h="0">
                <a:tc>
                  <a:txBody>
                    <a:bodyPr/>
                    <a:lstStyle/>
                    <a:p>
                      <a:pPr marL="0" lvl="0" indent="0">
                        <a:buNone/>
                      </a:pPr>
                      <a:r>
                        <a:rPr sz="2000"/>
                        <a:t>rw(x), rnn(x)</a:t>
                      </a:r>
                    </a:p>
                  </a:txBody>
                  <a:tcPr/>
                </a:tc>
                <a:tc>
                  <a:txBody>
                    <a:bodyPr/>
                    <a:lstStyle/>
                    <a:p>
                      <a:pPr marL="0" lvl="0" indent="0">
                        <a:buNone/>
                      </a:pPr>
                      <a:r>
                        <a:rPr sz="2000" dirty="0"/>
                        <a:t>1 at age 65; 0 otherwise</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7686139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4DFE8-5C9C-3059-F900-01B969313CA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0C9CB6-38F1-369C-3AD2-5458816B12B9}"/>
              </a:ext>
            </a:extLst>
          </p:cNvPr>
          <p:cNvSpPr>
            <a:spLocks noGrp="1"/>
          </p:cNvSpPr>
          <p:nvPr>
            <p:ph type="title"/>
          </p:nvPr>
        </p:nvSpPr>
        <p:spPr/>
        <p:txBody>
          <a:bodyPr/>
          <a:lstStyle/>
          <a:p>
            <a:r>
              <a:rPr lang="en-GB" dirty="0"/>
              <a:t>Healthy Working Life Table</a:t>
            </a:r>
          </a:p>
        </p:txBody>
      </p:sp>
      <p:sp>
        <p:nvSpPr>
          <p:cNvPr id="4" name="Content Placeholder 3">
            <a:extLst>
              <a:ext uri="{FF2B5EF4-FFF2-40B4-BE49-F238E27FC236}">
                <a16:creationId xmlns:a16="http://schemas.microsoft.com/office/drawing/2014/main" id="{74DAAE26-1AC4-32CF-8C5B-3874919448B2}"/>
              </a:ext>
            </a:extLst>
          </p:cNvPr>
          <p:cNvSpPr>
            <a:spLocks noGrp="1"/>
          </p:cNvSpPr>
          <p:nvPr>
            <p:ph sz="quarter" idx="25"/>
          </p:nvPr>
        </p:nvSpPr>
        <p:spPr>
          <a:xfrm>
            <a:off x="10711542" y="2269322"/>
            <a:ext cx="4414161" cy="5459309"/>
          </a:xfrm>
        </p:spPr>
        <p:txBody>
          <a:bodyPr/>
          <a:lstStyle/>
          <a:p>
            <a:r>
              <a:rPr lang="en-US" b="1" dirty="0"/>
              <a:t>Estimations</a:t>
            </a:r>
            <a:endParaRPr lang="en-US" dirty="0"/>
          </a:p>
          <a:p>
            <a:pPr marL="457200" indent="-457200">
              <a:buFont typeface="Arial" panose="020B0604020202020204" pitchFamily="34" charset="0"/>
              <a:buChar char="•"/>
            </a:pPr>
            <a:r>
              <a:rPr lang="en-US" dirty="0"/>
              <a:t>HWLE = 13.5 years</a:t>
            </a:r>
          </a:p>
          <a:p>
            <a:pPr marL="457200" indent="-457200">
              <a:buFont typeface="Arial" panose="020B0604020202020204" pitchFamily="34" charset="0"/>
              <a:buChar char="•"/>
            </a:pPr>
            <a:r>
              <a:rPr lang="en-US" dirty="0"/>
              <a:t>NNLE = 0.9 years</a:t>
            </a:r>
          </a:p>
          <a:p>
            <a:pPr marL="457200" indent="-457200">
              <a:buFont typeface="Arial" panose="020B0604020202020204" pitchFamily="34" charset="0"/>
              <a:buChar char="•"/>
            </a:pPr>
            <a:endParaRPr lang="en-GB" dirty="0"/>
          </a:p>
        </p:txBody>
      </p:sp>
      <p:sp>
        <p:nvSpPr>
          <p:cNvPr id="5" name="Footer Placeholder 4">
            <a:extLst>
              <a:ext uri="{FF2B5EF4-FFF2-40B4-BE49-F238E27FC236}">
                <a16:creationId xmlns:a16="http://schemas.microsoft.com/office/drawing/2014/main" id="{F787C572-EFB3-B5B3-7498-92DE183D9493}"/>
              </a:ext>
            </a:extLst>
          </p:cNvPr>
          <p:cNvSpPr>
            <a:spLocks noGrp="1"/>
          </p:cNvSpPr>
          <p:nvPr>
            <p:ph type="ftr" sz="quarter" idx="3"/>
          </p:nvPr>
        </p:nvSpPr>
        <p:spPr/>
        <p:txBody>
          <a:bodyPr/>
          <a:lstStyle/>
          <a:p>
            <a:r>
              <a:rPr lang="en-GB" dirty="0" err="1"/>
              <a:t>IFoA</a:t>
            </a:r>
            <a:r>
              <a:rPr lang="en-GB" dirty="0"/>
              <a:t> Life Conference</a:t>
            </a:r>
          </a:p>
        </p:txBody>
      </p:sp>
      <p:sp>
        <p:nvSpPr>
          <p:cNvPr id="6" name="Slide Number Placeholder 5">
            <a:extLst>
              <a:ext uri="{FF2B5EF4-FFF2-40B4-BE49-F238E27FC236}">
                <a16:creationId xmlns:a16="http://schemas.microsoft.com/office/drawing/2014/main" id="{A89513CC-1EC6-5C98-7D86-6494578B1595}"/>
              </a:ext>
            </a:extLst>
          </p:cNvPr>
          <p:cNvSpPr>
            <a:spLocks noGrp="1"/>
          </p:cNvSpPr>
          <p:nvPr>
            <p:ph type="sldNum" sz="quarter" idx="4"/>
          </p:nvPr>
        </p:nvSpPr>
        <p:spPr/>
        <p:txBody>
          <a:bodyPr/>
          <a:lstStyle/>
          <a:p>
            <a:fld id="{40FC62D0-A2F2-4BF8-8DAC-E86C11000EC3}" type="slidenum">
              <a:rPr lang="en-GB" smtClean="0"/>
              <a:pPr/>
              <a:t>22</a:t>
            </a:fld>
            <a:endParaRPr lang="en-GB" dirty="0"/>
          </a:p>
        </p:txBody>
      </p:sp>
      <p:sp>
        <p:nvSpPr>
          <p:cNvPr id="7" name="Text Placeholder 6">
            <a:extLst>
              <a:ext uri="{FF2B5EF4-FFF2-40B4-BE49-F238E27FC236}">
                <a16:creationId xmlns:a16="http://schemas.microsoft.com/office/drawing/2014/main" id="{23C16EFE-A320-C76C-E417-C46E826318F3}"/>
              </a:ext>
            </a:extLst>
          </p:cNvPr>
          <p:cNvSpPr>
            <a:spLocks noGrp="1"/>
          </p:cNvSpPr>
          <p:nvPr>
            <p:ph type="body" sz="quarter" idx="24"/>
          </p:nvPr>
        </p:nvSpPr>
        <p:spPr/>
        <p:txBody>
          <a:bodyPr/>
          <a:lstStyle/>
          <a:p>
            <a:r>
              <a:rPr lang="en-GB" dirty="0"/>
              <a:t>Example for females occupation class 1 who are healthy and working at age 50</a:t>
            </a:r>
          </a:p>
        </p:txBody>
      </p:sp>
      <p:sp>
        <p:nvSpPr>
          <p:cNvPr id="9" name="TextBox 8">
            <a:extLst>
              <a:ext uri="{FF2B5EF4-FFF2-40B4-BE49-F238E27FC236}">
                <a16:creationId xmlns:a16="http://schemas.microsoft.com/office/drawing/2014/main" id="{EC8A00E5-DD72-FC2C-EB39-1543E3DB9D48}"/>
              </a:ext>
            </a:extLst>
          </p:cNvPr>
          <p:cNvSpPr txBox="1"/>
          <p:nvPr/>
        </p:nvSpPr>
        <p:spPr>
          <a:xfrm>
            <a:off x="12221737" y="256478"/>
            <a:ext cx="2096429" cy="369332"/>
          </a:xfrm>
          <a:prstGeom prst="rect">
            <a:avLst/>
          </a:prstGeom>
          <a:solidFill>
            <a:srgbClr val="EF25E1"/>
          </a:solidFill>
        </p:spPr>
        <p:txBody>
          <a:bodyPr wrap="square" rtlCol="0">
            <a:spAutoFit/>
          </a:bodyPr>
          <a:lstStyle/>
          <a:p>
            <a:r>
              <a:rPr lang="en-GB" dirty="0"/>
              <a:t>David 3 mins</a:t>
            </a:r>
          </a:p>
        </p:txBody>
      </p:sp>
      <p:graphicFrame>
        <p:nvGraphicFramePr>
          <p:cNvPr id="13" name="Content Placeholder 12">
            <a:extLst>
              <a:ext uri="{FF2B5EF4-FFF2-40B4-BE49-F238E27FC236}">
                <a16:creationId xmlns:a16="http://schemas.microsoft.com/office/drawing/2014/main" id="{39261A76-250E-7B49-0841-445F0990A943}"/>
              </a:ext>
            </a:extLst>
          </p:cNvPr>
          <p:cNvGraphicFramePr>
            <a:graphicFrameLocks noGrp="1"/>
          </p:cNvGraphicFramePr>
          <p:nvPr>
            <p:ph sz="quarter" idx="13"/>
            <p:extLst>
              <p:ext uri="{D42A27DB-BD31-4B8C-83A1-F6EECF244321}">
                <p14:modId xmlns:p14="http://schemas.microsoft.com/office/powerpoint/2010/main" val="3487592609"/>
              </p:ext>
            </p:extLst>
          </p:nvPr>
        </p:nvGraphicFramePr>
        <p:xfrm>
          <a:off x="1104900" y="2268538"/>
          <a:ext cx="9018816" cy="5760720"/>
        </p:xfrm>
        <a:graphic>
          <a:graphicData uri="http://schemas.openxmlformats.org/drawingml/2006/table">
            <a:tbl>
              <a:tblPr firstRow="1" bandRow="1">
                <a:tableStyleId>{5C22544A-7EE6-4342-B048-85BDC9FD1C3A}</a:tableStyleId>
              </a:tblPr>
              <a:tblGrid>
                <a:gridCol w="1134717">
                  <a:extLst>
                    <a:ext uri="{9D8B030D-6E8A-4147-A177-3AD203B41FA5}">
                      <a16:colId xmlns:a16="http://schemas.microsoft.com/office/drawing/2014/main" val="2349935845"/>
                    </a:ext>
                  </a:extLst>
                </a:gridCol>
                <a:gridCol w="1060174">
                  <a:extLst>
                    <a:ext uri="{9D8B030D-6E8A-4147-A177-3AD203B41FA5}">
                      <a16:colId xmlns:a16="http://schemas.microsoft.com/office/drawing/2014/main" val="552416214"/>
                    </a:ext>
                  </a:extLst>
                </a:gridCol>
                <a:gridCol w="1590261">
                  <a:extLst>
                    <a:ext uri="{9D8B030D-6E8A-4147-A177-3AD203B41FA5}">
                      <a16:colId xmlns:a16="http://schemas.microsoft.com/office/drawing/2014/main" val="3694621724"/>
                    </a:ext>
                  </a:extLst>
                </a:gridCol>
                <a:gridCol w="1563757">
                  <a:extLst>
                    <a:ext uri="{9D8B030D-6E8A-4147-A177-3AD203B41FA5}">
                      <a16:colId xmlns:a16="http://schemas.microsoft.com/office/drawing/2014/main" val="1828384546"/>
                    </a:ext>
                  </a:extLst>
                </a:gridCol>
                <a:gridCol w="2166771">
                  <a:extLst>
                    <a:ext uri="{9D8B030D-6E8A-4147-A177-3AD203B41FA5}">
                      <a16:colId xmlns:a16="http://schemas.microsoft.com/office/drawing/2014/main" val="506728094"/>
                    </a:ext>
                  </a:extLst>
                </a:gridCol>
                <a:gridCol w="1503136">
                  <a:extLst>
                    <a:ext uri="{9D8B030D-6E8A-4147-A177-3AD203B41FA5}">
                      <a16:colId xmlns:a16="http://schemas.microsoft.com/office/drawing/2014/main" val="297884654"/>
                    </a:ext>
                  </a:extLst>
                </a:gridCol>
              </a:tblGrid>
              <a:tr h="370840">
                <a:tc>
                  <a:txBody>
                    <a:bodyPr/>
                    <a:lstStyle/>
                    <a:p>
                      <a:r>
                        <a:rPr lang="en-GB" sz="2000" dirty="0"/>
                        <a:t>time in years</a:t>
                      </a:r>
                    </a:p>
                  </a:txBody>
                  <a:tcPr/>
                </a:tc>
                <a:tc>
                  <a:txBody>
                    <a:bodyPr/>
                    <a:lstStyle/>
                    <a:p>
                      <a:r>
                        <a:rPr lang="en-GB" sz="2000" dirty="0"/>
                        <a:t>exact age</a:t>
                      </a:r>
                    </a:p>
                  </a:txBody>
                  <a:tcPr/>
                </a:tc>
                <a:tc>
                  <a:txBody>
                    <a:bodyPr/>
                    <a:lstStyle/>
                    <a:p>
                      <a:pPr algn="r"/>
                      <a:r>
                        <a:rPr lang="en-GB" sz="2000" dirty="0"/>
                        <a:t>Healthy Working lives</a:t>
                      </a:r>
                    </a:p>
                  </a:txBody>
                  <a:tcPr/>
                </a:tc>
                <a:tc>
                  <a:txBody>
                    <a:bodyPr/>
                    <a:lstStyle/>
                    <a:p>
                      <a:pPr algn="r"/>
                      <a:r>
                        <a:rPr lang="en-GB" sz="2000" dirty="0"/>
                        <a:t>Retired lives</a:t>
                      </a:r>
                    </a:p>
                  </a:txBody>
                  <a:tcPr/>
                </a:tc>
                <a:tc>
                  <a:txBody>
                    <a:bodyPr/>
                    <a:lstStyle/>
                    <a:p>
                      <a:pPr algn="r"/>
                      <a:r>
                        <a:rPr lang="en-GB" sz="2000" dirty="0"/>
                        <a:t>Not-Healthy Not-Working lives</a:t>
                      </a:r>
                    </a:p>
                  </a:txBody>
                  <a:tcPr/>
                </a:tc>
                <a:tc>
                  <a:txBody>
                    <a:bodyPr/>
                    <a:lstStyle/>
                    <a:p>
                      <a:pPr algn="r"/>
                      <a:r>
                        <a:rPr lang="en-GB" sz="2000" dirty="0"/>
                        <a:t>D deaths</a:t>
                      </a:r>
                    </a:p>
                  </a:txBody>
                  <a:tcPr/>
                </a:tc>
                <a:extLst>
                  <a:ext uri="{0D108BD9-81ED-4DB2-BD59-A6C34878D82A}">
                    <a16:rowId xmlns:a16="http://schemas.microsoft.com/office/drawing/2014/main" val="1453465120"/>
                  </a:ext>
                </a:extLst>
              </a:tr>
              <a:tr h="370840">
                <a:tc>
                  <a:txBody>
                    <a:bodyPr/>
                    <a:lstStyle/>
                    <a:p>
                      <a:r>
                        <a:rPr lang="en-GB" sz="2000" dirty="0"/>
                        <a:t>0</a:t>
                      </a:r>
                    </a:p>
                  </a:txBody>
                  <a:tcPr/>
                </a:tc>
                <a:tc>
                  <a:txBody>
                    <a:bodyPr/>
                    <a:lstStyle/>
                    <a:p>
                      <a:r>
                        <a:rPr lang="en-GB" sz="2000" dirty="0"/>
                        <a:t>50</a:t>
                      </a:r>
                    </a:p>
                  </a:txBody>
                  <a:tcPr/>
                </a:tc>
                <a:tc>
                  <a:txBody>
                    <a:bodyPr/>
                    <a:lstStyle/>
                    <a:p>
                      <a:pPr marL="0" algn="r" defTabSz="1219170" rtl="0" eaLnBrk="1" fontAlgn="b" latinLnBrk="0" hangingPunct="1">
                        <a:buNone/>
                      </a:pPr>
                      <a:r>
                        <a:rPr lang="de-CH" sz="2000" kern="1200" dirty="0">
                          <a:solidFill>
                            <a:schemeClr val="dk1"/>
                          </a:solidFill>
                          <a:latin typeface="+mn-lt"/>
                          <a:ea typeface="+mn-ea"/>
                          <a:cs typeface="+mn-cs"/>
                        </a:rPr>
                        <a:t>100’000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0</a:t>
                      </a:r>
                    </a:p>
                  </a:txBody>
                  <a:tcPr anchor="b"/>
                </a:tc>
                <a:extLst>
                  <a:ext uri="{0D108BD9-81ED-4DB2-BD59-A6C34878D82A}">
                    <a16:rowId xmlns:a16="http://schemas.microsoft.com/office/drawing/2014/main" val="1266550442"/>
                  </a:ext>
                </a:extLst>
              </a:tr>
              <a:tr h="370840">
                <a:tc>
                  <a:txBody>
                    <a:bodyPr/>
                    <a:lstStyle/>
                    <a:p>
                      <a:r>
                        <a:rPr lang="en-GB" sz="2000" dirty="0"/>
                        <a:t>1</a:t>
                      </a:r>
                    </a:p>
                  </a:txBody>
                  <a:tcPr/>
                </a:tc>
                <a:tc>
                  <a:txBody>
                    <a:bodyPr/>
                    <a:lstStyle/>
                    <a:p>
                      <a:r>
                        <a:rPr lang="en-GB" sz="2000" dirty="0"/>
                        <a:t>51</a:t>
                      </a:r>
                    </a:p>
                  </a:txBody>
                  <a:tcPr/>
                </a:tc>
                <a:tc>
                  <a:txBody>
                    <a:bodyPr/>
                    <a:lstStyle/>
                    <a:p>
                      <a:pPr marL="0" algn="r" defTabSz="1219170" rtl="0" eaLnBrk="1" fontAlgn="b" latinLnBrk="0" hangingPunct="1">
                        <a:buNone/>
                      </a:pPr>
                      <a:r>
                        <a:rPr lang="de-CH" sz="2000" kern="1200" dirty="0">
                          <a:solidFill>
                            <a:schemeClr val="dk1"/>
                          </a:solidFill>
                          <a:latin typeface="+mn-lt"/>
                          <a:ea typeface="+mn-ea"/>
                          <a:cs typeface="+mn-cs"/>
                        </a:rPr>
                        <a:t>98’265</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1’501</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235</a:t>
                      </a:r>
                    </a:p>
                  </a:txBody>
                  <a:tcPr anchor="b"/>
                </a:tc>
                <a:extLst>
                  <a:ext uri="{0D108BD9-81ED-4DB2-BD59-A6C34878D82A}">
                    <a16:rowId xmlns:a16="http://schemas.microsoft.com/office/drawing/2014/main" val="1534296135"/>
                  </a:ext>
                </a:extLst>
              </a:tr>
              <a:tr h="370840">
                <a:tc>
                  <a:txBody>
                    <a:bodyPr/>
                    <a:lstStyle/>
                    <a:p>
                      <a:r>
                        <a:rPr lang="en-GB" sz="2000" dirty="0"/>
                        <a:t>2</a:t>
                      </a:r>
                    </a:p>
                  </a:txBody>
                  <a:tcPr/>
                </a:tc>
                <a:tc>
                  <a:txBody>
                    <a:bodyPr/>
                    <a:lstStyle/>
                    <a:p>
                      <a:r>
                        <a:rPr lang="en-GB" sz="2000" dirty="0"/>
                        <a:t>52</a:t>
                      </a:r>
                    </a:p>
                  </a:txBody>
                  <a:tcPr/>
                </a:tc>
                <a:tc>
                  <a:txBody>
                    <a:bodyPr/>
                    <a:lstStyle/>
                    <a:p>
                      <a:pPr marL="0" algn="r" defTabSz="1219170" rtl="0" eaLnBrk="1" fontAlgn="b" latinLnBrk="0" hangingPunct="1">
                        <a:buNone/>
                      </a:pPr>
                      <a:r>
                        <a:rPr lang="de-CH" sz="2000" kern="1200">
                          <a:solidFill>
                            <a:schemeClr val="dk1"/>
                          </a:solidFill>
                          <a:latin typeface="+mn-lt"/>
                          <a:ea typeface="+mn-ea"/>
                          <a:cs typeface="+mn-cs"/>
                        </a:rPr>
                        <a:t>97’368</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2’109</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524</a:t>
                      </a:r>
                    </a:p>
                  </a:txBody>
                  <a:tcPr anchor="b"/>
                </a:tc>
                <a:extLst>
                  <a:ext uri="{0D108BD9-81ED-4DB2-BD59-A6C34878D82A}">
                    <a16:rowId xmlns:a16="http://schemas.microsoft.com/office/drawing/2014/main" val="4145163076"/>
                  </a:ext>
                </a:extLst>
              </a:tr>
              <a:tr h="370840">
                <a:tc>
                  <a:txBody>
                    <a:bodyPr/>
                    <a:lstStyle/>
                    <a:p>
                      <a:r>
                        <a:rPr lang="en-GB" sz="2000" dirty="0"/>
                        <a:t>3</a:t>
                      </a:r>
                    </a:p>
                  </a:txBody>
                  <a:tcPr/>
                </a:tc>
                <a:tc>
                  <a:txBody>
                    <a:bodyPr/>
                    <a:lstStyle/>
                    <a:p>
                      <a:r>
                        <a:rPr lang="en-GB" sz="2000" dirty="0"/>
                        <a:t>53</a:t>
                      </a:r>
                    </a:p>
                  </a:txBody>
                  <a:tcPr/>
                </a:tc>
                <a:tc>
                  <a:txBody>
                    <a:bodyPr/>
                    <a:lstStyle/>
                    <a:p>
                      <a:pPr marL="0" algn="r" defTabSz="1219170" rtl="0" eaLnBrk="1" fontAlgn="b" latinLnBrk="0" hangingPunct="1">
                        <a:buNone/>
                      </a:pPr>
                      <a:r>
                        <a:rPr lang="de-CH" sz="2000" kern="1200">
                          <a:solidFill>
                            <a:schemeClr val="dk1"/>
                          </a:solidFill>
                          <a:latin typeface="+mn-lt"/>
                          <a:ea typeface="+mn-ea"/>
                          <a:cs typeface="+mn-cs"/>
                        </a:rPr>
                        <a:t>96’478</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2’676</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846</a:t>
                      </a:r>
                    </a:p>
                  </a:txBody>
                  <a:tcPr anchor="b"/>
                </a:tc>
                <a:extLst>
                  <a:ext uri="{0D108BD9-81ED-4DB2-BD59-A6C34878D82A}">
                    <a16:rowId xmlns:a16="http://schemas.microsoft.com/office/drawing/2014/main" val="3570091615"/>
                  </a:ext>
                </a:extLst>
              </a:tr>
              <a:tr h="370840">
                <a:tc>
                  <a:txBody>
                    <a:bodyPr/>
                    <a:lstStyle/>
                    <a:p>
                      <a:r>
                        <a:rPr lang="en-GB" sz="2000" dirty="0"/>
                        <a:t>4</a:t>
                      </a:r>
                    </a:p>
                  </a:txBody>
                  <a:tcPr/>
                </a:tc>
                <a:tc>
                  <a:txBody>
                    <a:bodyPr/>
                    <a:lstStyle/>
                    <a:p>
                      <a:r>
                        <a:rPr lang="en-GB" sz="2000" dirty="0"/>
                        <a:t>54</a:t>
                      </a:r>
                    </a:p>
                  </a:txBody>
                  <a:tcPr/>
                </a:tc>
                <a:tc>
                  <a:txBody>
                    <a:bodyPr/>
                    <a:lstStyle/>
                    <a:p>
                      <a:pPr marL="0" algn="r" defTabSz="1219170" rtl="0" eaLnBrk="1" fontAlgn="b" latinLnBrk="0" hangingPunct="1">
                        <a:buNone/>
                      </a:pPr>
                      <a:r>
                        <a:rPr lang="de-CH" sz="2000" kern="1200">
                          <a:solidFill>
                            <a:schemeClr val="dk1"/>
                          </a:solidFill>
                          <a:latin typeface="+mn-lt"/>
                          <a:ea typeface="+mn-ea"/>
                          <a:cs typeface="+mn-cs"/>
                        </a:rPr>
                        <a:t>95’524</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3’272</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1’204</a:t>
                      </a:r>
                    </a:p>
                  </a:txBody>
                  <a:tcPr anchor="b"/>
                </a:tc>
                <a:extLst>
                  <a:ext uri="{0D108BD9-81ED-4DB2-BD59-A6C34878D82A}">
                    <a16:rowId xmlns:a16="http://schemas.microsoft.com/office/drawing/2014/main" val="1992863753"/>
                  </a:ext>
                </a:extLst>
              </a:tr>
              <a:tr h="370840">
                <a:tc>
                  <a:txBody>
                    <a:bodyPr/>
                    <a:lstStyle/>
                    <a:p>
                      <a:r>
                        <a:rPr lang="en-GB" sz="2000" dirty="0"/>
                        <a:t>5</a:t>
                      </a:r>
                    </a:p>
                  </a:txBody>
                  <a:tcPr/>
                </a:tc>
                <a:tc>
                  <a:txBody>
                    <a:bodyPr/>
                    <a:lstStyle/>
                    <a:p>
                      <a:r>
                        <a:rPr lang="en-GB" sz="2000" dirty="0"/>
                        <a:t>55</a:t>
                      </a:r>
                    </a:p>
                  </a:txBody>
                  <a:tcPr/>
                </a:tc>
                <a:tc>
                  <a:txBody>
                    <a:bodyPr/>
                    <a:lstStyle/>
                    <a:p>
                      <a:pPr marL="0" algn="r" defTabSz="1219170" rtl="0" eaLnBrk="1" fontAlgn="b" latinLnBrk="0" hangingPunct="1">
                        <a:buNone/>
                      </a:pPr>
                      <a:r>
                        <a:rPr lang="de-CH" sz="2000" kern="1200">
                          <a:solidFill>
                            <a:schemeClr val="dk1"/>
                          </a:solidFill>
                          <a:latin typeface="+mn-lt"/>
                          <a:ea typeface="+mn-ea"/>
                          <a:cs typeface="+mn-cs"/>
                        </a:rPr>
                        <a:t>94’480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3’916</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1’604</a:t>
                      </a:r>
                    </a:p>
                  </a:txBody>
                  <a:tcPr anchor="b"/>
                </a:tc>
                <a:extLst>
                  <a:ext uri="{0D108BD9-81ED-4DB2-BD59-A6C34878D82A}">
                    <a16:rowId xmlns:a16="http://schemas.microsoft.com/office/drawing/2014/main" val="3435286380"/>
                  </a:ext>
                </a:extLst>
              </a:tr>
              <a:tr h="370840">
                <a:tc>
                  <a:txBody>
                    <a:bodyPr/>
                    <a:lstStyle/>
                    <a:p>
                      <a:r>
                        <a:rPr lang="en-GB" sz="2000" dirty="0"/>
                        <a:t>6</a:t>
                      </a:r>
                    </a:p>
                  </a:txBody>
                  <a:tcPr/>
                </a:tc>
                <a:tc>
                  <a:txBody>
                    <a:bodyPr/>
                    <a:lstStyle/>
                    <a:p>
                      <a:r>
                        <a:rPr lang="en-GB" sz="2000" dirty="0"/>
                        <a:t>56</a:t>
                      </a:r>
                    </a:p>
                  </a:txBody>
                  <a:tcPr/>
                </a:tc>
                <a:tc>
                  <a:txBody>
                    <a:bodyPr/>
                    <a:lstStyle/>
                    <a:p>
                      <a:pPr marL="0" algn="r" defTabSz="1219170" rtl="0" eaLnBrk="1" fontAlgn="b" latinLnBrk="0" hangingPunct="1">
                        <a:buNone/>
                      </a:pPr>
                      <a:r>
                        <a:rPr lang="de-CH" sz="2000" kern="1200" dirty="0">
                          <a:solidFill>
                            <a:schemeClr val="dk1"/>
                          </a:solidFill>
                          <a:latin typeface="+mn-lt"/>
                          <a:ea typeface="+mn-ea"/>
                          <a:cs typeface="+mn-cs"/>
                        </a:rPr>
                        <a:t>93’341</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4’615</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2’044</a:t>
                      </a:r>
                    </a:p>
                  </a:txBody>
                  <a:tcPr anchor="b"/>
                </a:tc>
                <a:extLst>
                  <a:ext uri="{0D108BD9-81ED-4DB2-BD59-A6C34878D82A}">
                    <a16:rowId xmlns:a16="http://schemas.microsoft.com/office/drawing/2014/main" val="1352294391"/>
                  </a:ext>
                </a:extLst>
              </a:tr>
              <a:tr h="370840">
                <a:tc>
                  <a:txBody>
                    <a:bodyPr/>
                    <a:lstStyle/>
                    <a:p>
                      <a:r>
                        <a:rPr lang="en-GB" sz="2000" dirty="0"/>
                        <a:t>…</a:t>
                      </a:r>
                    </a:p>
                  </a:txBody>
                  <a:tcPr/>
                </a:tc>
                <a:tc>
                  <a:txBody>
                    <a:bodyPr/>
                    <a:lstStyle/>
                    <a:p>
                      <a:r>
                        <a:rPr lang="en-GB" sz="2000" dirty="0"/>
                        <a:t>…</a:t>
                      </a:r>
                    </a:p>
                  </a:txBody>
                  <a:tcPr/>
                </a:tc>
                <a:tc>
                  <a: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r>
                        <a:rPr lang="en-GB" sz="2000" dirty="0"/>
                        <a:t>…</a:t>
                      </a:r>
                    </a:p>
                  </a:txBody>
                  <a:tcPr/>
                </a:tc>
                <a:tc>
                  <a: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r>
                        <a:rPr lang="en-GB" sz="2000" dirty="0"/>
                        <a:t>…</a:t>
                      </a:r>
                    </a:p>
                  </a:txBody>
                  <a:tcPr/>
                </a:tc>
                <a:tc>
                  <a: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r>
                        <a:rPr lang="en-GB" sz="2000" dirty="0"/>
                        <a:t>…</a:t>
                      </a:r>
                    </a:p>
                  </a:txBody>
                  <a:tcPr/>
                </a:tc>
                <a:tc>
                  <a: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r>
                        <a:rPr lang="en-GB" sz="2000" dirty="0"/>
                        <a:t>…</a:t>
                      </a:r>
                    </a:p>
                  </a:txBody>
                  <a:tcPr/>
                </a:tc>
                <a:extLst>
                  <a:ext uri="{0D108BD9-81ED-4DB2-BD59-A6C34878D82A}">
                    <a16:rowId xmlns:a16="http://schemas.microsoft.com/office/drawing/2014/main" val="1878086907"/>
                  </a:ext>
                </a:extLst>
              </a:tr>
              <a:tr h="370840">
                <a:tc>
                  <a:txBody>
                    <a:bodyPr/>
                    <a:lstStyle/>
                    <a:p>
                      <a:r>
                        <a:rPr lang="en-GB" sz="2000" dirty="0"/>
                        <a:t>14</a:t>
                      </a:r>
                    </a:p>
                  </a:txBody>
                  <a:tcPr/>
                </a:tc>
                <a:tc>
                  <a:txBody>
                    <a:bodyPr/>
                    <a:lstStyle/>
                    <a:p>
                      <a:r>
                        <a:rPr lang="en-GB" sz="2000" dirty="0"/>
                        <a:t>64</a:t>
                      </a:r>
                    </a:p>
                  </a:txBody>
                  <a:tcPr/>
                </a:tc>
                <a:tc>
                  <a:txBody>
                    <a:bodyPr/>
                    <a:lstStyle/>
                    <a:p>
                      <a:pPr marL="0" algn="r" defTabSz="1219170" rtl="0" eaLnBrk="1" fontAlgn="b" latinLnBrk="0" hangingPunct="1">
                        <a:buNone/>
                      </a:pPr>
                      <a:r>
                        <a:rPr lang="de-CH" sz="2000" kern="1200" dirty="0">
                          <a:solidFill>
                            <a:schemeClr val="dk1"/>
                          </a:solidFill>
                          <a:latin typeface="+mn-lt"/>
                          <a:ea typeface="+mn-ea"/>
                          <a:cs typeface="+mn-cs"/>
                        </a:rPr>
                        <a:t>80’910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11’727</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7’363</a:t>
                      </a:r>
                    </a:p>
                  </a:txBody>
                  <a:tcPr anchor="b"/>
                </a:tc>
                <a:extLst>
                  <a:ext uri="{0D108BD9-81ED-4DB2-BD59-A6C34878D82A}">
                    <a16:rowId xmlns:a16="http://schemas.microsoft.com/office/drawing/2014/main" val="4068678164"/>
                  </a:ext>
                </a:extLst>
              </a:tr>
              <a:tr h="370840">
                <a:tc>
                  <a:txBody>
                    <a:bodyPr/>
                    <a:lstStyle/>
                    <a:p>
                      <a:r>
                        <a:rPr lang="en-GB" sz="2000" dirty="0"/>
                        <a:t>15</a:t>
                      </a:r>
                    </a:p>
                  </a:txBody>
                  <a:tcPr/>
                </a:tc>
                <a:tc>
                  <a:txBody>
                    <a:bodyPr/>
                    <a:lstStyle/>
                    <a:p>
                      <a:r>
                        <a:rPr lang="en-GB" sz="2000" dirty="0"/>
                        <a:t>65</a:t>
                      </a:r>
                    </a:p>
                  </a:txBody>
                  <a:tcPr/>
                </a:tc>
                <a:tc>
                  <a:txBody>
                    <a:bodyPr/>
                    <a:lstStyle/>
                    <a:p>
                      <a:pPr marL="0" algn="r" defTabSz="1219170" rtl="0" eaLnBrk="1" fontAlgn="b" latinLnBrk="0" hangingPunct="1">
                        <a:buNone/>
                      </a:pPr>
                      <a:r>
                        <a:rPr lang="de-CH" sz="2000" kern="1200">
                          <a:solidFill>
                            <a:schemeClr val="dk1"/>
                          </a:solidFill>
                          <a:latin typeface="+mn-lt"/>
                          <a:ea typeface="+mn-ea"/>
                          <a:cs typeface="+mn-cs"/>
                        </a:rPr>
                        <a:t>78’341</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10’364</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3’213</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8’082</a:t>
                      </a:r>
                    </a:p>
                  </a:txBody>
                  <a:tcPr anchor="b"/>
                </a:tc>
                <a:extLst>
                  <a:ext uri="{0D108BD9-81ED-4DB2-BD59-A6C34878D82A}">
                    <a16:rowId xmlns:a16="http://schemas.microsoft.com/office/drawing/2014/main" val="265532196"/>
                  </a:ext>
                </a:extLst>
              </a:tr>
              <a:tr h="370840">
                <a:tc>
                  <a:txBody>
                    <a:bodyPr/>
                    <a:lstStyle/>
                    <a:p>
                      <a:r>
                        <a:rPr lang="en-GB" sz="2000" dirty="0"/>
                        <a:t>16</a:t>
                      </a:r>
                    </a:p>
                  </a:txBody>
                  <a:tcPr/>
                </a:tc>
                <a:tc>
                  <a:txBody>
                    <a:bodyPr/>
                    <a:lstStyle/>
                    <a:p>
                      <a:r>
                        <a:rPr lang="en-GB" sz="2000" dirty="0"/>
                        <a:t>66</a:t>
                      </a:r>
                    </a:p>
                  </a:txBody>
                  <a:tcPr/>
                </a:tc>
                <a:tc>
                  <a:txBody>
                    <a:bodyPr/>
                    <a:lstStyle/>
                    <a:p>
                      <a:pPr marL="0" algn="r" defTabSz="1219170" rtl="0" eaLnBrk="1" fontAlgn="b" latinLnBrk="0" hangingPunct="1">
                        <a:buNone/>
                      </a:pPr>
                      <a:r>
                        <a:rPr lang="de-CH" sz="2000" kern="120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91’525</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8’475</a:t>
                      </a:r>
                    </a:p>
                  </a:txBody>
                  <a:tcPr anchor="b"/>
                </a:tc>
                <a:extLst>
                  <a:ext uri="{0D108BD9-81ED-4DB2-BD59-A6C34878D82A}">
                    <a16:rowId xmlns:a16="http://schemas.microsoft.com/office/drawing/2014/main" val="4223407602"/>
                  </a:ext>
                </a:extLst>
              </a:tr>
              <a:tr h="370840">
                <a:tc>
                  <a:txBody>
                    <a:bodyPr/>
                    <a:lstStyle/>
                    <a:p>
                      <a:r>
                        <a:rPr lang="en-GB" sz="2000" dirty="0"/>
                        <a:t>17</a:t>
                      </a:r>
                    </a:p>
                  </a:txBody>
                  <a:tcPr/>
                </a:tc>
                <a:tc>
                  <a:txBody>
                    <a:bodyPr/>
                    <a:lstStyle/>
                    <a:p>
                      <a:r>
                        <a:rPr lang="en-GB" sz="2000" dirty="0"/>
                        <a:t>67</a:t>
                      </a:r>
                    </a:p>
                  </a:txBody>
                  <a:tcPr/>
                </a:tc>
                <a:tc>
                  <a:txBody>
                    <a:bodyPr/>
                    <a:lstStyle/>
                    <a:p>
                      <a:pPr marL="0" algn="r" defTabSz="1219170" rtl="0" eaLnBrk="1" fontAlgn="b" latinLnBrk="0" hangingPunct="1">
                        <a:buNone/>
                      </a:pPr>
                      <a:r>
                        <a:rPr lang="de-CH" sz="2000" kern="120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90’706</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9’294</a:t>
                      </a:r>
                    </a:p>
                  </a:txBody>
                  <a:tcPr anchor="b"/>
                </a:tc>
                <a:extLst>
                  <a:ext uri="{0D108BD9-81ED-4DB2-BD59-A6C34878D82A}">
                    <a16:rowId xmlns:a16="http://schemas.microsoft.com/office/drawing/2014/main" val="4201794598"/>
                  </a:ext>
                </a:extLst>
              </a:tr>
            </a:tbl>
          </a:graphicData>
        </a:graphic>
      </p:graphicFrame>
      <p:sp>
        <p:nvSpPr>
          <p:cNvPr id="8" name="TextBox 7">
            <a:extLst>
              <a:ext uri="{FF2B5EF4-FFF2-40B4-BE49-F238E27FC236}">
                <a16:creationId xmlns:a16="http://schemas.microsoft.com/office/drawing/2014/main" id="{ADE7F635-6791-C76A-AB61-2C4F4000C23F}"/>
              </a:ext>
            </a:extLst>
          </p:cNvPr>
          <p:cNvSpPr txBox="1"/>
          <p:nvPr/>
        </p:nvSpPr>
        <p:spPr>
          <a:xfrm>
            <a:off x="4777236" y="3648280"/>
            <a:ext cx="2769637" cy="1477328"/>
          </a:xfrm>
          <a:prstGeom prst="rect">
            <a:avLst/>
          </a:prstGeom>
          <a:solidFill>
            <a:srgbClr val="EF25E1"/>
          </a:solidFill>
        </p:spPr>
        <p:txBody>
          <a:bodyPr wrap="square" rtlCol="0">
            <a:spAutoFit/>
          </a:bodyPr>
          <a:lstStyle/>
          <a:p>
            <a:r>
              <a:rPr lang="en-GB" dirty="0"/>
              <a:t>Replace table with a chart…?</a:t>
            </a:r>
          </a:p>
          <a:p>
            <a:r>
              <a:rPr lang="en-GB" dirty="0"/>
              <a:t>Or show the table quickly and then move to the chart</a:t>
            </a:r>
          </a:p>
        </p:txBody>
      </p:sp>
    </p:spTree>
    <p:extLst>
      <p:ext uri="{BB962C8B-B14F-4D97-AF65-F5344CB8AC3E}">
        <p14:creationId xmlns:p14="http://schemas.microsoft.com/office/powerpoint/2010/main" val="3735238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3DE0F-CFEE-7A57-62AB-79C59123589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D28B46F-4551-1309-F58D-671F3E102379}"/>
              </a:ext>
            </a:extLst>
          </p:cNvPr>
          <p:cNvSpPr>
            <a:spLocks noGrp="1"/>
          </p:cNvSpPr>
          <p:nvPr>
            <p:ph type="title"/>
          </p:nvPr>
        </p:nvSpPr>
        <p:spPr/>
        <p:txBody>
          <a:bodyPr/>
          <a:lstStyle/>
          <a:p>
            <a:r>
              <a:rPr lang="en-GB" dirty="0"/>
              <a:t>Healthy Working Life Table</a:t>
            </a:r>
          </a:p>
        </p:txBody>
      </p:sp>
      <p:sp>
        <p:nvSpPr>
          <p:cNvPr id="4" name="Content Placeholder 3">
            <a:extLst>
              <a:ext uri="{FF2B5EF4-FFF2-40B4-BE49-F238E27FC236}">
                <a16:creationId xmlns:a16="http://schemas.microsoft.com/office/drawing/2014/main" id="{4E2FB29C-0CBD-3A55-7D97-2A880241D345}"/>
              </a:ext>
            </a:extLst>
          </p:cNvPr>
          <p:cNvSpPr>
            <a:spLocks noGrp="1"/>
          </p:cNvSpPr>
          <p:nvPr>
            <p:ph sz="quarter" idx="25"/>
          </p:nvPr>
        </p:nvSpPr>
        <p:spPr>
          <a:xfrm>
            <a:off x="10711542" y="2269322"/>
            <a:ext cx="4414161" cy="5459309"/>
          </a:xfrm>
        </p:spPr>
        <p:txBody>
          <a:bodyPr/>
          <a:lstStyle/>
          <a:p>
            <a:r>
              <a:rPr lang="en-US" b="1" dirty="0"/>
              <a:t>Estimations</a:t>
            </a:r>
            <a:endParaRPr lang="en-US" dirty="0"/>
          </a:p>
          <a:p>
            <a:pPr marL="457200" indent="-457200">
              <a:buFont typeface="Arial" panose="020B0604020202020204" pitchFamily="34" charset="0"/>
              <a:buChar char="•"/>
            </a:pPr>
            <a:r>
              <a:rPr lang="en-US" dirty="0"/>
              <a:t>HWLE = 13.5 years</a:t>
            </a:r>
          </a:p>
          <a:p>
            <a:pPr marL="457200" indent="-457200">
              <a:buFont typeface="Arial" panose="020B0604020202020204" pitchFamily="34" charset="0"/>
              <a:buChar char="•"/>
            </a:pPr>
            <a:r>
              <a:rPr lang="en-US" dirty="0"/>
              <a:t>NNLE = 0.9 years</a:t>
            </a:r>
          </a:p>
          <a:p>
            <a:pPr marL="457200" indent="-457200">
              <a:buFont typeface="Arial" panose="020B0604020202020204" pitchFamily="34" charset="0"/>
              <a:buChar char="•"/>
            </a:pPr>
            <a:endParaRPr lang="en-GB" dirty="0"/>
          </a:p>
        </p:txBody>
      </p:sp>
      <p:sp>
        <p:nvSpPr>
          <p:cNvPr id="5" name="Footer Placeholder 4">
            <a:extLst>
              <a:ext uri="{FF2B5EF4-FFF2-40B4-BE49-F238E27FC236}">
                <a16:creationId xmlns:a16="http://schemas.microsoft.com/office/drawing/2014/main" id="{CF11870C-1DE9-D31E-1A2C-F6643E8487E0}"/>
              </a:ext>
            </a:extLst>
          </p:cNvPr>
          <p:cNvSpPr>
            <a:spLocks noGrp="1"/>
          </p:cNvSpPr>
          <p:nvPr>
            <p:ph type="ftr" sz="quarter" idx="3"/>
          </p:nvPr>
        </p:nvSpPr>
        <p:spPr/>
        <p:txBody>
          <a:bodyPr/>
          <a:lstStyle/>
          <a:p>
            <a:r>
              <a:rPr lang="en-GB"/>
              <a:t>IFoA Life Conference</a:t>
            </a:r>
            <a:endParaRPr lang="en-GB" dirty="0"/>
          </a:p>
        </p:txBody>
      </p:sp>
      <p:sp>
        <p:nvSpPr>
          <p:cNvPr id="6" name="Slide Number Placeholder 5">
            <a:extLst>
              <a:ext uri="{FF2B5EF4-FFF2-40B4-BE49-F238E27FC236}">
                <a16:creationId xmlns:a16="http://schemas.microsoft.com/office/drawing/2014/main" id="{F6199190-F8AF-87F2-5764-9BB364EED1E9}"/>
              </a:ext>
            </a:extLst>
          </p:cNvPr>
          <p:cNvSpPr>
            <a:spLocks noGrp="1"/>
          </p:cNvSpPr>
          <p:nvPr>
            <p:ph type="sldNum" sz="quarter" idx="4"/>
          </p:nvPr>
        </p:nvSpPr>
        <p:spPr/>
        <p:txBody>
          <a:bodyPr/>
          <a:lstStyle/>
          <a:p>
            <a:fld id="{40FC62D0-A2F2-4BF8-8DAC-E86C11000EC3}" type="slidenum">
              <a:rPr lang="en-GB" smtClean="0"/>
              <a:pPr/>
              <a:t>23</a:t>
            </a:fld>
            <a:endParaRPr lang="en-GB" dirty="0"/>
          </a:p>
        </p:txBody>
      </p:sp>
      <p:sp>
        <p:nvSpPr>
          <p:cNvPr id="7" name="Text Placeholder 6">
            <a:extLst>
              <a:ext uri="{FF2B5EF4-FFF2-40B4-BE49-F238E27FC236}">
                <a16:creationId xmlns:a16="http://schemas.microsoft.com/office/drawing/2014/main" id="{6E253493-3A91-69BE-2DFB-78F7CB4ED61B}"/>
              </a:ext>
            </a:extLst>
          </p:cNvPr>
          <p:cNvSpPr>
            <a:spLocks noGrp="1"/>
          </p:cNvSpPr>
          <p:nvPr>
            <p:ph type="body" sz="quarter" idx="24"/>
          </p:nvPr>
        </p:nvSpPr>
        <p:spPr/>
        <p:txBody>
          <a:bodyPr/>
          <a:lstStyle/>
          <a:p>
            <a:r>
              <a:rPr lang="en-GB" dirty="0"/>
              <a:t>Example for females occupation class 1 who are healthy and working at age 50</a:t>
            </a:r>
          </a:p>
        </p:txBody>
      </p:sp>
      <p:sp>
        <p:nvSpPr>
          <p:cNvPr id="9" name="TextBox 8">
            <a:extLst>
              <a:ext uri="{FF2B5EF4-FFF2-40B4-BE49-F238E27FC236}">
                <a16:creationId xmlns:a16="http://schemas.microsoft.com/office/drawing/2014/main" id="{19474D49-B30E-3928-084E-2775E75C1521}"/>
              </a:ext>
            </a:extLst>
          </p:cNvPr>
          <p:cNvSpPr txBox="1"/>
          <p:nvPr/>
        </p:nvSpPr>
        <p:spPr>
          <a:xfrm>
            <a:off x="12221737" y="256478"/>
            <a:ext cx="2096429" cy="369332"/>
          </a:xfrm>
          <a:prstGeom prst="rect">
            <a:avLst/>
          </a:prstGeom>
          <a:solidFill>
            <a:srgbClr val="EF25E1"/>
          </a:solidFill>
        </p:spPr>
        <p:txBody>
          <a:bodyPr wrap="square" rtlCol="0">
            <a:spAutoFit/>
          </a:bodyPr>
          <a:lstStyle/>
          <a:p>
            <a:r>
              <a:rPr lang="en-GB" dirty="0"/>
              <a:t>David 3 mins</a:t>
            </a:r>
          </a:p>
        </p:txBody>
      </p:sp>
      <p:graphicFrame>
        <p:nvGraphicFramePr>
          <p:cNvPr id="15" name="Content Placeholder 14">
            <a:extLst>
              <a:ext uri="{FF2B5EF4-FFF2-40B4-BE49-F238E27FC236}">
                <a16:creationId xmlns:a16="http://schemas.microsoft.com/office/drawing/2014/main" id="{B948669D-BAD1-34F7-1D15-6C3B31B8F991}"/>
              </a:ext>
            </a:extLst>
          </p:cNvPr>
          <p:cNvGraphicFramePr>
            <a:graphicFrameLocks noGrp="1"/>
          </p:cNvGraphicFramePr>
          <p:nvPr>
            <p:ph sz="quarter" idx="13"/>
            <p:extLst>
              <p:ext uri="{D42A27DB-BD31-4B8C-83A1-F6EECF244321}">
                <p14:modId xmlns:p14="http://schemas.microsoft.com/office/powerpoint/2010/main" val="2147766308"/>
              </p:ext>
            </p:extLst>
          </p:nvPr>
        </p:nvGraphicFramePr>
        <p:xfrm>
          <a:off x="1104899" y="2268537"/>
          <a:ext cx="9388929" cy="611399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8158107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08650-7492-C0F7-66A1-B0DC1B4656F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35AB700-95D4-A33D-32B7-891E0CC68F7E}"/>
              </a:ext>
            </a:extLst>
          </p:cNvPr>
          <p:cNvSpPr>
            <a:spLocks noGrp="1"/>
          </p:cNvSpPr>
          <p:nvPr>
            <p:ph type="title"/>
          </p:nvPr>
        </p:nvSpPr>
        <p:spPr/>
        <p:txBody>
          <a:bodyPr/>
          <a:lstStyle/>
          <a:p>
            <a:r>
              <a:rPr lang="en-GB" dirty="0"/>
              <a:t>HWLE estimates</a:t>
            </a:r>
          </a:p>
        </p:txBody>
      </p:sp>
      <p:sp>
        <p:nvSpPr>
          <p:cNvPr id="5" name="Footer Placeholder 4">
            <a:extLst>
              <a:ext uri="{FF2B5EF4-FFF2-40B4-BE49-F238E27FC236}">
                <a16:creationId xmlns:a16="http://schemas.microsoft.com/office/drawing/2014/main" id="{06A1FB89-F983-67C4-EBE5-D4130CDBCD50}"/>
              </a:ext>
            </a:extLst>
          </p:cNvPr>
          <p:cNvSpPr>
            <a:spLocks noGrp="1"/>
          </p:cNvSpPr>
          <p:nvPr>
            <p:ph type="ftr" sz="quarter" idx="3"/>
          </p:nvPr>
        </p:nvSpPr>
        <p:spPr/>
        <p:txBody>
          <a:bodyPr/>
          <a:lstStyle/>
          <a:p>
            <a:r>
              <a:rPr lang="en-GB" dirty="0" err="1"/>
              <a:t>IFoA</a:t>
            </a:r>
            <a:r>
              <a:rPr lang="en-GB" dirty="0"/>
              <a:t> Life Conference</a:t>
            </a:r>
          </a:p>
        </p:txBody>
      </p:sp>
      <p:sp>
        <p:nvSpPr>
          <p:cNvPr id="6" name="Slide Number Placeholder 5">
            <a:extLst>
              <a:ext uri="{FF2B5EF4-FFF2-40B4-BE49-F238E27FC236}">
                <a16:creationId xmlns:a16="http://schemas.microsoft.com/office/drawing/2014/main" id="{929DC6F7-A192-C12F-357C-1656DB45BEBB}"/>
              </a:ext>
            </a:extLst>
          </p:cNvPr>
          <p:cNvSpPr>
            <a:spLocks noGrp="1"/>
          </p:cNvSpPr>
          <p:nvPr>
            <p:ph type="sldNum" sz="quarter" idx="4"/>
          </p:nvPr>
        </p:nvSpPr>
        <p:spPr/>
        <p:txBody>
          <a:bodyPr/>
          <a:lstStyle/>
          <a:p>
            <a:fld id="{40FC62D0-A2F2-4BF8-8DAC-E86C11000EC3}" type="slidenum">
              <a:rPr lang="en-GB" smtClean="0"/>
              <a:pPr/>
              <a:t>24</a:t>
            </a:fld>
            <a:endParaRPr lang="en-GB" dirty="0"/>
          </a:p>
        </p:txBody>
      </p:sp>
      <p:sp>
        <p:nvSpPr>
          <p:cNvPr id="7" name="Text Placeholder 6">
            <a:extLst>
              <a:ext uri="{FF2B5EF4-FFF2-40B4-BE49-F238E27FC236}">
                <a16:creationId xmlns:a16="http://schemas.microsoft.com/office/drawing/2014/main" id="{D2742A08-5DD7-11AF-6629-282F9CEC715E}"/>
              </a:ext>
            </a:extLst>
          </p:cNvPr>
          <p:cNvSpPr>
            <a:spLocks noGrp="1"/>
          </p:cNvSpPr>
          <p:nvPr>
            <p:ph type="body" sz="quarter" idx="24"/>
          </p:nvPr>
        </p:nvSpPr>
        <p:spPr/>
        <p:txBody>
          <a:bodyPr/>
          <a:lstStyle/>
          <a:p>
            <a:r>
              <a:rPr lang="en-GB" dirty="0"/>
              <a:t>Examples for a sample of starting ages to age 65 for occupation class 1</a:t>
            </a:r>
          </a:p>
        </p:txBody>
      </p:sp>
      <p:sp>
        <p:nvSpPr>
          <p:cNvPr id="9" name="TextBox 8">
            <a:extLst>
              <a:ext uri="{FF2B5EF4-FFF2-40B4-BE49-F238E27FC236}">
                <a16:creationId xmlns:a16="http://schemas.microsoft.com/office/drawing/2014/main" id="{9D3AA04F-6604-B346-7818-C6FC9370D392}"/>
              </a:ext>
            </a:extLst>
          </p:cNvPr>
          <p:cNvSpPr txBox="1"/>
          <p:nvPr/>
        </p:nvSpPr>
        <p:spPr>
          <a:xfrm>
            <a:off x="12221737" y="256478"/>
            <a:ext cx="2096429" cy="369332"/>
          </a:xfrm>
          <a:prstGeom prst="rect">
            <a:avLst/>
          </a:prstGeom>
          <a:solidFill>
            <a:srgbClr val="EF25E1"/>
          </a:solidFill>
        </p:spPr>
        <p:txBody>
          <a:bodyPr wrap="square" rtlCol="0">
            <a:spAutoFit/>
          </a:bodyPr>
          <a:lstStyle/>
          <a:p>
            <a:r>
              <a:rPr lang="en-GB" dirty="0"/>
              <a:t>David 3 mins</a:t>
            </a:r>
          </a:p>
        </p:txBody>
      </p:sp>
      <p:graphicFrame>
        <p:nvGraphicFramePr>
          <p:cNvPr id="11" name="Content Placeholder 10">
            <a:extLst>
              <a:ext uri="{FF2B5EF4-FFF2-40B4-BE49-F238E27FC236}">
                <a16:creationId xmlns:a16="http://schemas.microsoft.com/office/drawing/2014/main" id="{61787F4D-B654-532A-514A-A9E0237624AD}"/>
              </a:ext>
            </a:extLst>
          </p:cNvPr>
          <p:cNvGraphicFramePr>
            <a:graphicFrameLocks noGrp="1"/>
          </p:cNvGraphicFramePr>
          <p:nvPr>
            <p:ph sz="quarter" idx="13"/>
            <p:extLst>
              <p:ext uri="{D42A27DB-BD31-4B8C-83A1-F6EECF244321}">
                <p14:modId xmlns:p14="http://schemas.microsoft.com/office/powerpoint/2010/main" val="1297643379"/>
              </p:ext>
            </p:extLst>
          </p:nvPr>
        </p:nvGraphicFramePr>
        <p:xfrm>
          <a:off x="1104900" y="2268538"/>
          <a:ext cx="6896100" cy="2280666"/>
        </p:xfrm>
        <a:graphic>
          <a:graphicData uri="http://schemas.openxmlformats.org/drawingml/2006/table">
            <a:tbl>
              <a:tblPr firstRow="1" bandRow="1">
                <a:tableStyleId>{5C22544A-7EE6-4342-B048-85BDC9FD1C3A}</a:tableStyleId>
              </a:tblPr>
              <a:tblGrid>
                <a:gridCol w="1724025">
                  <a:extLst>
                    <a:ext uri="{9D8B030D-6E8A-4147-A177-3AD203B41FA5}">
                      <a16:colId xmlns:a16="http://schemas.microsoft.com/office/drawing/2014/main" val="3390698310"/>
                    </a:ext>
                  </a:extLst>
                </a:gridCol>
                <a:gridCol w="1724025">
                  <a:extLst>
                    <a:ext uri="{9D8B030D-6E8A-4147-A177-3AD203B41FA5}">
                      <a16:colId xmlns:a16="http://schemas.microsoft.com/office/drawing/2014/main" val="225638235"/>
                    </a:ext>
                  </a:extLst>
                </a:gridCol>
                <a:gridCol w="1724025">
                  <a:extLst>
                    <a:ext uri="{9D8B030D-6E8A-4147-A177-3AD203B41FA5}">
                      <a16:colId xmlns:a16="http://schemas.microsoft.com/office/drawing/2014/main" val="3365838405"/>
                    </a:ext>
                  </a:extLst>
                </a:gridCol>
                <a:gridCol w="1724025">
                  <a:extLst>
                    <a:ext uri="{9D8B030D-6E8A-4147-A177-3AD203B41FA5}">
                      <a16:colId xmlns:a16="http://schemas.microsoft.com/office/drawing/2014/main" val="487192253"/>
                    </a:ext>
                  </a:extLst>
                </a:gridCol>
              </a:tblGrid>
              <a:tr h="370840">
                <a:tc>
                  <a:txBody>
                    <a:bodyPr/>
                    <a:lstStyle/>
                    <a:p>
                      <a:pP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Starting Age</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Females</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Males</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Overall</a:t>
                      </a:r>
                      <a:endParaRPr lang="de-CH" sz="1800" dirty="0">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3744680824"/>
                  </a:ext>
                </a:extLst>
              </a:tr>
              <a:tr h="370840">
                <a:tc>
                  <a:txBody>
                    <a:bodyPr/>
                    <a:lstStyle/>
                    <a:p>
                      <a:pPr>
                        <a:lnSpc>
                          <a:spcPct val="115000"/>
                        </a:lnSpc>
                        <a:spcAft>
                          <a:spcPts val="1000"/>
                        </a:spcAft>
                        <a:buNone/>
                      </a:pPr>
                      <a:r>
                        <a:rPr lang="de-CH" sz="1800" dirty="0">
                          <a:effectLst/>
                          <a:latin typeface="+mn-lt"/>
                          <a:ea typeface="Calibri" panose="020F0502020204030204" pitchFamily="34" charset="0"/>
                          <a:cs typeface="Times New Roman" panose="02020603050405020304" pitchFamily="18" charset="0"/>
                        </a:rPr>
                        <a:t>20</a:t>
                      </a: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42.4</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42.2</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42.3</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1636021954"/>
                  </a:ext>
                </a:extLst>
              </a:tr>
              <a:tr h="370840">
                <a:tc>
                  <a:txBody>
                    <a:bodyPr/>
                    <a:lstStyle/>
                    <a:p>
                      <a:pPr>
                        <a:lnSpc>
                          <a:spcPct val="115000"/>
                        </a:lnSpc>
                        <a:spcAft>
                          <a:spcPts val="1000"/>
                        </a:spcAft>
                        <a:buNone/>
                      </a:pPr>
                      <a:r>
                        <a:rPr lang="de-CH" sz="1800" dirty="0">
                          <a:effectLst/>
                          <a:latin typeface="+mn-lt"/>
                          <a:ea typeface="Calibri" panose="020F0502020204030204" pitchFamily="34" charset="0"/>
                          <a:cs typeface="Times New Roman" panose="02020603050405020304" pitchFamily="18" charset="0"/>
                        </a:rPr>
                        <a:t>30</a:t>
                      </a: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32.6</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32.5</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32.5</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1980238256"/>
                  </a:ext>
                </a:extLst>
              </a:tr>
              <a:tr h="370840">
                <a:tc>
                  <a:txBody>
                    <a:bodyPr/>
                    <a:lstStyle/>
                    <a:p>
                      <a:pPr>
                        <a:lnSpc>
                          <a:spcPct val="115000"/>
                        </a:lnSpc>
                        <a:spcAft>
                          <a:spcPts val="1000"/>
                        </a:spcAft>
                        <a:buNone/>
                      </a:pPr>
                      <a:r>
                        <a:rPr lang="de-CH" sz="1800" dirty="0">
                          <a:effectLst/>
                          <a:latin typeface="+mn-lt"/>
                          <a:ea typeface="Calibri" panose="020F0502020204030204" pitchFamily="34" charset="0"/>
                          <a:cs typeface="Times New Roman" panose="02020603050405020304" pitchFamily="18" charset="0"/>
                        </a:rPr>
                        <a:t>40</a:t>
                      </a:r>
                    </a:p>
                  </a:txBody>
                  <a:tcPr/>
                </a:tc>
                <a:tc>
                  <a:txBody>
                    <a:bodyPr/>
                    <a:lstStyle/>
                    <a:p>
                      <a:pPr marL="0" algn="r" defTabSz="1219170" rtl="0" eaLnBrk="1" latinLnBrk="0" hangingPunct="1">
                        <a:lnSpc>
                          <a:spcPct val="115000"/>
                        </a:lnSpc>
                        <a:spcAft>
                          <a:spcPts val="1000"/>
                        </a:spcAft>
                        <a:buNone/>
                      </a:pPr>
                      <a:r>
                        <a:rPr lang="en-GB" sz="1800" kern="1200">
                          <a:solidFill>
                            <a:schemeClr val="dk1"/>
                          </a:solidFill>
                          <a:effectLst/>
                          <a:latin typeface="+mn-lt"/>
                          <a:ea typeface="Calibri" panose="020F0502020204030204" pitchFamily="34" charset="0"/>
                          <a:cs typeface="Times New Roman" panose="02020603050405020304" pitchFamily="18" charset="0"/>
                        </a:rPr>
                        <a:t>22.9</a:t>
                      </a:r>
                      <a:endParaRPr lang="de-CH" sz="1800" kern="120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23.0</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23.0</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790822725"/>
                  </a:ext>
                </a:extLst>
              </a:tr>
              <a:tr h="370840">
                <a:tc>
                  <a:txBody>
                    <a:bodyPr/>
                    <a:lstStyle/>
                    <a:p>
                      <a:pPr>
                        <a:lnSpc>
                          <a:spcPct val="115000"/>
                        </a:lnSpc>
                        <a:spcAft>
                          <a:spcPts val="1000"/>
                        </a:spcAft>
                        <a:buNone/>
                      </a:pPr>
                      <a:r>
                        <a:rPr lang="de-CH" sz="1800" dirty="0">
                          <a:effectLst/>
                          <a:latin typeface="+mn-lt"/>
                          <a:ea typeface="Calibri" panose="020F0502020204030204" pitchFamily="34" charset="0"/>
                          <a:cs typeface="Times New Roman" panose="02020603050405020304" pitchFamily="18" charset="0"/>
                        </a:rPr>
                        <a:t>50</a:t>
                      </a:r>
                    </a:p>
                  </a:txBody>
                  <a:tcPr/>
                </a:tc>
                <a:tc>
                  <a:txBody>
                    <a:bodyPr/>
                    <a:lstStyle/>
                    <a:p>
                      <a:pPr marL="0" algn="r" defTabSz="1219170" rtl="0" eaLnBrk="1" latinLnBrk="0" hangingPunct="1">
                        <a:lnSpc>
                          <a:spcPct val="115000"/>
                        </a:lnSpc>
                        <a:spcAft>
                          <a:spcPts val="1000"/>
                        </a:spcAft>
                        <a:buNone/>
                      </a:pPr>
                      <a:r>
                        <a:rPr lang="en-GB" sz="1800" kern="1200">
                          <a:solidFill>
                            <a:schemeClr val="dk1"/>
                          </a:solidFill>
                          <a:effectLst/>
                          <a:latin typeface="+mn-lt"/>
                          <a:ea typeface="Calibri" panose="020F0502020204030204" pitchFamily="34" charset="0"/>
                          <a:cs typeface="Times New Roman" panose="02020603050405020304" pitchFamily="18" charset="0"/>
                        </a:rPr>
                        <a:t>13.5</a:t>
                      </a:r>
                      <a:endParaRPr lang="de-CH" sz="1800" kern="120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13.7</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13.6</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3688239074"/>
                  </a:ext>
                </a:extLst>
              </a:tr>
              <a:tr h="370840">
                <a:tc>
                  <a:txBody>
                    <a:bodyPr/>
                    <a:lstStyle/>
                    <a:p>
                      <a:pPr>
                        <a:lnSpc>
                          <a:spcPct val="115000"/>
                        </a:lnSpc>
                        <a:spcAft>
                          <a:spcPts val="1000"/>
                        </a:spcAft>
                        <a:buNone/>
                      </a:pPr>
                      <a:r>
                        <a:rPr lang="de-CH" sz="1800" dirty="0">
                          <a:effectLst/>
                          <a:latin typeface="+mn-lt"/>
                          <a:ea typeface="Calibri" panose="020F0502020204030204" pitchFamily="34" charset="0"/>
                          <a:cs typeface="Times New Roman" panose="02020603050405020304" pitchFamily="18" charset="0"/>
                        </a:rPr>
                        <a:t>60</a:t>
                      </a:r>
                    </a:p>
                  </a:txBody>
                  <a:tcPr/>
                </a:tc>
                <a:tc>
                  <a:txBody>
                    <a:bodyPr/>
                    <a:lstStyle/>
                    <a:p>
                      <a:pPr marL="0" algn="r" defTabSz="1219170" rtl="0" eaLnBrk="1" latinLnBrk="0" hangingPunct="1">
                        <a:lnSpc>
                          <a:spcPct val="115000"/>
                        </a:lnSpc>
                        <a:spcAft>
                          <a:spcPts val="1000"/>
                        </a:spcAft>
                        <a:buNone/>
                      </a:pPr>
                      <a:r>
                        <a:rPr lang="en-GB" sz="1800" kern="1200">
                          <a:solidFill>
                            <a:schemeClr val="dk1"/>
                          </a:solidFill>
                          <a:effectLst/>
                          <a:latin typeface="+mn-lt"/>
                          <a:ea typeface="Calibri" panose="020F0502020204030204" pitchFamily="34" charset="0"/>
                          <a:cs typeface="Times New Roman" panose="02020603050405020304" pitchFamily="18" charset="0"/>
                        </a:rPr>
                        <a:t>4.6</a:t>
                      </a:r>
                      <a:endParaRPr lang="de-CH" sz="1800" kern="120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4.7</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4.7</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3213328790"/>
                  </a:ext>
                </a:extLst>
              </a:tr>
            </a:tbl>
          </a:graphicData>
        </a:graphic>
      </p:graphicFrame>
      <p:graphicFrame>
        <p:nvGraphicFramePr>
          <p:cNvPr id="14" name="Content Placeholder 13">
            <a:extLst>
              <a:ext uri="{FF2B5EF4-FFF2-40B4-BE49-F238E27FC236}">
                <a16:creationId xmlns:a16="http://schemas.microsoft.com/office/drawing/2014/main" id="{741D618A-E8D5-E74F-3855-C0D881F27970}"/>
              </a:ext>
            </a:extLst>
          </p:cNvPr>
          <p:cNvGraphicFramePr>
            <a:graphicFrameLocks noGrp="1"/>
          </p:cNvGraphicFramePr>
          <p:nvPr>
            <p:ph sz="quarter" idx="25"/>
            <p:extLst>
              <p:ext uri="{D42A27DB-BD31-4B8C-83A1-F6EECF244321}">
                <p14:modId xmlns:p14="http://schemas.microsoft.com/office/powerpoint/2010/main" val="3574756934"/>
              </p:ext>
            </p:extLst>
          </p:nvPr>
        </p:nvGraphicFramePr>
        <p:xfrm>
          <a:off x="8229600" y="2268538"/>
          <a:ext cx="6896100" cy="2280666"/>
        </p:xfrm>
        <a:graphic>
          <a:graphicData uri="http://schemas.openxmlformats.org/drawingml/2006/table">
            <a:tbl>
              <a:tblPr firstRow="1" bandRow="1">
                <a:tableStyleId>{5C22544A-7EE6-4342-B048-85BDC9FD1C3A}</a:tableStyleId>
              </a:tblPr>
              <a:tblGrid>
                <a:gridCol w="1724025">
                  <a:extLst>
                    <a:ext uri="{9D8B030D-6E8A-4147-A177-3AD203B41FA5}">
                      <a16:colId xmlns:a16="http://schemas.microsoft.com/office/drawing/2014/main" val="680087131"/>
                    </a:ext>
                  </a:extLst>
                </a:gridCol>
                <a:gridCol w="1724025">
                  <a:extLst>
                    <a:ext uri="{9D8B030D-6E8A-4147-A177-3AD203B41FA5}">
                      <a16:colId xmlns:a16="http://schemas.microsoft.com/office/drawing/2014/main" val="384922801"/>
                    </a:ext>
                  </a:extLst>
                </a:gridCol>
                <a:gridCol w="1724025">
                  <a:extLst>
                    <a:ext uri="{9D8B030D-6E8A-4147-A177-3AD203B41FA5}">
                      <a16:colId xmlns:a16="http://schemas.microsoft.com/office/drawing/2014/main" val="1017100693"/>
                    </a:ext>
                  </a:extLst>
                </a:gridCol>
                <a:gridCol w="1724025">
                  <a:extLst>
                    <a:ext uri="{9D8B030D-6E8A-4147-A177-3AD203B41FA5}">
                      <a16:colId xmlns:a16="http://schemas.microsoft.com/office/drawing/2014/main" val="2351437070"/>
                    </a:ext>
                  </a:extLst>
                </a:gridCol>
              </a:tblGrid>
              <a:tr h="370840">
                <a:tc>
                  <a:txBody>
                    <a:bodyPr/>
                    <a:lstStyle/>
                    <a:p>
                      <a:pP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Starting Age</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Females</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Males</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Overall</a:t>
                      </a:r>
                      <a:endParaRPr lang="de-CH" sz="1800" dirty="0">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408343909"/>
                  </a:ext>
                </a:extLst>
              </a:tr>
              <a:tr h="370840">
                <a:tc>
                  <a:txBody>
                    <a:bodyPr/>
                    <a:lstStyle/>
                    <a:p>
                      <a:pPr>
                        <a:lnSpc>
                          <a:spcPct val="115000"/>
                        </a:lnSpc>
                        <a:spcAft>
                          <a:spcPts val="1000"/>
                        </a:spcAft>
                        <a:buNone/>
                      </a:pPr>
                      <a:r>
                        <a:rPr lang="de-CH" sz="1800" dirty="0">
                          <a:effectLst/>
                          <a:latin typeface="+mn-lt"/>
                          <a:ea typeface="Calibri" panose="020F0502020204030204" pitchFamily="34" charset="0"/>
                          <a:cs typeface="Times New Roman" panose="02020603050405020304" pitchFamily="18" charset="0"/>
                        </a:rPr>
                        <a:t>20</a:t>
                      </a: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1.3</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0.9</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1.1</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2433986512"/>
                  </a:ext>
                </a:extLst>
              </a:tr>
              <a:tr h="370840">
                <a:tc>
                  <a:txBody>
                    <a:bodyPr/>
                    <a:lstStyle/>
                    <a:p>
                      <a:pPr>
                        <a:lnSpc>
                          <a:spcPct val="115000"/>
                        </a:lnSpc>
                        <a:spcAft>
                          <a:spcPts val="1000"/>
                        </a:spcAft>
                        <a:buNone/>
                      </a:pPr>
                      <a:r>
                        <a:rPr lang="de-CH" sz="1800" dirty="0">
                          <a:effectLst/>
                          <a:latin typeface="+mn-lt"/>
                          <a:ea typeface="Calibri" panose="020F0502020204030204" pitchFamily="34" charset="0"/>
                          <a:cs typeface="Times New Roman" panose="02020603050405020304" pitchFamily="18" charset="0"/>
                        </a:rPr>
                        <a:t>30</a:t>
                      </a: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1.3</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0.8</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1.0</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1708109034"/>
                  </a:ext>
                </a:extLst>
              </a:tr>
              <a:tr h="370840">
                <a:tc>
                  <a:txBody>
                    <a:bodyPr/>
                    <a:lstStyle/>
                    <a:p>
                      <a:pPr>
                        <a:lnSpc>
                          <a:spcPct val="115000"/>
                        </a:lnSpc>
                        <a:spcAft>
                          <a:spcPts val="1000"/>
                        </a:spcAft>
                        <a:buNone/>
                      </a:pPr>
                      <a:r>
                        <a:rPr lang="de-CH" sz="1800" dirty="0">
                          <a:effectLst/>
                          <a:latin typeface="+mn-lt"/>
                          <a:ea typeface="Calibri" panose="020F0502020204030204" pitchFamily="34" charset="0"/>
                          <a:cs typeface="Times New Roman" panose="02020603050405020304" pitchFamily="18" charset="0"/>
                        </a:rPr>
                        <a:t>40</a:t>
                      </a: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1.2</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0.8</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1.0</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4174223381"/>
                  </a:ext>
                </a:extLst>
              </a:tr>
              <a:tr h="370840">
                <a:tc>
                  <a:txBody>
                    <a:bodyPr/>
                    <a:lstStyle/>
                    <a:p>
                      <a:pPr>
                        <a:lnSpc>
                          <a:spcPct val="115000"/>
                        </a:lnSpc>
                        <a:spcAft>
                          <a:spcPts val="1000"/>
                        </a:spcAft>
                        <a:buNone/>
                      </a:pPr>
                      <a:r>
                        <a:rPr lang="de-CH" sz="1800" dirty="0">
                          <a:effectLst/>
                          <a:latin typeface="+mn-lt"/>
                          <a:ea typeface="Calibri" panose="020F0502020204030204" pitchFamily="34" charset="0"/>
                          <a:cs typeface="Times New Roman" panose="02020603050405020304" pitchFamily="18" charset="0"/>
                        </a:rPr>
                        <a:t>50</a:t>
                      </a: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0.9</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0.6</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0.7</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2704040027"/>
                  </a:ext>
                </a:extLst>
              </a:tr>
              <a:tr h="370840">
                <a:tc>
                  <a:txBody>
                    <a:bodyPr/>
                    <a:lstStyle/>
                    <a:p>
                      <a:pPr>
                        <a:lnSpc>
                          <a:spcPct val="115000"/>
                        </a:lnSpc>
                        <a:spcAft>
                          <a:spcPts val="1000"/>
                        </a:spcAft>
                        <a:buNone/>
                      </a:pPr>
                      <a:r>
                        <a:rPr lang="de-CH" sz="1800" dirty="0">
                          <a:effectLst/>
                          <a:latin typeface="+mn-lt"/>
                          <a:ea typeface="Calibri" panose="020F0502020204030204" pitchFamily="34" charset="0"/>
                          <a:cs typeface="Times New Roman" panose="02020603050405020304" pitchFamily="18" charset="0"/>
                        </a:rPr>
                        <a:t>60</a:t>
                      </a: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0.3</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0.2</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0.2</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2392150984"/>
                  </a:ext>
                </a:extLst>
              </a:tr>
            </a:tbl>
          </a:graphicData>
        </a:graphic>
      </p:graphicFrame>
      <p:sp>
        <p:nvSpPr>
          <p:cNvPr id="15" name="Rectangle: Rounded Corners 14">
            <a:extLst>
              <a:ext uri="{FF2B5EF4-FFF2-40B4-BE49-F238E27FC236}">
                <a16:creationId xmlns:a16="http://schemas.microsoft.com/office/drawing/2014/main" id="{047172A5-FD6C-F0F9-9690-55A500EA4675}"/>
              </a:ext>
            </a:extLst>
          </p:cNvPr>
          <p:cNvSpPr/>
          <p:nvPr/>
        </p:nvSpPr>
        <p:spPr>
          <a:xfrm>
            <a:off x="1117600" y="1803756"/>
            <a:ext cx="6883400" cy="39985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Healthy Working Partial Life Expectancy, HWPLE, to age 65</a:t>
            </a:r>
          </a:p>
        </p:txBody>
      </p:sp>
      <p:sp>
        <p:nvSpPr>
          <p:cNvPr id="17" name="Rectangle: Rounded Corners 16">
            <a:extLst>
              <a:ext uri="{FF2B5EF4-FFF2-40B4-BE49-F238E27FC236}">
                <a16:creationId xmlns:a16="http://schemas.microsoft.com/office/drawing/2014/main" id="{A8D8592A-09E0-EE1F-7F70-469CEE8112C0}"/>
              </a:ext>
            </a:extLst>
          </p:cNvPr>
          <p:cNvSpPr/>
          <p:nvPr/>
        </p:nvSpPr>
        <p:spPr>
          <a:xfrm>
            <a:off x="8242300" y="1803755"/>
            <a:ext cx="6883400" cy="399855"/>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Not-Healthy Not-Working Partial Life Expectancy, NNPLE, to age 65</a:t>
            </a:r>
          </a:p>
        </p:txBody>
      </p:sp>
      <p:sp>
        <p:nvSpPr>
          <p:cNvPr id="2" name="Content Placeholder 3">
            <a:extLst>
              <a:ext uri="{FF2B5EF4-FFF2-40B4-BE49-F238E27FC236}">
                <a16:creationId xmlns:a16="http://schemas.microsoft.com/office/drawing/2014/main" id="{299F7EEB-AB46-C1F3-666F-A80C03D17213}"/>
              </a:ext>
            </a:extLst>
          </p:cNvPr>
          <p:cNvSpPr txBox="1">
            <a:spLocks/>
          </p:cNvSpPr>
          <p:nvPr/>
        </p:nvSpPr>
        <p:spPr>
          <a:xfrm>
            <a:off x="8242300" y="4828478"/>
            <a:ext cx="6883403" cy="3323063"/>
          </a:xfrm>
          <a:prstGeom prst="rect">
            <a:avLst/>
          </a:prstGeom>
        </p:spPr>
        <p:txBody>
          <a:bodyPr vert="horz" lIns="91440" tIns="45720" rIns="91440" bIns="45720" rtlCol="0">
            <a:noAutofit/>
          </a:bodyPr>
          <a:lstStyle>
            <a:lvl1pPr marL="0" indent="0" algn="l" defTabSz="1219170" rtl="0" eaLnBrk="1" latinLnBrk="0" hangingPunct="1">
              <a:lnSpc>
                <a:spcPct val="100000"/>
              </a:lnSpc>
              <a:spcBef>
                <a:spcPts val="1333"/>
              </a:spcBef>
              <a:buClr>
                <a:schemeClr val="accent3"/>
              </a:buClr>
              <a:buFont typeface="Arial" panose="020B0604020202020204" pitchFamily="34" charset="0"/>
              <a:buNone/>
              <a:defRPr sz="2600" b="0" i="0" kern="1200">
                <a:solidFill>
                  <a:schemeClr val="tx1"/>
                </a:solidFill>
                <a:latin typeface="Arial" panose="020B0604020202020204" pitchFamily="34" charset="0"/>
                <a:ea typeface="+mn-ea"/>
                <a:cs typeface="Arial" panose="020B0604020202020204" pitchFamily="34" charset="0"/>
              </a:defRPr>
            </a:lvl1pPr>
            <a:lvl2pPr marL="91437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2pPr>
            <a:lvl3pPr marL="1523962"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3pPr>
            <a:lvl4pPr marL="213354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4pPr>
            <a:lvl5pPr marL="2743131"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spcBef>
                <a:spcPts val="600"/>
              </a:spcBef>
            </a:pPr>
            <a:r>
              <a:rPr lang="en-US" sz="1800" dirty="0"/>
              <a:t>A </a:t>
            </a:r>
            <a:r>
              <a:rPr lang="en-US" sz="1800" b="1" dirty="0"/>
              <a:t>20-year-old</a:t>
            </a:r>
            <a:r>
              <a:rPr lang="en-US" sz="1800" dirty="0"/>
              <a:t> has </a:t>
            </a:r>
            <a:r>
              <a:rPr lang="en-US" sz="1800" b="1" dirty="0"/>
              <a:t>42.3 years HWPLE </a:t>
            </a:r>
            <a:r>
              <a:rPr lang="en-US" sz="1800" dirty="0"/>
              <a:t>and </a:t>
            </a:r>
            <a:r>
              <a:rPr lang="en-US" sz="1800" b="1" dirty="0"/>
              <a:t>1.1 years NNPLE </a:t>
            </a:r>
            <a:r>
              <a:rPr lang="en-US" sz="1800" dirty="0"/>
              <a:t>meaning:</a:t>
            </a:r>
          </a:p>
          <a:p>
            <a:pPr marL="457200" indent="-457200">
              <a:spcBef>
                <a:spcPts val="600"/>
              </a:spcBef>
              <a:buFont typeface="Arial" panose="020B0604020202020204" pitchFamily="34" charset="0"/>
              <a:buChar char="•"/>
            </a:pPr>
            <a:r>
              <a:rPr lang="en-US" sz="1800" dirty="0"/>
              <a:t>94.0% of their working life to age 65 in the working state;</a:t>
            </a:r>
          </a:p>
          <a:p>
            <a:pPr marL="457200" indent="-457200">
              <a:spcBef>
                <a:spcPts val="600"/>
              </a:spcBef>
              <a:buFont typeface="Arial" panose="020B0604020202020204" pitchFamily="34" charset="0"/>
              <a:buChar char="•"/>
            </a:pPr>
            <a:r>
              <a:rPr lang="en-US" sz="1800" dirty="0"/>
              <a:t>2.4% of their working lifetime in the NN state;</a:t>
            </a:r>
          </a:p>
          <a:p>
            <a:pPr marL="457200" indent="-457200">
              <a:spcBef>
                <a:spcPts val="600"/>
              </a:spcBef>
              <a:buFont typeface="Arial" panose="020B0604020202020204" pitchFamily="34" charset="0"/>
              <a:buChar char="•"/>
            </a:pPr>
            <a:r>
              <a:rPr lang="en-US" sz="1800" dirty="0"/>
              <a:t>3.6% of the 45 years relates to deaths before 65.</a:t>
            </a:r>
          </a:p>
          <a:p>
            <a:pPr>
              <a:spcBef>
                <a:spcPts val="600"/>
              </a:spcBef>
            </a:pPr>
            <a:r>
              <a:rPr lang="en-US" sz="1800" dirty="0"/>
              <a:t>A </a:t>
            </a:r>
            <a:r>
              <a:rPr lang="en-US" sz="1800" b="1" dirty="0"/>
              <a:t>50-year-old</a:t>
            </a:r>
            <a:r>
              <a:rPr lang="en-US" sz="1800" dirty="0"/>
              <a:t> has </a:t>
            </a:r>
            <a:r>
              <a:rPr lang="en-US" sz="1800" b="1" dirty="0"/>
              <a:t>13.6 years HWPLE </a:t>
            </a:r>
            <a:r>
              <a:rPr lang="en-US" sz="1800" dirty="0"/>
              <a:t>and </a:t>
            </a:r>
            <a:r>
              <a:rPr lang="en-US" sz="1800" b="1" dirty="0"/>
              <a:t>0.7 years NNPLE </a:t>
            </a:r>
            <a:r>
              <a:rPr lang="en-US" sz="1800" dirty="0"/>
              <a:t>meaning:</a:t>
            </a:r>
          </a:p>
          <a:p>
            <a:pPr marL="457200" indent="-457200">
              <a:spcBef>
                <a:spcPts val="600"/>
              </a:spcBef>
              <a:buFont typeface="Arial" panose="020B0604020202020204" pitchFamily="34" charset="0"/>
              <a:buChar char="•"/>
            </a:pPr>
            <a:r>
              <a:rPr lang="en-US" sz="1800" dirty="0"/>
              <a:t>90.7% of their working life to age 65 in the working state;</a:t>
            </a:r>
          </a:p>
          <a:p>
            <a:pPr marL="457200" indent="-457200">
              <a:spcBef>
                <a:spcPts val="600"/>
              </a:spcBef>
              <a:buFont typeface="Arial" panose="020B0604020202020204" pitchFamily="34" charset="0"/>
              <a:buChar char="•"/>
            </a:pPr>
            <a:r>
              <a:rPr lang="en-US" sz="1800" dirty="0"/>
              <a:t>4.9% of their working lifetime in the NN state;</a:t>
            </a:r>
          </a:p>
          <a:p>
            <a:pPr marL="457200" indent="-457200">
              <a:spcBef>
                <a:spcPts val="600"/>
              </a:spcBef>
              <a:buFont typeface="Arial" panose="020B0604020202020204" pitchFamily="34" charset="0"/>
              <a:buChar char="•"/>
            </a:pPr>
            <a:r>
              <a:rPr lang="en-US" sz="1800" dirty="0"/>
              <a:t>4.4% of the 15 years relates to deaths before 65.</a:t>
            </a:r>
          </a:p>
        </p:txBody>
      </p:sp>
      <p:sp>
        <p:nvSpPr>
          <p:cNvPr id="8" name="Content Placeholder 3">
            <a:extLst>
              <a:ext uri="{FF2B5EF4-FFF2-40B4-BE49-F238E27FC236}">
                <a16:creationId xmlns:a16="http://schemas.microsoft.com/office/drawing/2014/main" id="{EF6FF955-2C92-7840-3381-1F2779F713EE}"/>
              </a:ext>
            </a:extLst>
          </p:cNvPr>
          <p:cNvSpPr txBox="1">
            <a:spLocks/>
          </p:cNvSpPr>
          <p:nvPr/>
        </p:nvSpPr>
        <p:spPr>
          <a:xfrm>
            <a:off x="1104900" y="4828478"/>
            <a:ext cx="6883403" cy="3323063"/>
          </a:xfrm>
          <a:prstGeom prst="rect">
            <a:avLst/>
          </a:prstGeom>
        </p:spPr>
        <p:txBody>
          <a:bodyPr vert="horz" lIns="91440" tIns="45720" rIns="91440" bIns="45720" rtlCol="0">
            <a:normAutofit fontScale="92500"/>
          </a:bodyPr>
          <a:lstStyle>
            <a:lvl1pPr marL="0" indent="0" algn="l" defTabSz="1219170" rtl="0" eaLnBrk="1" latinLnBrk="0" hangingPunct="1">
              <a:lnSpc>
                <a:spcPct val="100000"/>
              </a:lnSpc>
              <a:spcBef>
                <a:spcPts val="1333"/>
              </a:spcBef>
              <a:buClr>
                <a:schemeClr val="accent3"/>
              </a:buClr>
              <a:buFont typeface="Arial" panose="020B0604020202020204" pitchFamily="34" charset="0"/>
              <a:buNone/>
              <a:defRPr sz="2600" b="0" i="0" kern="1200">
                <a:solidFill>
                  <a:schemeClr val="tx1"/>
                </a:solidFill>
                <a:latin typeface="Arial" panose="020B0604020202020204" pitchFamily="34" charset="0"/>
                <a:ea typeface="+mn-ea"/>
                <a:cs typeface="Arial" panose="020B0604020202020204" pitchFamily="34" charset="0"/>
              </a:defRPr>
            </a:lvl1pPr>
            <a:lvl2pPr marL="91437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2pPr>
            <a:lvl3pPr marL="1523962"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3pPr>
            <a:lvl4pPr marL="213354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4pPr>
            <a:lvl5pPr marL="2743131"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r>
              <a:rPr lang="en-US" b="1" dirty="0"/>
              <a:t>Observations (align with intuition)</a:t>
            </a:r>
            <a:endParaRPr lang="en-US" dirty="0"/>
          </a:p>
          <a:p>
            <a:pPr marL="457200" indent="-457200">
              <a:buFont typeface="Arial" panose="020B0604020202020204" pitchFamily="34" charset="0"/>
              <a:buChar char="•"/>
            </a:pPr>
            <a:r>
              <a:rPr lang="en-US" dirty="0"/>
              <a:t>HWPLE decreases as starting age increases; </a:t>
            </a:r>
          </a:p>
          <a:p>
            <a:pPr marL="457200" indent="-457200">
              <a:buFont typeface="Arial" panose="020B0604020202020204" pitchFamily="34" charset="0"/>
              <a:buChar char="•"/>
            </a:pPr>
            <a:r>
              <a:rPr lang="en-US" dirty="0"/>
              <a:t>NNPLE decreases as starting age increases but proportionally less so than HWPLE;</a:t>
            </a:r>
          </a:p>
          <a:p>
            <a:pPr marL="457200" indent="-457200">
              <a:buFont typeface="Arial" panose="020B0604020202020204" pitchFamily="34" charset="0"/>
              <a:buChar char="•"/>
            </a:pPr>
            <a:r>
              <a:rPr lang="en-US" dirty="0"/>
              <a:t>The proportion of the working life to age 65 spent in the NN state is higher at older starting ages.</a:t>
            </a:r>
          </a:p>
        </p:txBody>
      </p:sp>
      <p:sp>
        <p:nvSpPr>
          <p:cNvPr id="10" name="TextBox 9">
            <a:extLst>
              <a:ext uri="{FF2B5EF4-FFF2-40B4-BE49-F238E27FC236}">
                <a16:creationId xmlns:a16="http://schemas.microsoft.com/office/drawing/2014/main" id="{D2466210-8A74-F4C3-95B1-80AD52C839C5}"/>
              </a:ext>
            </a:extLst>
          </p:cNvPr>
          <p:cNvSpPr txBox="1"/>
          <p:nvPr/>
        </p:nvSpPr>
        <p:spPr>
          <a:xfrm>
            <a:off x="4970657" y="2947206"/>
            <a:ext cx="2096429" cy="923330"/>
          </a:xfrm>
          <a:prstGeom prst="rect">
            <a:avLst/>
          </a:prstGeom>
          <a:solidFill>
            <a:srgbClr val="EF25E1"/>
          </a:solidFill>
        </p:spPr>
        <p:txBody>
          <a:bodyPr wrap="square" rtlCol="0">
            <a:spAutoFit/>
          </a:bodyPr>
          <a:lstStyle/>
          <a:p>
            <a:r>
              <a:rPr lang="en-GB" dirty="0"/>
              <a:t>Replace table with a chart…?</a:t>
            </a:r>
          </a:p>
          <a:p>
            <a:endParaRPr lang="en-GB" dirty="0"/>
          </a:p>
        </p:txBody>
      </p:sp>
    </p:spTree>
    <p:extLst>
      <p:ext uri="{BB962C8B-B14F-4D97-AF65-F5344CB8AC3E}">
        <p14:creationId xmlns:p14="http://schemas.microsoft.com/office/powerpoint/2010/main" val="6174206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4FA89-E889-0397-9722-4CBA6C59A27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2BF0C06-6EB5-5FB1-5B03-EED63E29A4D4}"/>
              </a:ext>
            </a:extLst>
          </p:cNvPr>
          <p:cNvSpPr>
            <a:spLocks noGrp="1"/>
          </p:cNvSpPr>
          <p:nvPr>
            <p:ph type="title"/>
          </p:nvPr>
        </p:nvSpPr>
        <p:spPr/>
        <p:txBody>
          <a:bodyPr/>
          <a:lstStyle/>
          <a:p>
            <a:r>
              <a:rPr lang="en-GB" dirty="0"/>
              <a:t>HWLE estimates</a:t>
            </a:r>
          </a:p>
        </p:txBody>
      </p:sp>
      <p:sp>
        <p:nvSpPr>
          <p:cNvPr id="5" name="Footer Placeholder 4">
            <a:extLst>
              <a:ext uri="{FF2B5EF4-FFF2-40B4-BE49-F238E27FC236}">
                <a16:creationId xmlns:a16="http://schemas.microsoft.com/office/drawing/2014/main" id="{D3C58FB8-B8F8-2996-6AAE-FD1EFC84ED46}"/>
              </a:ext>
            </a:extLst>
          </p:cNvPr>
          <p:cNvSpPr>
            <a:spLocks noGrp="1"/>
          </p:cNvSpPr>
          <p:nvPr>
            <p:ph type="ftr" sz="quarter" idx="3"/>
          </p:nvPr>
        </p:nvSpPr>
        <p:spPr>
          <a:xfrm>
            <a:off x="1117600" y="8368019"/>
            <a:ext cx="11368098" cy="486833"/>
          </a:xfrm>
        </p:spPr>
        <p:txBody>
          <a:bodyPr/>
          <a:lstStyle/>
          <a:p>
            <a:r>
              <a:rPr lang="en-GB" dirty="0" err="1"/>
              <a:t>IFoA</a:t>
            </a:r>
            <a:r>
              <a:rPr lang="en-GB" dirty="0"/>
              <a:t> Life Conference</a:t>
            </a:r>
          </a:p>
        </p:txBody>
      </p:sp>
      <p:sp>
        <p:nvSpPr>
          <p:cNvPr id="6" name="Slide Number Placeholder 5">
            <a:extLst>
              <a:ext uri="{FF2B5EF4-FFF2-40B4-BE49-F238E27FC236}">
                <a16:creationId xmlns:a16="http://schemas.microsoft.com/office/drawing/2014/main" id="{54D2A231-5AAF-0CF1-B4E9-BB22536AD559}"/>
              </a:ext>
            </a:extLst>
          </p:cNvPr>
          <p:cNvSpPr>
            <a:spLocks noGrp="1"/>
          </p:cNvSpPr>
          <p:nvPr>
            <p:ph type="sldNum" sz="quarter" idx="4"/>
          </p:nvPr>
        </p:nvSpPr>
        <p:spPr/>
        <p:txBody>
          <a:bodyPr/>
          <a:lstStyle/>
          <a:p>
            <a:fld id="{40FC62D0-A2F2-4BF8-8DAC-E86C11000EC3}" type="slidenum">
              <a:rPr lang="en-GB" smtClean="0"/>
              <a:pPr/>
              <a:t>25</a:t>
            </a:fld>
            <a:endParaRPr lang="en-GB" dirty="0"/>
          </a:p>
        </p:txBody>
      </p:sp>
      <p:sp>
        <p:nvSpPr>
          <p:cNvPr id="7" name="Text Placeholder 6">
            <a:extLst>
              <a:ext uri="{FF2B5EF4-FFF2-40B4-BE49-F238E27FC236}">
                <a16:creationId xmlns:a16="http://schemas.microsoft.com/office/drawing/2014/main" id="{422661E1-0E36-3223-F02F-509181897BF2}"/>
              </a:ext>
            </a:extLst>
          </p:cNvPr>
          <p:cNvSpPr>
            <a:spLocks noGrp="1"/>
          </p:cNvSpPr>
          <p:nvPr>
            <p:ph type="body" sz="quarter" idx="24"/>
          </p:nvPr>
        </p:nvSpPr>
        <p:spPr/>
        <p:txBody>
          <a:bodyPr/>
          <a:lstStyle/>
          <a:p>
            <a:r>
              <a:rPr lang="en-GB" dirty="0"/>
              <a:t>Examples for a sample of starting ages to age 65 for occupation class 1</a:t>
            </a:r>
          </a:p>
        </p:txBody>
      </p:sp>
      <p:sp>
        <p:nvSpPr>
          <p:cNvPr id="9" name="TextBox 8">
            <a:extLst>
              <a:ext uri="{FF2B5EF4-FFF2-40B4-BE49-F238E27FC236}">
                <a16:creationId xmlns:a16="http://schemas.microsoft.com/office/drawing/2014/main" id="{5E7F9954-27F2-7C15-B198-8ED68745E4AE}"/>
              </a:ext>
            </a:extLst>
          </p:cNvPr>
          <p:cNvSpPr txBox="1"/>
          <p:nvPr/>
        </p:nvSpPr>
        <p:spPr>
          <a:xfrm>
            <a:off x="12221737" y="256478"/>
            <a:ext cx="2096429" cy="369332"/>
          </a:xfrm>
          <a:prstGeom prst="rect">
            <a:avLst/>
          </a:prstGeom>
          <a:solidFill>
            <a:srgbClr val="EF25E1"/>
          </a:solidFill>
        </p:spPr>
        <p:txBody>
          <a:bodyPr wrap="square" rtlCol="0">
            <a:spAutoFit/>
          </a:bodyPr>
          <a:lstStyle/>
          <a:p>
            <a:r>
              <a:rPr lang="en-GB" dirty="0"/>
              <a:t>David 3 mins</a:t>
            </a:r>
          </a:p>
        </p:txBody>
      </p:sp>
      <p:sp>
        <p:nvSpPr>
          <p:cNvPr id="15" name="Rectangle: Rounded Corners 14">
            <a:extLst>
              <a:ext uri="{FF2B5EF4-FFF2-40B4-BE49-F238E27FC236}">
                <a16:creationId xmlns:a16="http://schemas.microsoft.com/office/drawing/2014/main" id="{B54D71DC-5082-FF38-CB2D-F1B50D588240}"/>
              </a:ext>
            </a:extLst>
          </p:cNvPr>
          <p:cNvSpPr/>
          <p:nvPr/>
        </p:nvSpPr>
        <p:spPr>
          <a:xfrm>
            <a:off x="1117600" y="1803756"/>
            <a:ext cx="6883400" cy="399855"/>
          </a:xfrm>
          <a:prstGeom prst="roundRect">
            <a:avLst/>
          </a:prstGeom>
          <a:solidFill>
            <a:srgbClr val="EF25E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Females</a:t>
            </a:r>
          </a:p>
        </p:txBody>
      </p:sp>
      <p:sp>
        <p:nvSpPr>
          <p:cNvPr id="17" name="Rectangle: Rounded Corners 16">
            <a:extLst>
              <a:ext uri="{FF2B5EF4-FFF2-40B4-BE49-F238E27FC236}">
                <a16:creationId xmlns:a16="http://schemas.microsoft.com/office/drawing/2014/main" id="{A45C65F9-035C-1C01-0BBE-88E3E86AD1A5}"/>
              </a:ext>
            </a:extLst>
          </p:cNvPr>
          <p:cNvSpPr/>
          <p:nvPr/>
        </p:nvSpPr>
        <p:spPr>
          <a:xfrm>
            <a:off x="8242300" y="1803755"/>
            <a:ext cx="6883400" cy="399855"/>
          </a:xfrm>
          <a:prstGeom prst="roundRect">
            <a:avLst/>
          </a:prstGeom>
          <a:solidFill>
            <a:srgbClr val="9400F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Males</a:t>
            </a:r>
          </a:p>
        </p:txBody>
      </p:sp>
      <p:graphicFrame>
        <p:nvGraphicFramePr>
          <p:cNvPr id="13" name="Content Placeholder 12">
            <a:extLst>
              <a:ext uri="{FF2B5EF4-FFF2-40B4-BE49-F238E27FC236}">
                <a16:creationId xmlns:a16="http://schemas.microsoft.com/office/drawing/2014/main" id="{CF37849F-63D6-40A1-8C60-CA7E96CFE145}"/>
              </a:ext>
            </a:extLst>
          </p:cNvPr>
          <p:cNvGraphicFramePr>
            <a:graphicFrameLocks noGrp="1"/>
          </p:cNvGraphicFramePr>
          <p:nvPr>
            <p:ph sz="quarter" idx="13"/>
            <p:extLst>
              <p:ext uri="{D42A27DB-BD31-4B8C-83A1-F6EECF244321}">
                <p14:modId xmlns:p14="http://schemas.microsoft.com/office/powerpoint/2010/main" val="2695513813"/>
              </p:ext>
            </p:extLst>
          </p:nvPr>
        </p:nvGraphicFramePr>
        <p:xfrm>
          <a:off x="1104900" y="2268538"/>
          <a:ext cx="6896100" cy="545941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9" name="Content Placeholder 18">
            <a:extLst>
              <a:ext uri="{FF2B5EF4-FFF2-40B4-BE49-F238E27FC236}">
                <a16:creationId xmlns:a16="http://schemas.microsoft.com/office/drawing/2014/main" id="{A50E3DA6-EABC-4BAE-A850-0B516D71E3C1}"/>
              </a:ext>
            </a:extLst>
          </p:cNvPr>
          <p:cNvGraphicFramePr>
            <a:graphicFrameLocks noGrp="1"/>
          </p:cNvGraphicFramePr>
          <p:nvPr>
            <p:ph sz="quarter" idx="25"/>
            <p:extLst>
              <p:ext uri="{D42A27DB-BD31-4B8C-83A1-F6EECF244321}">
                <p14:modId xmlns:p14="http://schemas.microsoft.com/office/powerpoint/2010/main" val="974170705"/>
              </p:ext>
            </p:extLst>
          </p:nvPr>
        </p:nvGraphicFramePr>
        <p:xfrm>
          <a:off x="8229600" y="2268538"/>
          <a:ext cx="6896100" cy="5459412"/>
        </p:xfrm>
        <a:graphic>
          <a:graphicData uri="http://schemas.openxmlformats.org/drawingml/2006/chart">
            <c:chart xmlns:c="http://schemas.openxmlformats.org/drawingml/2006/chart" xmlns:r="http://schemas.openxmlformats.org/officeDocument/2006/relationships" r:id="rId4"/>
          </a:graphicData>
        </a:graphic>
      </p:graphicFrame>
      <p:cxnSp>
        <p:nvCxnSpPr>
          <p:cNvPr id="8" name="Straight Arrow Connector 7">
            <a:extLst>
              <a:ext uri="{FF2B5EF4-FFF2-40B4-BE49-F238E27FC236}">
                <a16:creationId xmlns:a16="http://schemas.microsoft.com/office/drawing/2014/main" id="{ADCBD285-4780-CD70-8C16-374385FEA021}"/>
              </a:ext>
            </a:extLst>
          </p:cNvPr>
          <p:cNvCxnSpPr>
            <a:cxnSpLocks/>
          </p:cNvCxnSpPr>
          <p:nvPr/>
        </p:nvCxnSpPr>
        <p:spPr>
          <a:xfrm flipV="1">
            <a:off x="2189498" y="2531165"/>
            <a:ext cx="5589528" cy="8438"/>
          </a:xfrm>
          <a:prstGeom prst="straightConnector1">
            <a:avLst/>
          </a:prstGeom>
          <a:ln w="3175">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803718BE-6EA9-A88E-B635-65B4210E4316}"/>
              </a:ext>
            </a:extLst>
          </p:cNvPr>
          <p:cNvSpPr/>
          <p:nvPr/>
        </p:nvSpPr>
        <p:spPr>
          <a:xfrm>
            <a:off x="1104900" y="2372139"/>
            <a:ext cx="1089695" cy="3283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retire 65</a:t>
            </a:r>
          </a:p>
        </p:txBody>
      </p:sp>
      <p:sp>
        <p:nvSpPr>
          <p:cNvPr id="14" name="Rectangle 13">
            <a:extLst>
              <a:ext uri="{FF2B5EF4-FFF2-40B4-BE49-F238E27FC236}">
                <a16:creationId xmlns:a16="http://schemas.microsoft.com/office/drawing/2014/main" id="{19FA3C39-42AA-2549-2AF4-84A84D231373}"/>
              </a:ext>
            </a:extLst>
          </p:cNvPr>
          <p:cNvSpPr/>
          <p:nvPr/>
        </p:nvSpPr>
        <p:spPr>
          <a:xfrm>
            <a:off x="8242300" y="2367015"/>
            <a:ext cx="1089695" cy="3283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retire 65</a:t>
            </a:r>
          </a:p>
        </p:txBody>
      </p:sp>
      <p:cxnSp>
        <p:nvCxnSpPr>
          <p:cNvPr id="18" name="Straight Arrow Connector 17">
            <a:extLst>
              <a:ext uri="{FF2B5EF4-FFF2-40B4-BE49-F238E27FC236}">
                <a16:creationId xmlns:a16="http://schemas.microsoft.com/office/drawing/2014/main" id="{869C6EB6-2F70-A31A-3D5D-728A0A305AB2}"/>
              </a:ext>
            </a:extLst>
          </p:cNvPr>
          <p:cNvCxnSpPr>
            <a:cxnSpLocks/>
          </p:cNvCxnSpPr>
          <p:nvPr/>
        </p:nvCxnSpPr>
        <p:spPr>
          <a:xfrm flipV="1">
            <a:off x="9331995" y="2510987"/>
            <a:ext cx="5589528" cy="8438"/>
          </a:xfrm>
          <a:prstGeom prst="straightConnector1">
            <a:avLst/>
          </a:prstGeom>
          <a:ln w="3175">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09670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8CF54-8BDD-8869-5CB5-D74F7BB5D6B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008C8CE-1DCB-5ED4-4743-9E92F7FAA151}"/>
              </a:ext>
            </a:extLst>
          </p:cNvPr>
          <p:cNvSpPr>
            <a:spLocks noGrp="1"/>
          </p:cNvSpPr>
          <p:nvPr>
            <p:ph type="title"/>
          </p:nvPr>
        </p:nvSpPr>
        <p:spPr/>
        <p:txBody>
          <a:bodyPr/>
          <a:lstStyle/>
          <a:p>
            <a:r>
              <a:rPr lang="en-GB" dirty="0"/>
              <a:t>HWLE estimates</a:t>
            </a:r>
          </a:p>
        </p:txBody>
      </p:sp>
      <p:sp>
        <p:nvSpPr>
          <p:cNvPr id="5" name="Footer Placeholder 4">
            <a:extLst>
              <a:ext uri="{FF2B5EF4-FFF2-40B4-BE49-F238E27FC236}">
                <a16:creationId xmlns:a16="http://schemas.microsoft.com/office/drawing/2014/main" id="{2C066138-4A1D-40FD-522F-32C2BF035FE5}"/>
              </a:ext>
            </a:extLst>
          </p:cNvPr>
          <p:cNvSpPr>
            <a:spLocks noGrp="1"/>
          </p:cNvSpPr>
          <p:nvPr>
            <p:ph type="ftr" sz="quarter" idx="3"/>
          </p:nvPr>
        </p:nvSpPr>
        <p:spPr/>
        <p:txBody>
          <a:bodyPr/>
          <a:lstStyle/>
          <a:p>
            <a:r>
              <a:rPr lang="en-GB" dirty="0" err="1"/>
              <a:t>IFoA</a:t>
            </a:r>
            <a:r>
              <a:rPr lang="en-GB" dirty="0"/>
              <a:t> Life Conference</a:t>
            </a:r>
          </a:p>
        </p:txBody>
      </p:sp>
      <p:sp>
        <p:nvSpPr>
          <p:cNvPr id="6" name="Slide Number Placeholder 5">
            <a:extLst>
              <a:ext uri="{FF2B5EF4-FFF2-40B4-BE49-F238E27FC236}">
                <a16:creationId xmlns:a16="http://schemas.microsoft.com/office/drawing/2014/main" id="{B095A558-F69F-2685-BFB7-5CA1FECE5B6D}"/>
              </a:ext>
            </a:extLst>
          </p:cNvPr>
          <p:cNvSpPr>
            <a:spLocks noGrp="1"/>
          </p:cNvSpPr>
          <p:nvPr>
            <p:ph type="sldNum" sz="quarter" idx="4"/>
          </p:nvPr>
        </p:nvSpPr>
        <p:spPr/>
        <p:txBody>
          <a:bodyPr/>
          <a:lstStyle/>
          <a:p>
            <a:fld id="{40FC62D0-A2F2-4BF8-8DAC-E86C11000EC3}" type="slidenum">
              <a:rPr lang="en-GB" smtClean="0"/>
              <a:pPr/>
              <a:t>26</a:t>
            </a:fld>
            <a:endParaRPr lang="en-GB" dirty="0"/>
          </a:p>
        </p:txBody>
      </p:sp>
      <p:sp>
        <p:nvSpPr>
          <p:cNvPr id="7" name="Text Placeholder 6">
            <a:extLst>
              <a:ext uri="{FF2B5EF4-FFF2-40B4-BE49-F238E27FC236}">
                <a16:creationId xmlns:a16="http://schemas.microsoft.com/office/drawing/2014/main" id="{A0F88B37-4748-CE7B-8372-0D66F8EC1078}"/>
              </a:ext>
            </a:extLst>
          </p:cNvPr>
          <p:cNvSpPr>
            <a:spLocks noGrp="1"/>
          </p:cNvSpPr>
          <p:nvPr>
            <p:ph type="body" sz="quarter" idx="24"/>
          </p:nvPr>
        </p:nvSpPr>
        <p:spPr/>
        <p:txBody>
          <a:bodyPr/>
          <a:lstStyle/>
          <a:p>
            <a:r>
              <a:rPr lang="en-GB" dirty="0"/>
              <a:t>Examples to age 65 for the CMI Occupation Classes for starting age 50</a:t>
            </a:r>
          </a:p>
        </p:txBody>
      </p:sp>
      <p:sp>
        <p:nvSpPr>
          <p:cNvPr id="9" name="TextBox 8">
            <a:extLst>
              <a:ext uri="{FF2B5EF4-FFF2-40B4-BE49-F238E27FC236}">
                <a16:creationId xmlns:a16="http://schemas.microsoft.com/office/drawing/2014/main" id="{42C747A7-7566-F4B1-F857-EA60B06BF13C}"/>
              </a:ext>
            </a:extLst>
          </p:cNvPr>
          <p:cNvSpPr txBox="1"/>
          <p:nvPr/>
        </p:nvSpPr>
        <p:spPr>
          <a:xfrm>
            <a:off x="12221737" y="256478"/>
            <a:ext cx="2096429" cy="369332"/>
          </a:xfrm>
          <a:prstGeom prst="rect">
            <a:avLst/>
          </a:prstGeom>
          <a:solidFill>
            <a:srgbClr val="EF25E1"/>
          </a:solidFill>
        </p:spPr>
        <p:txBody>
          <a:bodyPr wrap="square" rtlCol="0">
            <a:spAutoFit/>
          </a:bodyPr>
          <a:lstStyle/>
          <a:p>
            <a:r>
              <a:rPr lang="en-GB" dirty="0"/>
              <a:t>David 3 mins</a:t>
            </a:r>
          </a:p>
        </p:txBody>
      </p:sp>
      <p:graphicFrame>
        <p:nvGraphicFramePr>
          <p:cNvPr id="11" name="Content Placeholder 10">
            <a:extLst>
              <a:ext uri="{FF2B5EF4-FFF2-40B4-BE49-F238E27FC236}">
                <a16:creationId xmlns:a16="http://schemas.microsoft.com/office/drawing/2014/main" id="{B9DD00AF-5E54-DB71-61FE-7DB22059D51E}"/>
              </a:ext>
            </a:extLst>
          </p:cNvPr>
          <p:cNvGraphicFramePr>
            <a:graphicFrameLocks noGrp="1"/>
          </p:cNvGraphicFramePr>
          <p:nvPr>
            <p:ph sz="quarter" idx="13"/>
            <p:extLst>
              <p:ext uri="{D42A27DB-BD31-4B8C-83A1-F6EECF244321}">
                <p14:modId xmlns:p14="http://schemas.microsoft.com/office/powerpoint/2010/main" val="3409773907"/>
              </p:ext>
            </p:extLst>
          </p:nvPr>
        </p:nvGraphicFramePr>
        <p:xfrm>
          <a:off x="1104900" y="2268538"/>
          <a:ext cx="6896100" cy="2216023"/>
        </p:xfrm>
        <a:graphic>
          <a:graphicData uri="http://schemas.openxmlformats.org/drawingml/2006/table">
            <a:tbl>
              <a:tblPr firstRow="1" bandRow="1">
                <a:tableStyleId>{5C22544A-7EE6-4342-B048-85BDC9FD1C3A}</a:tableStyleId>
              </a:tblPr>
              <a:tblGrid>
                <a:gridCol w="1724025">
                  <a:extLst>
                    <a:ext uri="{9D8B030D-6E8A-4147-A177-3AD203B41FA5}">
                      <a16:colId xmlns:a16="http://schemas.microsoft.com/office/drawing/2014/main" val="3390698310"/>
                    </a:ext>
                  </a:extLst>
                </a:gridCol>
                <a:gridCol w="1724025">
                  <a:extLst>
                    <a:ext uri="{9D8B030D-6E8A-4147-A177-3AD203B41FA5}">
                      <a16:colId xmlns:a16="http://schemas.microsoft.com/office/drawing/2014/main" val="225638235"/>
                    </a:ext>
                  </a:extLst>
                </a:gridCol>
                <a:gridCol w="1724025">
                  <a:extLst>
                    <a:ext uri="{9D8B030D-6E8A-4147-A177-3AD203B41FA5}">
                      <a16:colId xmlns:a16="http://schemas.microsoft.com/office/drawing/2014/main" val="3365838405"/>
                    </a:ext>
                  </a:extLst>
                </a:gridCol>
                <a:gridCol w="1724025">
                  <a:extLst>
                    <a:ext uri="{9D8B030D-6E8A-4147-A177-3AD203B41FA5}">
                      <a16:colId xmlns:a16="http://schemas.microsoft.com/office/drawing/2014/main" val="487192253"/>
                    </a:ext>
                  </a:extLst>
                </a:gridCol>
              </a:tblGrid>
              <a:tr h="370840">
                <a:tc>
                  <a:txBody>
                    <a:bodyPr/>
                    <a:lstStyle/>
                    <a:p>
                      <a:pP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Occupation Class</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Females</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Males</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Overall</a:t>
                      </a:r>
                      <a:endParaRPr lang="de-CH" sz="1800" dirty="0">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3744680824"/>
                  </a:ext>
                </a:extLst>
              </a:tr>
              <a:tr h="370840">
                <a:tc>
                  <a:txBody>
                    <a:bodyPr/>
                    <a:lstStyle/>
                    <a:p>
                      <a:pPr>
                        <a:lnSpc>
                          <a:spcPct val="115000"/>
                        </a:lnSpc>
                        <a:spcAft>
                          <a:spcPts val="1000"/>
                        </a:spcAft>
                        <a:buNone/>
                      </a:pPr>
                      <a:r>
                        <a:rPr lang="en-GB" sz="1800" b="1">
                          <a:effectLst/>
                          <a:latin typeface="+mn-lt"/>
                          <a:ea typeface="Calibri" panose="020F0502020204030204" pitchFamily="34" charset="0"/>
                          <a:cs typeface="Times New Roman" panose="02020603050405020304" pitchFamily="18" charset="0"/>
                        </a:rPr>
                        <a:t>CMI IP11 OC1</a:t>
                      </a:r>
                      <a:endParaRPr lang="de-CH" sz="180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dirty="0">
                          <a:effectLst/>
                          <a:latin typeface="+mn-lt"/>
                          <a:ea typeface="Calibri" panose="020F0502020204030204" pitchFamily="34" charset="0"/>
                          <a:cs typeface="Times New Roman" panose="02020603050405020304" pitchFamily="18" charset="0"/>
                        </a:rPr>
                        <a:t>13.5</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dirty="0">
                          <a:effectLst/>
                          <a:latin typeface="+mn-lt"/>
                          <a:ea typeface="Calibri" panose="020F0502020204030204" pitchFamily="34" charset="0"/>
                          <a:cs typeface="Times New Roman" panose="02020603050405020304" pitchFamily="18" charset="0"/>
                        </a:rPr>
                        <a:t>13.7</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a:effectLst/>
                          <a:latin typeface="+mn-lt"/>
                          <a:ea typeface="Calibri" panose="020F0502020204030204" pitchFamily="34" charset="0"/>
                          <a:cs typeface="Times New Roman" panose="02020603050405020304" pitchFamily="18" charset="0"/>
                        </a:rPr>
                        <a:t>13.6</a:t>
                      </a:r>
                      <a:endParaRPr lang="de-CH" sz="1800">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1636021954"/>
                  </a:ext>
                </a:extLst>
              </a:tr>
              <a:tr h="370840">
                <a:tc>
                  <a:txBody>
                    <a:bodyPr/>
                    <a:lstStyle/>
                    <a:p>
                      <a:pPr>
                        <a:lnSpc>
                          <a:spcPct val="115000"/>
                        </a:lnSpc>
                        <a:spcAft>
                          <a:spcPts val="1000"/>
                        </a:spcAft>
                        <a:buNone/>
                      </a:pPr>
                      <a:r>
                        <a:rPr lang="en-GB" sz="1800" b="1">
                          <a:effectLst/>
                          <a:latin typeface="+mn-lt"/>
                          <a:ea typeface="Calibri" panose="020F0502020204030204" pitchFamily="34" charset="0"/>
                          <a:cs typeface="Times New Roman" panose="02020603050405020304" pitchFamily="18" charset="0"/>
                        </a:rPr>
                        <a:t>CMI IP11 OC2</a:t>
                      </a:r>
                      <a:endParaRPr lang="de-CH" sz="180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dirty="0">
                          <a:effectLst/>
                          <a:latin typeface="+mn-lt"/>
                          <a:ea typeface="Calibri" panose="020F0502020204030204" pitchFamily="34" charset="0"/>
                          <a:cs typeface="Times New Roman" panose="02020603050405020304" pitchFamily="18" charset="0"/>
                        </a:rPr>
                        <a:t>13.7</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dirty="0">
                          <a:effectLst/>
                          <a:latin typeface="+mn-lt"/>
                          <a:ea typeface="Calibri" panose="020F0502020204030204" pitchFamily="34" charset="0"/>
                          <a:cs typeface="Times New Roman" panose="02020603050405020304" pitchFamily="18" charset="0"/>
                        </a:rPr>
                        <a:t>13.8</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13.8</a:t>
                      </a:r>
                      <a:endParaRPr lang="de-CH" sz="1800" dirty="0">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1980238256"/>
                  </a:ext>
                </a:extLst>
              </a:tr>
              <a:tr h="370840">
                <a:tc>
                  <a:txBody>
                    <a:bodyPr/>
                    <a:lstStyle/>
                    <a:p>
                      <a:pPr>
                        <a:lnSpc>
                          <a:spcPct val="115000"/>
                        </a:lnSpc>
                        <a:spcAft>
                          <a:spcPts val="1000"/>
                        </a:spcAft>
                        <a:buNone/>
                      </a:pPr>
                      <a:r>
                        <a:rPr lang="en-GB" sz="1800" b="1">
                          <a:effectLst/>
                          <a:latin typeface="+mn-lt"/>
                          <a:ea typeface="Calibri" panose="020F0502020204030204" pitchFamily="34" charset="0"/>
                          <a:cs typeface="Times New Roman" panose="02020603050405020304" pitchFamily="18" charset="0"/>
                        </a:rPr>
                        <a:t>CMI IP11 OC3</a:t>
                      </a:r>
                      <a:endParaRPr lang="de-CH" sz="180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a:effectLst/>
                          <a:latin typeface="+mn-lt"/>
                          <a:ea typeface="Calibri" panose="020F0502020204030204" pitchFamily="34" charset="0"/>
                          <a:cs typeface="Times New Roman" panose="02020603050405020304" pitchFamily="18" charset="0"/>
                        </a:rPr>
                        <a:t>13.3</a:t>
                      </a:r>
                      <a:endParaRPr lang="de-CH" sz="180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dirty="0">
                          <a:effectLst/>
                          <a:latin typeface="+mn-lt"/>
                          <a:ea typeface="Calibri" panose="020F0502020204030204" pitchFamily="34" charset="0"/>
                          <a:cs typeface="Times New Roman" panose="02020603050405020304" pitchFamily="18" charset="0"/>
                        </a:rPr>
                        <a:t>13.6</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13.5</a:t>
                      </a:r>
                      <a:endParaRPr lang="de-CH" sz="1800" dirty="0">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790822725"/>
                  </a:ext>
                </a:extLst>
              </a:tr>
              <a:tr h="370840">
                <a:tc>
                  <a:txBody>
                    <a:bodyPr/>
                    <a:lstStyle/>
                    <a:p>
                      <a:pPr>
                        <a:lnSpc>
                          <a:spcPct val="115000"/>
                        </a:lnSpc>
                        <a:spcAft>
                          <a:spcPts val="1000"/>
                        </a:spcAft>
                        <a:buNone/>
                      </a:pPr>
                      <a:r>
                        <a:rPr lang="en-GB" sz="1800" b="1">
                          <a:effectLst/>
                          <a:latin typeface="+mn-lt"/>
                          <a:ea typeface="Calibri" panose="020F0502020204030204" pitchFamily="34" charset="0"/>
                          <a:cs typeface="Times New Roman" panose="02020603050405020304" pitchFamily="18" charset="0"/>
                        </a:rPr>
                        <a:t>CMI IP11 OC4</a:t>
                      </a:r>
                      <a:endParaRPr lang="de-CH" sz="180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a:effectLst/>
                          <a:latin typeface="+mn-lt"/>
                          <a:ea typeface="Calibri" panose="020F0502020204030204" pitchFamily="34" charset="0"/>
                          <a:cs typeface="Times New Roman" panose="02020603050405020304" pitchFamily="18" charset="0"/>
                        </a:rPr>
                        <a:t>13.1</a:t>
                      </a:r>
                      <a:endParaRPr lang="de-CH" sz="180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dirty="0">
                          <a:effectLst/>
                          <a:latin typeface="+mn-lt"/>
                          <a:ea typeface="Calibri" panose="020F0502020204030204" pitchFamily="34" charset="0"/>
                          <a:cs typeface="Times New Roman" panose="02020603050405020304" pitchFamily="18" charset="0"/>
                        </a:rPr>
                        <a:t>13.4</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13.3</a:t>
                      </a:r>
                      <a:endParaRPr lang="de-CH" sz="1800" dirty="0">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3688239074"/>
                  </a:ext>
                </a:extLst>
              </a:tr>
            </a:tbl>
          </a:graphicData>
        </a:graphic>
      </p:graphicFrame>
      <p:graphicFrame>
        <p:nvGraphicFramePr>
          <p:cNvPr id="14" name="Content Placeholder 13">
            <a:extLst>
              <a:ext uri="{FF2B5EF4-FFF2-40B4-BE49-F238E27FC236}">
                <a16:creationId xmlns:a16="http://schemas.microsoft.com/office/drawing/2014/main" id="{73D841C4-1451-E99B-CB9F-1F6C5511764C}"/>
              </a:ext>
            </a:extLst>
          </p:cNvPr>
          <p:cNvGraphicFramePr>
            <a:graphicFrameLocks noGrp="1"/>
          </p:cNvGraphicFramePr>
          <p:nvPr>
            <p:ph sz="quarter" idx="25"/>
            <p:extLst>
              <p:ext uri="{D42A27DB-BD31-4B8C-83A1-F6EECF244321}">
                <p14:modId xmlns:p14="http://schemas.microsoft.com/office/powerpoint/2010/main" val="3450079707"/>
              </p:ext>
            </p:extLst>
          </p:nvPr>
        </p:nvGraphicFramePr>
        <p:xfrm>
          <a:off x="8229600" y="2268538"/>
          <a:ext cx="6896100" cy="2216023"/>
        </p:xfrm>
        <a:graphic>
          <a:graphicData uri="http://schemas.openxmlformats.org/drawingml/2006/table">
            <a:tbl>
              <a:tblPr firstRow="1" bandRow="1">
                <a:tableStyleId>{5C22544A-7EE6-4342-B048-85BDC9FD1C3A}</a:tableStyleId>
              </a:tblPr>
              <a:tblGrid>
                <a:gridCol w="1724025">
                  <a:extLst>
                    <a:ext uri="{9D8B030D-6E8A-4147-A177-3AD203B41FA5}">
                      <a16:colId xmlns:a16="http://schemas.microsoft.com/office/drawing/2014/main" val="680087131"/>
                    </a:ext>
                  </a:extLst>
                </a:gridCol>
                <a:gridCol w="1724025">
                  <a:extLst>
                    <a:ext uri="{9D8B030D-6E8A-4147-A177-3AD203B41FA5}">
                      <a16:colId xmlns:a16="http://schemas.microsoft.com/office/drawing/2014/main" val="384922801"/>
                    </a:ext>
                  </a:extLst>
                </a:gridCol>
                <a:gridCol w="1724025">
                  <a:extLst>
                    <a:ext uri="{9D8B030D-6E8A-4147-A177-3AD203B41FA5}">
                      <a16:colId xmlns:a16="http://schemas.microsoft.com/office/drawing/2014/main" val="1017100693"/>
                    </a:ext>
                  </a:extLst>
                </a:gridCol>
                <a:gridCol w="1724025">
                  <a:extLst>
                    <a:ext uri="{9D8B030D-6E8A-4147-A177-3AD203B41FA5}">
                      <a16:colId xmlns:a16="http://schemas.microsoft.com/office/drawing/2014/main" val="2351437070"/>
                    </a:ext>
                  </a:extLst>
                </a:gridCol>
              </a:tblGrid>
              <a:tr h="370840">
                <a:tc>
                  <a:txBody>
                    <a:bodyPr/>
                    <a:lstStyle/>
                    <a:p>
                      <a:pP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Occupation Class</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Females</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Males</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Overall</a:t>
                      </a:r>
                      <a:endParaRPr lang="de-CH" sz="1800" dirty="0">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408343909"/>
                  </a:ext>
                </a:extLst>
              </a:tr>
              <a:tr h="370840">
                <a:tc>
                  <a:txBody>
                    <a:bodyPr/>
                    <a:lstStyle/>
                    <a:p>
                      <a:pPr>
                        <a:lnSpc>
                          <a:spcPct val="115000"/>
                        </a:lnSpc>
                        <a:spcAft>
                          <a:spcPts val="1000"/>
                        </a:spcAft>
                        <a:buNone/>
                      </a:pPr>
                      <a:r>
                        <a:rPr lang="en-GB" sz="1800" b="1">
                          <a:effectLst/>
                          <a:latin typeface="+mn-lt"/>
                          <a:ea typeface="Calibri" panose="020F0502020204030204" pitchFamily="34" charset="0"/>
                          <a:cs typeface="Times New Roman" panose="02020603050405020304" pitchFamily="18" charset="0"/>
                        </a:rPr>
                        <a:t>CMI IP11 OC1</a:t>
                      </a:r>
                      <a:endParaRPr lang="de-CH" sz="1800">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0.9</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0.6</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0.7</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2433986512"/>
                  </a:ext>
                </a:extLst>
              </a:tr>
              <a:tr h="370840">
                <a:tc>
                  <a:txBody>
                    <a:bodyPr/>
                    <a:lstStyle/>
                    <a:p>
                      <a:pPr>
                        <a:lnSpc>
                          <a:spcPct val="115000"/>
                        </a:lnSpc>
                        <a:spcAft>
                          <a:spcPts val="1000"/>
                        </a:spcAft>
                        <a:buNone/>
                      </a:pPr>
                      <a:r>
                        <a:rPr lang="en-GB" sz="1800" b="1">
                          <a:effectLst/>
                          <a:latin typeface="+mn-lt"/>
                          <a:ea typeface="Calibri" panose="020F0502020204030204" pitchFamily="34" charset="0"/>
                          <a:cs typeface="Times New Roman" panose="02020603050405020304" pitchFamily="18" charset="0"/>
                        </a:rPr>
                        <a:t>CMI IP11 OC2</a:t>
                      </a:r>
                      <a:endParaRPr lang="de-CH" sz="1800">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0.7</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0.4</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0.6</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1708109034"/>
                  </a:ext>
                </a:extLst>
              </a:tr>
              <a:tr h="370840">
                <a:tc>
                  <a:txBody>
                    <a:bodyPr/>
                    <a:lstStyle/>
                    <a:p>
                      <a:pPr>
                        <a:lnSpc>
                          <a:spcPct val="115000"/>
                        </a:lnSpc>
                        <a:spcAft>
                          <a:spcPts val="1000"/>
                        </a:spcAft>
                        <a:buNone/>
                      </a:pPr>
                      <a:r>
                        <a:rPr lang="en-GB" sz="1800" b="1">
                          <a:effectLst/>
                          <a:latin typeface="+mn-lt"/>
                          <a:ea typeface="Calibri" panose="020F0502020204030204" pitchFamily="34" charset="0"/>
                          <a:cs typeface="Times New Roman" panose="02020603050405020304" pitchFamily="18" charset="0"/>
                        </a:rPr>
                        <a:t>CMI IP11 OC3</a:t>
                      </a:r>
                      <a:endParaRPr lang="de-CH" sz="1800">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1.0</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0.6</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0.8</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4174223381"/>
                  </a:ext>
                </a:extLst>
              </a:tr>
              <a:tr h="370840">
                <a:tc>
                  <a:txBody>
                    <a:bodyPr/>
                    <a:lstStyle/>
                    <a:p>
                      <a:pPr>
                        <a:lnSpc>
                          <a:spcPct val="115000"/>
                        </a:lnSpc>
                        <a:spcAft>
                          <a:spcPts val="1000"/>
                        </a:spcAft>
                        <a:buNone/>
                      </a:pPr>
                      <a:r>
                        <a:rPr lang="en-GB" sz="1800" b="1">
                          <a:effectLst/>
                          <a:latin typeface="+mn-lt"/>
                          <a:ea typeface="Calibri" panose="020F0502020204030204" pitchFamily="34" charset="0"/>
                          <a:cs typeface="Times New Roman" panose="02020603050405020304" pitchFamily="18" charset="0"/>
                        </a:rPr>
                        <a:t>CMI IP11 OC4</a:t>
                      </a:r>
                      <a:endParaRPr lang="de-CH" sz="1800">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1.2</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0.8</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1.0</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2704040027"/>
                  </a:ext>
                </a:extLst>
              </a:tr>
            </a:tbl>
          </a:graphicData>
        </a:graphic>
      </p:graphicFrame>
      <p:sp>
        <p:nvSpPr>
          <p:cNvPr id="15" name="Rectangle: Rounded Corners 14">
            <a:extLst>
              <a:ext uri="{FF2B5EF4-FFF2-40B4-BE49-F238E27FC236}">
                <a16:creationId xmlns:a16="http://schemas.microsoft.com/office/drawing/2014/main" id="{F7EC8274-5781-56E9-C934-A992CA178549}"/>
              </a:ext>
            </a:extLst>
          </p:cNvPr>
          <p:cNvSpPr/>
          <p:nvPr/>
        </p:nvSpPr>
        <p:spPr>
          <a:xfrm>
            <a:off x="1117600" y="1803756"/>
            <a:ext cx="6883400" cy="39985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Healthy Working Partial Life Expectancy, HWPLE</a:t>
            </a:r>
          </a:p>
        </p:txBody>
      </p:sp>
      <p:sp>
        <p:nvSpPr>
          <p:cNvPr id="17" name="Rectangle: Rounded Corners 16">
            <a:extLst>
              <a:ext uri="{FF2B5EF4-FFF2-40B4-BE49-F238E27FC236}">
                <a16:creationId xmlns:a16="http://schemas.microsoft.com/office/drawing/2014/main" id="{160201C9-28AA-6F60-29C4-73E027CA5B03}"/>
              </a:ext>
            </a:extLst>
          </p:cNvPr>
          <p:cNvSpPr/>
          <p:nvPr/>
        </p:nvSpPr>
        <p:spPr>
          <a:xfrm>
            <a:off x="8242300" y="1803755"/>
            <a:ext cx="6883400" cy="399855"/>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Not-Healthy Not-Working Partial Life Expectancy, NNPLE</a:t>
            </a:r>
          </a:p>
        </p:txBody>
      </p:sp>
      <p:sp>
        <p:nvSpPr>
          <p:cNvPr id="4" name="Content Placeholder 3">
            <a:extLst>
              <a:ext uri="{FF2B5EF4-FFF2-40B4-BE49-F238E27FC236}">
                <a16:creationId xmlns:a16="http://schemas.microsoft.com/office/drawing/2014/main" id="{900DC393-0497-3804-224A-9151F81C32C7}"/>
              </a:ext>
            </a:extLst>
          </p:cNvPr>
          <p:cNvSpPr txBox="1">
            <a:spLocks/>
          </p:cNvSpPr>
          <p:nvPr/>
        </p:nvSpPr>
        <p:spPr>
          <a:xfrm>
            <a:off x="8242300" y="4828478"/>
            <a:ext cx="6883403" cy="2900153"/>
          </a:xfrm>
          <a:prstGeom prst="rect">
            <a:avLst/>
          </a:prstGeom>
        </p:spPr>
        <p:txBody>
          <a:bodyPr vert="horz" lIns="91440" tIns="45720" rIns="91440" bIns="45720" rtlCol="0">
            <a:normAutofit fontScale="92500" lnSpcReduction="10000"/>
          </a:bodyPr>
          <a:lstStyle>
            <a:lvl1pPr marL="0" indent="0" algn="l" defTabSz="1219170" rtl="0" eaLnBrk="1" latinLnBrk="0" hangingPunct="1">
              <a:lnSpc>
                <a:spcPct val="100000"/>
              </a:lnSpc>
              <a:spcBef>
                <a:spcPts val="1333"/>
              </a:spcBef>
              <a:buClr>
                <a:schemeClr val="accent3"/>
              </a:buClr>
              <a:buFont typeface="Arial" panose="020B0604020202020204" pitchFamily="34" charset="0"/>
              <a:buNone/>
              <a:defRPr sz="2600" b="0" i="0" kern="1200">
                <a:solidFill>
                  <a:schemeClr val="tx1"/>
                </a:solidFill>
                <a:latin typeface="Arial" panose="020B0604020202020204" pitchFamily="34" charset="0"/>
                <a:ea typeface="+mn-ea"/>
                <a:cs typeface="Arial" panose="020B0604020202020204" pitchFamily="34" charset="0"/>
              </a:defRPr>
            </a:lvl1pPr>
            <a:lvl2pPr marL="91437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2pPr>
            <a:lvl3pPr marL="1523962"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3pPr>
            <a:lvl4pPr marL="213354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4pPr>
            <a:lvl5pPr marL="2743131"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r>
              <a:rPr lang="en-US" b="1" dirty="0"/>
              <a:t>Observations on NNPLE</a:t>
            </a:r>
            <a:endParaRPr lang="en-US" dirty="0"/>
          </a:p>
          <a:p>
            <a:pPr marL="457200" indent="-457200">
              <a:buFont typeface="Arial" panose="020B0604020202020204" pitchFamily="34" charset="0"/>
              <a:buChar char="•"/>
            </a:pPr>
            <a:r>
              <a:rPr lang="en-US" dirty="0"/>
              <a:t>NNPLE is lower for men than for women, across all 4 occupation classes;</a:t>
            </a:r>
          </a:p>
          <a:p>
            <a:pPr marL="457200" indent="-457200">
              <a:buFont typeface="Arial" panose="020B0604020202020204" pitchFamily="34" charset="0"/>
              <a:buChar char="•"/>
            </a:pPr>
            <a:r>
              <a:rPr lang="en-US" dirty="0"/>
              <a:t>NNPLE is lowest for occupation class 2, closely followed by class 1, then class 3 and class 4 has the highest NNPLE, i.e. the reverse order compared to HWPLE;</a:t>
            </a:r>
          </a:p>
          <a:p>
            <a:pPr marL="457200" indent="-457200">
              <a:buFont typeface="Arial" panose="020B0604020202020204" pitchFamily="34" charset="0"/>
              <a:buChar char="•"/>
            </a:pPr>
            <a:endParaRPr lang="en-GB" dirty="0"/>
          </a:p>
        </p:txBody>
      </p:sp>
      <p:sp>
        <p:nvSpPr>
          <p:cNvPr id="10" name="Content Placeholder 3">
            <a:extLst>
              <a:ext uri="{FF2B5EF4-FFF2-40B4-BE49-F238E27FC236}">
                <a16:creationId xmlns:a16="http://schemas.microsoft.com/office/drawing/2014/main" id="{05152491-59DF-6A90-5C86-8332FA231E0E}"/>
              </a:ext>
            </a:extLst>
          </p:cNvPr>
          <p:cNvSpPr txBox="1">
            <a:spLocks/>
          </p:cNvSpPr>
          <p:nvPr/>
        </p:nvSpPr>
        <p:spPr>
          <a:xfrm>
            <a:off x="1104900" y="4828478"/>
            <a:ext cx="6883403" cy="3910435"/>
          </a:xfrm>
          <a:prstGeom prst="rect">
            <a:avLst/>
          </a:prstGeom>
        </p:spPr>
        <p:txBody>
          <a:bodyPr vert="horz" lIns="91440" tIns="45720" rIns="91440" bIns="45720" rtlCol="0">
            <a:normAutofit fontScale="92500" lnSpcReduction="10000"/>
          </a:bodyPr>
          <a:lstStyle>
            <a:lvl1pPr marL="0" indent="0" algn="l" defTabSz="1219170" rtl="0" eaLnBrk="1" latinLnBrk="0" hangingPunct="1">
              <a:lnSpc>
                <a:spcPct val="100000"/>
              </a:lnSpc>
              <a:spcBef>
                <a:spcPts val="1333"/>
              </a:spcBef>
              <a:buClr>
                <a:schemeClr val="accent3"/>
              </a:buClr>
              <a:buFont typeface="Arial" panose="020B0604020202020204" pitchFamily="34" charset="0"/>
              <a:buNone/>
              <a:defRPr sz="2600" b="0" i="0" kern="1200">
                <a:solidFill>
                  <a:schemeClr val="tx1"/>
                </a:solidFill>
                <a:latin typeface="Arial" panose="020B0604020202020204" pitchFamily="34" charset="0"/>
                <a:ea typeface="+mn-ea"/>
                <a:cs typeface="Arial" panose="020B0604020202020204" pitchFamily="34" charset="0"/>
              </a:defRPr>
            </a:lvl1pPr>
            <a:lvl2pPr marL="91437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2pPr>
            <a:lvl3pPr marL="1523962"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3pPr>
            <a:lvl4pPr marL="213354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4pPr>
            <a:lvl5pPr marL="2743131"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r>
              <a:rPr lang="en-US" b="1" dirty="0"/>
              <a:t>Observations on HWPLE</a:t>
            </a:r>
            <a:endParaRPr lang="en-US" dirty="0"/>
          </a:p>
          <a:p>
            <a:pPr marL="457200" indent="-457200">
              <a:buFont typeface="Arial" panose="020B0604020202020204" pitchFamily="34" charset="0"/>
              <a:buChar char="•"/>
            </a:pPr>
            <a:r>
              <a:rPr lang="en-US" dirty="0"/>
              <a:t>HWPLE is higher for men than for women, across all 4 occupation classes;</a:t>
            </a:r>
          </a:p>
          <a:p>
            <a:pPr marL="457200" indent="-457200">
              <a:buFont typeface="Arial" panose="020B0604020202020204" pitchFamily="34" charset="0"/>
              <a:buChar char="•"/>
            </a:pPr>
            <a:r>
              <a:rPr lang="en-US" dirty="0"/>
              <a:t>HWPLE is highest for occupation class 2, closely followed by class 1, then class 3 and class 4 has the lowest HWPLE;</a:t>
            </a:r>
          </a:p>
          <a:p>
            <a:pPr marL="457200" indent="-457200">
              <a:buFont typeface="Arial" panose="020B0604020202020204" pitchFamily="34" charset="0"/>
              <a:buChar char="•"/>
            </a:pPr>
            <a:r>
              <a:rPr lang="en-US" dirty="0"/>
              <a:t>Across all 4 occupation classes, HWLE is higher for females than males at younger ages but switches to being higher for males than females at older ages.</a:t>
            </a:r>
          </a:p>
          <a:p>
            <a:pPr marL="457200" indent="-457200">
              <a:buFont typeface="Arial" panose="020B0604020202020204" pitchFamily="34" charset="0"/>
              <a:buChar char="•"/>
            </a:pPr>
            <a:endParaRPr lang="en-GB" dirty="0"/>
          </a:p>
        </p:txBody>
      </p:sp>
      <p:sp>
        <p:nvSpPr>
          <p:cNvPr id="8" name="TextBox 7">
            <a:extLst>
              <a:ext uri="{FF2B5EF4-FFF2-40B4-BE49-F238E27FC236}">
                <a16:creationId xmlns:a16="http://schemas.microsoft.com/office/drawing/2014/main" id="{A8A123B8-3A12-7664-B8D5-05DA5A466A1F}"/>
              </a:ext>
            </a:extLst>
          </p:cNvPr>
          <p:cNvSpPr txBox="1"/>
          <p:nvPr/>
        </p:nvSpPr>
        <p:spPr>
          <a:xfrm>
            <a:off x="6700274" y="3356004"/>
            <a:ext cx="2096429" cy="923330"/>
          </a:xfrm>
          <a:prstGeom prst="rect">
            <a:avLst/>
          </a:prstGeom>
          <a:solidFill>
            <a:srgbClr val="EF25E1"/>
          </a:solidFill>
        </p:spPr>
        <p:txBody>
          <a:bodyPr wrap="square" rtlCol="0">
            <a:spAutoFit/>
          </a:bodyPr>
          <a:lstStyle/>
          <a:p>
            <a:r>
              <a:rPr lang="en-GB" dirty="0"/>
              <a:t>Replace tables with a chart…?</a:t>
            </a:r>
          </a:p>
          <a:p>
            <a:endParaRPr lang="en-GB" dirty="0"/>
          </a:p>
        </p:txBody>
      </p:sp>
    </p:spTree>
    <p:extLst>
      <p:ext uri="{BB962C8B-B14F-4D97-AF65-F5344CB8AC3E}">
        <p14:creationId xmlns:p14="http://schemas.microsoft.com/office/powerpoint/2010/main" val="14610949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57DCEEEA-5289-C2DF-12B9-A920914EDE2E}"/>
              </a:ext>
            </a:extLst>
          </p:cNvPr>
          <p:cNvPicPr>
            <a:picLocks noGrp="1" noChangeAspect="1"/>
          </p:cNvPicPr>
          <p:nvPr>
            <p:ph sz="quarter" idx="25"/>
          </p:nvPr>
        </p:nvPicPr>
        <p:blipFill>
          <a:blip r:embed="rId4"/>
          <a:stretch>
            <a:fillRect/>
          </a:stretch>
        </p:blipFill>
        <p:spPr>
          <a:xfrm>
            <a:off x="1117600" y="2269309"/>
            <a:ext cx="14035197" cy="3579948"/>
          </a:xfrm>
          <a:prstGeom prst="rect">
            <a:avLst/>
          </a:prstGeom>
        </p:spPr>
      </p:pic>
      <p:sp>
        <p:nvSpPr>
          <p:cNvPr id="3" name="Content Placeholder 2">
            <a:extLst>
              <a:ext uri="{FF2B5EF4-FFF2-40B4-BE49-F238E27FC236}">
                <a16:creationId xmlns:a16="http://schemas.microsoft.com/office/drawing/2014/main" id="{3B457207-32EC-F84A-D0A3-9D5F51D506F2}"/>
              </a:ext>
            </a:extLst>
          </p:cNvPr>
          <p:cNvSpPr>
            <a:spLocks noGrp="1"/>
          </p:cNvSpPr>
          <p:nvPr>
            <p:ph sz="quarter" idx="26"/>
          </p:nvPr>
        </p:nvSpPr>
        <p:spPr>
          <a:xfrm>
            <a:off x="1117600" y="6023428"/>
            <a:ext cx="10875583" cy="2715485"/>
          </a:xfrm>
        </p:spPr>
        <p:txBody>
          <a:bodyPr>
            <a:normAutofit fontScale="92500" lnSpcReduction="20000"/>
          </a:bodyPr>
          <a:lstStyle/>
          <a:p>
            <a:pPr marL="457200" indent="-457200">
              <a:buFont typeface="Arial" panose="020B0604020202020204" pitchFamily="34" charset="0"/>
              <a:buChar char="•"/>
            </a:pPr>
            <a:r>
              <a:rPr lang="en-US" dirty="0"/>
              <a:t>derived from survey data (English Longitudinal Study of Aging, ELSA) for a representative sample of the UK population aged 50 and older. </a:t>
            </a:r>
          </a:p>
          <a:p>
            <a:pPr marL="457200" indent="-457200">
              <a:buFont typeface="Arial" panose="020B0604020202020204" pitchFamily="34" charset="0"/>
              <a:buChar char="•"/>
            </a:pPr>
            <a:r>
              <a:rPr lang="en-US" dirty="0"/>
              <a:t>results given for the average time spent in each of 4 healthy/working states from age 50 onwards. </a:t>
            </a:r>
          </a:p>
          <a:p>
            <a:pPr marL="457200" indent="-457200">
              <a:buFont typeface="Arial" panose="020B0604020202020204" pitchFamily="34" charset="0"/>
              <a:buChar char="•"/>
            </a:pPr>
            <a:r>
              <a:rPr lang="en-US" dirty="0"/>
              <a:t>retirement is not modelled</a:t>
            </a:r>
          </a:p>
          <a:p>
            <a:pPr marL="457200" indent="-457200">
              <a:buFont typeface="Arial" panose="020B0604020202020204" pitchFamily="34" charset="0"/>
              <a:buChar char="•"/>
            </a:pPr>
            <a:r>
              <a:rPr lang="en-US" dirty="0"/>
              <a:t>lives can be in any of the 4 states at age 50, unlike in our modelling in which all lives start in the Working state.</a:t>
            </a:r>
            <a:endParaRPr lang="en-GB" dirty="0"/>
          </a:p>
        </p:txBody>
      </p:sp>
      <p:sp>
        <p:nvSpPr>
          <p:cNvPr id="4" name="Footer Placeholder 3">
            <a:extLst>
              <a:ext uri="{FF2B5EF4-FFF2-40B4-BE49-F238E27FC236}">
                <a16:creationId xmlns:a16="http://schemas.microsoft.com/office/drawing/2014/main" id="{2706395D-14AC-9E6F-7BE6-F4DED788D96E}"/>
              </a:ext>
            </a:extLst>
          </p:cNvPr>
          <p:cNvSpPr>
            <a:spLocks noGrp="1"/>
          </p:cNvSpPr>
          <p:nvPr>
            <p:ph type="ftr" sz="quarter" idx="3"/>
          </p:nvPr>
        </p:nvSpPr>
        <p:spPr/>
        <p:txBody>
          <a:bodyPr/>
          <a:lstStyle/>
          <a:p>
            <a:r>
              <a:rPr lang="en-GB"/>
              <a:t>IFoA Life Conference</a:t>
            </a:r>
            <a:endParaRPr lang="en-GB" dirty="0"/>
          </a:p>
        </p:txBody>
      </p:sp>
      <p:sp>
        <p:nvSpPr>
          <p:cNvPr id="5" name="Slide Number Placeholder 4">
            <a:extLst>
              <a:ext uri="{FF2B5EF4-FFF2-40B4-BE49-F238E27FC236}">
                <a16:creationId xmlns:a16="http://schemas.microsoft.com/office/drawing/2014/main" id="{EFC9B602-F65F-0E35-3F0A-1EF8D8941E8A}"/>
              </a:ext>
            </a:extLst>
          </p:cNvPr>
          <p:cNvSpPr>
            <a:spLocks noGrp="1"/>
          </p:cNvSpPr>
          <p:nvPr>
            <p:ph type="sldNum" sz="quarter" idx="4"/>
          </p:nvPr>
        </p:nvSpPr>
        <p:spPr/>
        <p:txBody>
          <a:bodyPr/>
          <a:lstStyle/>
          <a:p>
            <a:fld id="{40FC62D0-A2F2-4BF8-8DAC-E86C11000EC3}" type="slidenum">
              <a:rPr lang="en-GB" smtClean="0"/>
              <a:pPr/>
              <a:t>27</a:t>
            </a:fld>
            <a:endParaRPr lang="en-GB" dirty="0"/>
          </a:p>
        </p:txBody>
      </p:sp>
      <p:sp>
        <p:nvSpPr>
          <p:cNvPr id="6" name="Text Placeholder 5">
            <a:extLst>
              <a:ext uri="{FF2B5EF4-FFF2-40B4-BE49-F238E27FC236}">
                <a16:creationId xmlns:a16="http://schemas.microsoft.com/office/drawing/2014/main" id="{1EB89AFA-7DEC-C9B7-5736-692E186DC3CC}"/>
              </a:ext>
            </a:extLst>
          </p:cNvPr>
          <p:cNvSpPr>
            <a:spLocks noGrp="1"/>
          </p:cNvSpPr>
          <p:nvPr>
            <p:ph type="body" sz="quarter" idx="24"/>
          </p:nvPr>
        </p:nvSpPr>
        <p:spPr/>
        <p:txBody>
          <a:bodyPr/>
          <a:lstStyle/>
          <a:p>
            <a:r>
              <a:rPr lang="en-US" dirty="0"/>
              <a:t>Parker et al. (2020) developed estimates of HWLE for UK lives starting at age 50</a:t>
            </a:r>
          </a:p>
          <a:p>
            <a:endParaRPr lang="en-GB" dirty="0"/>
          </a:p>
        </p:txBody>
      </p:sp>
      <p:sp>
        <p:nvSpPr>
          <p:cNvPr id="7" name="Title 6">
            <a:extLst>
              <a:ext uri="{FF2B5EF4-FFF2-40B4-BE49-F238E27FC236}">
                <a16:creationId xmlns:a16="http://schemas.microsoft.com/office/drawing/2014/main" id="{7F38B4A6-C99A-71E4-E782-A7F1070EAB09}"/>
              </a:ext>
            </a:extLst>
          </p:cNvPr>
          <p:cNvSpPr>
            <a:spLocks noGrp="1"/>
          </p:cNvSpPr>
          <p:nvPr>
            <p:ph type="title"/>
          </p:nvPr>
        </p:nvSpPr>
        <p:spPr/>
        <p:txBody>
          <a:bodyPr/>
          <a:lstStyle/>
          <a:p>
            <a:r>
              <a:rPr lang="en-GB" dirty="0"/>
              <a:t>HWLE comparisons with other published results</a:t>
            </a:r>
          </a:p>
        </p:txBody>
      </p:sp>
      <p:sp>
        <p:nvSpPr>
          <p:cNvPr id="12" name="TextBox 11">
            <a:extLst>
              <a:ext uri="{FF2B5EF4-FFF2-40B4-BE49-F238E27FC236}">
                <a16:creationId xmlns:a16="http://schemas.microsoft.com/office/drawing/2014/main" id="{BCD1D04D-63F5-7021-B1D5-316F59C49BF5}"/>
              </a:ext>
            </a:extLst>
          </p:cNvPr>
          <p:cNvSpPr txBox="1"/>
          <p:nvPr/>
        </p:nvSpPr>
        <p:spPr>
          <a:xfrm>
            <a:off x="12221737" y="256478"/>
            <a:ext cx="2096429" cy="369332"/>
          </a:xfrm>
          <a:prstGeom prst="rect">
            <a:avLst/>
          </a:prstGeom>
          <a:solidFill>
            <a:srgbClr val="EF25E1"/>
          </a:solidFill>
        </p:spPr>
        <p:txBody>
          <a:bodyPr wrap="square" rtlCol="0">
            <a:spAutoFit/>
          </a:bodyPr>
          <a:lstStyle/>
          <a:p>
            <a:r>
              <a:rPr lang="en-GB" dirty="0"/>
              <a:t>David 2 mins</a:t>
            </a:r>
          </a:p>
        </p:txBody>
      </p:sp>
      <p:sp>
        <p:nvSpPr>
          <p:cNvPr id="14" name="Oval 13">
            <a:extLst>
              <a:ext uri="{FF2B5EF4-FFF2-40B4-BE49-F238E27FC236}">
                <a16:creationId xmlns:a16="http://schemas.microsoft.com/office/drawing/2014/main" id="{732B0737-4EC0-3F72-0D29-30215D962BAF}"/>
              </a:ext>
            </a:extLst>
          </p:cNvPr>
          <p:cNvSpPr/>
          <p:nvPr/>
        </p:nvSpPr>
        <p:spPr>
          <a:xfrm>
            <a:off x="5327373" y="3567072"/>
            <a:ext cx="1364975" cy="660371"/>
          </a:xfrm>
          <a:prstGeom prst="ellipse">
            <a:avLst/>
          </a:prstGeom>
          <a:noFill/>
          <a:ln w="635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D8AAC043-B137-C1B9-7D10-0DFD3A630D45}"/>
              </a:ext>
            </a:extLst>
          </p:cNvPr>
          <p:cNvSpPr/>
          <p:nvPr/>
        </p:nvSpPr>
        <p:spPr>
          <a:xfrm>
            <a:off x="9899373" y="3567071"/>
            <a:ext cx="1364975" cy="660371"/>
          </a:xfrm>
          <a:prstGeom prst="ellipse">
            <a:avLst/>
          </a:prstGeom>
          <a:noFill/>
          <a:ln w="635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a:extLst>
              <a:ext uri="{FF2B5EF4-FFF2-40B4-BE49-F238E27FC236}">
                <a16:creationId xmlns:a16="http://schemas.microsoft.com/office/drawing/2014/main" id="{C16A4435-7093-25EA-315D-3278257C337D}"/>
              </a:ext>
            </a:extLst>
          </p:cNvPr>
          <p:cNvSpPr/>
          <p:nvPr/>
        </p:nvSpPr>
        <p:spPr>
          <a:xfrm>
            <a:off x="13473042" y="6249883"/>
            <a:ext cx="1364975" cy="660371"/>
          </a:xfrm>
          <a:prstGeom prst="ellipse">
            <a:avLst/>
          </a:prstGeom>
          <a:noFill/>
          <a:ln w="635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dirty="0">
                <a:solidFill>
                  <a:schemeClr val="tx1"/>
                </a:solidFill>
              </a:rPr>
              <a:t>12.48</a:t>
            </a:r>
          </a:p>
        </p:txBody>
      </p:sp>
      <p:cxnSp>
        <p:nvCxnSpPr>
          <p:cNvPr id="22" name="Straight Connector 21">
            <a:extLst>
              <a:ext uri="{FF2B5EF4-FFF2-40B4-BE49-F238E27FC236}">
                <a16:creationId xmlns:a16="http://schemas.microsoft.com/office/drawing/2014/main" id="{D5F57B14-FD71-58A6-8632-7498730A8A86}"/>
              </a:ext>
            </a:extLst>
          </p:cNvPr>
          <p:cNvCxnSpPr>
            <a:stCxn id="14" idx="5"/>
            <a:endCxn id="20" idx="1"/>
          </p:cNvCxnSpPr>
          <p:nvPr/>
        </p:nvCxnSpPr>
        <p:spPr>
          <a:xfrm>
            <a:off x="6492452" y="4130734"/>
            <a:ext cx="7180486" cy="2215858"/>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2EF9FA1-A966-CA14-3D3D-766BACDDE713}"/>
              </a:ext>
            </a:extLst>
          </p:cNvPr>
          <p:cNvCxnSpPr>
            <a:cxnSpLocks/>
            <a:stCxn id="18" idx="5"/>
            <a:endCxn id="20" idx="1"/>
          </p:cNvCxnSpPr>
          <p:nvPr/>
        </p:nvCxnSpPr>
        <p:spPr>
          <a:xfrm>
            <a:off x="11064452" y="4130733"/>
            <a:ext cx="2608486" cy="2215859"/>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9A01BAB8-3797-3C6B-C849-673C50BCABF9}"/>
              </a:ext>
            </a:extLst>
          </p:cNvPr>
          <p:cNvSpPr/>
          <p:nvPr/>
        </p:nvSpPr>
        <p:spPr>
          <a:xfrm>
            <a:off x="12655825" y="7310880"/>
            <a:ext cx="3339549" cy="660371"/>
          </a:xfrm>
          <a:prstGeom prst="ellipse">
            <a:avLst/>
          </a:prstGeom>
          <a:noFill/>
          <a:ln w="635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dirty="0">
                <a:solidFill>
                  <a:schemeClr val="tx1"/>
                </a:solidFill>
              </a:rPr>
              <a:t>compare 13.6</a:t>
            </a:r>
          </a:p>
        </p:txBody>
      </p:sp>
      <p:cxnSp>
        <p:nvCxnSpPr>
          <p:cNvPr id="9" name="Straight Connector 8">
            <a:extLst>
              <a:ext uri="{FF2B5EF4-FFF2-40B4-BE49-F238E27FC236}">
                <a16:creationId xmlns:a16="http://schemas.microsoft.com/office/drawing/2014/main" id="{820E8359-4A91-8641-90C2-AAE22610C83E}"/>
              </a:ext>
            </a:extLst>
          </p:cNvPr>
          <p:cNvCxnSpPr>
            <a:cxnSpLocks/>
            <a:stCxn id="8" idx="0"/>
            <a:endCxn id="20" idx="4"/>
          </p:cNvCxnSpPr>
          <p:nvPr/>
        </p:nvCxnSpPr>
        <p:spPr>
          <a:xfrm flipH="1" flipV="1">
            <a:off x="14155530" y="6910254"/>
            <a:ext cx="170070" cy="400626"/>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9583959"/>
      </p:ext>
    </p:extLst>
  </p:cSld>
  <p:clrMapOvr>
    <a:masterClrMapping/>
  </p:clrMapOvr>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7E176-6756-2115-FD4A-8EAEFFF86C90}"/>
              </a:ext>
            </a:extLst>
          </p:cNvPr>
          <p:cNvSpPr>
            <a:spLocks noGrp="1"/>
          </p:cNvSpPr>
          <p:nvPr>
            <p:ph type="title"/>
          </p:nvPr>
        </p:nvSpPr>
        <p:spPr/>
        <p:txBody>
          <a:bodyPr/>
          <a:lstStyle/>
          <a:p>
            <a:r>
              <a:rPr lang="en-GB" dirty="0"/>
              <a:t>Coming soon</a:t>
            </a:r>
          </a:p>
        </p:txBody>
      </p:sp>
      <p:sp>
        <p:nvSpPr>
          <p:cNvPr id="3" name="Content Placeholder 2">
            <a:extLst>
              <a:ext uri="{FF2B5EF4-FFF2-40B4-BE49-F238E27FC236}">
                <a16:creationId xmlns:a16="http://schemas.microsoft.com/office/drawing/2014/main" id="{AC833D40-BD33-FBBF-482A-E0A487658DC1}"/>
              </a:ext>
            </a:extLst>
          </p:cNvPr>
          <p:cNvSpPr>
            <a:spLocks noGrp="1"/>
          </p:cNvSpPr>
          <p:nvPr>
            <p:ph sz="quarter" idx="25"/>
          </p:nvPr>
        </p:nvSpPr>
        <p:spPr/>
        <p:txBody>
          <a:bodyPr/>
          <a:lstStyle/>
          <a:p>
            <a:r>
              <a:rPr lang="en-GB" b="1" dirty="0"/>
              <a:t>Health Thinktanks</a:t>
            </a:r>
          </a:p>
          <a:p>
            <a:pPr marL="457200" indent="-457200">
              <a:buFont typeface="Arial" panose="020B0604020202020204" pitchFamily="34" charset="0"/>
              <a:buChar char="•"/>
            </a:pPr>
            <a:r>
              <a:rPr lang="en-US" dirty="0"/>
              <a:t>The Health Foundation</a:t>
            </a:r>
          </a:p>
          <a:p>
            <a:pPr marL="457200" indent="-457200">
              <a:buFont typeface="Arial" panose="020B0604020202020204" pitchFamily="34" charset="0"/>
              <a:buChar char="•"/>
            </a:pPr>
            <a:r>
              <a:rPr lang="en-US" dirty="0"/>
              <a:t>The Kings Fund</a:t>
            </a:r>
          </a:p>
          <a:p>
            <a:pPr marL="457200" indent="-457200">
              <a:buFont typeface="Arial" panose="020B0604020202020204" pitchFamily="34" charset="0"/>
              <a:buChar char="•"/>
            </a:pPr>
            <a:r>
              <a:rPr lang="en-US" dirty="0"/>
              <a:t>Nuffield Trust</a:t>
            </a:r>
          </a:p>
        </p:txBody>
      </p:sp>
      <p:sp>
        <p:nvSpPr>
          <p:cNvPr id="4" name="Content Placeholder 3">
            <a:extLst>
              <a:ext uri="{FF2B5EF4-FFF2-40B4-BE49-F238E27FC236}">
                <a16:creationId xmlns:a16="http://schemas.microsoft.com/office/drawing/2014/main" id="{2FDFF831-707E-6647-F485-5E3852E1F082}"/>
              </a:ext>
            </a:extLst>
          </p:cNvPr>
          <p:cNvSpPr>
            <a:spLocks noGrp="1"/>
          </p:cNvSpPr>
          <p:nvPr>
            <p:ph sz="quarter" idx="26"/>
          </p:nvPr>
        </p:nvSpPr>
        <p:spPr/>
        <p:txBody>
          <a:bodyPr>
            <a:normAutofit fontScale="85000" lnSpcReduction="20000"/>
          </a:bodyPr>
          <a:lstStyle/>
          <a:p>
            <a:r>
              <a:rPr lang="en-GB" b="1" dirty="0" err="1"/>
              <a:t>IFoA</a:t>
            </a:r>
            <a:r>
              <a:rPr lang="en-GB" b="1" dirty="0"/>
              <a:t> Healthy Workforce WP</a:t>
            </a:r>
          </a:p>
          <a:p>
            <a:pPr marL="457200" indent="-457200">
              <a:buFont typeface="Arial" panose="020B0604020202020204" pitchFamily="34" charset="0"/>
              <a:buChar char="•"/>
            </a:pPr>
            <a:r>
              <a:rPr lang="en-US" dirty="0"/>
              <a:t>modelling a range of retirements ages;</a:t>
            </a:r>
          </a:p>
          <a:p>
            <a:pPr marL="457200" indent="-457200">
              <a:buFont typeface="Arial" panose="020B0604020202020204" pitchFamily="34" charset="0"/>
              <a:buChar char="•"/>
            </a:pPr>
            <a:r>
              <a:rPr lang="en-US" dirty="0"/>
              <a:t>alternative definitions of 'healthy' and 'working';</a:t>
            </a:r>
          </a:p>
          <a:p>
            <a:pPr marL="457200" indent="-457200">
              <a:buFont typeface="Arial" panose="020B0604020202020204" pitchFamily="34" charset="0"/>
              <a:buChar char="•"/>
            </a:pPr>
            <a:r>
              <a:rPr lang="en-US" dirty="0"/>
              <a:t>CMI data over time periods to give indications of trends over time;</a:t>
            </a:r>
          </a:p>
          <a:p>
            <a:pPr marL="457200" indent="-457200">
              <a:buFont typeface="Arial" panose="020B0604020202020204" pitchFamily="34" charset="0"/>
              <a:buChar char="•"/>
            </a:pPr>
            <a:r>
              <a:rPr lang="en-US" dirty="0"/>
              <a:t>rates derived from population surveys to provide further benchmarks;</a:t>
            </a:r>
          </a:p>
          <a:p>
            <a:pPr marL="457200" indent="-457200">
              <a:buFont typeface="Arial" panose="020B0604020202020204" pitchFamily="34" charset="0"/>
              <a:buChar char="•"/>
            </a:pPr>
            <a:r>
              <a:rPr lang="en-US" dirty="0"/>
              <a:t>transition rates that are derived from administrative data held by UK public authorities such as the DWP;</a:t>
            </a:r>
          </a:p>
          <a:p>
            <a:pPr marL="457200" indent="-457200">
              <a:buFont typeface="Arial" panose="020B0604020202020204" pitchFamily="34" charset="0"/>
              <a:buChar char="•"/>
            </a:pPr>
            <a:r>
              <a:rPr lang="en-US" dirty="0"/>
              <a:t>international comparisons</a:t>
            </a:r>
          </a:p>
        </p:txBody>
      </p:sp>
      <p:sp>
        <p:nvSpPr>
          <p:cNvPr id="5" name="Content Placeholder 4">
            <a:extLst>
              <a:ext uri="{FF2B5EF4-FFF2-40B4-BE49-F238E27FC236}">
                <a16:creationId xmlns:a16="http://schemas.microsoft.com/office/drawing/2014/main" id="{D3BBCFB3-7392-707F-86DE-DC01731BB5DF}"/>
              </a:ext>
            </a:extLst>
          </p:cNvPr>
          <p:cNvSpPr>
            <a:spLocks noGrp="1"/>
          </p:cNvSpPr>
          <p:nvPr>
            <p:ph sz="quarter" idx="13"/>
          </p:nvPr>
        </p:nvSpPr>
        <p:spPr/>
        <p:txBody>
          <a:bodyPr/>
          <a:lstStyle/>
          <a:p>
            <a:r>
              <a:rPr lang="en-GB" b="1" dirty="0"/>
              <a:t>UK government</a:t>
            </a:r>
          </a:p>
        </p:txBody>
      </p:sp>
      <p:sp>
        <p:nvSpPr>
          <p:cNvPr id="6" name="Footer Placeholder 5">
            <a:extLst>
              <a:ext uri="{FF2B5EF4-FFF2-40B4-BE49-F238E27FC236}">
                <a16:creationId xmlns:a16="http://schemas.microsoft.com/office/drawing/2014/main" id="{80D52AD7-8BEF-5606-82BF-4ACC3FE11604}"/>
              </a:ext>
            </a:extLst>
          </p:cNvPr>
          <p:cNvSpPr>
            <a:spLocks noGrp="1"/>
          </p:cNvSpPr>
          <p:nvPr>
            <p:ph type="ftr" sz="quarter" idx="3"/>
          </p:nvPr>
        </p:nvSpPr>
        <p:spPr/>
        <p:txBody>
          <a:bodyPr/>
          <a:lstStyle/>
          <a:p>
            <a:r>
              <a:rPr lang="en-GB" dirty="0" err="1"/>
              <a:t>IFoA</a:t>
            </a:r>
            <a:r>
              <a:rPr lang="en-GB" dirty="0"/>
              <a:t> Life Conference</a:t>
            </a:r>
          </a:p>
        </p:txBody>
      </p:sp>
      <p:sp>
        <p:nvSpPr>
          <p:cNvPr id="7" name="Slide Number Placeholder 6">
            <a:extLst>
              <a:ext uri="{FF2B5EF4-FFF2-40B4-BE49-F238E27FC236}">
                <a16:creationId xmlns:a16="http://schemas.microsoft.com/office/drawing/2014/main" id="{C2193FEE-8005-D41D-FA4E-3006171144A4}"/>
              </a:ext>
            </a:extLst>
          </p:cNvPr>
          <p:cNvSpPr>
            <a:spLocks noGrp="1"/>
          </p:cNvSpPr>
          <p:nvPr>
            <p:ph type="sldNum" sz="quarter" idx="4"/>
          </p:nvPr>
        </p:nvSpPr>
        <p:spPr/>
        <p:txBody>
          <a:bodyPr/>
          <a:lstStyle/>
          <a:p>
            <a:fld id="{40FC62D0-A2F2-4BF8-8DAC-E86C11000EC3}" type="slidenum">
              <a:rPr lang="en-GB" smtClean="0"/>
              <a:pPr/>
              <a:t>28</a:t>
            </a:fld>
            <a:endParaRPr lang="en-GB" dirty="0"/>
          </a:p>
        </p:txBody>
      </p:sp>
      <p:sp>
        <p:nvSpPr>
          <p:cNvPr id="8" name="Text Placeholder 7">
            <a:extLst>
              <a:ext uri="{FF2B5EF4-FFF2-40B4-BE49-F238E27FC236}">
                <a16:creationId xmlns:a16="http://schemas.microsoft.com/office/drawing/2014/main" id="{215E353C-CACF-8EB4-6E51-2235EFA96A00}"/>
              </a:ext>
            </a:extLst>
          </p:cNvPr>
          <p:cNvSpPr>
            <a:spLocks noGrp="1"/>
          </p:cNvSpPr>
          <p:nvPr>
            <p:ph type="body" sz="quarter" idx="24"/>
          </p:nvPr>
        </p:nvSpPr>
        <p:spPr/>
        <p:txBody>
          <a:bodyPr/>
          <a:lstStyle/>
          <a:p>
            <a:r>
              <a:rPr lang="en-GB" dirty="0"/>
              <a:t>Policy initiatives and planned research</a:t>
            </a:r>
          </a:p>
          <a:p>
            <a:endParaRPr lang="en-GB" dirty="0"/>
          </a:p>
        </p:txBody>
      </p:sp>
      <p:pic>
        <p:nvPicPr>
          <p:cNvPr id="10" name="Picture 9">
            <a:extLst>
              <a:ext uri="{FF2B5EF4-FFF2-40B4-BE49-F238E27FC236}">
                <a16:creationId xmlns:a16="http://schemas.microsoft.com/office/drawing/2014/main" id="{34F33C4E-EF09-B663-C641-F4FB2F492CA8}"/>
              </a:ext>
            </a:extLst>
          </p:cNvPr>
          <p:cNvPicPr>
            <a:picLocks noChangeAspect="1"/>
          </p:cNvPicPr>
          <p:nvPr/>
        </p:nvPicPr>
        <p:blipFill>
          <a:blip r:embed="rId3"/>
          <a:stretch>
            <a:fillRect/>
          </a:stretch>
        </p:blipFill>
        <p:spPr>
          <a:xfrm>
            <a:off x="1117600" y="2923223"/>
            <a:ext cx="4435365" cy="4188040"/>
          </a:xfrm>
          <a:prstGeom prst="rect">
            <a:avLst/>
          </a:prstGeom>
        </p:spPr>
      </p:pic>
      <p:sp>
        <p:nvSpPr>
          <p:cNvPr id="11" name="TextBox 10">
            <a:extLst>
              <a:ext uri="{FF2B5EF4-FFF2-40B4-BE49-F238E27FC236}">
                <a16:creationId xmlns:a16="http://schemas.microsoft.com/office/drawing/2014/main" id="{E753D356-95C4-9C7F-281A-1EFA62A255AD}"/>
              </a:ext>
            </a:extLst>
          </p:cNvPr>
          <p:cNvSpPr txBox="1"/>
          <p:nvPr/>
        </p:nvSpPr>
        <p:spPr>
          <a:xfrm>
            <a:off x="7518421" y="3227564"/>
            <a:ext cx="2096429" cy="2031325"/>
          </a:xfrm>
          <a:prstGeom prst="rect">
            <a:avLst/>
          </a:prstGeom>
          <a:solidFill>
            <a:srgbClr val="EF25E1"/>
          </a:solidFill>
        </p:spPr>
        <p:txBody>
          <a:bodyPr wrap="square" rtlCol="0">
            <a:spAutoFit/>
          </a:bodyPr>
          <a:lstStyle/>
          <a:p>
            <a:r>
              <a:rPr lang="en-GB" dirty="0"/>
              <a:t>Discuss what best to show here.</a:t>
            </a:r>
          </a:p>
          <a:p>
            <a:r>
              <a:rPr lang="en-GB" dirty="0"/>
              <a:t>Maybe this is talked about already at the start.</a:t>
            </a:r>
          </a:p>
          <a:p>
            <a:endParaRPr lang="en-GB" dirty="0"/>
          </a:p>
        </p:txBody>
      </p:sp>
    </p:spTree>
    <p:extLst>
      <p:ext uri="{BB962C8B-B14F-4D97-AF65-F5344CB8AC3E}">
        <p14:creationId xmlns:p14="http://schemas.microsoft.com/office/powerpoint/2010/main" val="12288804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15F8E-97F4-B295-EFF6-FF1573157488}"/>
            </a:ext>
          </a:extLst>
        </p:cNvPr>
        <p:cNvGrpSpPr/>
        <p:nvPr/>
      </p:nvGrpSpPr>
      <p:grpSpPr>
        <a:xfrm>
          <a:off x="0" y="0"/>
          <a:ext cx="0" cy="0"/>
          <a:chOff x="0" y="0"/>
          <a:chExt cx="0" cy="0"/>
        </a:xfrm>
      </p:grpSpPr>
      <p:sp>
        <p:nvSpPr>
          <p:cNvPr id="97" name="Title 1">
            <a:extLst>
              <a:ext uri="{FF2B5EF4-FFF2-40B4-BE49-F238E27FC236}">
                <a16:creationId xmlns:a16="http://schemas.microsoft.com/office/drawing/2014/main" id="{4F466CB6-09B5-EC96-0C04-50650C5E0C61}"/>
              </a:ext>
            </a:extLst>
          </p:cNvPr>
          <p:cNvSpPr>
            <a:spLocks noGrp="1"/>
          </p:cNvSpPr>
          <p:nvPr>
            <p:ph type="title" hasCustomPrompt="1"/>
          </p:nvPr>
        </p:nvSpPr>
        <p:spPr>
          <a:xfrm>
            <a:off x="1500000" y="3400000"/>
            <a:ext cx="13256000" cy="2200000"/>
          </a:xfrm>
        </p:spPr>
        <p:txBody>
          <a:bodyPr/>
          <a:lstStyle/>
          <a:p>
            <a:pPr marL="0" lvl="0" indent="0">
              <a:buNone/>
            </a:pPr>
            <a:r>
              <a:rPr lang="de-CH" dirty="0" err="1">
                <a:solidFill>
                  <a:schemeClr val="bg1"/>
                </a:solidFill>
              </a:rPr>
              <a:t>Conclusions</a:t>
            </a:r>
            <a:endParaRPr dirty="0">
              <a:solidFill>
                <a:schemeClr val="bg1"/>
              </a:solidFill>
            </a:endParaRPr>
          </a:p>
        </p:txBody>
      </p:sp>
      <p:sp>
        <p:nvSpPr>
          <p:cNvPr id="8" name="Footer Placeholder 4">
            <a:extLst>
              <a:ext uri="{FF2B5EF4-FFF2-40B4-BE49-F238E27FC236}">
                <a16:creationId xmlns:a16="http://schemas.microsoft.com/office/drawing/2014/main" id="{8538DE55-DCAE-4EF8-353A-7004C6C1D6DE}"/>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bg1"/>
                </a:solidFill>
              </a:defRPr>
            </a:lvl1pPr>
          </a:lstStyle>
          <a:p>
            <a:r>
              <a:rPr lang="en-GB"/>
              <a:t>IFoA Life Conference</a:t>
            </a:r>
            <a:endParaRPr lang="en-GB" dirty="0"/>
          </a:p>
        </p:txBody>
      </p:sp>
      <p:sp>
        <p:nvSpPr>
          <p:cNvPr id="9" name="Slide Number Placeholder 5">
            <a:extLst>
              <a:ext uri="{FF2B5EF4-FFF2-40B4-BE49-F238E27FC236}">
                <a16:creationId xmlns:a16="http://schemas.microsoft.com/office/drawing/2014/main" id="{559EBF6F-86B0-9A00-0E31-C355F48D35C0}"/>
              </a:ext>
            </a:extLst>
          </p:cNvPr>
          <p:cNvSpPr>
            <a:spLocks noGrp="1"/>
          </p:cNvSpPr>
          <p:nvPr>
            <p:ph type="sldNum" sz="quarter" idx="4"/>
          </p:nvPr>
        </p:nvSpPr>
        <p:spPr>
          <a:xfrm>
            <a:off x="14573177" y="8382533"/>
            <a:ext cx="529680" cy="486833"/>
          </a:xfrm>
          <a:prstGeom prst="rect">
            <a:avLst/>
          </a:prstGeom>
          <a:solidFill>
            <a:schemeClr val="bg1"/>
          </a:solidFill>
        </p:spPr>
        <p:txBody>
          <a:bodyPr vert="horz" lIns="91440" tIns="45720" rIns="91440" bIns="45720" rtlCol="0" anchor="ctr"/>
          <a:lstStyle>
            <a:lvl1pPr algn="ctr">
              <a:defRPr sz="1200" b="1" i="0">
                <a:solidFill>
                  <a:schemeClr val="tx1"/>
                </a:solidFill>
                <a:latin typeface="Arial" panose="020B0604020202020204" pitchFamily="34" charset="0"/>
                <a:cs typeface="Arial" panose="020B0604020202020204" pitchFamily="34" charset="0"/>
              </a:defRPr>
            </a:lvl1pPr>
          </a:lstStyle>
          <a:p>
            <a:fld id="{40FC62D0-A2F2-4BF8-8DAC-E86C11000EC3}" type="slidenum">
              <a:rPr lang="en-GB" smtClean="0"/>
              <a:pPr/>
              <a:t>29</a:t>
            </a:fld>
            <a:endParaRPr lang="en-GB" dirty="0"/>
          </a:p>
        </p:txBody>
      </p:sp>
      <p:sp>
        <p:nvSpPr>
          <p:cNvPr id="3" name="TextBox 2">
            <a:extLst>
              <a:ext uri="{FF2B5EF4-FFF2-40B4-BE49-F238E27FC236}">
                <a16:creationId xmlns:a16="http://schemas.microsoft.com/office/drawing/2014/main" id="{B13CCAD5-204A-4F64-6C37-DC2D921894B6}"/>
              </a:ext>
            </a:extLst>
          </p:cNvPr>
          <p:cNvSpPr txBox="1"/>
          <p:nvPr/>
        </p:nvSpPr>
        <p:spPr>
          <a:xfrm>
            <a:off x="12221737" y="256478"/>
            <a:ext cx="2096429" cy="646331"/>
          </a:xfrm>
          <a:prstGeom prst="rect">
            <a:avLst/>
          </a:prstGeom>
          <a:solidFill>
            <a:srgbClr val="EF25E1"/>
          </a:solidFill>
        </p:spPr>
        <p:txBody>
          <a:bodyPr wrap="square" rtlCol="0">
            <a:spAutoFit/>
          </a:bodyPr>
          <a:lstStyle/>
          <a:p>
            <a:r>
              <a:rPr lang="en-GB" dirty="0"/>
              <a:t>David 10 mins for this section</a:t>
            </a:r>
          </a:p>
        </p:txBody>
      </p:sp>
    </p:spTree>
    <p:extLst>
      <p:ext uri="{BB962C8B-B14F-4D97-AF65-F5344CB8AC3E}">
        <p14:creationId xmlns:p14="http://schemas.microsoft.com/office/powerpoint/2010/main" val="37465610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5CE89-FE4C-4C00-6B54-19A57DA0381A}"/>
              </a:ext>
            </a:extLst>
          </p:cNvPr>
          <p:cNvSpPr>
            <a:spLocks noGrp="1"/>
          </p:cNvSpPr>
          <p:nvPr>
            <p:ph type="title"/>
          </p:nvPr>
        </p:nvSpPr>
        <p:spPr/>
        <p:txBody>
          <a:bodyPr/>
          <a:lstStyle/>
          <a:p>
            <a:r>
              <a:rPr lang="en-GB" dirty="0"/>
              <a:t>Conclusions</a:t>
            </a:r>
          </a:p>
        </p:txBody>
      </p:sp>
      <p:sp>
        <p:nvSpPr>
          <p:cNvPr id="3" name="Content Placeholder 2">
            <a:extLst>
              <a:ext uri="{FF2B5EF4-FFF2-40B4-BE49-F238E27FC236}">
                <a16:creationId xmlns:a16="http://schemas.microsoft.com/office/drawing/2014/main" id="{184B88E6-B709-F5C4-D97D-627239D408B6}"/>
              </a:ext>
            </a:extLst>
          </p:cNvPr>
          <p:cNvSpPr>
            <a:spLocks noGrp="1"/>
          </p:cNvSpPr>
          <p:nvPr>
            <p:ph sz="quarter" idx="25"/>
          </p:nvPr>
        </p:nvSpPr>
        <p:spPr/>
        <p:txBody>
          <a:bodyPr/>
          <a:lstStyle/>
          <a:p>
            <a:r>
              <a:rPr lang="en-US" dirty="0"/>
              <a:t>HWLE is a </a:t>
            </a:r>
            <a:r>
              <a:rPr lang="en-US" b="1" dirty="0"/>
              <a:t>useful descriptive statistic</a:t>
            </a:r>
            <a:r>
              <a:rPr lang="en-US" dirty="0"/>
              <a:t> for morbidity bases (insurance)</a:t>
            </a:r>
          </a:p>
          <a:p>
            <a:pPr marL="457200" indent="-457200">
              <a:buFont typeface="Arial" panose="020B0604020202020204" pitchFamily="34" charset="0"/>
              <a:buChar char="•"/>
            </a:pPr>
            <a:r>
              <a:rPr lang="en-US" dirty="0"/>
              <a:t>assessing pricing and reserving bases</a:t>
            </a:r>
          </a:p>
          <a:p>
            <a:pPr marL="457200" indent="-457200">
              <a:buFont typeface="Arial" panose="020B0604020202020204" pitchFamily="34" charset="0"/>
              <a:buChar char="•"/>
            </a:pPr>
            <a:r>
              <a:rPr lang="en-US" dirty="0"/>
              <a:t>product design and expanding IP products to wider segments</a:t>
            </a:r>
          </a:p>
        </p:txBody>
      </p:sp>
      <p:sp>
        <p:nvSpPr>
          <p:cNvPr id="4" name="Content Placeholder 3">
            <a:extLst>
              <a:ext uri="{FF2B5EF4-FFF2-40B4-BE49-F238E27FC236}">
                <a16:creationId xmlns:a16="http://schemas.microsoft.com/office/drawing/2014/main" id="{2999D242-B243-3251-A088-C8FDEB9480A9}"/>
              </a:ext>
            </a:extLst>
          </p:cNvPr>
          <p:cNvSpPr>
            <a:spLocks noGrp="1"/>
          </p:cNvSpPr>
          <p:nvPr>
            <p:ph sz="quarter" idx="26"/>
          </p:nvPr>
        </p:nvSpPr>
        <p:spPr/>
        <p:txBody>
          <a:bodyPr/>
          <a:lstStyle/>
          <a:p>
            <a:r>
              <a:rPr lang="en-US" dirty="0"/>
              <a:t>HWLE has </a:t>
            </a:r>
            <a:r>
              <a:rPr lang="en-US" b="1" dirty="0"/>
              <a:t>policy relevance </a:t>
            </a:r>
            <a:r>
              <a:rPr lang="en-US" dirty="0"/>
              <a:t>to state benefits, State Pension Age and pensions adequacy (policy)</a:t>
            </a:r>
          </a:p>
          <a:p>
            <a:pPr marL="457200" indent="-457200">
              <a:buFont typeface="Arial" panose="020B0604020202020204" pitchFamily="34" charset="0"/>
              <a:buChar char="•"/>
            </a:pPr>
            <a:r>
              <a:rPr lang="en-US" dirty="0"/>
              <a:t>Keep Britain Working</a:t>
            </a:r>
          </a:p>
          <a:p>
            <a:pPr marL="457200" indent="-457200">
              <a:buFont typeface="Arial" panose="020B0604020202020204" pitchFamily="34" charset="0"/>
              <a:buChar char="•"/>
            </a:pPr>
            <a:r>
              <a:rPr lang="en-US" dirty="0"/>
              <a:t>social care policy</a:t>
            </a:r>
          </a:p>
          <a:p>
            <a:pPr marL="457200" indent="-457200">
              <a:buFont typeface="Arial" panose="020B0604020202020204" pitchFamily="34" charset="0"/>
              <a:buChar char="•"/>
            </a:pPr>
            <a:r>
              <a:rPr lang="en-US" dirty="0"/>
              <a:t>pension planning</a:t>
            </a:r>
          </a:p>
          <a:p>
            <a:pPr marL="457200" indent="-457200">
              <a:buFont typeface="Arial" panose="020B0604020202020204" pitchFamily="34" charset="0"/>
              <a:buChar char="•"/>
            </a:pPr>
            <a:r>
              <a:rPr lang="en-US" dirty="0"/>
              <a:t>health service planning</a:t>
            </a:r>
          </a:p>
          <a:p>
            <a:pPr marL="457200" indent="-457200">
              <a:buFont typeface="Arial" panose="020B0604020202020204" pitchFamily="34" charset="0"/>
              <a:buChar char="•"/>
            </a:pPr>
            <a:endParaRPr lang="en-US" dirty="0"/>
          </a:p>
        </p:txBody>
      </p:sp>
      <p:sp>
        <p:nvSpPr>
          <p:cNvPr id="5" name="Content Placeholder 4">
            <a:extLst>
              <a:ext uri="{FF2B5EF4-FFF2-40B4-BE49-F238E27FC236}">
                <a16:creationId xmlns:a16="http://schemas.microsoft.com/office/drawing/2014/main" id="{33651532-5624-090F-613C-D8A4039F7049}"/>
              </a:ext>
            </a:extLst>
          </p:cNvPr>
          <p:cNvSpPr>
            <a:spLocks noGrp="1"/>
          </p:cNvSpPr>
          <p:nvPr>
            <p:ph sz="quarter" idx="13"/>
          </p:nvPr>
        </p:nvSpPr>
        <p:spPr/>
        <p:txBody>
          <a:bodyPr/>
          <a:lstStyle/>
          <a:p>
            <a:r>
              <a:rPr lang="en-US" b="1" dirty="0"/>
              <a:t>Administrative data </a:t>
            </a:r>
            <a:r>
              <a:rPr lang="en-US" dirty="0"/>
              <a:t>can complement or replace survey data for HWLE (methods)</a:t>
            </a:r>
          </a:p>
          <a:p>
            <a:pPr marL="457200" indent="-457200">
              <a:buFont typeface="Arial" panose="020B0604020202020204" pitchFamily="34" charset="0"/>
              <a:buChar char="•"/>
            </a:pPr>
            <a:r>
              <a:rPr lang="en-US" dirty="0"/>
              <a:t>development of public datasets</a:t>
            </a:r>
          </a:p>
          <a:p>
            <a:pPr marL="457200" indent="-457200">
              <a:buFont typeface="Arial" panose="020B0604020202020204" pitchFamily="34" charset="0"/>
              <a:buChar char="•"/>
            </a:pPr>
            <a:r>
              <a:rPr lang="en-US" dirty="0"/>
              <a:t>opportunity for actuaries to deploy core knowledge</a:t>
            </a:r>
          </a:p>
          <a:p>
            <a:endParaRPr lang="en-GB" dirty="0"/>
          </a:p>
        </p:txBody>
      </p:sp>
      <p:sp>
        <p:nvSpPr>
          <p:cNvPr id="6" name="Footer Placeholder 5">
            <a:extLst>
              <a:ext uri="{FF2B5EF4-FFF2-40B4-BE49-F238E27FC236}">
                <a16:creationId xmlns:a16="http://schemas.microsoft.com/office/drawing/2014/main" id="{58F7D929-03E1-19C4-EEA7-01805C6195FC}"/>
              </a:ext>
            </a:extLst>
          </p:cNvPr>
          <p:cNvSpPr>
            <a:spLocks noGrp="1"/>
          </p:cNvSpPr>
          <p:nvPr>
            <p:ph type="ftr" sz="quarter" idx="3"/>
          </p:nvPr>
        </p:nvSpPr>
        <p:spPr/>
        <p:txBody>
          <a:bodyPr/>
          <a:lstStyle/>
          <a:p>
            <a:r>
              <a:rPr lang="en-GB" dirty="0" err="1"/>
              <a:t>IFoA</a:t>
            </a:r>
            <a:r>
              <a:rPr lang="en-GB" dirty="0"/>
              <a:t> Life Conference</a:t>
            </a:r>
          </a:p>
        </p:txBody>
      </p:sp>
      <p:sp>
        <p:nvSpPr>
          <p:cNvPr id="7" name="Slide Number Placeholder 6">
            <a:extLst>
              <a:ext uri="{FF2B5EF4-FFF2-40B4-BE49-F238E27FC236}">
                <a16:creationId xmlns:a16="http://schemas.microsoft.com/office/drawing/2014/main" id="{F3460AD1-08D4-8133-0C79-6E5E3AFEA035}"/>
              </a:ext>
            </a:extLst>
          </p:cNvPr>
          <p:cNvSpPr>
            <a:spLocks noGrp="1"/>
          </p:cNvSpPr>
          <p:nvPr>
            <p:ph type="sldNum" sz="quarter" idx="4"/>
          </p:nvPr>
        </p:nvSpPr>
        <p:spPr/>
        <p:txBody>
          <a:bodyPr/>
          <a:lstStyle/>
          <a:p>
            <a:fld id="{40FC62D0-A2F2-4BF8-8DAC-E86C11000EC3}" type="slidenum">
              <a:rPr lang="en-GB" smtClean="0"/>
              <a:pPr/>
              <a:t>30</a:t>
            </a:fld>
            <a:endParaRPr lang="en-GB" dirty="0"/>
          </a:p>
        </p:txBody>
      </p:sp>
      <p:sp>
        <p:nvSpPr>
          <p:cNvPr id="8" name="Text Placeholder 7">
            <a:extLst>
              <a:ext uri="{FF2B5EF4-FFF2-40B4-BE49-F238E27FC236}">
                <a16:creationId xmlns:a16="http://schemas.microsoft.com/office/drawing/2014/main" id="{C1A97C89-026C-AE33-5361-5DE5DA38B651}"/>
              </a:ext>
            </a:extLst>
          </p:cNvPr>
          <p:cNvSpPr>
            <a:spLocks noGrp="1"/>
          </p:cNvSpPr>
          <p:nvPr>
            <p:ph type="body" sz="quarter" idx="24"/>
          </p:nvPr>
        </p:nvSpPr>
        <p:spPr/>
        <p:txBody>
          <a:bodyPr/>
          <a:lstStyle/>
          <a:p>
            <a:r>
              <a:rPr lang="en-GB" dirty="0"/>
              <a:t>HWLE is an important metric for many purposes </a:t>
            </a:r>
          </a:p>
        </p:txBody>
      </p:sp>
      <p:pic>
        <p:nvPicPr>
          <p:cNvPr id="18" name="Graphic 17" descr="Connections with solid fill">
            <a:extLst>
              <a:ext uri="{FF2B5EF4-FFF2-40B4-BE49-F238E27FC236}">
                <a16:creationId xmlns:a16="http://schemas.microsoft.com/office/drawing/2014/main" id="{C809E11F-F1D4-82BE-1460-0177C55E786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56824" y="5843257"/>
            <a:ext cx="2342351" cy="2342351"/>
          </a:xfrm>
          <a:prstGeom prst="rect">
            <a:avLst/>
          </a:prstGeom>
        </p:spPr>
      </p:pic>
      <p:pic>
        <p:nvPicPr>
          <p:cNvPr id="20" name="Graphic 19" descr="Blockchain with solid fill">
            <a:extLst>
              <a:ext uri="{FF2B5EF4-FFF2-40B4-BE49-F238E27FC236}">
                <a16:creationId xmlns:a16="http://schemas.microsoft.com/office/drawing/2014/main" id="{A19E0DAA-8992-A95F-FC77-ED4EC1F4B15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55838" y="5843257"/>
            <a:ext cx="2342350" cy="2342350"/>
          </a:xfrm>
          <a:prstGeom prst="rect">
            <a:avLst/>
          </a:prstGeom>
        </p:spPr>
      </p:pic>
      <p:pic>
        <p:nvPicPr>
          <p:cNvPr id="22" name="Graphic 21" descr="Remote work with solid fill">
            <a:extLst>
              <a:ext uri="{FF2B5EF4-FFF2-40B4-BE49-F238E27FC236}">
                <a16:creationId xmlns:a16="http://schemas.microsoft.com/office/drawing/2014/main" id="{A05ED48E-BD27-EEEE-41B4-60E8736CDFC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635246" y="5843258"/>
            <a:ext cx="2342350" cy="2342350"/>
          </a:xfrm>
          <a:prstGeom prst="rect">
            <a:avLst/>
          </a:prstGeom>
        </p:spPr>
      </p:pic>
      <p:sp>
        <p:nvSpPr>
          <p:cNvPr id="24" name="TextBox 23">
            <a:extLst>
              <a:ext uri="{FF2B5EF4-FFF2-40B4-BE49-F238E27FC236}">
                <a16:creationId xmlns:a16="http://schemas.microsoft.com/office/drawing/2014/main" id="{69842EBE-A1AD-2112-3DE3-875DFD72BFC7}"/>
              </a:ext>
            </a:extLst>
          </p:cNvPr>
          <p:cNvSpPr txBox="1"/>
          <p:nvPr/>
        </p:nvSpPr>
        <p:spPr>
          <a:xfrm>
            <a:off x="12221737" y="256478"/>
            <a:ext cx="2096429" cy="369332"/>
          </a:xfrm>
          <a:prstGeom prst="rect">
            <a:avLst/>
          </a:prstGeom>
          <a:solidFill>
            <a:srgbClr val="EF25E1"/>
          </a:solidFill>
        </p:spPr>
        <p:txBody>
          <a:bodyPr wrap="square" rtlCol="0">
            <a:spAutoFit/>
          </a:bodyPr>
          <a:lstStyle/>
          <a:p>
            <a:r>
              <a:rPr lang="en-GB" dirty="0"/>
              <a:t>David 3 mins</a:t>
            </a:r>
          </a:p>
        </p:txBody>
      </p:sp>
      <p:sp>
        <p:nvSpPr>
          <p:cNvPr id="10" name="TextBox 9">
            <a:extLst>
              <a:ext uri="{FF2B5EF4-FFF2-40B4-BE49-F238E27FC236}">
                <a16:creationId xmlns:a16="http://schemas.microsoft.com/office/drawing/2014/main" id="{8D428FA6-7F91-4607-B028-8C5F7D1083F8}"/>
              </a:ext>
            </a:extLst>
          </p:cNvPr>
          <p:cNvSpPr txBox="1"/>
          <p:nvPr/>
        </p:nvSpPr>
        <p:spPr>
          <a:xfrm>
            <a:off x="9660042" y="891646"/>
            <a:ext cx="2096429" cy="1200329"/>
          </a:xfrm>
          <a:prstGeom prst="rect">
            <a:avLst/>
          </a:prstGeom>
          <a:solidFill>
            <a:srgbClr val="EF25E1"/>
          </a:solidFill>
        </p:spPr>
        <p:txBody>
          <a:bodyPr wrap="square" rtlCol="0">
            <a:spAutoFit/>
          </a:bodyPr>
          <a:lstStyle/>
          <a:p>
            <a:r>
              <a:rPr lang="en-GB" dirty="0"/>
              <a:t>Discuss the 3 key takeaways we want to show</a:t>
            </a:r>
          </a:p>
          <a:p>
            <a:endParaRPr lang="en-GB" dirty="0"/>
          </a:p>
        </p:txBody>
      </p:sp>
    </p:spTree>
    <p:extLst>
      <p:ext uri="{BB962C8B-B14F-4D97-AF65-F5344CB8AC3E}">
        <p14:creationId xmlns:p14="http://schemas.microsoft.com/office/powerpoint/2010/main" val="30783602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8E41D5E-06AC-3F8D-AFB2-0B5A1E59532A}"/>
              </a:ext>
            </a:extLst>
          </p:cNvPr>
          <p:cNvSpPr>
            <a:spLocks noGrp="1"/>
          </p:cNvSpPr>
          <p:nvPr>
            <p:ph type="ftr" sz="quarter" idx="3"/>
          </p:nvPr>
        </p:nvSpPr>
        <p:spPr/>
        <p:txBody>
          <a:bodyPr/>
          <a:lstStyle/>
          <a:p>
            <a:r>
              <a:rPr lang="en-GB"/>
              <a:t>IFoA Life Conference</a:t>
            </a:r>
            <a:endParaRPr lang="en-GB" dirty="0"/>
          </a:p>
        </p:txBody>
      </p:sp>
      <p:sp>
        <p:nvSpPr>
          <p:cNvPr id="6" name="Slide Number Placeholder 5">
            <a:extLst>
              <a:ext uri="{FF2B5EF4-FFF2-40B4-BE49-F238E27FC236}">
                <a16:creationId xmlns:a16="http://schemas.microsoft.com/office/drawing/2014/main" id="{A68BB18D-A097-77E8-EAB0-0CE69AAADE9F}"/>
              </a:ext>
            </a:extLst>
          </p:cNvPr>
          <p:cNvSpPr>
            <a:spLocks noGrp="1"/>
          </p:cNvSpPr>
          <p:nvPr>
            <p:ph type="sldNum" sz="quarter" idx="4"/>
          </p:nvPr>
        </p:nvSpPr>
        <p:spPr/>
        <p:txBody>
          <a:bodyPr/>
          <a:lstStyle/>
          <a:p>
            <a:fld id="{40FC62D0-A2F2-4BF8-8DAC-E86C11000EC3}" type="slidenum">
              <a:rPr lang="en-GB" smtClean="0"/>
              <a:pPr/>
              <a:t>31</a:t>
            </a:fld>
            <a:endParaRPr lang="en-GB" dirty="0"/>
          </a:p>
        </p:txBody>
      </p:sp>
      <p:sp>
        <p:nvSpPr>
          <p:cNvPr id="7" name="Content Placeholder 7">
            <a:extLst>
              <a:ext uri="{FF2B5EF4-FFF2-40B4-BE49-F238E27FC236}">
                <a16:creationId xmlns:a16="http://schemas.microsoft.com/office/drawing/2014/main" id="{17F7AF0B-DD4E-F1DE-0CC3-9265F4BD1CC8}"/>
              </a:ext>
            </a:extLst>
          </p:cNvPr>
          <p:cNvSpPr txBox="1">
            <a:spLocks/>
          </p:cNvSpPr>
          <p:nvPr/>
        </p:nvSpPr>
        <p:spPr>
          <a:xfrm>
            <a:off x="681566" y="5340091"/>
            <a:ext cx="14660033" cy="3141871"/>
          </a:xfrm>
          <a:prstGeom prst="rect">
            <a:avLst/>
          </a:prstGeom>
        </p:spPr>
        <p:txBody>
          <a:bodyPr/>
          <a:lstStyle>
            <a:lvl1pPr marL="304792" indent="-304792" algn="l" defTabSz="1219170" rtl="0" eaLnBrk="1" latinLnBrk="0" hangingPunct="1">
              <a:lnSpc>
                <a:spcPct val="100000"/>
              </a:lnSpc>
              <a:spcBef>
                <a:spcPts val="1333"/>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1pPr>
            <a:lvl2pPr marL="91437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2pPr>
            <a:lvl3pPr marL="1523962"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3pPr>
            <a:lvl4pPr marL="213354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4pPr>
            <a:lvl5pPr marL="2743131"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0" indent="0">
              <a:buFont typeface="Arial" panose="020B0604020202020204" pitchFamily="34" charset="0"/>
              <a:buNone/>
            </a:pPr>
            <a:r>
              <a:rPr lang="en-GB"/>
              <a:t>Expressions of individual views by members of the Institute and Faculty of Actuaries and its staff are encouraged.</a:t>
            </a:r>
          </a:p>
          <a:p>
            <a:pPr marL="0" indent="0">
              <a:buFont typeface="Arial" panose="020B0604020202020204" pitchFamily="34" charset="0"/>
              <a:buNone/>
            </a:pPr>
            <a:r>
              <a:rPr lang="en-GB"/>
              <a:t>The views expressed in this presentation are those of the presenter.</a:t>
            </a:r>
            <a:endParaRPr lang="en-GB" dirty="0"/>
          </a:p>
        </p:txBody>
      </p:sp>
      <p:sp>
        <p:nvSpPr>
          <p:cNvPr id="8" name="Rectangular Callout 9">
            <a:extLst>
              <a:ext uri="{FF2B5EF4-FFF2-40B4-BE49-F238E27FC236}">
                <a16:creationId xmlns:a16="http://schemas.microsoft.com/office/drawing/2014/main" id="{D5AF29C1-F702-0878-BB71-A43A65A5165B}"/>
              </a:ext>
            </a:extLst>
          </p:cNvPr>
          <p:cNvSpPr/>
          <p:nvPr/>
        </p:nvSpPr>
        <p:spPr>
          <a:xfrm>
            <a:off x="681567" y="924323"/>
            <a:ext cx="7254412" cy="2304256"/>
          </a:xfrm>
          <a:prstGeom prst="wedgeRectCallout">
            <a:avLst>
              <a:gd name="adj1" fmla="val -998"/>
              <a:gd name="adj2" fmla="val 126649"/>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GB" sz="2400">
              <a:solidFill>
                <a:prstClr val="white"/>
              </a:solidFill>
              <a:latin typeface="Arial"/>
              <a:cs typeface="Arial"/>
            </a:endParaRPr>
          </a:p>
        </p:txBody>
      </p:sp>
      <p:sp>
        <p:nvSpPr>
          <p:cNvPr id="9" name="Rectangular Callout 6">
            <a:extLst>
              <a:ext uri="{FF2B5EF4-FFF2-40B4-BE49-F238E27FC236}">
                <a16:creationId xmlns:a16="http://schemas.microsoft.com/office/drawing/2014/main" id="{7ED64F04-8172-EE0A-2EE4-D3E1F0FC9BBE}"/>
              </a:ext>
            </a:extLst>
          </p:cNvPr>
          <p:cNvSpPr/>
          <p:nvPr/>
        </p:nvSpPr>
        <p:spPr>
          <a:xfrm>
            <a:off x="8320021" y="924323"/>
            <a:ext cx="7233249" cy="2304256"/>
          </a:xfrm>
          <a:prstGeom prst="wedgeRectCallout">
            <a:avLst>
              <a:gd name="adj1" fmla="val -53799"/>
              <a:gd name="adj2" fmla="val 12758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GB" sz="2400">
              <a:solidFill>
                <a:srgbClr val="7CB3E1"/>
              </a:solidFill>
              <a:latin typeface="Arial"/>
              <a:cs typeface="Arial"/>
            </a:endParaRPr>
          </a:p>
        </p:txBody>
      </p:sp>
      <p:sp>
        <p:nvSpPr>
          <p:cNvPr id="10" name="Title 1">
            <a:extLst>
              <a:ext uri="{FF2B5EF4-FFF2-40B4-BE49-F238E27FC236}">
                <a16:creationId xmlns:a16="http://schemas.microsoft.com/office/drawing/2014/main" id="{E06C848D-7354-E196-98DC-B718AD0456E4}"/>
              </a:ext>
            </a:extLst>
          </p:cNvPr>
          <p:cNvSpPr>
            <a:spLocks noGrp="1"/>
          </p:cNvSpPr>
          <p:nvPr>
            <p:ph type="title"/>
          </p:nvPr>
        </p:nvSpPr>
        <p:spPr>
          <a:xfrm>
            <a:off x="1016001" y="1314453"/>
            <a:ext cx="6631948" cy="1524000"/>
          </a:xfrm>
        </p:spPr>
        <p:txBody>
          <a:bodyPr/>
          <a:lstStyle/>
          <a:p>
            <a:pPr algn="ctr"/>
            <a:r>
              <a:rPr lang="en-GB" sz="6400" b="0" dirty="0">
                <a:solidFill>
                  <a:schemeClr val="bg2"/>
                </a:solidFill>
              </a:rPr>
              <a:t>Questions</a:t>
            </a:r>
          </a:p>
        </p:txBody>
      </p:sp>
      <p:sp>
        <p:nvSpPr>
          <p:cNvPr id="11" name="Title 1">
            <a:extLst>
              <a:ext uri="{FF2B5EF4-FFF2-40B4-BE49-F238E27FC236}">
                <a16:creationId xmlns:a16="http://schemas.microsoft.com/office/drawing/2014/main" id="{C3D7F93F-14F2-4D98-BFFC-80A9171C70B6}"/>
              </a:ext>
            </a:extLst>
          </p:cNvPr>
          <p:cNvSpPr txBox="1">
            <a:spLocks/>
          </p:cNvSpPr>
          <p:nvPr/>
        </p:nvSpPr>
        <p:spPr bwMode="auto">
          <a:xfrm>
            <a:off x="8608053" y="1307637"/>
            <a:ext cx="6733547"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bodyPr>
          <a:lstStyle>
            <a:lvl1pPr algn="l" rtl="0" fontAlgn="base">
              <a:spcBef>
                <a:spcPct val="0"/>
              </a:spcBef>
              <a:spcAft>
                <a:spcPct val="0"/>
              </a:spcAft>
              <a:defRPr sz="3200">
                <a:solidFill>
                  <a:srgbClr val="D9AB16"/>
                </a:solidFill>
                <a:latin typeface="+mj-lt"/>
                <a:ea typeface="+mj-ea"/>
                <a:cs typeface="+mj-cs"/>
              </a:defRPr>
            </a:lvl1pPr>
            <a:lvl2pPr algn="l" rtl="0" fontAlgn="base">
              <a:spcBef>
                <a:spcPct val="0"/>
              </a:spcBef>
              <a:spcAft>
                <a:spcPct val="0"/>
              </a:spcAft>
              <a:defRPr sz="3200">
                <a:solidFill>
                  <a:srgbClr val="D9AB16"/>
                </a:solidFill>
                <a:latin typeface="Arial" charset="0"/>
                <a:cs typeface="Arial" charset="0"/>
              </a:defRPr>
            </a:lvl2pPr>
            <a:lvl3pPr algn="l" rtl="0" fontAlgn="base">
              <a:spcBef>
                <a:spcPct val="0"/>
              </a:spcBef>
              <a:spcAft>
                <a:spcPct val="0"/>
              </a:spcAft>
              <a:defRPr sz="3200">
                <a:solidFill>
                  <a:srgbClr val="D9AB16"/>
                </a:solidFill>
                <a:latin typeface="Arial" charset="0"/>
                <a:cs typeface="Arial" charset="0"/>
              </a:defRPr>
            </a:lvl3pPr>
            <a:lvl4pPr algn="l" rtl="0" fontAlgn="base">
              <a:spcBef>
                <a:spcPct val="0"/>
              </a:spcBef>
              <a:spcAft>
                <a:spcPct val="0"/>
              </a:spcAft>
              <a:defRPr sz="3200">
                <a:solidFill>
                  <a:srgbClr val="D9AB16"/>
                </a:solidFill>
                <a:latin typeface="Arial" charset="0"/>
                <a:cs typeface="Arial" charset="0"/>
              </a:defRPr>
            </a:lvl4pPr>
            <a:lvl5pPr algn="l" rtl="0" fontAlgn="base">
              <a:spcBef>
                <a:spcPct val="0"/>
              </a:spcBef>
              <a:spcAft>
                <a:spcPct val="0"/>
              </a:spcAft>
              <a:defRPr sz="3200">
                <a:solidFill>
                  <a:srgbClr val="D9AB16"/>
                </a:solidFill>
                <a:latin typeface="Arial" charset="0"/>
                <a:cs typeface="Arial" charset="0"/>
              </a:defRPr>
            </a:lvl5pPr>
            <a:lvl6pPr marL="457200" algn="l" rtl="0" fontAlgn="base">
              <a:spcBef>
                <a:spcPct val="0"/>
              </a:spcBef>
              <a:spcAft>
                <a:spcPct val="0"/>
              </a:spcAft>
              <a:defRPr sz="3200">
                <a:solidFill>
                  <a:srgbClr val="D9AB16"/>
                </a:solidFill>
                <a:latin typeface="Arial" charset="0"/>
                <a:cs typeface="Arial" charset="0"/>
              </a:defRPr>
            </a:lvl6pPr>
            <a:lvl7pPr marL="914400" algn="l" rtl="0" fontAlgn="base">
              <a:spcBef>
                <a:spcPct val="0"/>
              </a:spcBef>
              <a:spcAft>
                <a:spcPct val="0"/>
              </a:spcAft>
              <a:defRPr sz="3200">
                <a:solidFill>
                  <a:srgbClr val="D9AB16"/>
                </a:solidFill>
                <a:latin typeface="Arial" charset="0"/>
                <a:cs typeface="Arial" charset="0"/>
              </a:defRPr>
            </a:lvl7pPr>
            <a:lvl8pPr marL="1371600" algn="l" rtl="0" fontAlgn="base">
              <a:spcBef>
                <a:spcPct val="0"/>
              </a:spcBef>
              <a:spcAft>
                <a:spcPct val="0"/>
              </a:spcAft>
              <a:defRPr sz="3200">
                <a:solidFill>
                  <a:srgbClr val="D9AB16"/>
                </a:solidFill>
                <a:latin typeface="Arial" charset="0"/>
                <a:cs typeface="Arial" charset="0"/>
              </a:defRPr>
            </a:lvl8pPr>
            <a:lvl9pPr marL="1828800" algn="l" rtl="0" fontAlgn="base">
              <a:spcBef>
                <a:spcPct val="0"/>
              </a:spcBef>
              <a:spcAft>
                <a:spcPct val="0"/>
              </a:spcAft>
              <a:defRPr sz="3200">
                <a:solidFill>
                  <a:srgbClr val="D9AB16"/>
                </a:solidFill>
                <a:latin typeface="Arial" charset="0"/>
                <a:cs typeface="Arial" charset="0"/>
              </a:defRPr>
            </a:lvl9pPr>
          </a:lstStyle>
          <a:p>
            <a:pPr algn="ctr" defTabSz="1219170"/>
            <a:r>
              <a:rPr lang="en-GB" sz="6400" dirty="0">
                <a:solidFill>
                  <a:prstClr val="white"/>
                </a:solidFill>
                <a:latin typeface="Arial"/>
                <a:cs typeface="Arial"/>
              </a:rPr>
              <a:t>Comments</a:t>
            </a:r>
          </a:p>
        </p:txBody>
      </p:sp>
    </p:spTree>
    <p:extLst>
      <p:ext uri="{BB962C8B-B14F-4D97-AF65-F5344CB8AC3E}">
        <p14:creationId xmlns:p14="http://schemas.microsoft.com/office/powerpoint/2010/main" val="42400147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C168E-F445-A40A-EBA0-F3A97051E4EB}"/>
            </a:ext>
          </a:extLst>
        </p:cNvPr>
        <p:cNvGrpSpPr/>
        <p:nvPr/>
      </p:nvGrpSpPr>
      <p:grpSpPr>
        <a:xfrm>
          <a:off x="0" y="0"/>
          <a:ext cx="0" cy="0"/>
          <a:chOff x="0" y="0"/>
          <a:chExt cx="0" cy="0"/>
        </a:xfrm>
      </p:grpSpPr>
      <p:sp>
        <p:nvSpPr>
          <p:cNvPr id="97" name="Title 1">
            <a:extLst>
              <a:ext uri="{FF2B5EF4-FFF2-40B4-BE49-F238E27FC236}">
                <a16:creationId xmlns:a16="http://schemas.microsoft.com/office/drawing/2014/main" id="{ACE7A84A-EC60-402B-EC9F-ED7C29775FF8}"/>
              </a:ext>
            </a:extLst>
          </p:cNvPr>
          <p:cNvSpPr>
            <a:spLocks noGrp="1"/>
          </p:cNvSpPr>
          <p:nvPr>
            <p:ph type="title" hasCustomPrompt="1"/>
          </p:nvPr>
        </p:nvSpPr>
        <p:spPr>
          <a:xfrm>
            <a:off x="1500000" y="3400000"/>
            <a:ext cx="13256000" cy="2200000"/>
          </a:xfrm>
        </p:spPr>
        <p:txBody>
          <a:bodyPr/>
          <a:lstStyle/>
          <a:p>
            <a:pPr marL="0" lvl="0" indent="0">
              <a:buNone/>
            </a:pPr>
            <a:r>
              <a:rPr lang="de-CH" dirty="0">
                <a:solidFill>
                  <a:schemeClr val="bg1"/>
                </a:solidFill>
              </a:rPr>
              <a:t>Appendices / </a:t>
            </a:r>
            <a:r>
              <a:rPr lang="de-CH" dirty="0" err="1">
                <a:solidFill>
                  <a:schemeClr val="bg1"/>
                </a:solidFill>
              </a:rPr>
              <a:t>unused</a:t>
            </a:r>
            <a:r>
              <a:rPr lang="de-CH" dirty="0">
                <a:solidFill>
                  <a:schemeClr val="bg1"/>
                </a:solidFill>
              </a:rPr>
              <a:t> </a:t>
            </a:r>
            <a:r>
              <a:rPr lang="de-CH" dirty="0" err="1">
                <a:solidFill>
                  <a:schemeClr val="bg1"/>
                </a:solidFill>
              </a:rPr>
              <a:t>materials</a:t>
            </a:r>
            <a:endParaRPr dirty="0">
              <a:solidFill>
                <a:schemeClr val="bg1"/>
              </a:solidFill>
            </a:endParaRPr>
          </a:p>
        </p:txBody>
      </p:sp>
      <p:sp>
        <p:nvSpPr>
          <p:cNvPr id="8" name="Footer Placeholder 4">
            <a:extLst>
              <a:ext uri="{FF2B5EF4-FFF2-40B4-BE49-F238E27FC236}">
                <a16:creationId xmlns:a16="http://schemas.microsoft.com/office/drawing/2014/main" id="{281EA876-7531-B990-751A-97C6F1336632}"/>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bg1"/>
                </a:solidFill>
              </a:defRPr>
            </a:lvl1pPr>
          </a:lstStyle>
          <a:p>
            <a:r>
              <a:rPr lang="en-GB"/>
              <a:t>IFoA Life Conference</a:t>
            </a:r>
            <a:endParaRPr lang="en-GB" dirty="0"/>
          </a:p>
        </p:txBody>
      </p:sp>
      <p:sp>
        <p:nvSpPr>
          <p:cNvPr id="9" name="Slide Number Placeholder 5">
            <a:extLst>
              <a:ext uri="{FF2B5EF4-FFF2-40B4-BE49-F238E27FC236}">
                <a16:creationId xmlns:a16="http://schemas.microsoft.com/office/drawing/2014/main" id="{A6BD9CBB-09B0-6233-9AB9-0C66E4DC0D8D}"/>
              </a:ext>
            </a:extLst>
          </p:cNvPr>
          <p:cNvSpPr>
            <a:spLocks noGrp="1"/>
          </p:cNvSpPr>
          <p:nvPr>
            <p:ph type="sldNum" sz="quarter" idx="4"/>
          </p:nvPr>
        </p:nvSpPr>
        <p:spPr>
          <a:xfrm>
            <a:off x="14573177" y="8382533"/>
            <a:ext cx="529680" cy="486833"/>
          </a:xfrm>
          <a:prstGeom prst="rect">
            <a:avLst/>
          </a:prstGeom>
          <a:solidFill>
            <a:schemeClr val="bg1"/>
          </a:solidFill>
        </p:spPr>
        <p:txBody>
          <a:bodyPr vert="horz" lIns="91440" tIns="45720" rIns="91440" bIns="45720" rtlCol="0" anchor="ctr"/>
          <a:lstStyle>
            <a:lvl1pPr algn="ctr">
              <a:defRPr sz="1200" b="1" i="0">
                <a:solidFill>
                  <a:schemeClr val="tx1"/>
                </a:solidFill>
                <a:latin typeface="Arial" panose="020B0604020202020204" pitchFamily="34" charset="0"/>
                <a:cs typeface="Arial" panose="020B0604020202020204" pitchFamily="34" charset="0"/>
              </a:defRPr>
            </a:lvl1pPr>
          </a:lstStyle>
          <a:p>
            <a:fld id="{40FC62D0-A2F2-4BF8-8DAC-E86C11000EC3}" type="slidenum">
              <a:rPr lang="en-GB" smtClean="0"/>
              <a:pPr/>
              <a:t>32</a:t>
            </a:fld>
            <a:endParaRPr lang="en-GB" dirty="0"/>
          </a:p>
        </p:txBody>
      </p:sp>
      <p:sp>
        <p:nvSpPr>
          <p:cNvPr id="3" name="TextBox 2">
            <a:extLst>
              <a:ext uri="{FF2B5EF4-FFF2-40B4-BE49-F238E27FC236}">
                <a16:creationId xmlns:a16="http://schemas.microsoft.com/office/drawing/2014/main" id="{4070AE32-00BE-5614-D620-544935576899}"/>
              </a:ext>
            </a:extLst>
          </p:cNvPr>
          <p:cNvSpPr txBox="1"/>
          <p:nvPr/>
        </p:nvSpPr>
        <p:spPr>
          <a:xfrm>
            <a:off x="12221737" y="256478"/>
            <a:ext cx="2096429" cy="646331"/>
          </a:xfrm>
          <a:prstGeom prst="rect">
            <a:avLst/>
          </a:prstGeom>
          <a:solidFill>
            <a:srgbClr val="EF25E1"/>
          </a:solidFill>
        </p:spPr>
        <p:txBody>
          <a:bodyPr wrap="square" rtlCol="0">
            <a:spAutoFit/>
          </a:bodyPr>
          <a:lstStyle/>
          <a:p>
            <a:r>
              <a:rPr lang="en-GB" dirty="0"/>
              <a:t>David 10 mins for this section</a:t>
            </a:r>
          </a:p>
        </p:txBody>
      </p:sp>
    </p:spTree>
    <p:extLst>
      <p:ext uri="{BB962C8B-B14F-4D97-AF65-F5344CB8AC3E}">
        <p14:creationId xmlns:p14="http://schemas.microsoft.com/office/powerpoint/2010/main" val="3656113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B0AF03A-89FE-AC01-8EE1-2E2A103F068F}"/>
              </a:ext>
            </a:extLst>
          </p:cNvPr>
          <p:cNvSpPr>
            <a:spLocks noGrp="1"/>
          </p:cNvSpPr>
          <p:nvPr>
            <p:ph sz="quarter" idx="13"/>
          </p:nvPr>
        </p:nvSpPr>
        <p:spPr/>
        <p:txBody>
          <a:bodyPr>
            <a:normAutofit fontScale="62500" lnSpcReduction="20000"/>
          </a:bodyPr>
          <a:lstStyle/>
          <a:p>
            <a:pPr algn="just"/>
            <a:r>
              <a:rPr lang="en-GB" b="1" dirty="0"/>
              <a:t>Abstract Summary: </a:t>
            </a:r>
          </a:p>
          <a:p>
            <a:pPr algn="just"/>
            <a:r>
              <a:rPr lang="en-GB" dirty="0"/>
              <a:t>As Sir Mayfield notes in the 2025 Keep Britain Working report, "ill-health has now become one of the biggest drivers of economic inactivity in the UK".  The well-established methods that actuaries employ for understanding and explaining the dynamics of Income Protection business can have useful applications for understanding the health of the workforce.</a:t>
            </a:r>
            <a:endParaRPr lang="de-CH" dirty="0"/>
          </a:p>
          <a:p>
            <a:pPr algn="just"/>
            <a:r>
              <a:rPr lang="en-GB" dirty="0"/>
              <a:t>A specific population health metric that is gaining more attention is </a:t>
            </a:r>
            <a:r>
              <a:rPr lang="en-GB" b="1" dirty="0"/>
              <a:t>Healthy Working Life Expectancy ('HWLE')</a:t>
            </a:r>
            <a:r>
              <a:rPr lang="en-GB" dirty="0"/>
              <a:t>.  This is an estimate of the length of time that a person will be both healthy and working and can be an indicator of the health and potential productivity of a population. It has been presented as a measure for assessing the appropriateness of increasing retirement ages and for the adequacy of national social security policy-making. It could be a useful benchmark for life and health insurers when developing new life insurance products such as disability income protection and pensions savings contracts.</a:t>
            </a:r>
            <a:endParaRPr lang="de-CH" dirty="0"/>
          </a:p>
          <a:p>
            <a:pPr algn="just"/>
            <a:r>
              <a:rPr lang="en-GB" dirty="0"/>
              <a:t>Furthermore, estimating HWLE from datasets across historic time periods is a useful statistic for measuring the trends in long-term sickness and economic inactivity within the UK national workforce population. Using life insurance data to calculate HWLE represents the first attempt to estimate HWLE for a UK population segment with administrative data, rather than survey results, and therefore is a novel approach.</a:t>
            </a:r>
            <a:endParaRPr lang="de-CH" dirty="0"/>
          </a:p>
          <a:p>
            <a:pPr algn="just"/>
            <a:r>
              <a:rPr lang="en-GB" dirty="0"/>
              <a:t>Key takeaways will include methods and results of calculating HWLE for the UK population and discussion of the advantages and disadvantages of these methods.</a:t>
            </a:r>
            <a:endParaRPr lang="de-CH" dirty="0"/>
          </a:p>
          <a:p>
            <a:endParaRPr lang="en-GB" dirty="0"/>
          </a:p>
        </p:txBody>
      </p:sp>
      <p:sp>
        <p:nvSpPr>
          <p:cNvPr id="3" name="Title 2">
            <a:extLst>
              <a:ext uri="{FF2B5EF4-FFF2-40B4-BE49-F238E27FC236}">
                <a16:creationId xmlns:a16="http://schemas.microsoft.com/office/drawing/2014/main" id="{B4868011-5128-0A69-9BED-E80AD74634FF}"/>
              </a:ext>
            </a:extLst>
          </p:cNvPr>
          <p:cNvSpPr>
            <a:spLocks noGrp="1"/>
          </p:cNvSpPr>
          <p:nvPr>
            <p:ph type="title"/>
          </p:nvPr>
        </p:nvSpPr>
        <p:spPr/>
        <p:txBody>
          <a:bodyPr/>
          <a:lstStyle/>
          <a:p>
            <a:r>
              <a:rPr lang="en-GB" dirty="0"/>
              <a:t>Healthy Workforce</a:t>
            </a:r>
          </a:p>
        </p:txBody>
      </p:sp>
      <p:sp>
        <p:nvSpPr>
          <p:cNvPr id="4" name="Content Placeholder 3">
            <a:extLst>
              <a:ext uri="{FF2B5EF4-FFF2-40B4-BE49-F238E27FC236}">
                <a16:creationId xmlns:a16="http://schemas.microsoft.com/office/drawing/2014/main" id="{18EB2E86-055E-0A41-0193-7AD2A7258949}"/>
              </a:ext>
            </a:extLst>
          </p:cNvPr>
          <p:cNvSpPr>
            <a:spLocks noGrp="1"/>
          </p:cNvSpPr>
          <p:nvPr>
            <p:ph sz="quarter" idx="25"/>
          </p:nvPr>
        </p:nvSpPr>
        <p:spPr/>
        <p:txBody>
          <a:bodyPr/>
          <a:lstStyle/>
          <a:p>
            <a:pPr marL="0" marR="0" lvl="0" indent="0" algn="just" defTabSz="1219170" rtl="0" eaLnBrk="1" fontAlgn="auto" latinLnBrk="0" hangingPunct="1">
              <a:lnSpc>
                <a:spcPct val="100000"/>
              </a:lnSpc>
              <a:spcBef>
                <a:spcPts val="1333"/>
              </a:spcBef>
              <a:spcAft>
                <a:spcPts val="0"/>
              </a:spcAft>
              <a:buClr>
                <a:srgbClr val="F6B21B"/>
              </a:buClr>
              <a:buSzTx/>
              <a:buFont typeface="Arial" panose="020B0604020202020204" pitchFamily="34" charset="0"/>
              <a:buNone/>
              <a:tabLst/>
              <a:defRPr/>
            </a:pPr>
            <a:r>
              <a:rPr lang="en-GB" sz="1600" b="1" dirty="0">
                <a:solidFill>
                  <a:srgbClr val="3F3F3F"/>
                </a:solidFill>
              </a:rPr>
              <a:t>Practical details</a:t>
            </a:r>
            <a:r>
              <a:rPr kumimoji="0" lang="en-GB" sz="1600" b="1" i="0" u="none" strike="noStrike" kern="1200" cap="none" spc="0" normalizeH="0" baseline="0" noProof="0" dirty="0">
                <a:ln>
                  <a:noFill/>
                </a:ln>
                <a:solidFill>
                  <a:srgbClr val="3F3F3F"/>
                </a:solidFill>
                <a:effectLst/>
                <a:uLnTx/>
                <a:uFillTx/>
                <a:latin typeface="Arial" panose="020B0604020202020204" pitchFamily="34" charset="0"/>
                <a:ea typeface="+mn-ea"/>
                <a:cs typeface="Arial" panose="020B0604020202020204" pitchFamily="34" charset="0"/>
              </a:rPr>
              <a:t> </a:t>
            </a:r>
          </a:p>
          <a:p>
            <a:pPr marL="0" marR="0" lvl="0" indent="0" algn="just" defTabSz="1219170" rtl="0" eaLnBrk="1" fontAlgn="auto" latinLnBrk="0" hangingPunct="1">
              <a:lnSpc>
                <a:spcPct val="100000"/>
              </a:lnSpc>
              <a:spcBef>
                <a:spcPts val="1333"/>
              </a:spcBef>
              <a:spcAft>
                <a:spcPts val="0"/>
              </a:spcAft>
              <a:buClr>
                <a:srgbClr val="F6B21B"/>
              </a:buClr>
              <a:buSzTx/>
              <a:buFont typeface="Arial" panose="020B0604020202020204" pitchFamily="34" charset="0"/>
              <a:buNone/>
              <a:tabLst/>
              <a:defRPr/>
            </a:pPr>
            <a:r>
              <a:rPr kumimoji="0" lang="en-GB" sz="1600" b="1" i="0" u="none" strike="noStrike" kern="1200" cap="none" spc="0" normalizeH="0" baseline="0" noProof="0" dirty="0">
                <a:ln>
                  <a:noFill/>
                </a:ln>
                <a:solidFill>
                  <a:srgbClr val="3F3F3F"/>
                </a:solidFill>
                <a:effectLst/>
                <a:uLnTx/>
                <a:uFillTx/>
                <a:latin typeface="Arial" panose="020B0604020202020204" pitchFamily="34" charset="0"/>
                <a:ea typeface="+mn-ea"/>
                <a:cs typeface="Arial" panose="020B0604020202020204" pitchFamily="34" charset="0"/>
              </a:rPr>
              <a:t>Presenters</a:t>
            </a:r>
            <a:r>
              <a:rPr kumimoji="0" lang="en-GB" sz="1600" b="0" i="0" u="none" strike="noStrike" kern="1200" cap="none" spc="0" normalizeH="0" baseline="0" noProof="0" dirty="0">
                <a:ln>
                  <a:noFill/>
                </a:ln>
                <a:solidFill>
                  <a:srgbClr val="3F3F3F"/>
                </a:solidFill>
                <a:effectLst/>
                <a:uLnTx/>
                <a:uFillTx/>
                <a:latin typeface="Arial" panose="020B0604020202020204" pitchFamily="34" charset="0"/>
                <a:ea typeface="+mn-ea"/>
                <a:cs typeface="Arial" panose="020B0604020202020204" pitchFamily="34" charset="0"/>
              </a:rPr>
              <a:t>: David, Chris and Jon</a:t>
            </a:r>
          </a:p>
          <a:p>
            <a:pPr algn="just"/>
            <a:r>
              <a:rPr lang="en-GB" sz="1600" b="1" dirty="0"/>
              <a:t>Date</a:t>
            </a:r>
            <a:r>
              <a:rPr lang="en-GB" sz="1600" dirty="0"/>
              <a:t>: Friday 20th November</a:t>
            </a:r>
            <a:endParaRPr lang="de-CH" sz="1600" dirty="0"/>
          </a:p>
          <a:p>
            <a:pPr algn="just"/>
            <a:r>
              <a:rPr lang="en-GB" sz="1600" b="1" dirty="0"/>
              <a:t>Time</a:t>
            </a:r>
            <a:r>
              <a:rPr lang="en-GB" sz="1600" dirty="0"/>
              <a:t>: 09.55-10.40 (Please note that the day/time of your session may be subject to change)</a:t>
            </a:r>
            <a:endParaRPr lang="de-CH" sz="1600" dirty="0"/>
          </a:p>
          <a:p>
            <a:pPr algn="just"/>
            <a:r>
              <a:rPr lang="en-GB" sz="1600" b="1" dirty="0"/>
              <a:t>Location</a:t>
            </a:r>
            <a:r>
              <a:rPr lang="en-GB" sz="1600" dirty="0"/>
              <a:t>: The ICC, 8 Centenary Square, Birmingham, B1 2EA</a:t>
            </a:r>
            <a:endParaRPr lang="de-CH" sz="1600" dirty="0"/>
          </a:p>
          <a:p>
            <a:pPr marL="0" marR="0" lvl="0" indent="0" algn="l" defTabSz="1219170" rtl="0" eaLnBrk="1" fontAlgn="auto" latinLnBrk="0" hangingPunct="1">
              <a:lnSpc>
                <a:spcPct val="100000"/>
              </a:lnSpc>
              <a:spcBef>
                <a:spcPts val="1333"/>
              </a:spcBef>
              <a:spcAft>
                <a:spcPts val="0"/>
              </a:spcAft>
              <a:buClr>
                <a:srgbClr val="F6B21B"/>
              </a:buClr>
              <a:buSzTx/>
              <a:buFont typeface="Arial" panose="020B0604020202020204" pitchFamily="34" charset="0"/>
              <a:buNone/>
              <a:tabLst/>
              <a:defRPr/>
            </a:pPr>
            <a:endParaRPr kumimoji="0" lang="en-GB" sz="1600" b="0" i="0" u="none" strike="noStrike" kern="1200" cap="none" spc="0" normalizeH="0" baseline="0" noProof="0" dirty="0">
              <a:ln>
                <a:noFill/>
              </a:ln>
              <a:solidFill>
                <a:srgbClr val="3F3F3F"/>
              </a:solidFill>
              <a:effectLst/>
              <a:uLnTx/>
              <a:uFillTx/>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1333"/>
              </a:spcBef>
              <a:spcAft>
                <a:spcPts val="0"/>
              </a:spcAft>
              <a:buClr>
                <a:srgbClr val="F6B21B"/>
              </a:buClr>
              <a:buSzTx/>
              <a:buFont typeface="Arial" panose="020B0604020202020204" pitchFamily="34" charset="0"/>
              <a:buNone/>
              <a:tabLst/>
              <a:defRPr/>
            </a:pPr>
            <a:r>
              <a:rPr lang="en-GB" sz="1600" dirty="0">
                <a:solidFill>
                  <a:srgbClr val="3F3F3F"/>
                </a:solidFill>
                <a:highlight>
                  <a:srgbClr val="FFFF00"/>
                </a:highlight>
              </a:rPr>
              <a:t>Preparation:</a:t>
            </a:r>
          </a:p>
          <a:p>
            <a:pPr>
              <a:buClr>
                <a:srgbClr val="F6B21B"/>
              </a:buClr>
              <a:defRPr/>
            </a:pPr>
            <a:r>
              <a:rPr lang="en-GB" sz="1600" b="1" dirty="0">
                <a:highlight>
                  <a:srgbClr val="FFFF00"/>
                </a:highlight>
              </a:rPr>
              <a:t>WP meetings</a:t>
            </a:r>
            <a:r>
              <a:rPr lang="en-GB" sz="1600" dirty="0">
                <a:highlight>
                  <a:srgbClr val="FFFF00"/>
                </a:highlight>
              </a:rPr>
              <a:t>: 16 September; 21 October</a:t>
            </a:r>
            <a:endParaRPr lang="de-CH" sz="1600" dirty="0">
              <a:highlight>
                <a:srgbClr val="FFFF00"/>
              </a:highlight>
            </a:endParaRPr>
          </a:p>
          <a:p>
            <a:pPr>
              <a:buClr>
                <a:srgbClr val="F6B21B"/>
              </a:buClr>
              <a:defRPr/>
            </a:pPr>
            <a:r>
              <a:rPr lang="en-GB" sz="1600" b="1" dirty="0">
                <a:highlight>
                  <a:srgbClr val="FFFF00"/>
                </a:highlight>
              </a:rPr>
              <a:t>Submit slides to Conference organisers</a:t>
            </a:r>
            <a:r>
              <a:rPr lang="en-GB" sz="1600" dirty="0">
                <a:highlight>
                  <a:srgbClr val="FFFF00"/>
                </a:highlight>
              </a:rPr>
              <a:t>: 18 October</a:t>
            </a:r>
          </a:p>
          <a:p>
            <a:pPr marL="0" marR="0" lvl="0" indent="0" algn="l" defTabSz="1219170" rtl="0" eaLnBrk="1" fontAlgn="auto" latinLnBrk="0" hangingPunct="1">
              <a:lnSpc>
                <a:spcPct val="100000"/>
              </a:lnSpc>
              <a:spcBef>
                <a:spcPts val="1333"/>
              </a:spcBef>
              <a:spcAft>
                <a:spcPts val="0"/>
              </a:spcAft>
              <a:buClr>
                <a:srgbClr val="F6B21B"/>
              </a:buClr>
              <a:buSzTx/>
              <a:buFont typeface="Arial" panose="020B0604020202020204" pitchFamily="34" charset="0"/>
              <a:buNone/>
              <a:tabLst/>
              <a:defRPr/>
            </a:pPr>
            <a:endParaRPr kumimoji="0" lang="en-GB" sz="1600" b="0" i="0" u="none" strike="noStrike" kern="1200" cap="none" spc="0" normalizeH="0" baseline="0" noProof="0" dirty="0">
              <a:ln>
                <a:noFill/>
              </a:ln>
              <a:solidFill>
                <a:srgbClr val="3F3F3F"/>
              </a:solidFill>
              <a:effectLst/>
              <a:uLnTx/>
              <a:uFillTx/>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1333"/>
              </a:spcBef>
              <a:spcAft>
                <a:spcPts val="0"/>
              </a:spcAft>
              <a:buClr>
                <a:srgbClr val="F6B21B"/>
              </a:buClr>
              <a:buSzTx/>
              <a:buFont typeface="Arial" panose="020B0604020202020204" pitchFamily="34" charset="0"/>
              <a:buNone/>
              <a:tabLst/>
              <a:defRPr/>
            </a:pPr>
            <a:endParaRPr kumimoji="0" lang="en-GB" sz="1600" b="0" i="0" u="none" strike="noStrike" kern="1200" cap="none" spc="0" normalizeH="0" baseline="0" noProof="0" dirty="0">
              <a:ln>
                <a:noFill/>
              </a:ln>
              <a:solidFill>
                <a:srgbClr val="3F3F3F"/>
              </a:solidFill>
              <a:effectLst/>
              <a:uLnTx/>
              <a:uFillTx/>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1333"/>
              </a:spcBef>
              <a:spcAft>
                <a:spcPts val="0"/>
              </a:spcAft>
              <a:buClr>
                <a:srgbClr val="F6B21B"/>
              </a:buClr>
              <a:buSzTx/>
              <a:buFont typeface="Arial" panose="020B0604020202020204" pitchFamily="34" charset="0"/>
              <a:buNone/>
              <a:tabLst/>
              <a:defRPr/>
            </a:pPr>
            <a:endParaRPr lang="en-GB" dirty="0"/>
          </a:p>
        </p:txBody>
      </p:sp>
      <p:sp>
        <p:nvSpPr>
          <p:cNvPr id="5" name="Footer Placeholder 4">
            <a:extLst>
              <a:ext uri="{FF2B5EF4-FFF2-40B4-BE49-F238E27FC236}">
                <a16:creationId xmlns:a16="http://schemas.microsoft.com/office/drawing/2014/main" id="{DD342D9B-E4A3-7A9C-89FA-DF8BE265F813}"/>
              </a:ext>
            </a:extLst>
          </p:cNvPr>
          <p:cNvSpPr>
            <a:spLocks noGrp="1"/>
          </p:cNvSpPr>
          <p:nvPr>
            <p:ph type="ftr" sz="quarter" idx="3"/>
          </p:nvPr>
        </p:nvSpPr>
        <p:spPr/>
        <p:txBody>
          <a:bodyPr/>
          <a:lstStyle/>
          <a:p>
            <a:r>
              <a:rPr lang="en-GB" dirty="0" err="1"/>
              <a:t>IFoA</a:t>
            </a:r>
            <a:r>
              <a:rPr lang="en-GB" dirty="0"/>
              <a:t> Life Conference</a:t>
            </a:r>
          </a:p>
        </p:txBody>
      </p:sp>
      <p:sp>
        <p:nvSpPr>
          <p:cNvPr id="6" name="Slide Number Placeholder 5">
            <a:extLst>
              <a:ext uri="{FF2B5EF4-FFF2-40B4-BE49-F238E27FC236}">
                <a16:creationId xmlns:a16="http://schemas.microsoft.com/office/drawing/2014/main" id="{345EF490-DF06-151F-4D3B-074DF9C4A979}"/>
              </a:ext>
            </a:extLst>
          </p:cNvPr>
          <p:cNvSpPr>
            <a:spLocks noGrp="1"/>
          </p:cNvSpPr>
          <p:nvPr>
            <p:ph type="sldNum" sz="quarter" idx="4"/>
          </p:nvPr>
        </p:nvSpPr>
        <p:spPr/>
        <p:txBody>
          <a:bodyPr/>
          <a:lstStyle/>
          <a:p>
            <a:fld id="{40FC62D0-A2F2-4BF8-8DAC-E86C11000EC3}" type="slidenum">
              <a:rPr lang="en-GB" smtClean="0"/>
              <a:pPr/>
              <a:t>33</a:t>
            </a:fld>
            <a:endParaRPr lang="en-GB" dirty="0"/>
          </a:p>
        </p:txBody>
      </p:sp>
      <p:sp>
        <p:nvSpPr>
          <p:cNvPr id="7" name="Text Placeholder 6">
            <a:extLst>
              <a:ext uri="{FF2B5EF4-FFF2-40B4-BE49-F238E27FC236}">
                <a16:creationId xmlns:a16="http://schemas.microsoft.com/office/drawing/2014/main" id="{9A84D811-FB65-1909-A901-B7FA820B7DAF}"/>
              </a:ext>
            </a:extLst>
          </p:cNvPr>
          <p:cNvSpPr>
            <a:spLocks noGrp="1"/>
          </p:cNvSpPr>
          <p:nvPr>
            <p:ph type="body" sz="quarter" idx="24"/>
          </p:nvPr>
        </p:nvSpPr>
        <p:spPr/>
        <p:txBody>
          <a:bodyPr/>
          <a:lstStyle/>
          <a:p>
            <a:r>
              <a:rPr lang="en-US" dirty="0"/>
              <a:t>Trends and metrics for long-term term sickness and recovery rates for the UK working-age population</a:t>
            </a:r>
          </a:p>
        </p:txBody>
      </p:sp>
    </p:spTree>
    <p:extLst>
      <p:ext uri="{BB962C8B-B14F-4D97-AF65-F5344CB8AC3E}">
        <p14:creationId xmlns:p14="http://schemas.microsoft.com/office/powerpoint/2010/main" val="7751766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EBEAD5A-5AC4-7B84-043D-715EDFC3CEBA}"/>
              </a:ext>
            </a:extLst>
          </p:cNvPr>
          <p:cNvSpPr>
            <a:spLocks noGrp="1"/>
          </p:cNvSpPr>
          <p:nvPr>
            <p:ph sz="quarter" idx="13"/>
          </p:nvPr>
        </p:nvSpPr>
        <p:spPr/>
        <p:txBody>
          <a:bodyPr>
            <a:normAutofit fontScale="85000" lnSpcReduction="20000"/>
          </a:bodyPr>
          <a:lstStyle/>
          <a:p>
            <a:r>
              <a:rPr lang="en-US" dirty="0"/>
              <a:t>For many years, the CMI used the multiple-state model shown top right, originally introduced in CMIR 12, as a basis for the modelling of Income Protection business, where H, S and D denote the Healthy, Sick, and Dead states, respectively. However, one limitations was:</a:t>
            </a:r>
          </a:p>
          <a:p>
            <a:r>
              <a:rPr lang="en-US" i="1" dirty="0"/>
              <a:t>“… the model focuses on sicknesses whereas the data supplied to the CMI instead relates to claims, and not all sicknesses result in claims. Indeed, an IP claim inception can only arise from a sickness inception if the insured life remains sick throughout the deferred period of the policy and then claims. The CMI dataset therefore does not allow observation of transitions during the deferred period between states S and H, in either direction, or from state S to state D."</a:t>
            </a:r>
          </a:p>
          <a:p>
            <a:r>
              <a:rPr lang="en-US" dirty="0"/>
              <a:t>To address this limitation, the CMI introduced a 4-state model, as shown bottom right.  In this expanded version of the multiple-state model, the Sick state, S, is split into a 'Sick-but-not-Claiming' state, 𝐶 ̅, and the 'Sick-and-Claiming' state, C.  This model may be regarded as a multiple-state model for IP claim inceptions.</a:t>
            </a:r>
          </a:p>
          <a:p>
            <a:endParaRPr lang="en-GB" dirty="0"/>
          </a:p>
        </p:txBody>
      </p:sp>
      <p:sp>
        <p:nvSpPr>
          <p:cNvPr id="3" name="Title 2">
            <a:extLst>
              <a:ext uri="{FF2B5EF4-FFF2-40B4-BE49-F238E27FC236}">
                <a16:creationId xmlns:a16="http://schemas.microsoft.com/office/drawing/2014/main" id="{FB648638-8DDD-3F8F-50FB-4BE7DDC05B5A}"/>
              </a:ext>
            </a:extLst>
          </p:cNvPr>
          <p:cNvSpPr>
            <a:spLocks noGrp="1"/>
          </p:cNvSpPr>
          <p:nvPr>
            <p:ph type="title"/>
          </p:nvPr>
        </p:nvSpPr>
        <p:spPr/>
        <p:txBody>
          <a:bodyPr/>
          <a:lstStyle/>
          <a:p>
            <a:r>
              <a:rPr lang="en-GB" dirty="0"/>
              <a:t>CMI income protection analysis</a:t>
            </a:r>
          </a:p>
        </p:txBody>
      </p:sp>
      <p:sp>
        <p:nvSpPr>
          <p:cNvPr id="4" name="Footer Placeholder 3">
            <a:extLst>
              <a:ext uri="{FF2B5EF4-FFF2-40B4-BE49-F238E27FC236}">
                <a16:creationId xmlns:a16="http://schemas.microsoft.com/office/drawing/2014/main" id="{B3679136-6086-65CF-D5F0-2138F8878425}"/>
              </a:ext>
            </a:extLst>
          </p:cNvPr>
          <p:cNvSpPr>
            <a:spLocks noGrp="1"/>
          </p:cNvSpPr>
          <p:nvPr>
            <p:ph type="ftr" sz="quarter" idx="3"/>
          </p:nvPr>
        </p:nvSpPr>
        <p:spPr/>
        <p:txBody>
          <a:bodyPr/>
          <a:lstStyle/>
          <a:p>
            <a:r>
              <a:rPr lang="en-GB" dirty="0" err="1"/>
              <a:t>IFoA</a:t>
            </a:r>
            <a:r>
              <a:rPr lang="en-GB" dirty="0"/>
              <a:t> Life Conference</a:t>
            </a:r>
          </a:p>
        </p:txBody>
      </p:sp>
      <p:sp>
        <p:nvSpPr>
          <p:cNvPr id="5" name="Slide Number Placeholder 4">
            <a:extLst>
              <a:ext uri="{FF2B5EF4-FFF2-40B4-BE49-F238E27FC236}">
                <a16:creationId xmlns:a16="http://schemas.microsoft.com/office/drawing/2014/main" id="{3C498729-D2C3-A974-B2F0-3175C3AB2B80}"/>
              </a:ext>
            </a:extLst>
          </p:cNvPr>
          <p:cNvSpPr>
            <a:spLocks noGrp="1"/>
          </p:cNvSpPr>
          <p:nvPr>
            <p:ph type="sldNum" sz="quarter" idx="4"/>
          </p:nvPr>
        </p:nvSpPr>
        <p:spPr/>
        <p:txBody>
          <a:bodyPr/>
          <a:lstStyle/>
          <a:p>
            <a:fld id="{40FC62D0-A2F2-4BF8-8DAC-E86C11000EC3}" type="slidenum">
              <a:rPr lang="en-GB" smtClean="0"/>
              <a:pPr/>
              <a:t>34</a:t>
            </a:fld>
            <a:endParaRPr lang="en-GB" dirty="0"/>
          </a:p>
        </p:txBody>
      </p:sp>
      <p:sp>
        <p:nvSpPr>
          <p:cNvPr id="8" name="Text Placeholder 7">
            <a:extLst>
              <a:ext uri="{FF2B5EF4-FFF2-40B4-BE49-F238E27FC236}">
                <a16:creationId xmlns:a16="http://schemas.microsoft.com/office/drawing/2014/main" id="{84E4D393-4B55-676E-1814-0F084821C9DE}"/>
              </a:ext>
            </a:extLst>
          </p:cNvPr>
          <p:cNvSpPr>
            <a:spLocks noGrp="1"/>
          </p:cNvSpPr>
          <p:nvPr>
            <p:ph type="body" sz="quarter" idx="24"/>
          </p:nvPr>
        </p:nvSpPr>
        <p:spPr/>
        <p:txBody>
          <a:bodyPr/>
          <a:lstStyle/>
          <a:p>
            <a:r>
              <a:rPr lang="en-GB" dirty="0"/>
              <a:t>sickness inception rates v claim inception rates</a:t>
            </a:r>
          </a:p>
        </p:txBody>
      </p:sp>
      <p:pic>
        <p:nvPicPr>
          <p:cNvPr id="9" name="Picture Placeholder 8">
            <a:extLst>
              <a:ext uri="{FF2B5EF4-FFF2-40B4-BE49-F238E27FC236}">
                <a16:creationId xmlns:a16="http://schemas.microsoft.com/office/drawing/2014/main" id="{56DE8BE9-4C9A-E92C-353A-B16C478F391D}"/>
              </a:ext>
            </a:extLst>
          </p:cNvPr>
          <p:cNvPicPr>
            <a:picLocks noGrp="1" noChangeAspect="1"/>
          </p:cNvPicPr>
          <p:nvPr>
            <p:ph type="pic" sz="quarter" idx="27"/>
          </p:nvPr>
        </p:nvPicPr>
        <p:blipFill>
          <a:blip r:embed="rId2">
            <a:extLst>
              <a:ext uri="{28A0092B-C50C-407E-A947-70E740481C1C}">
                <a14:useLocalDpi xmlns:a14="http://schemas.microsoft.com/office/drawing/2010/main" val="0"/>
              </a:ext>
            </a:extLst>
          </a:blip>
          <a:stretch>
            <a:fillRect/>
          </a:stretch>
        </p:blipFill>
        <p:spPr>
          <a:xfrm>
            <a:off x="10163331" y="381204"/>
            <a:ext cx="3764704" cy="3567304"/>
          </a:xfrm>
          <a:prstGeom prst="rect">
            <a:avLst/>
          </a:prstGeom>
          <a:ln w="12700">
            <a:solidFill>
              <a:schemeClr val="tx1"/>
            </a:solidFill>
          </a:ln>
        </p:spPr>
      </p:pic>
      <p:pic>
        <p:nvPicPr>
          <p:cNvPr id="10" name="Picture Placeholder 9">
            <a:extLst>
              <a:ext uri="{FF2B5EF4-FFF2-40B4-BE49-F238E27FC236}">
                <a16:creationId xmlns:a16="http://schemas.microsoft.com/office/drawing/2014/main" id="{DD651B9E-4B60-ED1D-2244-FEF1FA311483}"/>
              </a:ext>
            </a:extLst>
          </p:cNvPr>
          <p:cNvPicPr>
            <a:picLocks noGrp="1" noChangeAspect="1"/>
          </p:cNvPicPr>
          <p:nvPr>
            <p:ph type="pic" sz="quarter" idx="28"/>
          </p:nvPr>
        </p:nvPicPr>
        <p:blipFill>
          <a:blip r:embed="rId3">
            <a:extLst>
              <a:ext uri="{28A0092B-C50C-407E-A947-70E740481C1C}">
                <a14:useLocalDpi xmlns:a14="http://schemas.microsoft.com/office/drawing/2010/main" val="0"/>
              </a:ext>
            </a:extLst>
          </a:blip>
          <a:stretch>
            <a:fillRect/>
          </a:stretch>
        </p:blipFill>
        <p:spPr>
          <a:xfrm>
            <a:off x="10163331" y="4120979"/>
            <a:ext cx="5765066" cy="3588849"/>
          </a:xfrm>
          <a:prstGeom prst="rect">
            <a:avLst/>
          </a:prstGeom>
          <a:ln w="12700">
            <a:solidFill>
              <a:schemeClr val="tx1"/>
            </a:solidFill>
          </a:ln>
        </p:spPr>
      </p:pic>
      <p:sp>
        <p:nvSpPr>
          <p:cNvPr id="12" name="TextBox 11">
            <a:extLst>
              <a:ext uri="{FF2B5EF4-FFF2-40B4-BE49-F238E27FC236}">
                <a16:creationId xmlns:a16="http://schemas.microsoft.com/office/drawing/2014/main" id="{CF068441-1D4D-1E95-9A2C-67CDADA84B4F}"/>
              </a:ext>
            </a:extLst>
          </p:cNvPr>
          <p:cNvSpPr txBox="1"/>
          <p:nvPr/>
        </p:nvSpPr>
        <p:spPr>
          <a:xfrm>
            <a:off x="14054642" y="381204"/>
            <a:ext cx="2096429" cy="646331"/>
          </a:xfrm>
          <a:prstGeom prst="rect">
            <a:avLst/>
          </a:prstGeom>
          <a:solidFill>
            <a:srgbClr val="EF25E1"/>
          </a:solidFill>
        </p:spPr>
        <p:txBody>
          <a:bodyPr wrap="square" rtlCol="0">
            <a:spAutoFit/>
          </a:bodyPr>
          <a:lstStyle/>
          <a:p>
            <a:r>
              <a:rPr lang="en-GB" dirty="0"/>
              <a:t>David to use only if question arises</a:t>
            </a:r>
          </a:p>
        </p:txBody>
      </p:sp>
    </p:spTree>
    <p:extLst>
      <p:ext uri="{BB962C8B-B14F-4D97-AF65-F5344CB8AC3E}">
        <p14:creationId xmlns:p14="http://schemas.microsoft.com/office/powerpoint/2010/main" val="22575114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5F8BF-ED37-D6D5-281A-D260D5A3EF7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365624E-AE94-1798-EE86-B2743F2DE5D7}"/>
              </a:ext>
            </a:extLst>
          </p:cNvPr>
          <p:cNvSpPr>
            <a:spLocks noGrp="1"/>
          </p:cNvSpPr>
          <p:nvPr>
            <p:ph sz="quarter" idx="13"/>
          </p:nvPr>
        </p:nvSpPr>
        <p:spPr/>
        <p:txBody>
          <a:bodyPr/>
          <a:lstStyle/>
          <a:p>
            <a:r>
              <a:rPr lang="en-US" b="1" dirty="0"/>
              <a:t>health economics literature</a:t>
            </a:r>
          </a:p>
          <a:p>
            <a:pPr marL="457200" indent="-457200">
              <a:buFont typeface="Arial" panose="020B0604020202020204" pitchFamily="34" charset="0"/>
              <a:buChar char="•"/>
            </a:pPr>
            <a:r>
              <a:rPr lang="en-US" dirty="0"/>
              <a:t>survey data</a:t>
            </a:r>
          </a:p>
          <a:p>
            <a:pPr marL="457200" indent="-457200">
              <a:buFont typeface="Arial" panose="020B0604020202020204" pitchFamily="34" charset="0"/>
              <a:buChar char="•"/>
            </a:pPr>
            <a:r>
              <a:rPr lang="en-US" dirty="0"/>
              <a:t>general working population</a:t>
            </a:r>
          </a:p>
          <a:p>
            <a:pPr marL="457200" indent="-457200">
              <a:buFont typeface="Arial" panose="020B0604020202020204" pitchFamily="34" charset="0"/>
              <a:buChar char="•"/>
            </a:pPr>
            <a:r>
              <a:rPr lang="en-US" dirty="0"/>
              <a:t>starting state includes all work and health states</a:t>
            </a:r>
          </a:p>
          <a:p>
            <a:endParaRPr lang="en-GB" dirty="0"/>
          </a:p>
        </p:txBody>
      </p:sp>
      <p:sp>
        <p:nvSpPr>
          <p:cNvPr id="3" name="Title 2">
            <a:extLst>
              <a:ext uri="{FF2B5EF4-FFF2-40B4-BE49-F238E27FC236}">
                <a16:creationId xmlns:a16="http://schemas.microsoft.com/office/drawing/2014/main" id="{A71908E3-4B73-D0B8-D85A-20A093965DD7}"/>
              </a:ext>
            </a:extLst>
          </p:cNvPr>
          <p:cNvSpPr>
            <a:spLocks noGrp="1"/>
          </p:cNvSpPr>
          <p:nvPr>
            <p:ph type="title"/>
          </p:nvPr>
        </p:nvSpPr>
        <p:spPr/>
        <p:txBody>
          <a:bodyPr/>
          <a:lstStyle/>
          <a:p>
            <a:r>
              <a:rPr lang="en-GB" dirty="0"/>
              <a:t>Healthy Working Life Expectancy</a:t>
            </a:r>
          </a:p>
        </p:txBody>
      </p:sp>
      <p:sp>
        <p:nvSpPr>
          <p:cNvPr id="4" name="Content Placeholder 3">
            <a:extLst>
              <a:ext uri="{FF2B5EF4-FFF2-40B4-BE49-F238E27FC236}">
                <a16:creationId xmlns:a16="http://schemas.microsoft.com/office/drawing/2014/main" id="{B77145AD-2299-9F54-AFF8-E8D6FC857DC5}"/>
              </a:ext>
            </a:extLst>
          </p:cNvPr>
          <p:cNvSpPr>
            <a:spLocks noGrp="1"/>
          </p:cNvSpPr>
          <p:nvPr>
            <p:ph sz="quarter" idx="25"/>
          </p:nvPr>
        </p:nvSpPr>
        <p:spPr/>
        <p:txBody>
          <a:bodyPr/>
          <a:lstStyle/>
          <a:p>
            <a:r>
              <a:rPr lang="en-US" b="1" dirty="0"/>
              <a:t>actuarial literature</a:t>
            </a:r>
          </a:p>
          <a:p>
            <a:pPr marL="457200" indent="-457200">
              <a:buFont typeface="Arial" panose="020B0604020202020204" pitchFamily="34" charset="0"/>
              <a:buChar char="•"/>
            </a:pPr>
            <a:r>
              <a:rPr lang="en-US" dirty="0"/>
              <a:t>administrative data</a:t>
            </a:r>
          </a:p>
          <a:p>
            <a:pPr marL="457200" indent="-457200">
              <a:buFont typeface="Arial" panose="020B0604020202020204" pitchFamily="34" charset="0"/>
              <a:buChar char="•"/>
            </a:pPr>
            <a:r>
              <a:rPr lang="en-US" dirty="0"/>
              <a:t>insured lives</a:t>
            </a:r>
          </a:p>
          <a:p>
            <a:pPr marL="457200" indent="-457200">
              <a:buFont typeface="Arial" panose="020B0604020202020204" pitchFamily="34" charset="0"/>
              <a:buChar char="•"/>
            </a:pPr>
            <a:r>
              <a:rPr lang="en-US" dirty="0"/>
              <a:t>starting state limited to working and healthy</a:t>
            </a:r>
          </a:p>
        </p:txBody>
      </p:sp>
      <p:sp>
        <p:nvSpPr>
          <p:cNvPr id="5" name="Footer Placeholder 4">
            <a:extLst>
              <a:ext uri="{FF2B5EF4-FFF2-40B4-BE49-F238E27FC236}">
                <a16:creationId xmlns:a16="http://schemas.microsoft.com/office/drawing/2014/main" id="{4FBB2CAD-95BB-782E-13CB-472DAA5E22EC}"/>
              </a:ext>
            </a:extLst>
          </p:cNvPr>
          <p:cNvSpPr>
            <a:spLocks noGrp="1"/>
          </p:cNvSpPr>
          <p:nvPr>
            <p:ph type="ftr" sz="quarter" idx="3"/>
          </p:nvPr>
        </p:nvSpPr>
        <p:spPr/>
        <p:txBody>
          <a:bodyPr/>
          <a:lstStyle/>
          <a:p>
            <a:r>
              <a:rPr lang="en-GB"/>
              <a:t>IFoA Life Conference</a:t>
            </a:r>
            <a:endParaRPr lang="en-GB" dirty="0"/>
          </a:p>
        </p:txBody>
      </p:sp>
      <p:sp>
        <p:nvSpPr>
          <p:cNvPr id="6" name="Slide Number Placeholder 5">
            <a:extLst>
              <a:ext uri="{FF2B5EF4-FFF2-40B4-BE49-F238E27FC236}">
                <a16:creationId xmlns:a16="http://schemas.microsoft.com/office/drawing/2014/main" id="{CB93B72B-97AD-E07B-1E6E-1E40AF078543}"/>
              </a:ext>
            </a:extLst>
          </p:cNvPr>
          <p:cNvSpPr>
            <a:spLocks noGrp="1"/>
          </p:cNvSpPr>
          <p:nvPr>
            <p:ph type="sldNum" sz="quarter" idx="4"/>
          </p:nvPr>
        </p:nvSpPr>
        <p:spPr/>
        <p:txBody>
          <a:bodyPr/>
          <a:lstStyle/>
          <a:p>
            <a:fld id="{40FC62D0-A2F2-4BF8-8DAC-E86C11000EC3}" type="slidenum">
              <a:rPr lang="en-GB" smtClean="0"/>
              <a:pPr/>
              <a:t>35</a:t>
            </a:fld>
            <a:endParaRPr lang="en-GB" dirty="0"/>
          </a:p>
        </p:txBody>
      </p:sp>
      <p:sp>
        <p:nvSpPr>
          <p:cNvPr id="7" name="Text Placeholder 6">
            <a:extLst>
              <a:ext uri="{FF2B5EF4-FFF2-40B4-BE49-F238E27FC236}">
                <a16:creationId xmlns:a16="http://schemas.microsoft.com/office/drawing/2014/main" id="{11A4E832-5E82-C7E5-8BB5-CD0DB8B5B1E6}"/>
              </a:ext>
            </a:extLst>
          </p:cNvPr>
          <p:cNvSpPr>
            <a:spLocks noGrp="1"/>
          </p:cNvSpPr>
          <p:nvPr>
            <p:ph type="body" sz="quarter" idx="24"/>
          </p:nvPr>
        </p:nvSpPr>
        <p:spPr/>
        <p:txBody>
          <a:bodyPr/>
          <a:lstStyle/>
          <a:p>
            <a:r>
              <a:rPr lang="en-GB" dirty="0"/>
              <a:t>and similar metrics</a:t>
            </a:r>
          </a:p>
        </p:txBody>
      </p:sp>
      <p:sp>
        <p:nvSpPr>
          <p:cNvPr id="9" name="TextBox 8">
            <a:extLst>
              <a:ext uri="{FF2B5EF4-FFF2-40B4-BE49-F238E27FC236}">
                <a16:creationId xmlns:a16="http://schemas.microsoft.com/office/drawing/2014/main" id="{9B2B4C9A-72CE-619E-552C-31A1FE9EE311}"/>
              </a:ext>
            </a:extLst>
          </p:cNvPr>
          <p:cNvSpPr txBox="1"/>
          <p:nvPr/>
        </p:nvSpPr>
        <p:spPr>
          <a:xfrm>
            <a:off x="12221737" y="256478"/>
            <a:ext cx="2096429" cy="369332"/>
          </a:xfrm>
          <a:prstGeom prst="rect">
            <a:avLst/>
          </a:prstGeom>
          <a:solidFill>
            <a:srgbClr val="EF25E1"/>
          </a:solidFill>
        </p:spPr>
        <p:txBody>
          <a:bodyPr wrap="square" rtlCol="0">
            <a:spAutoFit/>
          </a:bodyPr>
          <a:lstStyle/>
          <a:p>
            <a:r>
              <a:rPr lang="en-GB" dirty="0"/>
              <a:t>David 2 mins</a:t>
            </a:r>
          </a:p>
        </p:txBody>
      </p:sp>
    </p:spTree>
    <p:extLst>
      <p:ext uri="{BB962C8B-B14F-4D97-AF65-F5344CB8AC3E}">
        <p14:creationId xmlns:p14="http://schemas.microsoft.com/office/powerpoint/2010/main" val="26423873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50DC7B15-3F52-15B0-9E9D-8C9367CBA168}"/>
              </a:ext>
            </a:extLst>
          </p:cNvPr>
          <p:cNvGraphicFramePr>
            <a:graphicFrameLocks noGrp="1"/>
          </p:cNvGraphicFramePr>
          <p:nvPr>
            <p:ph sz="quarter" idx="25"/>
            <p:extLst>
              <p:ext uri="{D42A27DB-BD31-4B8C-83A1-F6EECF244321}">
                <p14:modId xmlns:p14="http://schemas.microsoft.com/office/powerpoint/2010/main" val="3192881896"/>
              </p:ext>
            </p:extLst>
          </p:nvPr>
        </p:nvGraphicFramePr>
        <p:xfrm>
          <a:off x="1104899" y="2268537"/>
          <a:ext cx="14033499" cy="5307919"/>
        </p:xfrm>
        <a:graphic>
          <a:graphicData uri="http://schemas.openxmlformats.org/drawingml/2006/table">
            <a:tbl>
              <a:tblPr firstRow="1" bandRow="1">
                <a:tableStyleId>{5C22544A-7EE6-4342-B048-85BDC9FD1C3A}</a:tableStyleId>
              </a:tblPr>
              <a:tblGrid>
                <a:gridCol w="2910492">
                  <a:extLst>
                    <a:ext uri="{9D8B030D-6E8A-4147-A177-3AD203B41FA5}">
                      <a16:colId xmlns:a16="http://schemas.microsoft.com/office/drawing/2014/main" val="1566810129"/>
                    </a:ext>
                  </a:extLst>
                </a:gridCol>
                <a:gridCol w="5926895">
                  <a:extLst>
                    <a:ext uri="{9D8B030D-6E8A-4147-A177-3AD203B41FA5}">
                      <a16:colId xmlns:a16="http://schemas.microsoft.com/office/drawing/2014/main" val="279905860"/>
                    </a:ext>
                  </a:extLst>
                </a:gridCol>
                <a:gridCol w="5196112">
                  <a:extLst>
                    <a:ext uri="{9D8B030D-6E8A-4147-A177-3AD203B41FA5}">
                      <a16:colId xmlns:a16="http://schemas.microsoft.com/office/drawing/2014/main" val="789133068"/>
                    </a:ext>
                  </a:extLst>
                </a:gridCol>
              </a:tblGrid>
              <a:tr h="579857">
                <a:tc>
                  <a:txBody>
                    <a:bodyPr/>
                    <a:lstStyle/>
                    <a:p>
                      <a:r>
                        <a:rPr lang="en-GB" sz="2000" dirty="0"/>
                        <a:t>Study</a:t>
                      </a:r>
                    </a:p>
                  </a:txBody>
                  <a:tcPr/>
                </a:tc>
                <a:tc>
                  <a:txBody>
                    <a:bodyPr/>
                    <a:lstStyle/>
                    <a:p>
                      <a:r>
                        <a:rPr lang="en-US" sz="2000" dirty="0"/>
                        <a:t>Definition of Healthy or Not-Healthy</a:t>
                      </a:r>
                      <a:endParaRPr lang="en-GB" sz="2000" dirty="0"/>
                    </a:p>
                  </a:txBody>
                  <a:tcPr/>
                </a:tc>
                <a:tc>
                  <a:txBody>
                    <a:bodyPr/>
                    <a:lstStyle/>
                    <a:p>
                      <a:r>
                        <a:rPr lang="en-US" sz="2000" dirty="0"/>
                        <a:t>Definition of Working or Not-Working</a:t>
                      </a:r>
                      <a:endParaRPr lang="en-GB" sz="2000" dirty="0"/>
                    </a:p>
                  </a:txBody>
                  <a:tcPr/>
                </a:tc>
                <a:extLst>
                  <a:ext uri="{0D108BD9-81ED-4DB2-BD59-A6C34878D82A}">
                    <a16:rowId xmlns:a16="http://schemas.microsoft.com/office/drawing/2014/main" val="2606657457"/>
                  </a:ext>
                </a:extLst>
              </a:tr>
              <a:tr h="2364031">
                <a:tc>
                  <a:txBody>
                    <a:bodyPr/>
                    <a:lstStyle/>
                    <a:p>
                      <a:r>
                        <a:rPr lang="da-DK" sz="2000" dirty="0" err="1"/>
                        <a:t>Survey</a:t>
                      </a:r>
                      <a:r>
                        <a:rPr lang="da-DK" sz="2000" dirty="0"/>
                        <a:t> data </a:t>
                      </a:r>
                      <a:r>
                        <a:rPr lang="da-DK" sz="2000" dirty="0" err="1"/>
                        <a:t>examples</a:t>
                      </a:r>
                      <a:r>
                        <a:rPr lang="da-DK" sz="2000" dirty="0"/>
                        <a:t>:</a:t>
                      </a:r>
                    </a:p>
                    <a:p>
                      <a:endParaRPr lang="da-DK" sz="2000" dirty="0"/>
                    </a:p>
                    <a:p>
                      <a:r>
                        <a:rPr lang="da-DK" sz="2000" dirty="0"/>
                        <a:t>Lynch et al., 2024</a:t>
                      </a:r>
                    </a:p>
                    <a:p>
                      <a:r>
                        <a:rPr lang="da-DK" sz="2000" dirty="0"/>
                        <a:t>And</a:t>
                      </a:r>
                    </a:p>
                    <a:p>
                      <a:r>
                        <a:rPr lang="da-DK" sz="2000" dirty="0"/>
                        <a:t>Parker et al., 2020b</a:t>
                      </a:r>
                    </a:p>
                    <a:p>
                      <a:r>
                        <a:rPr lang="da-DK" sz="2000" dirty="0"/>
                        <a:t>(England)</a:t>
                      </a:r>
                    </a:p>
                  </a:txBody>
                  <a:tcPr/>
                </a:tc>
                <a:tc>
                  <a:txBody>
                    <a:bodyPr/>
                    <a:lstStyle/>
                    <a:p>
                      <a:r>
                        <a:rPr lang="en-US" sz="2000" dirty="0"/>
                        <a:t>Self-reported responses to these 2 questions: </a:t>
                      </a:r>
                    </a:p>
                    <a:p>
                      <a:pPr marL="342900" indent="-342900">
                        <a:buFont typeface="Arial" panose="020B0604020202020204" pitchFamily="34" charset="0"/>
                        <a:buChar char="•"/>
                      </a:pPr>
                      <a:r>
                        <a:rPr lang="en-US" sz="2000" dirty="0"/>
                        <a:t>"Do you have any long-standing illness, disability or infirmity?" </a:t>
                      </a:r>
                    </a:p>
                    <a:p>
                      <a:pPr marL="342900" indent="-342900">
                        <a:buFont typeface="Arial" panose="020B0604020202020204" pitchFamily="34" charset="0"/>
                        <a:buChar char="•"/>
                      </a:pPr>
                      <a:r>
                        <a:rPr lang="en-US" sz="2000" dirty="0"/>
                        <a:t>"Do these illnesses or disabilities limit your activities in any way?"</a:t>
                      </a:r>
                      <a:endParaRPr lang="en-GB" sz="2000" dirty="0"/>
                    </a:p>
                  </a:txBody>
                  <a:tcPr/>
                </a:tc>
                <a:tc>
                  <a:txBody>
                    <a:bodyPr/>
                    <a:lstStyle/>
                    <a:p>
                      <a:r>
                        <a:rPr lang="en-US" sz="2000" dirty="0"/>
                        <a:t>Work status self-reported in the ELSA survey as participation in paid work or self-employment within the month preceding the ELSA interview, or not.</a:t>
                      </a:r>
                      <a:endParaRPr lang="en-GB" sz="2000" dirty="0"/>
                    </a:p>
                  </a:txBody>
                  <a:tcPr/>
                </a:tc>
                <a:extLst>
                  <a:ext uri="{0D108BD9-81ED-4DB2-BD59-A6C34878D82A}">
                    <a16:rowId xmlns:a16="http://schemas.microsoft.com/office/drawing/2014/main" val="2704791977"/>
                  </a:ext>
                </a:extLst>
              </a:tr>
              <a:tr h="2364031">
                <a:tc>
                  <a:txBody>
                    <a:bodyPr/>
                    <a:lstStyle/>
                    <a:p>
                      <a:r>
                        <a:rPr lang="en-GB" sz="2000" dirty="0"/>
                        <a:t>Administrative </a:t>
                      </a:r>
                      <a:r>
                        <a:rPr lang="da-DK" sz="2000" dirty="0"/>
                        <a:t>data </a:t>
                      </a:r>
                      <a:r>
                        <a:rPr lang="da-DK" sz="2000" dirty="0" err="1"/>
                        <a:t>examples</a:t>
                      </a:r>
                      <a:r>
                        <a:rPr lang="da-DK" sz="2000" dirty="0"/>
                        <a:t>:</a:t>
                      </a:r>
                    </a:p>
                    <a:p>
                      <a:endParaRPr lang="en-GB" sz="2000" dirty="0"/>
                    </a:p>
                    <a:p>
                      <a:r>
                        <a:rPr lang="en-GB" sz="2000" dirty="0"/>
                        <a:t>CMI IP11 (UK)</a:t>
                      </a:r>
                    </a:p>
                  </a:txBody>
                  <a:tcPr/>
                </a:tc>
                <a:tc gridSpan="2">
                  <a:txBody>
                    <a:bodyPr/>
                    <a:lstStyle/>
                    <a:p>
                      <a:r>
                        <a:rPr lang="en-US" sz="2000" dirty="0"/>
                        <a:t>A person insured within an income protection scheme and actively working (i.e. not claiming benefits under the scheme) or not. People who are receiving benefits are 'Not-Healthy' and 'Not-Working' as per the claim trigger definitions within their insurance policy. People who are not receiving benefits are 'Working' but details of their health status are not complete so cannot for sure be described as 'Healthy'.</a:t>
                      </a:r>
                      <a:endParaRPr lang="en-GB" sz="2000" dirty="0"/>
                    </a:p>
                  </a:txBody>
                  <a:tcPr/>
                </a:tc>
                <a:tc hMerge="1">
                  <a:txBody>
                    <a:bodyPr/>
                    <a:lstStyle/>
                    <a:p>
                      <a:endParaRPr lang="en-GB" sz="2000" dirty="0"/>
                    </a:p>
                  </a:txBody>
                  <a:tcPr/>
                </a:tc>
                <a:extLst>
                  <a:ext uri="{0D108BD9-81ED-4DB2-BD59-A6C34878D82A}">
                    <a16:rowId xmlns:a16="http://schemas.microsoft.com/office/drawing/2014/main" val="2029032977"/>
                  </a:ext>
                </a:extLst>
              </a:tr>
            </a:tbl>
          </a:graphicData>
        </a:graphic>
      </p:graphicFrame>
      <p:sp>
        <p:nvSpPr>
          <p:cNvPr id="4" name="Footer Placeholder 3">
            <a:extLst>
              <a:ext uri="{FF2B5EF4-FFF2-40B4-BE49-F238E27FC236}">
                <a16:creationId xmlns:a16="http://schemas.microsoft.com/office/drawing/2014/main" id="{40C181D4-4851-B5D1-40B9-D5E238D07DCE}"/>
              </a:ext>
            </a:extLst>
          </p:cNvPr>
          <p:cNvSpPr>
            <a:spLocks noGrp="1"/>
          </p:cNvSpPr>
          <p:nvPr>
            <p:ph type="ftr" sz="quarter" idx="3"/>
          </p:nvPr>
        </p:nvSpPr>
        <p:spPr/>
        <p:txBody>
          <a:bodyPr/>
          <a:lstStyle/>
          <a:p>
            <a:r>
              <a:rPr lang="en-GB"/>
              <a:t>IFoA Life Conference</a:t>
            </a:r>
            <a:endParaRPr lang="en-GB" dirty="0"/>
          </a:p>
        </p:txBody>
      </p:sp>
      <p:sp>
        <p:nvSpPr>
          <p:cNvPr id="5" name="Slide Number Placeholder 4">
            <a:extLst>
              <a:ext uri="{FF2B5EF4-FFF2-40B4-BE49-F238E27FC236}">
                <a16:creationId xmlns:a16="http://schemas.microsoft.com/office/drawing/2014/main" id="{1A4EBC57-F975-B1B4-2A11-EBB4308D01EF}"/>
              </a:ext>
            </a:extLst>
          </p:cNvPr>
          <p:cNvSpPr>
            <a:spLocks noGrp="1"/>
          </p:cNvSpPr>
          <p:nvPr>
            <p:ph type="sldNum" sz="quarter" idx="4"/>
          </p:nvPr>
        </p:nvSpPr>
        <p:spPr/>
        <p:txBody>
          <a:bodyPr/>
          <a:lstStyle/>
          <a:p>
            <a:fld id="{40FC62D0-A2F2-4BF8-8DAC-E86C11000EC3}" type="slidenum">
              <a:rPr lang="en-GB" smtClean="0"/>
              <a:pPr/>
              <a:t>36</a:t>
            </a:fld>
            <a:endParaRPr lang="en-GB" dirty="0"/>
          </a:p>
        </p:txBody>
      </p:sp>
      <p:sp>
        <p:nvSpPr>
          <p:cNvPr id="6" name="Text Placeholder 5">
            <a:extLst>
              <a:ext uri="{FF2B5EF4-FFF2-40B4-BE49-F238E27FC236}">
                <a16:creationId xmlns:a16="http://schemas.microsoft.com/office/drawing/2014/main" id="{F207AA4F-9769-F5F8-5032-984DB43A4FE6}"/>
              </a:ext>
            </a:extLst>
          </p:cNvPr>
          <p:cNvSpPr>
            <a:spLocks noGrp="1"/>
          </p:cNvSpPr>
          <p:nvPr>
            <p:ph type="body" sz="quarter" idx="24"/>
          </p:nvPr>
        </p:nvSpPr>
        <p:spPr/>
        <p:txBody>
          <a:bodyPr/>
          <a:lstStyle/>
          <a:p>
            <a:r>
              <a:rPr lang="en-GB" dirty="0"/>
              <a:t>Survey data versus administrative life insurance data</a:t>
            </a:r>
          </a:p>
        </p:txBody>
      </p:sp>
      <p:sp>
        <p:nvSpPr>
          <p:cNvPr id="7" name="Title 6">
            <a:extLst>
              <a:ext uri="{FF2B5EF4-FFF2-40B4-BE49-F238E27FC236}">
                <a16:creationId xmlns:a16="http://schemas.microsoft.com/office/drawing/2014/main" id="{CADB976C-F52A-7AA2-A89B-87811762488D}"/>
              </a:ext>
            </a:extLst>
          </p:cNvPr>
          <p:cNvSpPr>
            <a:spLocks noGrp="1"/>
          </p:cNvSpPr>
          <p:nvPr>
            <p:ph type="title"/>
          </p:nvPr>
        </p:nvSpPr>
        <p:spPr/>
        <p:txBody>
          <a:bodyPr/>
          <a:lstStyle/>
          <a:p>
            <a:r>
              <a:rPr lang="en-GB" dirty="0"/>
              <a:t>Definitions of ‘healthy’ and ‘working’ states</a:t>
            </a:r>
          </a:p>
        </p:txBody>
      </p:sp>
      <p:sp>
        <p:nvSpPr>
          <p:cNvPr id="3" name="TextBox 2">
            <a:extLst>
              <a:ext uri="{FF2B5EF4-FFF2-40B4-BE49-F238E27FC236}">
                <a16:creationId xmlns:a16="http://schemas.microsoft.com/office/drawing/2014/main" id="{8C07E53A-097D-2AA4-0708-B9B4954691FE}"/>
              </a:ext>
            </a:extLst>
          </p:cNvPr>
          <p:cNvSpPr txBox="1"/>
          <p:nvPr/>
        </p:nvSpPr>
        <p:spPr>
          <a:xfrm>
            <a:off x="12221737" y="256478"/>
            <a:ext cx="2096429" cy="369332"/>
          </a:xfrm>
          <a:prstGeom prst="rect">
            <a:avLst/>
          </a:prstGeom>
          <a:solidFill>
            <a:srgbClr val="EF25E1"/>
          </a:solidFill>
        </p:spPr>
        <p:txBody>
          <a:bodyPr wrap="square" rtlCol="0">
            <a:spAutoFit/>
          </a:bodyPr>
          <a:lstStyle/>
          <a:p>
            <a:r>
              <a:rPr lang="en-GB" dirty="0"/>
              <a:t>David 2 mins</a:t>
            </a:r>
          </a:p>
        </p:txBody>
      </p:sp>
    </p:spTree>
    <p:extLst>
      <p:ext uri="{BB962C8B-B14F-4D97-AF65-F5344CB8AC3E}">
        <p14:creationId xmlns:p14="http://schemas.microsoft.com/office/powerpoint/2010/main" val="4042723021"/>
      </p:ext>
    </p:extLst>
  </p:cSld>
  <p:clrMapOvr>
    <a:masterClrMapping/>
  </p:clrMapOvr>
</p:sld>
</file>

<file path=ppt/theme/theme1.xml><?xml version="1.0" encoding="utf-8"?>
<a:theme xmlns:a="http://schemas.openxmlformats.org/drawingml/2006/main" name="Conference Covers">
  <a:themeElements>
    <a:clrScheme name="Custom 1">
      <a:dk1>
        <a:srgbClr val="3F3F3F"/>
      </a:dk1>
      <a:lt1>
        <a:srgbClr val="FFFFFF"/>
      </a:lt1>
      <a:dk2>
        <a:srgbClr val="002D72"/>
      </a:dk2>
      <a:lt2>
        <a:srgbClr val="FFFFFF"/>
      </a:lt2>
      <a:accent1>
        <a:srgbClr val="0097A9"/>
      </a:accent1>
      <a:accent2>
        <a:srgbClr val="A2B2C8"/>
      </a:accent2>
      <a:accent3>
        <a:srgbClr val="F6B21B"/>
      </a:accent3>
      <a:accent4>
        <a:srgbClr val="6BCABA"/>
      </a:accent4>
      <a:accent5>
        <a:srgbClr val="66C1CB"/>
      </a:accent5>
      <a:accent6>
        <a:srgbClr val="C7D1DE"/>
      </a:accent6>
      <a:hlink>
        <a:srgbClr val="33578E"/>
      </a:hlink>
      <a:folHlink>
        <a:srgbClr val="829AA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SE_Group_PowerPoint_Template use" id="{E4657FDB-B5CC-4A41-BF6D-183D81AD8D22}" vid="{1F5C7FD9-EB8F-2541-9465-A7ED68755437}"/>
    </a:ext>
  </a:extLst>
</a:theme>
</file>

<file path=ppt/theme/theme2.xml><?xml version="1.0" encoding="utf-8"?>
<a:theme xmlns:a="http://schemas.openxmlformats.org/drawingml/2006/main" name="1_Content slide layouts">
  <a:themeElements>
    <a:clrScheme name="Custom 1">
      <a:dk1>
        <a:srgbClr val="3F3F3F"/>
      </a:dk1>
      <a:lt1>
        <a:srgbClr val="FFFFFF"/>
      </a:lt1>
      <a:dk2>
        <a:srgbClr val="002D72"/>
      </a:dk2>
      <a:lt2>
        <a:srgbClr val="FFFFFF"/>
      </a:lt2>
      <a:accent1>
        <a:srgbClr val="0097A9"/>
      </a:accent1>
      <a:accent2>
        <a:srgbClr val="A2B2C8"/>
      </a:accent2>
      <a:accent3>
        <a:srgbClr val="F6B21B"/>
      </a:accent3>
      <a:accent4>
        <a:srgbClr val="6BCABA"/>
      </a:accent4>
      <a:accent5>
        <a:srgbClr val="66C1CB"/>
      </a:accent5>
      <a:accent6>
        <a:srgbClr val="C7D1DE"/>
      </a:accent6>
      <a:hlink>
        <a:srgbClr val="33578E"/>
      </a:hlink>
      <a:folHlink>
        <a:srgbClr val="829AA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SE_Group_PowerPoint_Template use" id="{E4657FDB-B5CC-4A41-BF6D-183D81AD8D22}" vid="{1F5C7FD9-EB8F-2541-9465-A7ED68755437}"/>
    </a:ext>
  </a:extLst>
</a:theme>
</file>

<file path=ppt/theme/theme3.xml><?xml version="1.0" encoding="utf-8"?>
<a:theme xmlns:a="http://schemas.openxmlformats.org/drawingml/2006/main" name="Blank Slides">
  <a:themeElements>
    <a:clrScheme name="IFoA Colour Palette">
      <a:dk1>
        <a:srgbClr val="3F4548"/>
      </a:dk1>
      <a:lt1>
        <a:srgbClr val="FEFFFF"/>
      </a:lt1>
      <a:dk2>
        <a:srgbClr val="113458"/>
      </a:dk2>
      <a:lt2>
        <a:srgbClr val="FCFDF8"/>
      </a:lt2>
      <a:accent1>
        <a:srgbClr val="D9AB16"/>
      </a:accent1>
      <a:accent2>
        <a:srgbClr val="D01E45"/>
      </a:accent2>
      <a:accent3>
        <a:srgbClr val="EE741D"/>
      </a:accent3>
      <a:accent4>
        <a:srgbClr val="11B3A2"/>
      </a:accent4>
      <a:accent5>
        <a:srgbClr val="009CC8"/>
      </a:accent5>
      <a:accent6>
        <a:srgbClr val="8F4693"/>
      </a:accent6>
      <a:hlink>
        <a:srgbClr val="D9AB16"/>
      </a:hlink>
      <a:folHlink>
        <a:srgbClr val="D9AB1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SE_Group_PowerPoint_Template use" id="{E4657FDB-B5CC-4A41-BF6D-183D81AD8D22}" vid="{1F5C7FD9-EB8F-2541-9465-A7ED68755437}"/>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427c8fa8-921c-4e76-a4fb-ab316639157b">
      <Terms xmlns="http://schemas.microsoft.com/office/infopath/2007/PartnerControls"/>
    </lcf76f155ced4ddcb4097134ff3c332f>
    <TaxCatchAll xmlns="65ef3215-eb9b-4145-815e-654dd1e8af6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69BB5B017E57643A9010A728B58DA5C" ma:contentTypeVersion="11" ma:contentTypeDescription="Create a new document." ma:contentTypeScope="" ma:versionID="bd67bf6eceadae8e79de8d9500d269f0">
  <xsd:schema xmlns:xsd="http://www.w3.org/2001/XMLSchema" xmlns:xs="http://www.w3.org/2001/XMLSchema" xmlns:p="http://schemas.microsoft.com/office/2006/metadata/properties" xmlns:ns2="427c8fa8-921c-4e76-a4fb-ab316639157b" xmlns:ns3="65ef3215-eb9b-4145-815e-654dd1e8af6c" targetNamespace="http://schemas.microsoft.com/office/2006/metadata/properties" ma:root="true" ma:fieldsID="543eb13995b4a5172de49f09202043c4" ns2:_="" ns3:_="">
    <xsd:import namespace="427c8fa8-921c-4e76-a4fb-ab316639157b"/>
    <xsd:import namespace="65ef3215-eb9b-4145-815e-654dd1e8af6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27c8fa8-921c-4e76-a4fb-ab316639157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c5664ec-2097-44f6-aef9-a995d752de49"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5ef3215-eb9b-4145-815e-654dd1e8af6c"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afb8b92b-6d5c-4dd4-aa92-b0877018010c}" ma:internalName="TaxCatchAll" ma:showField="CatchAllData" ma:web="65ef3215-eb9b-4145-815e-654dd1e8af6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0C26788-4DC2-436E-8A96-8EFF94E1844A}">
  <ds:schemaRefs>
    <ds:schemaRef ds:uri="http://schemas.microsoft.com/sharepoint/v3/contenttype/forms"/>
  </ds:schemaRefs>
</ds:datastoreItem>
</file>

<file path=customXml/itemProps2.xml><?xml version="1.0" encoding="utf-8"?>
<ds:datastoreItem xmlns:ds="http://schemas.openxmlformats.org/officeDocument/2006/customXml" ds:itemID="{6FF5F813-550E-4BB5-ADE3-752FACD4D223}">
  <ds:schemaRefs>
    <ds:schemaRef ds:uri="http://purl.org/dc/elements/1.1/"/>
    <ds:schemaRef ds:uri="427c8fa8-921c-4e76-a4fb-ab316639157b"/>
    <ds:schemaRef ds:uri="http://schemas.microsoft.com/office/2006/metadata/properties"/>
    <ds:schemaRef ds:uri="http://schemas.microsoft.com/office/infopath/2007/PartnerControls"/>
    <ds:schemaRef ds:uri="http://schemas.openxmlformats.org/package/2006/metadata/core-properties"/>
    <ds:schemaRef ds:uri="http://schemas.microsoft.com/office/2006/documentManagement/types"/>
    <ds:schemaRef ds:uri="http://www.w3.org/XML/1998/namespace"/>
    <ds:schemaRef ds:uri="http://purl.org/dc/dcmitype/"/>
    <ds:schemaRef ds:uri="65ef3215-eb9b-4145-815e-654dd1e8af6c"/>
    <ds:schemaRef ds:uri="http://purl.org/dc/terms/"/>
  </ds:schemaRefs>
</ds:datastoreItem>
</file>

<file path=customXml/itemProps3.xml><?xml version="1.0" encoding="utf-8"?>
<ds:datastoreItem xmlns:ds="http://schemas.openxmlformats.org/officeDocument/2006/customXml" ds:itemID="{BF32AE18-B89B-4431-8724-411DE593212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27c8fa8-921c-4e76-a4fb-ab316639157b"/>
    <ds:schemaRef ds:uri="65ef3215-eb9b-4145-815e-654dd1e8af6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90cfc4e3-7e43-4c3d-857e-66dfaf19e8fd}" enabled="0" method="" siteId="{90cfc4e3-7e43-4c3d-857e-66dfaf19e8fd}" removed="1"/>
</clbl:labelList>
</file>

<file path=docProps/app.xml><?xml version="1.0" encoding="utf-8"?>
<Properties xmlns="http://schemas.openxmlformats.org/officeDocument/2006/extended-properties" xmlns:vt="http://schemas.openxmlformats.org/officeDocument/2006/docPropsVTypes">
  <Template>SSE Master Slide</Template>
  <TotalTime>377</TotalTime>
  <Words>7311</Words>
  <Application>Microsoft Office PowerPoint</Application>
  <PresentationFormat>Custom</PresentationFormat>
  <Paragraphs>875</Paragraphs>
  <Slides>36</Slides>
  <Notes>21</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36</vt:i4>
      </vt:variant>
    </vt:vector>
  </HeadingPairs>
  <TitlesOfParts>
    <vt:vector size="43" baseType="lpstr">
      <vt:lpstr>Arial Light</vt:lpstr>
      <vt:lpstr>ARIAL-MDM</vt:lpstr>
      <vt:lpstr>Arial</vt:lpstr>
      <vt:lpstr>Calibri</vt:lpstr>
      <vt:lpstr>Conference Covers</vt:lpstr>
      <vt:lpstr>1_Content slide layouts</vt:lpstr>
      <vt:lpstr>Blank Slides</vt:lpstr>
      <vt:lpstr>IFoA Life Conference 2026</vt:lpstr>
      <vt:lpstr>PowerPoint Presentation</vt:lpstr>
      <vt:lpstr>Today’s agenda</vt:lpstr>
      <vt:lpstr>Background to the Healthy Workforce WP</vt:lpstr>
      <vt:lpstr>The importance of a healthy workforce</vt:lpstr>
      <vt:lpstr>The rise in long-term economic inactivity due to ill health</vt:lpstr>
      <vt:lpstr>PowerPoint Presentation</vt:lpstr>
      <vt:lpstr>The problem</vt:lpstr>
      <vt:lpstr>PowerPoint Presentation</vt:lpstr>
      <vt:lpstr>PowerPoint Presentation</vt:lpstr>
      <vt:lpstr>PowerPoint Presentation</vt:lpstr>
      <vt:lpstr>PowerPoint Presentation</vt:lpstr>
      <vt:lpstr>From survey data to administrative data</vt:lpstr>
      <vt:lpstr>Multi-state models: a reminder</vt:lpstr>
      <vt:lpstr>Same machinery, two traditions</vt:lpstr>
      <vt:lpstr>What survey data give us, and what they force on us</vt:lpstr>
      <vt:lpstr>HWLE estimates</vt:lpstr>
      <vt:lpstr>Healthy Working Life Expectancy as a metric</vt:lpstr>
      <vt:lpstr>Healthy Working Life Expectancy as a metric</vt:lpstr>
      <vt:lpstr>Healthy Working Life Expectancy as a metric</vt:lpstr>
      <vt:lpstr>Multi-state model method</vt:lpstr>
      <vt:lpstr>Healthy Working Life Table</vt:lpstr>
      <vt:lpstr>Healthy Working Life Table</vt:lpstr>
      <vt:lpstr>HWLE estimates</vt:lpstr>
      <vt:lpstr>HWLE estimates</vt:lpstr>
      <vt:lpstr>HWLE estimates</vt:lpstr>
      <vt:lpstr>HWLE comparisons with other published results</vt:lpstr>
      <vt:lpstr>Coming soon</vt:lpstr>
      <vt:lpstr>Conclusions</vt:lpstr>
      <vt:lpstr>Conclusions</vt:lpstr>
      <vt:lpstr>Questions</vt:lpstr>
      <vt:lpstr>Appendices / unused materials</vt:lpstr>
      <vt:lpstr>Healthy Workforce</vt:lpstr>
      <vt:lpstr>CMI income protection analysis</vt:lpstr>
      <vt:lpstr>Healthy Working Life Expectancy</vt:lpstr>
      <vt:lpstr>Definitions of ‘healthy’ and ‘working’ states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Wong, Stephen</dc:creator>
  <cp:lastModifiedBy>Chris Martin</cp:lastModifiedBy>
  <cp:revision>172</cp:revision>
  <dcterms:created xsi:type="dcterms:W3CDTF">2020-09-14T13:57:51Z</dcterms:created>
  <dcterms:modified xsi:type="dcterms:W3CDTF">2026-10-16T12:53:01Z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2020-01-15T00:00:00Z</vt:filetime>
  </property>
  <property fmtid="{D5CDD505-2E9C-101B-9397-08002B2CF9AE}" pid="3" name="Creator">
    <vt:lpwstr>Adobe InDesign 15.0 (Macintosh)</vt:lpwstr>
  </property>
  <property fmtid="{D5CDD505-2E9C-101B-9397-08002B2CF9AE}" pid="4" name="LastSaved">
    <vt:filetime>2020-01-15T00:00:00Z</vt:filetime>
  </property>
  <property fmtid="{D5CDD505-2E9C-101B-9397-08002B2CF9AE}" pid="5" name="ContentTypeId">
    <vt:lpwstr>0x010100C69BB5B017E57643A9010A728B58DA5C</vt:lpwstr>
  </property>
  <property fmtid="{D5CDD505-2E9C-101B-9397-08002B2CF9AE}" pid="6" name="MediaServiceImageTags">
    <vt:lpwstr/>
  </property>
  <property fmtid="{D5CDD505-2E9C-101B-9397-08002B2CF9AE}" pid="7" name="MSIP_Label_90c2fedb-0da6-4717-8531-d16a1b9930f4_Enabled">
    <vt:lpwstr>true</vt:lpwstr>
  </property>
  <property fmtid="{D5CDD505-2E9C-101B-9397-08002B2CF9AE}" pid="8" name="MSIP_Label_90c2fedb-0da6-4717-8531-d16a1b9930f4_SetDate">
    <vt:lpwstr>2026-08-13T09:35:39Z</vt:lpwstr>
  </property>
  <property fmtid="{D5CDD505-2E9C-101B-9397-08002B2CF9AE}" pid="9" name="MSIP_Label_90c2fedb-0da6-4717-8531-d16a1b9930f4_Method">
    <vt:lpwstr>Standard</vt:lpwstr>
  </property>
  <property fmtid="{D5CDD505-2E9C-101B-9397-08002B2CF9AE}" pid="10" name="MSIP_Label_90c2fedb-0da6-4717-8531-d16a1b9930f4_Name">
    <vt:lpwstr>90c2fedb-0da6-4717-8531-d16a1b9930f4</vt:lpwstr>
  </property>
  <property fmtid="{D5CDD505-2E9C-101B-9397-08002B2CF9AE}" pid="11" name="MSIP_Label_90c2fedb-0da6-4717-8531-d16a1b9930f4_SiteId">
    <vt:lpwstr>45597f60-6e37-4be7-acfb-4c9e23b261ea</vt:lpwstr>
  </property>
  <property fmtid="{D5CDD505-2E9C-101B-9397-08002B2CF9AE}" pid="12" name="MSIP_Label_90c2fedb-0da6-4717-8531-d16a1b9930f4_ActionId">
    <vt:lpwstr>df5175b7-3272-43a2-8201-37388a15d6a0</vt:lpwstr>
  </property>
  <property fmtid="{D5CDD505-2E9C-101B-9397-08002B2CF9AE}" pid="13" name="MSIP_Label_90c2fedb-0da6-4717-8531-d16a1b9930f4_ContentBits">
    <vt:lpwstr>0</vt:lpwstr>
  </property>
  <property fmtid="{D5CDD505-2E9C-101B-9397-08002B2CF9AE}" pid="14" name="MSIP_Label_90c2fedb-0da6-4717-8531-d16a1b9930f4_Tag">
    <vt:lpwstr>10, 3, 0, 1</vt:lpwstr>
  </property>
</Properties>
</file>