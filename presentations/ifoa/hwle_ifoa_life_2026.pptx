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emf" ContentType="image/x-emf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4060" r:id="rId4"/>
    <p:sldMasterId id="2147484090" r:id="rId5"/>
    <p:sldMasterId id="2147483897" r:id="rId6"/>
  </p:sldMasterIdLst>
  <p:notesMasterIdLst>
    <p:notesMasterId r:id="rId5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6256000" cy="9144000"/>
  <p:notesSz cx="16256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B5"/>
    <a:srgbClr val="FCC50F"/>
    <a:srgbClr val="DC3E83"/>
    <a:srgbClr val="C11E44"/>
    <a:srgbClr val="E5712A"/>
    <a:srgbClr val="9400F8"/>
    <a:srgbClr val="6AA5CD"/>
    <a:srgbClr val="008151"/>
    <a:srgbClr val="1E3C69"/>
    <a:srgbClr val="EF2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7931"/>
    <p:restoredTop autoAdjust="0" sz="96054"/>
  </p:normalViewPr>
  <p:slideViewPr>
    <p:cSldViewPr snapToGrid="0">
      <p:cViewPr varScale="1">
        <p:scale>
          <a:sx d="100" n="53"/>
          <a:sy d="100" n="53"/>
        </p:scale>
        <p:origin x="1032" y="48"/>
      </p:cViewPr>
      <p:guideLst>
        <p:guide orient="horz" pos="2880"/>
        <p:guide pos="216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80"/>
        <a:sy d="100" n="80"/>
      </p:scale>
      <p:origin x="0" y="0"/>
    </p:cViewPr>
  </p:sorterViewPr>
  <p:notesViewPr>
    <p:cSldViewPr snapToGrid="0">
      <p:cViewPr varScale="1">
        <p:scale>
          <a:sx d="100" n="118"/>
          <a:sy d="100" n="118"/>
        </p:scale>
        <p:origin x="1480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notesMaster" Target="notesMasters/notesMaster1.xml" /><Relationship Id="rId62" Type="http://schemas.openxmlformats.org/officeDocument/2006/relationships/theme" Target="theme/theme1.xml" /><Relationship Id="rId3" Type="http://schemas.openxmlformats.org/officeDocument/2006/relationships/customXml" Target="../customXml/item3.xml" /><Relationship Id="rId61" Type="http://schemas.openxmlformats.org/officeDocument/2006/relationships/viewProps" Target="viewProps.xml" /><Relationship Id="rId2" Type="http://schemas.openxmlformats.org/officeDocument/2006/relationships/customXml" Target="../customXml/item2.xml" /><Relationship Id="rId65" Type="http://schemas.microsoft.com/office/2018/10/relationships/authors" Target="authors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60" Type="http://schemas.openxmlformats.org/officeDocument/2006/relationships/presProps" Target="presProps.xml" /><Relationship Id="rId5" Type="http://schemas.openxmlformats.org/officeDocument/2006/relationships/slideMaster" Target="slideMasters/slideMaster2.xml" /><Relationship Id="rId64" Type="http://schemas.microsoft.com/office/2016/11/relationships/changesInfo" Target="changesInfos/changesInfo1.xml" /><Relationship Id="rId59" Type="http://schemas.openxmlformats.org/officeDocument/2006/relationships/handoutMaster" Target="handoutMasters/handoutMaster1.xml" /><Relationship Id="rId4" Type="http://schemas.openxmlformats.org/officeDocument/2006/relationships/slideMaster" Target="slideMasters/slideMaster1.xml" /><Relationship Id="rId63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4061F-76E8-7547-8257-4E48B24CCEA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DC993-C0AB-7145-A5E3-AB377573B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8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IFoA disclaimer to be added as slide 2 once David supplies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8DC993-C0AB-7145-A5E3-AB377573BF85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 20: 94% of working life to 65 spent working, 2.4% NN, 3.6% lost to death. Age 50: 90.7% / 4.9% / 4.4%.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8DC993-C0AB-7145-A5E3-AB377573BF85}" type="slidenum">
              <a:rPr lang="en-US"/>
              <a:t>41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0A36B0-3645-2D4E-5091-6E9F267DFA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5815115" y="-1003495"/>
            <a:ext cx="12640733" cy="90711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A47AF0-8829-2C0D-597E-33E16B982D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7379320">
            <a:off x="10602392" y="-758731"/>
            <a:ext cx="12640733" cy="907119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A7276D-7192-0B34-473D-EA39E90AE9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0000" y="3200000"/>
            <a:ext cx="11256000" cy="20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90000"/>
              </a:lnSpc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IFoA Life</a:t>
            </a:r>
            <a:br>
              <a:rPr lang="en-US" dirty="0"/>
            </a:br>
            <a:r>
              <a:rPr lang="en-US" dirty="0"/>
              <a:t>Conference 2026</a:t>
            </a:r>
            <a:endParaRPr lang="en-GB" dirty="0"/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AA7276D-7192-0B34-473D-EA39E90AE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000" y="5300000"/>
            <a:ext cx="11256000" cy="24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90000"/>
              </a:lnSpc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12CC90-F950-8886-A0EB-8ABBD93C87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798" y="2438316"/>
            <a:ext cx="2692398" cy="10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8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14020800" cy="5659894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9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1562793"/>
            <a:ext cx="6896104" cy="6467302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02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575035"/>
            <a:ext cx="6896104" cy="745506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24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6896104" cy="545931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229600" y="2269322"/>
            <a:ext cx="6896104" cy="5459309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4833094-AB27-5E56-D6CB-92FC23315C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081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632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BF38F80-87B4-544B-DF12-C4A9BD9565B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861501" y="2288900"/>
            <a:ext cx="4435365" cy="5784615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D3A9E38-14F9-AA40-C02D-6282D487A77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8"/>
            <a:ext cx="4435365" cy="578461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4435365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099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ED9682E-9637-9A79-3C2C-9884B99CC38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92953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41C2E98-E532-B7AA-99DE-FDD3C8C7909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68306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4C4DF2BD-647C-8875-244B-203CEF15829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1843658" y="2269322"/>
            <a:ext cx="3193143" cy="5784601"/>
          </a:xfrm>
        </p:spPr>
        <p:txBody>
          <a:bodyPr>
            <a:noAutofit/>
          </a:bodyPr>
          <a:lstStyle>
            <a:lvl1pPr marL="30479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00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1A82075-318E-FE63-214B-277AB26AD9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4020798" cy="5895552"/>
          </a:xfrm>
        </p:spPr>
        <p:txBody>
          <a:bodyPr numCol="2" spcCol="540000"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insert text which flows over 2 columns</a:t>
            </a:r>
          </a:p>
        </p:txBody>
      </p:sp>
    </p:spTree>
    <p:extLst>
      <p:ext uri="{BB962C8B-B14F-4D97-AF65-F5344CB8AC3E}">
        <p14:creationId xmlns:p14="http://schemas.microsoft.com/office/powerpoint/2010/main" val="27819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277027B-C185-A30F-5AED-F092B2367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112532"/>
            <a:ext cx="13985257" cy="5625287"/>
          </a:xfrm>
        </p:spPr>
        <p:txBody>
          <a:bodyPr numCol="3" spcCol="360000"/>
          <a:lstStyle>
            <a:lvl1pPr marL="0" indent="0" algn="l">
              <a:buNone/>
              <a:defRPr/>
            </a:lvl1pPr>
          </a:lstStyle>
          <a:p>
            <a:pPr lvl="0"/>
            <a:r>
              <a:rPr lang="en-GB" dirty="0"/>
              <a:t>Click to insert text which flows over 3 columns</a:t>
            </a:r>
          </a:p>
        </p:txBody>
      </p:sp>
    </p:spTree>
    <p:extLst>
      <p:ext uri="{BB962C8B-B14F-4D97-AF65-F5344CB8AC3E}">
        <p14:creationId xmlns:p14="http://schemas.microsoft.com/office/powerpoint/2010/main" val="261994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D0E0B45-EF5B-71C0-EE7B-7084218663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3985257" cy="6036278"/>
          </a:xfrm>
        </p:spPr>
        <p:txBody>
          <a:bodyPr numCol="4" spcCol="360000"/>
          <a:lstStyle>
            <a:lvl1pPr marL="0" indent="0">
              <a:buNone/>
              <a:defRPr b="0" i="0">
                <a:latin typeface="Arial Light" pitchFamily="2" charset="77"/>
                <a:cs typeface="Arial" panose="020B0604020202020204" pitchFamily="34" charset="0"/>
              </a:defRPr>
            </a:lvl1pPr>
            <a:lvl2pPr>
              <a:defRPr b="0" i="0">
                <a:latin typeface="Arial Light" pitchFamily="2" charset="77"/>
                <a:cs typeface="Arial" panose="020B0604020202020204" pitchFamily="34" charset="0"/>
              </a:defRPr>
            </a:lvl2pPr>
            <a:lvl3pPr>
              <a:defRPr b="0" i="0">
                <a:latin typeface="Arial Light" pitchFamily="2" charset="77"/>
                <a:cs typeface="Arial" panose="020B0604020202020204" pitchFamily="34" charset="0"/>
              </a:defRPr>
            </a:lvl3pPr>
            <a:lvl4pPr>
              <a:defRPr b="0" i="0">
                <a:latin typeface="Arial Light" pitchFamily="2" charset="77"/>
                <a:cs typeface="Arial" panose="020B0604020202020204" pitchFamily="34" charset="0"/>
              </a:defRPr>
            </a:lvl4pPr>
            <a:lvl5pPr>
              <a:defRPr b="0" i="0">
                <a:latin typeface="Arial Light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insert text which flows over 4 columns</a:t>
            </a:r>
          </a:p>
        </p:txBody>
      </p:sp>
    </p:spTree>
    <p:extLst>
      <p:ext uri="{BB962C8B-B14F-4D97-AF65-F5344CB8AC3E}">
        <p14:creationId xmlns:p14="http://schemas.microsoft.com/office/powerpoint/2010/main" val="366883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8CB7FDC-00A7-7B90-CE40-65AA02F36E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104904" y="2269323"/>
            <a:ext cx="9177279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 baseline="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45924F48-10A6-D386-6573-95AAB40DB4A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9"/>
            <a:ext cx="4514118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one of the icons</a:t>
            </a:r>
            <a:br>
              <a:rPr lang="en-GB" dirty="0"/>
            </a:br>
            <a:r>
              <a:rPr lang="en-GB" dirty="0"/>
              <a:t>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0F4604-732A-2FB0-E6FF-0331577B7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EEF7A8-D589-FB0C-1734-28318341D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20053E3-B033-D924-C090-76A8F4A33F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85256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56508B-9D1D-4B9C-D356-97C518AE3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08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78358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</a:t>
            </a:r>
            <a:br>
              <a:rPr lang="en-GB" dirty="0"/>
            </a:br>
            <a:r>
              <a:rPr lang="en-GB" dirty="0"/>
              <a:t>of the icons below to insert media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78358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29DB11-D16E-4E32-9950-179FAF3546C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74629" y="405087"/>
            <a:ext cx="5863772" cy="730474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72182E1-C703-5E9B-AF1E-2220AA60B4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78358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087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87375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438339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  <a:p>
            <a:pPr lvl="4"/>
            <a:endParaRPr lang="en-GB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87375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3FC21040-7C3A-D93A-BACC-D0E0F715F6F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163331" y="405087"/>
            <a:ext cx="4975070" cy="341085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CA7DC709-43C4-BE86-719C-D5983D073DB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63331" y="4122058"/>
            <a:ext cx="4975070" cy="35692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D1B7872-CCAD-289C-1C26-F2E8BFC855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87375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768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1E54B20A-0ED5-60AB-9116-D7F540559CA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22858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17599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BE21E811-6F8B-2D50-58A6-ACEE6EA28B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458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50608C-32BB-CCC4-447F-12ECBE13C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A7FBBD-F834-15B2-2E8F-951D0E1E44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4822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53AB13EF-0BA9-6520-3A3D-C0EFE0FD43A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706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1B95EC-FF59-D907-FFE4-D9726189FAA6}"/>
              </a:ext>
            </a:extLst>
          </p:cNvPr>
          <p:cNvSpPr txBox="1">
            <a:spLocks/>
          </p:cNvSpPr>
          <p:nvPr userDrawn="1"/>
        </p:nvSpPr>
        <p:spPr>
          <a:xfrm>
            <a:off x="59653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E7CABF-5EAF-F4E1-72CE-E3591D5B4F9C}"/>
              </a:ext>
            </a:extLst>
          </p:cNvPr>
          <p:cNvSpPr txBox="1">
            <a:spLocks/>
          </p:cNvSpPr>
          <p:nvPr userDrawn="1"/>
        </p:nvSpPr>
        <p:spPr>
          <a:xfrm>
            <a:off x="107405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325471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umbnail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32110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0CD1E30-D050-4126-D7E1-07DB4F673A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2109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ED0EADB-D05B-A497-5CC0-51E46F04F7E2}"/>
              </a:ext>
            </a:extLst>
          </p:cNvPr>
          <p:cNvSpPr txBox="1">
            <a:spLocks/>
          </p:cNvSpPr>
          <p:nvPr userDrawn="1"/>
        </p:nvSpPr>
        <p:spPr>
          <a:xfrm>
            <a:off x="4746168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3306FA8E-5404-C01E-927B-29F904AA8F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46167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0A93B9D-5E0A-A718-C13B-FE01C42D559F}"/>
              </a:ext>
            </a:extLst>
          </p:cNvPr>
          <p:cNvSpPr txBox="1">
            <a:spLocks/>
          </p:cNvSpPr>
          <p:nvPr userDrawn="1"/>
        </p:nvSpPr>
        <p:spPr>
          <a:xfrm>
            <a:off x="8360226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E7A50FA6-8234-EA95-2A47-39241CFC07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60225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6A0D816E-D4AF-433A-69BE-807521951344}"/>
              </a:ext>
            </a:extLst>
          </p:cNvPr>
          <p:cNvSpPr txBox="1">
            <a:spLocks/>
          </p:cNvSpPr>
          <p:nvPr userDrawn="1"/>
        </p:nvSpPr>
        <p:spPr>
          <a:xfrm>
            <a:off x="11974283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2" name="Picture Placeholder 23">
            <a:extLst>
              <a:ext uri="{FF2B5EF4-FFF2-40B4-BE49-F238E27FC236}">
                <a16:creationId xmlns:a16="http://schemas.microsoft.com/office/drawing/2014/main" id="{37D36736-E5C4-D510-24F7-E3E8DA889F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74282" y="522284"/>
            <a:ext cx="3106738" cy="20764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75E8601B-5C57-0BE3-4F75-8296F81EC500}"/>
              </a:ext>
            </a:extLst>
          </p:cNvPr>
          <p:cNvSpPr txBox="1">
            <a:spLocks/>
          </p:cNvSpPr>
          <p:nvPr userDrawn="1"/>
        </p:nvSpPr>
        <p:spPr>
          <a:xfrm>
            <a:off x="1132110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B246A558-3A99-3774-978B-079E67BE5A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2109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9FF048B5-45F9-1E6F-B7DA-5CDF2F524748}"/>
              </a:ext>
            </a:extLst>
          </p:cNvPr>
          <p:cNvSpPr txBox="1">
            <a:spLocks/>
          </p:cNvSpPr>
          <p:nvPr userDrawn="1"/>
        </p:nvSpPr>
        <p:spPr>
          <a:xfrm>
            <a:off x="4746168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3881D084-0D11-14A0-776A-7C423BA18C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46167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5B67010-4466-C4F2-6B31-8F7360F681A1}"/>
              </a:ext>
            </a:extLst>
          </p:cNvPr>
          <p:cNvSpPr txBox="1">
            <a:spLocks/>
          </p:cNvSpPr>
          <p:nvPr userDrawn="1"/>
        </p:nvSpPr>
        <p:spPr>
          <a:xfrm>
            <a:off x="8360226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DAB7F4E5-A04F-BBF5-81F4-67355D1637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60225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4C42F6C7-AAC2-8778-499D-C164828408DF}"/>
              </a:ext>
            </a:extLst>
          </p:cNvPr>
          <p:cNvSpPr txBox="1">
            <a:spLocks/>
          </p:cNvSpPr>
          <p:nvPr userDrawn="1"/>
        </p:nvSpPr>
        <p:spPr>
          <a:xfrm>
            <a:off x="11974283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0" name="Picture Placeholder 23">
            <a:extLst>
              <a:ext uri="{FF2B5EF4-FFF2-40B4-BE49-F238E27FC236}">
                <a16:creationId xmlns:a16="http://schemas.microsoft.com/office/drawing/2014/main" id="{5EFAAFFD-4B6F-A01D-FB8D-E1CEE2ADB9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74282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E4A8696-1F8F-C702-AC0F-D9C70FA977DB}"/>
              </a:ext>
            </a:extLst>
          </p:cNvPr>
          <p:cNvSpPr txBox="1">
            <a:spLocks/>
          </p:cNvSpPr>
          <p:nvPr userDrawn="1"/>
        </p:nvSpPr>
        <p:spPr>
          <a:xfrm>
            <a:off x="1132110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48525AE3-22AF-AB5E-B257-E390E05DCF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2109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2DB5F926-5570-5FB5-10F3-958A3436E4B2}"/>
              </a:ext>
            </a:extLst>
          </p:cNvPr>
          <p:cNvSpPr txBox="1">
            <a:spLocks/>
          </p:cNvSpPr>
          <p:nvPr userDrawn="1"/>
        </p:nvSpPr>
        <p:spPr>
          <a:xfrm>
            <a:off x="4746168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4" name="Picture Placeholder 23">
            <a:extLst>
              <a:ext uri="{FF2B5EF4-FFF2-40B4-BE49-F238E27FC236}">
                <a16:creationId xmlns:a16="http://schemas.microsoft.com/office/drawing/2014/main" id="{1C6351E8-B42F-7A4F-3F19-3E005A51DB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46167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504FC3D-6ABC-68D4-8027-CE6DFF05BF6B}"/>
              </a:ext>
            </a:extLst>
          </p:cNvPr>
          <p:cNvSpPr txBox="1">
            <a:spLocks/>
          </p:cNvSpPr>
          <p:nvPr userDrawn="1"/>
        </p:nvSpPr>
        <p:spPr>
          <a:xfrm>
            <a:off x="8360226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6" name="Picture Placeholder 23">
            <a:extLst>
              <a:ext uri="{FF2B5EF4-FFF2-40B4-BE49-F238E27FC236}">
                <a16:creationId xmlns:a16="http://schemas.microsoft.com/office/drawing/2014/main" id="{38E88081-1294-4E5E-E7B8-648E83EA9E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0225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0D01F23B-2855-CC9C-BD6F-B9DA99CEA871}"/>
              </a:ext>
            </a:extLst>
          </p:cNvPr>
          <p:cNvSpPr txBox="1">
            <a:spLocks/>
          </p:cNvSpPr>
          <p:nvPr userDrawn="1"/>
        </p:nvSpPr>
        <p:spPr>
          <a:xfrm>
            <a:off x="11974283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A1802AC9-D438-0940-F6FA-4EF796B507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974282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121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01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577C-5ADA-DE55-B128-83AA66D6C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8304-6C36-249F-E42A-4B587A18B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176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0000" y="3400000"/>
            <a:ext cx="13256000" cy="2200000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215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out footer - Backgrou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4133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media/image1.png" Type="http://schemas.openxmlformats.org/officeDocument/2006/relationships/image" /><Relationship Id="rId2" Target="../theme/theme1.xml" Type="http://schemas.openxmlformats.org/officeDocument/2006/relationships/theme" /><Relationship Id="rId1" Target="../slideLayouts/slideLayout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F25C570-C0B9-76B3-4BFD-E6B3A057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630D8FD-A6F6-6EE4-2434-A38016314418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3F4E8-5CDA-8955-4BFE-A2FCDD5BA013}"/>
              </a:ext>
            </a:extLst>
          </p:cNvPr>
          <p:cNvPicPr>
            <a:picLocks noChangeAspect="1"/>
          </p:cNvPicPr>
          <p:nvPr userDrawn="1"/>
        </p:nvPicPr>
        <p:blipFill>
          <a:blip cstate="email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635"/>
            <a:ext cx="1366353" cy="554629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A03778-E4AF-D519-D257-3D5B728D22F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516921-5FEC-FB3B-75CE-FB6663376CD0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708CF7-AFA2-B03F-3762-97D636B572D0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886170-12CD-9DF7-29C3-124E4C5EF48A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68609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989" r:id="rId1"/>
  </p:sldLayoutIdLst>
  <p:hf dt="0" hdr="0"/>
  <p:txStyles>
    <p:titleStyle>
      <a:lvl1pPr algn="l" defTabSz="1219170" eaLnBrk="1" hangingPunct="1" latinLnBrk="0" rtl="0">
        <a:lnSpc>
          <a:spcPct val="90000"/>
        </a:lnSpc>
        <a:spcBef>
          <a:spcPct val="0"/>
        </a:spcBef>
        <a:buNone/>
        <a:defRPr b="1" baseline="0" i="0" kern="1200" spc="-150" sz="4400">
          <a:solidFill>
            <a:schemeClr val="tx1"/>
          </a:solidFill>
          <a:latin charset="0" panose="020B0604020202020204" pitchFamily="34" typeface="Arial"/>
          <a:ea typeface="+mj-ea"/>
          <a:cs charset="0" panose="020B0604020202020204" pitchFamily="34" typeface="Arial"/>
        </a:defRPr>
      </a:lvl1pPr>
    </p:titleStyle>
    <p:bodyStyle>
      <a:lvl1pPr algn="l" defTabSz="1219170" eaLnBrk="1" hangingPunct="1" indent="-304792" latinLnBrk="0" marL="304792" rtl="0">
        <a:lnSpc>
          <a:spcPct val="100000"/>
        </a:lnSpc>
        <a:spcBef>
          <a:spcPts val="1333"/>
        </a:spcBef>
        <a:buClr>
          <a:schemeClr val="accent3"/>
        </a:buClr>
        <a:buFont charset="0" panose="020B0604020202020204" pitchFamily="34" typeface="Arial"/>
        <a:buChar char="•"/>
        <a:defRPr b="0" i="0" kern="1200" sz="2600">
          <a:solidFill>
            <a:schemeClr val="tx1"/>
          </a:solidFill>
          <a:latin charset="77" pitchFamily="2" typeface="Arial Light"/>
          <a:ea typeface="+mn-ea"/>
          <a:cs charset="0" panose="020B0604020202020204" pitchFamily="34" typeface="Arial"/>
        </a:defRPr>
      </a:lvl1pPr>
      <a:lvl2pPr algn="l" defTabSz="1219170" eaLnBrk="1" hangingPunct="1" indent="-304792" latinLnBrk="0" marL="914377" rtl="0">
        <a:lnSpc>
          <a:spcPct val="100000"/>
        </a:lnSpc>
        <a:spcBef>
          <a:spcPts val="667"/>
        </a:spcBef>
        <a:buClr>
          <a:schemeClr val="accent3"/>
        </a:buClr>
        <a:buFont charset="0" panose="020B0604020202020204" pitchFamily="34" typeface="Arial"/>
        <a:buChar char="•"/>
        <a:defRPr b="0" i="0" kern="1200" sz="2600">
          <a:solidFill>
            <a:schemeClr val="tx1"/>
          </a:solidFill>
          <a:latin charset="77" pitchFamily="2" typeface="Arial Light"/>
          <a:ea typeface="+mn-ea"/>
          <a:cs charset="0" panose="020B0604020202020204" pitchFamily="34" typeface="Arial"/>
        </a:defRPr>
      </a:lvl2pPr>
      <a:lvl3pPr algn="l" defTabSz="1219170" eaLnBrk="1" hangingPunct="1" indent="-304792" latinLnBrk="0" marL="1523962" rtl="0">
        <a:lnSpc>
          <a:spcPct val="100000"/>
        </a:lnSpc>
        <a:spcBef>
          <a:spcPts val="667"/>
        </a:spcBef>
        <a:buClr>
          <a:schemeClr val="accent3"/>
        </a:buClr>
        <a:buFont charset="0" panose="020B0604020202020204" pitchFamily="34" typeface="Arial"/>
        <a:buChar char="•"/>
        <a:defRPr b="0" i="0" kern="1200" sz="2600">
          <a:solidFill>
            <a:schemeClr val="tx1"/>
          </a:solidFill>
          <a:latin charset="77" pitchFamily="2" typeface="Arial Light"/>
          <a:ea typeface="+mn-ea"/>
          <a:cs charset="0" panose="020B0604020202020204" pitchFamily="34" typeface="Arial"/>
        </a:defRPr>
      </a:lvl3pPr>
      <a:lvl4pPr algn="l" defTabSz="1219170" eaLnBrk="1" hangingPunct="1" indent="-304792" latinLnBrk="0" marL="2133547" rtl="0">
        <a:lnSpc>
          <a:spcPct val="100000"/>
        </a:lnSpc>
        <a:spcBef>
          <a:spcPts val="667"/>
        </a:spcBef>
        <a:buClr>
          <a:schemeClr val="accent3"/>
        </a:buClr>
        <a:buFont charset="0" panose="020B0604020202020204" pitchFamily="34" typeface="Arial"/>
        <a:buChar char="•"/>
        <a:defRPr b="0" i="0" kern="1200" sz="2600">
          <a:solidFill>
            <a:schemeClr val="tx1"/>
          </a:solidFill>
          <a:latin charset="77" pitchFamily="2" typeface="Arial Light"/>
          <a:ea typeface="+mn-ea"/>
          <a:cs charset="0" panose="020B0604020202020204" pitchFamily="34" typeface="Arial"/>
        </a:defRPr>
      </a:lvl4pPr>
      <a:lvl5pPr algn="l" defTabSz="1219170" eaLnBrk="1" hangingPunct="1" indent="-304792" latinLnBrk="0" marL="2743131" rtl="0">
        <a:lnSpc>
          <a:spcPct val="100000"/>
        </a:lnSpc>
        <a:spcBef>
          <a:spcPts val="667"/>
        </a:spcBef>
        <a:buClr>
          <a:schemeClr val="accent3"/>
        </a:buClr>
        <a:buFont charset="0" panose="020B0604020202020204" pitchFamily="34" typeface="Arial"/>
        <a:buChar char="•"/>
        <a:defRPr b="0" i="0" kern="1200" sz="2600">
          <a:solidFill>
            <a:schemeClr val="tx1"/>
          </a:solidFill>
          <a:latin charset="77" pitchFamily="2" typeface="Arial Light"/>
          <a:ea typeface="+mn-ea"/>
          <a:cs charset="0" panose="020B0604020202020204" pitchFamily="34" typeface="Arial"/>
        </a:defRPr>
      </a:lvl5pPr>
      <a:lvl6pPr algn="l" defTabSz="1219170" eaLnBrk="1" hangingPunct="1" indent="-304792" latinLnBrk="0" marL="3352716" rtl="0">
        <a:lnSpc>
          <a:spcPct val="90000"/>
        </a:lnSpc>
        <a:spcBef>
          <a:spcPts val="667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6pPr>
      <a:lvl7pPr algn="l" defTabSz="1219170" eaLnBrk="1" hangingPunct="1" indent="-304792" latinLnBrk="0" marL="3962301" rtl="0">
        <a:lnSpc>
          <a:spcPct val="90000"/>
        </a:lnSpc>
        <a:spcBef>
          <a:spcPts val="667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7pPr>
      <a:lvl8pPr algn="l" defTabSz="1219170" eaLnBrk="1" hangingPunct="1" indent="-304792" latinLnBrk="0" marL="4571886" rtl="0">
        <a:lnSpc>
          <a:spcPct val="90000"/>
        </a:lnSpc>
        <a:spcBef>
          <a:spcPts val="667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8pPr>
      <a:lvl9pPr algn="l" defTabSz="1219170" eaLnBrk="1" hangingPunct="1" indent="-304792" latinLnBrk="0" marL="5181470" rtl="0">
        <a:lnSpc>
          <a:spcPct val="90000"/>
        </a:lnSpc>
        <a:spcBef>
          <a:spcPts val="667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1219170" eaLnBrk="1" hangingPunct="1" latinLnBrk="0" marL="0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1219170" eaLnBrk="1" hangingPunct="1" latinLnBrk="0" marL="609585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1219170" eaLnBrk="1" hangingPunct="1" latinLnBrk="0" marL="1219170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1219170" eaLnBrk="1" hangingPunct="1" latinLnBrk="0" marL="1828754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1219170" eaLnBrk="1" hangingPunct="1" latinLnBrk="0" marL="2438339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5pPr>
      <a:lvl6pPr algn="l" defTabSz="1219170" eaLnBrk="1" hangingPunct="1" latinLnBrk="0" marL="3047924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6pPr>
      <a:lvl7pPr algn="l" defTabSz="1219170" eaLnBrk="1" hangingPunct="1" latinLnBrk="0" marL="3657509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7pPr>
      <a:lvl8pPr algn="l" defTabSz="1219170" eaLnBrk="1" hangingPunct="1" latinLnBrk="0" marL="4267093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8pPr>
      <a:lvl9pPr algn="l" defTabSz="1219170" eaLnBrk="1" hangingPunct="1" latinLnBrk="0" marL="4876678" rtl="0">
        <a:defRPr kern="1200" sz="24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11.png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A7276D-7192-0B34-473D-EA39E90AE910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2500000" y="3200000"/>
            <a:ext cx="11256000" cy="200000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Healthy Working Life Expectancy</a:t>
            </a: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AA7276D-7192-0B34-473D-EA39E90AE91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2500000" y="5300000"/>
            <a:ext cx="11256000" cy="240000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From survey data to insurer administrative data</a:t>
            </a:r>
            <a:br/>
            <a:br/>
            <a:r>
              <a:rPr/>
              <a:t>IFoA Healthy Workforce Working Party</a:t>
            </a:r>
            <a:br/>
            <a:r>
              <a:rPr/>
              <a:t>Presented by David Beddows, Chris Martin and Jon Minton</a:t>
            </a:r>
            <a:br/>
            <a:r>
              <a:rPr/>
              <a:t>on behalf of Z. Woodroffe, D. Bates, S. Batrakova, R. Pal and C. Zhang</a:t>
            </a:r>
          </a:p>
        </p:txBody>
      </p:sp>
      <p:sp/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Presentation-wide questions (REMOVE THIS SECTION BEFORE FINALISING)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Format and logistics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☒ </a:t>
            </a:r>
            <a:r>
              <a:rPr b="1"/>
              <a:t>Slot length?</a:t>
            </a:r>
          </a:p>
          <a:p>
            <a:pPr lvl="1"/>
            <a:r>
              <a:rPr/>
              <a:t>45 minutes including Q&amp;A: 35 min presenting + 10 min Q&amp;A. 2–3 min/slide → 10–18 slides.</a:t>
            </a:r>
          </a:p>
          <a:p>
            <a:pPr lvl="1"/>
            <a:r>
              <a:rPr/>
              <a:t>Call: David’s last talk here had 15 slides and was rushed; realistic target </a:t>
            </a:r>
            <a:r>
              <a:rPr b="1"/>
              <a:t>~12 content slides</a:t>
            </a:r>
            <a:r>
              <a:rPr/>
              <a:t>. Draft is at 15 — cut/merge candidates flagged below.</a:t>
            </a:r>
          </a:p>
          <a:p>
            <a:pPr lvl="0"/>
            <a:r>
              <a:rPr/>
              <a:t>☒ </a:t>
            </a:r>
            <a:r>
              <a:rPr b="1"/>
              <a:t>Presenter(s)?</a:t>
            </a:r>
          </a:p>
          <a:p>
            <a:pPr lvl="1"/>
            <a:r>
              <a:rPr/>
              <a:t>Three presenters with hand-over: David → Chris → Jon → David → all for Q&amp;A.</a:t>
            </a:r>
          </a:p>
          <a:p>
            <a:pPr lvl="0"/>
            <a:r>
              <a:rPr/>
              <a:t>☒ </a:t>
            </a:r>
            <a:r>
              <a:rPr b="1"/>
              <a:t>Session type?</a:t>
            </a:r>
          </a:p>
          <a:p>
            <a:pPr lvl="1"/>
            <a:r>
              <a:rPr/>
              <a:t>Workshop stream (?) — room of perhaps 50; ~95% actuaries, rest life-insurance industry delegates; mix of technical and commercially minded. Abstract promised a not-very-technical talk.</a:t>
            </a:r>
          </a:p>
          <a:p>
            <a:pPr lvl="0"/>
            <a:r>
              <a:rPr/>
              <a:t>☒ </a:t>
            </a:r>
            <a:r>
              <a:rPr b="1"/>
              <a:t>Branding / template</a:t>
            </a:r>
          </a:p>
          <a:p>
            <a:pPr lvl="1"/>
            <a:r>
              <a:rPr/>
              <a:t>IFoA template mandatory. Supplied 28 Aug; stored as </a:t>
            </a:r>
            <a:r>
              <a:rPr>
                <a:latin typeface="Courier"/>
              </a:rPr>
              <a:t>ifoa_life_template.pptx</a:t>
            </a:r>
            <a:r>
              <a:rPr/>
              <a:t>; pandoc-compatible copy </a:t>
            </a:r>
            <a:r>
              <a:rPr>
                <a:latin typeface="Courier"/>
              </a:rPr>
              <a:t>ifoa_life_reference.pptx</a:t>
            </a:r>
            <a:r>
              <a:rPr/>
              <a:t> is wired into the YAML. See NOTES.md.</a:t>
            </a:r>
          </a:p>
          <a:p>
            <a:pPr lvl="0"/>
            <a:r>
              <a:rPr/>
              <a:t>☒ </a:t>
            </a:r>
            <a:r>
              <a:rPr b="1"/>
              <a:t>Submission deadline</a:t>
            </a:r>
          </a:p>
          <a:p>
            <a:pPr lvl="1"/>
            <a:r>
              <a:rPr/>
              <a:t>18 October 2026.</a:t>
            </a:r>
          </a:p>
          <a:p>
            <a:pPr lvl="0"/>
            <a:r>
              <a:rPr/>
              <a:t>☐ </a:t>
            </a:r>
            <a:r>
              <a:rPr b="1"/>
              <a:t>Disclaimer slide</a:t>
            </a:r>
            <a:r>
              <a:rPr/>
              <a:t> — standard IFoA Working Party disclaimer wording.</a:t>
            </a:r>
          </a:p>
          <a:p>
            <a:pPr lvl="1"/>
            <a:r>
              <a:rPr/>
              <a:t>☐ David to supply wording to Jon.</a:t>
            </a:r>
          </a:p>
          <a:p>
            <a:pPr lvl="0"/>
            <a:r>
              <a:rPr/>
              <a:t>☐ </a:t>
            </a:r>
            <a:r>
              <a:rPr b="1"/>
              <a:t>CMI data permissions</a:t>
            </a:r>
            <a:r>
              <a:rPr/>
              <a:t> — which numbers/diagrams can be shown publicly.</a:t>
            </a:r>
          </a:p>
          <a:p>
            <a:pPr lvl="1"/>
            <a:r>
              <a:rPr/>
              <a:t>Diagrams believed OK as they pre-date subscriber restrictions.</a:t>
            </a:r>
          </a:p>
          <a:p>
            <a:pPr lvl="1"/>
            <a:r>
              <a:rPr/>
              <a:t>☐ David to confirm no retrospective change in permissions.</a:t>
            </a:r>
          </a:p>
          <a:p>
            <a:pPr lvl="0"/>
            <a:r>
              <a:rPr/>
              <a:t>☒ </a:t>
            </a:r>
            <a:r>
              <a:rPr b="1"/>
              <a:t>Recording / slides shared afterwards?</a:t>
            </a:r>
          </a:p>
          <a:p>
            <a:pPr lvl="1"/>
            <a:r>
              <a:rPr/>
              <a:t>Not recorded. Might be shared on restricted virtual learning environment for actuaries.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Audience and pitch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☒ </a:t>
            </a:r>
            <a:r>
              <a:rPr b="1"/>
              <a:t>Assumed audience</a:t>
            </a:r>
          </a:p>
          <a:p>
            <a:pPr lvl="1"/>
            <a:r>
              <a:rPr/>
              <a:t>Mostly life and health actuaries.</a:t>
            </a:r>
          </a:p>
          <a:p>
            <a:pPr lvl="0"/>
            <a:r>
              <a:rPr/>
              <a:t>☐ </a:t>
            </a:r>
            <a:r>
              <a:rPr b="1"/>
              <a:t>Core message</a:t>
            </a:r>
            <a:r>
              <a:rPr/>
              <a:t> — choose ONE to lead with (or a (d) of our own):</a:t>
            </a:r>
          </a:p>
          <a:p>
            <a:pPr lvl="1" indent="-609585" marL="1219170">
              <a:buAutoNum type="alphaLcParenBoth"/>
            </a:pPr>
            <a:r>
              <a:rPr/>
              <a:t>“Admin data can complement/replace survey data for HWLE” (methods)</a:t>
            </a:r>
          </a:p>
          <a:p>
            <a:pPr lvl="1" indent="-609585" marL="1219170">
              <a:buAutoNum startAt="2" type="alphaLcParenBoth"/>
            </a:pPr>
            <a:r>
              <a:rPr/>
              <a:t>“HWPLE is a useful descriptive statistic for morbidity bases” (insurance)</a:t>
            </a:r>
          </a:p>
          <a:p>
            <a:pPr lvl="1" indent="-609585" marL="1219170">
              <a:buAutoNum startAt="3" type="alphaLcParenBoth"/>
            </a:pPr>
            <a:r>
              <a:rPr/>
              <a:t>“HWLE has policy relevance to SPA / pensions adequacy / Keep Britain Working” (policy)</a:t>
            </a:r>
          </a:p>
          <a:p>
            <a:pPr lvl="1"/>
            <a:r>
              <a:rPr/>
              <a:t>Call leaned towards: </a:t>
            </a:r>
            <a:r>
              <a:rPr i="1"/>
              <a:t>which data sources are best for these models — survey or CMI? — and the value of </a:t>
            </a:r>
            <a:r>
              <a:rPr b="1" i="1"/>
              <a:t>triangulating</a:t>
            </a:r>
            <a:r>
              <a:rPr i="1"/>
              <a:t> independent approaches.</a:t>
            </a:r>
            <a:r>
              <a:rPr/>
              <a:t> Deferred to next call.</a:t>
            </a:r>
          </a:p>
          <a:p>
            <a:pPr lvl="0"/>
            <a:r>
              <a:rPr/>
              <a:t>☐ </a:t>
            </a:r>
            <a:r>
              <a:rPr b="1"/>
              <a:t>Avoid double-counting</a:t>
            </a:r>
            <a:r>
              <a:rPr/>
              <a:t> multi-state methods between Jon’s and David’s sections — decide who explains the model once.</a:t>
            </a:r>
          </a:p>
          <a:p>
            <a:pPr lvl="0"/>
            <a:r>
              <a:rPr/>
              <a:t>☒ </a:t>
            </a:r>
            <a:r>
              <a:rPr b="1"/>
              <a:t>How much literature review?</a:t>
            </a:r>
          </a:p>
          <a:p>
            <a:pPr lvl="1"/>
            <a:r>
              <a:rPr/>
              <a:t>≈ 5 min, folded into Jon’s “survey data” section.</a:t>
            </a:r>
          </a:p>
          <a:p>
            <a:pPr lvl="0"/>
            <a:r>
              <a:rPr/>
              <a:t>☒ </a:t>
            </a:r>
            <a:r>
              <a:rPr b="1"/>
              <a:t>How much maths?</a:t>
            </a:r>
          </a:p>
          <a:p>
            <a:pPr lvl="1"/>
            <a:r>
              <a:rPr/>
              <a:t>Diagrams sufficient; no additional equations.</a:t>
            </a:r>
          </a:p>
          <a:p>
            <a:pPr lvl="0"/>
            <a:r>
              <a:rPr/>
              <a:t>☒ </a:t>
            </a:r>
            <a:r>
              <a:rPr b="1"/>
              <a:t>Show the Excel HWP Tool?</a:t>
            </a:r>
          </a:p>
          <a:p>
            <a:pPr lvl="1"/>
            <a:r>
              <a:rPr/>
              <a:t>No.</a:t>
            </a:r>
          </a:p>
          <a:p>
            <a:pPr lvl="0"/>
            <a:r>
              <a:rPr/>
              <a:t>☒ </a:t>
            </a:r>
            <a:r>
              <a:rPr b="1"/>
              <a:t>Link to UKHLS / economic inactivity work?</a:t>
            </a:r>
          </a:p>
          <a:p>
            <a:pPr lvl="1"/>
            <a:r>
              <a:rPr/>
              <a:t>Yes, briefly — Jon’s section.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Content decisions affecting several slides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</a:t>
            </a:r>
            <a:r>
              <a:rPr b="1"/>
              <a:t>Which headline numbers?</a:t>
            </a:r>
            <a:r>
              <a:rPr/>
              <a:t> Draft uses </a:t>
            </a:r>
            <a:r>
              <a:rPr i="1"/>
              <a:t>age 50, retire at 65</a:t>
            </a:r>
            <a:r>
              <a:rPr/>
              <a:t>: HWPLE 13.1–13.8 yrs, NNPLE 0.44–1.21 yrs. Also age-20 (42.3 / 1.08 yrs)?</a:t>
            </a:r>
          </a:p>
          <a:p>
            <a:pPr lvl="0"/>
            <a:r>
              <a:rPr/>
              <a:t>☐ </a:t>
            </a:r>
            <a:r>
              <a:rPr b="1"/>
              <a:t>OC1 vs OC2 “counter-intuitive” ordering</a:t>
            </a:r>
            <a:r>
              <a:rPr/>
              <a:t> — talking point or downplay?</a:t>
            </a:r>
          </a:p>
          <a:p>
            <a:pPr lvl="0"/>
            <a:r>
              <a:rPr/>
              <a:t>☐ </a:t>
            </a:r>
            <a:r>
              <a:rPr b="1"/>
              <a:t>Female OC3/OC4 credibility caveat</a:t>
            </a:r>
            <a:r>
              <a:rPr/>
              <a:t> — footnote or one caveat line?</a:t>
            </a:r>
          </a:p>
          <a:p>
            <a:pPr lvl="0"/>
            <a:r>
              <a:rPr/>
              <a:t>☐ </a:t>
            </a:r>
            <a:r>
              <a:rPr b="1"/>
              <a:t>Terminology:</a:t>
            </a:r>
            <a:r>
              <a:rPr/>
              <a:t> </a:t>
            </a:r>
            <a:r>
              <a:rPr i="1"/>
              <a:t>HWPLE / NNPLE</a:t>
            </a:r>
            <a:r>
              <a:rPr/>
              <a:t> throughout, or </a:t>
            </a:r>
            <a:r>
              <a:rPr i="1"/>
              <a:t>HWLE</a:t>
            </a:r>
            <a:r>
              <a:rPr/>
              <a:t> in titles with “partial” defined once?</a:t>
            </a:r>
          </a:p>
          <a:p>
            <a:pPr lvl="0"/>
            <a:r>
              <a:rPr/>
              <a:t>☐ </a:t>
            </a:r>
            <a:r>
              <a:rPr b="1"/>
              <a:t>Figures needed:</a:t>
            </a:r>
          </a:p>
          <a:p>
            <a:pPr lvl="1"/>
            <a:r>
              <a:rPr/>
              <a:t>☒ HWPLE / NNPLE by starting age × OC (line chart — generated in this file)</a:t>
            </a:r>
          </a:p>
          <a:p>
            <a:pPr lvl="1"/>
            <a:r>
              <a:rPr/>
              <a:t>☐ Stacked bar: % of working life to 65 in W / NN / Dead, ages 20 vs 50</a:t>
            </a:r>
          </a:p>
          <a:p>
            <a:pPr lvl="1"/>
            <a:r>
              <a:rPr/>
              <a:t>☐ Redrawn 4-state HWP Tool diagram (Figure 5 is </a:t>
            </a:r>
            <a:r>
              <a:rPr i="1"/>
              <a:t>missing</a:t>
            </a:r>
            <a:r>
              <a:rPr/>
              <a:t> from the docx)</a:t>
            </a:r>
          </a:p>
          <a:p>
            <a:pPr lvl="0"/>
            <a:r>
              <a:rPr/>
              <a:t>☒ </a:t>
            </a:r>
            <a:r>
              <a:rPr b="1"/>
              <a:t>Exact title of the Mayfield review</a:t>
            </a:r>
          </a:p>
          <a:p>
            <a:pPr lvl="1"/>
            <a:r>
              <a:rPr i="1"/>
              <a:t>Keep Britain Working</a:t>
            </a:r>
            <a:r>
              <a:rPr/>
              <a:t> is the current name (renamed from </a:t>
            </a:r>
            <a:r>
              <a:rPr i="1"/>
              <a:t>Get Britain Working</a:t>
            </a:r>
            <a:r>
              <a:rPr/>
              <a:t>; name change discussed at the 28 Aug call).</a:t>
            </a:r>
          </a:p>
          <a:p>
            <a:pPr lvl="0"/>
            <a:r>
              <a:rPr/>
              <a:t>☐ </a:t>
            </a:r>
            <a:r>
              <a:rPr b="1"/>
              <a:t>Darzi review</a:t>
            </a:r>
            <a:r>
              <a:rPr/>
              <a:t> (2024, NHS-focused) — mention in Chris’s policy backdrop? Agreed worth a mention, but it is NHS- rather than workforce-focused; decide on prominence.</a:t>
            </a:r>
          </a:p>
          <a:p>
            <a:pPr lvl="0"/>
            <a:r>
              <a:rPr/>
              <a:t>☒ </a:t>
            </a:r>
            <a:r>
              <a:rPr b="1"/>
              <a:t>Personal intros</a:t>
            </a:r>
          </a:p>
          <a:p>
            <a:pPr lvl="1"/>
            <a:r>
              <a:rPr/>
              <a:t>Each presenter gives a slightly longer personal intro when taking over their section; David does a brief one at the start.</a:t>
            </a:r>
          </a:p>
          <a:p>
            <a:pPr lvl="0"/>
            <a:r>
              <a:rPr/>
              <a:t>☒ </a:t>
            </a:r>
            <a:r>
              <a:rPr b="1"/>
              <a:t>Presenter names</a:t>
            </a:r>
            <a:r>
              <a:rPr/>
              <a:t> — Chris Martin; three presenters on behalf of the wider WP, whose names appear on title slide and WP slide.</a:t>
            </a:r>
          </a:p>
          <a:p>
            <a:pPr lvl="0"/>
            <a:r>
              <a:rPr/>
              <a:t>☒ </a:t>
            </a:r>
            <a:r>
              <a:rPr b="1"/>
              <a:t>Meeting transcript</a:t>
            </a:r>
            <a:r>
              <a:rPr/>
              <a:t> (Pocket AI, 28 Aug call) — reviewed; points folded into NOTES.md and these checklists.</a:t>
            </a:r>
          </a:p>
          <a:p>
            <a:pPr lvl="0"/>
            <a:r>
              <a:rPr/>
              <a:t>☐ </a:t>
            </a:r>
            <a:r>
              <a:rPr b="1"/>
              <a:t>Chris’s content</a:t>
            </a:r>
            <a:r>
              <a:rPr/>
              <a:t> — Chris will draft as a text document for Jon to fold in here.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MAIN DECK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Agenda [DAVID · 2–5 min]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-609585" marL="609585">
              <a:buAutoNum type="arabicPeriod"/>
            </a:pPr>
            <a:r>
              <a:rPr/>
              <a:t>Background to the Healthy Workforce Working Party — </a:t>
            </a:r>
            <a:r>
              <a:rPr i="1"/>
              <a:t>David</a:t>
            </a:r>
          </a:p>
          <a:p>
            <a:pPr lvl="0" indent="-609585" marL="609585">
              <a:buAutoNum type="arabicPeriod"/>
            </a:pPr>
            <a:r>
              <a:rPr/>
              <a:t>Why this matters: Keep Britain Working, and a clinician’s view — </a:t>
            </a:r>
            <a:r>
              <a:rPr i="1"/>
              <a:t>Chris</a:t>
            </a:r>
          </a:p>
          <a:p>
            <a:pPr lvl="0" indent="-609585" marL="609585">
              <a:buAutoNum type="arabicPeriod"/>
            </a:pPr>
            <a:r>
              <a:rPr/>
              <a:t>Public health approaches using survey data — </a:t>
            </a:r>
            <a:r>
              <a:rPr i="1"/>
              <a:t>Jon</a:t>
            </a:r>
          </a:p>
          <a:p>
            <a:pPr lvl="0" indent="-609585" marL="609585">
              <a:buAutoNum type="arabicPeriod"/>
            </a:pPr>
            <a:r>
              <a:rPr/>
              <a:t>Healthy working life expectancy from CMI income protection rates — </a:t>
            </a:r>
            <a:r>
              <a:rPr i="1"/>
              <a:t>David</a:t>
            </a:r>
          </a:p>
          <a:p>
            <a:pPr lvl="0" indent="-609585" marL="609585">
              <a:buAutoNum type="arabicPeriod"/>
            </a:pPr>
            <a:r>
              <a:rPr/>
              <a:t>Q&amp;A and next steps — </a:t>
            </a:r>
            <a:r>
              <a:rPr i="1"/>
              <a:t>all</a:t>
            </a:r>
          </a:p>
          <a:p>
            <a:pPr lvl="0" indent="0" marL="0">
              <a:buNone/>
            </a:pPr>
            <a:r>
              <a:rPr/>
              <a:t>David: brief personal intro here; Chris and Jon introduce themselves on taking over.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Healthy Workforce Working Party [DAVID · 5 min]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TODO (David): remit, membership, history, outputs to date.</a:t>
            </a:r>
          </a:p>
          <a:p>
            <a:pPr lvl="0"/>
            <a:r>
              <a:rPr/>
              <a:t>Members: D. R. Beddows, Z. Woodroffe, J. Minton, D. Bates, S. Batrakova, C. Martin, R. Pal, C. Zhang</a:t>
            </a:r>
          </a:p>
          <a:p>
            <a:pPr lvl="0"/>
            <a:r>
              <a:rPr/>
              <a:t>Mix of actuarial, clinical and public-health backgrounds</a:t>
            </a:r>
          </a:p>
          <a:p>
            <a:pPr lvl="0"/>
            <a:r>
              <a:rPr/>
              <a:t>First output: </a:t>
            </a:r>
            <a:r>
              <a:rPr i="1"/>
              <a:t>Healthy working life expectancy methods</a:t>
            </a:r>
            <a:r>
              <a:rPr/>
              <a:t> paper (v1, Aug 2026) + public Healthy Workforce Projection Tool</a:t>
            </a:r>
          </a:p>
          <a:p>
            <a:pPr lvl="0"/>
            <a:r>
              <a:rPr/>
              <a:t>Support from the CMI and IFoA Professional Communities team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Questions — Agenda &amp; Working Party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David: one slide or two for WP background?</a:t>
            </a:r>
          </a:p>
          <a:p>
            <a:pPr lvl="0"/>
            <a:r>
              <a:rPr/>
              <a:t>☐ Do we name the paper and say where it will be available (IFoA website? journal?)</a:t>
            </a:r>
          </a:p>
          <a:p>
            <a:pPr lvl="0"/>
            <a:r>
              <a:rPr/>
              <a:t>☐ Should the disclaimer be its own slide (costs one of the 18) or in the footer?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matters [CHRIS · 10 min]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policy backdrop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TODO (Chris): review of the reports — Darzi (2024; NHS-focused but discussed the health of the working population; cited when the WP was set up), Mayfield </a:t>
            </a:r>
            <a:r>
              <a:rPr i="1"/>
              <a:t>Keep Britain Working</a:t>
            </a:r>
            <a:r>
              <a:rPr/>
              <a:t> (2025; formerly </a:t>
            </a:r>
            <a:r>
              <a:rPr i="1"/>
              <a:t>Get Britain Working</a:t>
            </a:r>
            <a:r>
              <a:rPr/>
              <a:t>), and 2026 outputs from the Health Foundation and think tanks (TODO: confirm which). Aim: reflect what is actually in them and bring them to life.</a:t>
            </a:r>
          </a:p>
          <a:p>
            <a:pPr lvl="0"/>
            <a:r>
              <a:rPr/>
              <a:t>Economic inactivity due to ill-health: c. 2.8 m people (TODO: latest figure)</a:t>
            </a:r>
          </a:p>
          <a:p>
            <a:pPr lvl="0"/>
            <a:r>
              <a:rPr/>
              <a:t>Employers’ role in preventing health-related job loss; “the cost of doing nothing”</a:t>
            </a:r>
          </a:p>
          <a:p>
            <a:pPr lvl="0"/>
            <a:r>
              <a:rPr/>
              <a:t>Government target of 80% employment rate</a:t>
            </a:r>
          </a:p>
          <a:p>
            <a:pPr lvl="0"/>
            <a:r>
              <a:rPr/>
              <a:t>State Pension Age rising 66 → 67 (2026–28) → 68 (2044–46): can people </a:t>
            </a:r>
            <a:r>
              <a:rPr i="1"/>
              <a:t>work</a:t>
            </a:r>
            <a:r>
              <a:rPr/>
              <a:t> that long in health?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clinician’s perspective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TODO (Chris): reflections as a former occupational physician and GP — the coal-face, human side of leaving work through ill-health.</a:t>
            </a:r>
          </a:p>
          <a:p>
            <a:pPr lvl="0"/>
            <a:r>
              <a:rPr/>
              <a:t>What “long-term sick” looks like in a consulting room</a:t>
            </a:r>
          </a:p>
          <a:p>
            <a:pPr lvl="0"/>
            <a:r>
              <a:rPr/>
              <a:t>Recovery and return to work: why </a:t>
            </a:r>
            <a:r>
              <a:rPr i="1"/>
              <a:t>duration</a:t>
            </a:r>
            <a:r>
              <a:rPr/>
              <a:t> matters</a:t>
            </a:r>
          </a:p>
          <a:p>
            <a:pPr lvl="0"/>
            <a:r>
              <a:rPr/>
              <a:t>Mental health vs. physical health; own-occupation vs. any-occupation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Questions — Why this matters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Chris: how much weight on Darzi (NHS) vs. Mayfield (workforce)? One bullet or its own slide?</a:t>
            </a:r>
          </a:p>
          <a:p>
            <a:pPr lvl="0"/>
            <a:r>
              <a:rPr/>
              <a:t>☐ Which Health Foundation / think-tank 2026 outputs to cite?</a:t>
            </a:r>
          </a:p>
          <a:p>
            <a:pPr lvl="0"/>
            <a:r>
              <a:rPr/>
              <a:t>☐ Any 2026 news items to cite (new legislation, statistics releases)?</a:t>
            </a:r>
          </a:p>
          <a:p>
            <a:pPr lvl="0"/>
            <a:r>
              <a:rPr/>
              <a:t>☐ Is 3 slides right for 10 minutes, or does the clinical section want a case-study slide?</a:t>
            </a:r>
          </a:p>
          <a:p>
            <a:pPr lvl="0"/>
            <a:r>
              <a:rPr/>
              <a:t>☒ The “what we can measure” slide overlaps with Jon’s opener — moved to Supplement.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Public health approaches with survey data [JON · 5–10 min]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HWLE has been estimated so far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All published UK HWLE estimates use </a:t>
            </a:r>
            <a:r>
              <a:rPr b="1"/>
              <a:t>survey data</a:t>
            </a:r>
            <a:r>
              <a:rPr/>
              <a:t>, mainly ELSA (age 50+)</a:t>
            </a:r>
          </a:p>
          <a:p>
            <a:pPr lvl="0"/>
            <a:r>
              <a:rPr b="1"/>
              <a:t>Sullivan method</a:t>
            </a:r>
            <a:r>
              <a:rPr/>
              <a:t>: life table × cross-sectional </a:t>
            </a:r>
            <a:r>
              <a:rPr i="1"/>
              <a:t>prevalence</a:t>
            </a:r>
            <a:r>
              <a:rPr/>
              <a:t> of health states</a:t>
            </a:r>
          </a:p>
          <a:p>
            <a:pPr lvl="0"/>
            <a:r>
              <a:rPr b="1"/>
              <a:t>Multi-state (Markov) models</a:t>
            </a:r>
            <a:r>
              <a:rPr/>
              <a:t>: transition rates between states, estimated from repeated waves</a:t>
            </a:r>
          </a:p>
          <a:p>
            <a:pPr lvl="1"/>
            <a:r>
              <a:rPr/>
              <a:t>Lynch et al. 2022 — 3 states, ELSA waves 2–6, n ≈ 11,500</a:t>
            </a:r>
          </a:p>
          <a:p>
            <a:pPr lvl="1"/>
            <a:r>
              <a:rPr/>
              <a:t>Parker et al. 2020 — 5 states, ELSA waves 1–6, n ≈ 15,300; HWLE at 50 ≈ </a:t>
            </a:r>
            <a:r>
              <a:rPr b="1"/>
              <a:t>10.8 years</a:t>
            </a:r>
            <a:r>
              <a:rPr/>
              <a:t> for those healthy and working at 50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a/imag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2260600"/>
            <a:ext cx="6032500" cy="494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104900" y="7200900"/>
            <a:ext cx="6896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Lynch 3-state model</a:t>
            </a:r>
          </a:p>
        </p:txBody>
      </p:sp>
      <p:pic>
        <p:nvPicPr>
          <p:cNvPr descr="media/image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29600" y="2501900"/>
            <a:ext cx="6896100" cy="444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229600" y="7200900"/>
            <a:ext cx="6896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Parker 5-state model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Modelling transitions in UKHLS (Understanding Society)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Household panel, waves 1–13 (2009–2022), all working ages — not just 50+</a:t>
            </a:r>
          </a:p>
          <a:p>
            <a:pPr lvl="0"/>
            <a:r>
              <a:rPr/>
              <a:t>Economic status: employed / unemployed / long-term sick / student / carer / retired / other</a:t>
            </a:r>
          </a:p>
          <a:p>
            <a:pPr lvl="0"/>
            <a:r>
              <a:rPr/>
              <a:t>Multinomial model of </a:t>
            </a:r>
            <a:r>
              <a:rPr i="1"/>
              <a:t>next-wave</a:t>
            </a:r>
            <a:r>
              <a:rPr/>
              <a:t> status given </a:t>
            </a:r>
            <a:r>
              <a:rPr i="1"/>
              <a:t>this-wave</a:t>
            </a:r>
            <a:r>
              <a:rPr/>
              <a:t> status, age, sex — a Markov chain from survey data</a:t>
            </a:r>
          </a:p>
          <a:p>
            <a:pPr lvl="0"/>
            <a:r>
              <a:rPr/>
              <a:t>Add health (SF-12 mental &amp; physical scores, limiting illness) and ask </a:t>
            </a:r>
            <a:r>
              <a:rPr b="1"/>
              <a:t>counterfactual</a:t>
            </a:r>
            <a:r>
              <a:rPr/>
              <a:t> questions: what if health were better?</a:t>
            </a:r>
          </a:p>
          <a:p>
            <a:pPr lvl="1"/>
            <a:r>
              <a:rPr/>
              <a:t>e.g. improving mental and physical health by 1 SD → ~30% fewer long-term sick</a:t>
            </a:r>
          </a:p>
          <a:p>
            <a:pPr lvl="0" indent="0" marL="0">
              <a:buNone/>
            </a:pPr>
            <a:r>
              <a:rPr/>
              <a:t>TODO: one figure — transition matrix or PAF-style bar chart from reports/ifoa/ work.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096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survey data can and cannot do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6896104" cy="5459310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 b="1"/>
              <a:t>Strengths</a:t>
            </a:r>
          </a:p>
          <a:p>
            <a:pPr lvl="0"/>
            <a:r>
              <a:rPr/>
              <a:t>Exists, well understood, accessible</a:t>
            </a:r>
          </a:p>
          <a:p>
            <a:pPr lvl="0"/>
            <a:r>
              <a:rPr/>
              <a:t>Representative of the whole population</a:t>
            </a:r>
          </a:p>
          <a:p>
            <a:pPr lvl="0"/>
            <a:r>
              <a:rPr/>
              <a:t>Covers people </a:t>
            </a:r>
            <a:r>
              <a:rPr i="1"/>
              <a:t>not</a:t>
            </a:r>
            <a:r>
              <a:rPr/>
              <a:t> currently working</a:t>
            </a:r>
          </a:p>
          <a:p>
            <a:pPr lvl="0"/>
            <a:r>
              <a:rPr/>
              <a:t>Observes health </a:t>
            </a:r>
            <a:r>
              <a:rPr i="1"/>
              <a:t>while</a:t>
            </a:r>
            <a:r>
              <a:rPr/>
              <a:t> working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hasCustomPrompt="1" idx="25" sz="quarter"/>
          </p:nvPr>
        </p:nvSpPr>
        <p:spPr>
          <a:xfrm>
            <a:off x="8229600" y="2269322"/>
            <a:ext cx="6896104" cy="5459309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 b="1"/>
              <a:t>Weaknesses</a:t>
            </a:r>
          </a:p>
          <a:p>
            <a:pPr lvl="0"/>
            <a:r>
              <a:rPr/>
              <a:t>Self-reported health and work status</a:t>
            </a:r>
          </a:p>
          <a:p>
            <a:pPr lvl="0"/>
            <a:r>
              <a:rPr/>
              <a:t>Prevalence at annual snapshots, not dated events</a:t>
            </a:r>
          </a:p>
          <a:p>
            <a:pPr lvl="0"/>
            <a:r>
              <a:rPr/>
              <a:t>Transitions within a year unobserved</a:t>
            </a:r>
          </a:p>
          <a:p>
            <a:pPr lvl="0"/>
            <a:r>
              <a:rPr/>
              <a:t>Tens of thousands of respondents at best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→ Hand-over: can </a:t>
            </a:r>
            <a:r>
              <a:rPr i="1"/>
              <a:t>administrative</a:t>
            </a:r>
            <a:r>
              <a:rPr/>
              <a:t> data do better?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Questions — Survey approaches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5 or 10 minutes? Three slides fits 5–7 min; add a UKHLS results slide if 10.</a:t>
            </a:r>
          </a:p>
          <a:p>
            <a:pPr lvl="0"/>
            <a:r>
              <a:rPr/>
              <a:t>☐ Are the Lynch/Parker figures OK to reproduce, or redraw schematically?</a:t>
            </a:r>
          </a:p>
          <a:p>
            <a:pPr lvl="0"/>
            <a:r>
              <a:rPr/>
              <a:t>☐ Which UKHLS figure to show — transition table (03_feedback_response) or a counterfactual bar chart?</a:t>
            </a:r>
          </a:p>
          <a:p>
            <a:pPr lvl="0"/>
            <a:r>
              <a:rPr/>
              <a:t>☐ Keep the “strengths/weaknesses” as the bridge into David’s section, or let David make the admin-data case himself?</a:t>
            </a:r>
          </a:p>
          <a:p>
            <a:pPr lvl="0"/>
            <a:r>
              <a:rPr/>
              <a:t>☐ Where does the </a:t>
            </a:r>
            <a:r>
              <a:rPr b="1"/>
              <a:t>triangulation</a:t>
            </a:r>
            <a:r>
              <a:rPr/>
              <a:t> message go — here (survey ≈ 12.5 yrs vs CMI ≈ 13.5 yrs, same direction) or in David’s comparison slide?</a:t>
            </a:r>
          </a:p>
          <a:p>
            <a:pPr lvl="0"/>
            <a:r>
              <a:rPr/>
              <a:t>☐ Multi-state modelling explained here (UKHLS Markov model) or in David’s section — not both.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HWLE estimates with CMI rates [DAVID · 10 min]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096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CMI income protection data</a:t>
            </a:r>
          </a:p>
        </p:txBody>
      </p:sp>
      <p:pic>
        <p:nvPicPr>
          <p:cNvPr descr="media/image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4900" y="2578100"/>
            <a:ext cx="6896100" cy="429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104900" y="7200900"/>
            <a:ext cx="6896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CMI 4-state claim inception model (WP 109)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hasCustomPrompt="1" idx="25" sz="quarter"/>
          </p:nvPr>
        </p:nvSpPr>
        <p:spPr>
          <a:xfrm>
            <a:off x="8229600" y="2269322"/>
            <a:ext cx="6896104" cy="5459309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IP11 rates (WP 131): 2007–2016, </a:t>
            </a:r>
            <a:r>
              <a:rPr b="1"/>
              <a:t>c. 4.8 m policy-years</a:t>
            </a:r>
            <a:r>
              <a:rPr/>
              <a:t>, c. 106k claims</a:t>
            </a:r>
          </a:p>
          <a:p>
            <a:pPr lvl="0"/>
            <a:r>
              <a:rPr/>
              <a:t>By sex × deferred period × </a:t>
            </a:r>
            <a:r>
              <a:rPr b="1"/>
              <a:t>4 occupation classes</a:t>
            </a:r>
            <a:r>
              <a:rPr/>
              <a:t>, ages 17–64</a:t>
            </a:r>
          </a:p>
          <a:p>
            <a:pPr lvl="0"/>
            <a:r>
              <a:rPr/>
              <a:t>Claim inceptions, recoveries, claimant deaths</a:t>
            </a:r>
          </a:p>
          <a:p>
            <a:pPr lvl="0"/>
            <a:r>
              <a:rPr/>
              <a:t>Recovery and death rates depend on </a:t>
            </a:r>
            <a:r>
              <a:rPr b="1"/>
              <a:t>duration</a:t>
            </a:r>
            <a:r>
              <a:rPr/>
              <a:t> of claim</a:t>
            </a:r>
          </a:p>
          <a:p>
            <a:pPr lvl="0"/>
            <a:r>
              <a:rPr/>
              <a:t>Claims, not sicknesses: sickness inside the deferred period is unobserved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7835899" cy="8096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Healthy Workforce Projection Tool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72182E1-C703-5E9B-AF1E-2220AA60B4A1}"/>
              </a:ext>
            </a:extLst>
          </p:cNvPr>
          <p:cNvSpPr>
            <a:spLocks noGrp="1"/>
          </p:cNvSpPr>
          <p:nvPr>
            <p:ph hasCustomPrompt="1" idx="24" sz="quarter" type="body"/>
          </p:nvPr>
        </p:nvSpPr>
        <p:spPr>
          <a:xfrm>
            <a:off x="1117601" y="1214783"/>
            <a:ext cx="7835897" cy="653900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TODO: redraw 4-state diagram (W, NN, R, D) — Figure 5 missing from the paper.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17600" y="2260600"/>
          <a:ext cx="7823200" cy="54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1600"/>
                <a:gridCol w="391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→ Not-healthy-not-working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IP11 claim inception, </a:t>
                      </a:r>
                      <a:r>
                        <a:rPr b="1"/>
                        <a:t>4-week</a:t>
                      </a:r>
                      <a:r>
                        <a:rPr/>
                        <a:t> deferred period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NN → Working (recovery), NN → Dead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IP11 rates, by duration in NN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/ Retired → Dead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ONS UK 2022–24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Retirement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at age 65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Everyone starts </a:t>
            </a:r>
            <a:r>
              <a:rPr i="1"/>
              <a:t>working</a:t>
            </a:r>
            <a:r>
              <a:rPr/>
              <a:t>; one transition per year; run separately for OC1–OC4</a:t>
            </a:r>
          </a:p>
          <a:p>
            <a:pPr lvl="0"/>
            <a:r>
              <a:rPr/>
              <a:t>Output: </a:t>
            </a:r>
            <a:r>
              <a:rPr b="1"/>
              <a:t>partial</a:t>
            </a:r>
            <a:r>
              <a:rPr/>
              <a:t> expectancies to 65 — HWPLE and NNPLE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Results: a working 50-year-old, retiring at 65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600"/>
                <a:gridCol w="2006600"/>
                <a:gridCol w="2006600"/>
                <a:gridCol w="2006600"/>
                <a:gridCol w="2006600"/>
                <a:gridCol w="2006600"/>
                <a:gridCol w="200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Occupation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HWPLE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HWPLE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NNPLE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NNPLE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OC1 professional / clerical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OC2 light manual / supervisory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OC3 manual, non-hazardous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OC4 heavy manual / hazardous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0.98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Of 15 years: </a:t>
            </a:r>
            <a:r>
              <a:rPr b="1"/>
              <a:t>13.1–13.8 yrs working</a:t>
            </a:r>
            <a:r>
              <a:rPr/>
              <a:t>, </a:t>
            </a:r>
            <a:r>
              <a:rPr b="1"/>
              <a:t>0.4–1.2 yrs not-healthy-not-working</a:t>
            </a:r>
            <a:r>
              <a:rPr/>
              <a:t>, remainder deaths. Men &gt; women; OC2 &gt; OC1 &gt; OC3 &gt; OC4. Data centred on 2011; female OC3/OC4 thin.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it compare, and what are the caveats?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Parker (ELSA, survey): ≈ </a:t>
            </a:r>
            <a:r>
              <a:rPr b="1"/>
              <a:t>12.5 yrs</a:t>
            </a:r>
            <a:r>
              <a:rPr/>
              <a:t> working from 50 (10.8 healthy + 1.7 not-healthy-but-working) vs. our </a:t>
            </a:r>
            <a:r>
              <a:rPr b="1"/>
              <a:t>13.3–13.8</a:t>
            </a:r>
            <a:r>
              <a:rPr/>
              <a:t> — direction expected: insured lives, ≥4-week claims, capped at 65</a:t>
            </a:r>
          </a:p>
          <a:p>
            <a:pPr lvl="0"/>
            <a:r>
              <a:rPr b="1"/>
              <a:t>Strengths</a:t>
            </a:r>
            <a:r>
              <a:rPr/>
              <a:t>: objective dated events; incidence not prevalence; duration-dependent recovery; explicit retirement age; large exposure</a:t>
            </a:r>
          </a:p>
          <a:p>
            <a:pPr lvl="0"/>
            <a:r>
              <a:rPr b="1"/>
              <a:t>Caveats</a:t>
            </a:r>
            <a:r>
              <a:rPr/>
              <a:t>: insured segment, not the population; claims as proxy for sickness; excluded conditions; everyone starts working; yearly steps; rates restricted to CMI subscribers</a:t>
            </a:r>
          </a:p>
          <a:p>
            <a:pPr lvl="0"/>
            <a:r>
              <a:rPr b="1"/>
              <a:t>Uses</a:t>
            </a:r>
            <a:r>
              <a:rPr/>
              <a:t>: HWPLE as an intuitive summary of a morbidity basis; benchmarking IP assumptions; pensions projections allowing for sickness; policy on SPA and benefits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Questions — CMI section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☒ By-age chart moved to Supplement; section now 4 slides. Fold back if David wants it for 10 min.</a:t>
            </a:r>
          </a:p>
          <a:p>
            <a:pPr lvl="0"/>
            <a:r>
              <a:rPr/>
              <a:t>☐ Who redraws the HWP Tool 4-state diagram, and in what tool?</a:t>
            </a:r>
          </a:p>
          <a:p>
            <a:pPr lvl="0"/>
            <a:r>
              <a:rPr/>
              <a:t>☐ OC1 &lt; OC2: offer hypotheses on the slide (selection, own-occupation definitions, mental-health claims in OC1) or “further work”?</a:t>
            </a:r>
          </a:p>
          <a:p>
            <a:pPr lvl="0"/>
            <a:r>
              <a:rPr/>
              <a:t>☐ Is the Parker “10.81 + 1.67 = 12.5” comparison fair enough to put on a slide? Sanity-check with lead author.</a:t>
            </a:r>
          </a:p>
          <a:p>
            <a:pPr lvl="0"/>
            <a:r>
              <a:rPr/>
              <a:t>☐ Combine comparison + caveats + uses on one slide (as drafted) or split into two?</a:t>
            </a:r>
          </a:p>
          <a:p>
            <a:pPr lvl="0"/>
            <a:r>
              <a:rPr/>
              <a:t>☐ Confirm CMI is happy with the data-volume figures being shown.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 for the Working Party [ALL · Q&amp;A 10 min]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Monthly time steps; SPA evolution and early-retirement scenarios</a:t>
            </a:r>
          </a:p>
          <a:p>
            <a:pPr lvl="0"/>
            <a:r>
              <a:rPr/>
              <a:t>Trends over successive CMI investigation periods; more granular cohorts</a:t>
            </a:r>
          </a:p>
          <a:p>
            <a:pPr lvl="0"/>
            <a:r>
              <a:rPr/>
              <a:t>Survey-based benchmarks (ELSA, </a:t>
            </a:r>
            <a:r>
              <a:rPr b="1"/>
              <a:t>UKHLS</a:t>
            </a:r>
            <a:r>
              <a:rPr/>
              <a:t>) for the whole working-age population</a:t>
            </a:r>
          </a:p>
          <a:p>
            <a:pPr lvl="0"/>
            <a:r>
              <a:rPr/>
              <a:t>Starting states other than “working”</a:t>
            </a:r>
          </a:p>
          <a:p>
            <a:pPr lvl="0"/>
            <a:r>
              <a:rPr/>
              <a:t>Public-authority sickness/incapacity benefit data; international comparisons</a:t>
            </a:r>
          </a:p>
          <a:p>
            <a:pPr lvl="0"/>
            <a:r>
              <a:rPr b="1"/>
              <a:t>Questions?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IFoA Healthy Workforce Working Party</a:t>
            </a:r>
          </a:p>
          <a:p>
            <a:pPr lvl="0" indent="0" marL="0">
              <a:buNone/>
            </a:pPr>
            <a:r>
              <a:rPr/>
              <a:t>Correspondence: David Beddows, c/o professional.communities@actuaries.org.uk</a:t>
            </a:r>
          </a:p>
          <a:p>
            <a:pPr lvl="0" indent="0" marL="0">
              <a:buNone/>
            </a:pPr>
            <a:r>
              <a:rPr/>
              <a:t>Paper: </a:t>
            </a:r>
            <a:r>
              <a:rPr i="1"/>
              <a:t>Healthy working life expectancy methods</a:t>
            </a:r>
            <a:r>
              <a:rPr/>
              <a:t> (IFoA HWWP, 2026) · Public HWP Tool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Questions — Close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Prioritise three “next steps” or keep all?</a:t>
            </a:r>
          </a:p>
          <a:p>
            <a:pPr lvl="0"/>
            <a:r>
              <a:rPr/>
              <a:t>☐ Name a next deliverable and date (v2 tool? journal submission?)</a:t>
            </a:r>
          </a:p>
          <a:p>
            <a:pPr lvl="0"/>
            <a:r>
              <a:rPr/>
              <a:t>☐ Contact details: David only, or all presenters? QR code to the paper?</a:t>
            </a:r>
          </a:p>
          <a:p>
            <a:pPr lvl="0"/>
            <a:r>
              <a:rPr/>
              <a:t>☐ Merge “next steps” into the “thank you” slide to save one?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 — material held back from the main deck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Supplement — fold-back review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☐ Go through each supplement slide and mark: </a:t>
            </a:r>
            <a:r>
              <a:rPr b="1"/>
              <a:t>promote</a:t>
            </a:r>
            <a:r>
              <a:rPr/>
              <a:t> / </a:t>
            </a:r>
            <a:r>
              <a:rPr b="1"/>
              <a:t>appendix</a:t>
            </a:r>
            <a:r>
              <a:rPr/>
              <a:t> / </a:t>
            </a:r>
            <a:r>
              <a:rPr b="1"/>
              <a:t>delete</a:t>
            </a:r>
          </a:p>
          <a:p>
            <a:pPr lvl="0"/>
            <a:r>
              <a:rPr/>
              <a:t>☐ Anything promoted must displace something — main target is ~12 content slides</a:t>
            </a:r>
          </a:p>
          <a:p>
            <a:pPr lvl="0"/>
            <a:r>
              <a:rPr/>
              <a:t>☐ Anything in main that is really supplementary detail → move down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 · Why this matters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can — and cannot — measure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Life expectancy: two states, well measured</a:t>
            </a:r>
          </a:p>
          <a:p>
            <a:pPr lvl="0"/>
            <a:r>
              <a:rPr/>
              <a:t>Healthy life expectancy: needs a definition of “healthy”</a:t>
            </a:r>
          </a:p>
          <a:p>
            <a:pPr lvl="0"/>
            <a:r>
              <a:rPr/>
              <a:t>Working life expectancy: needs a definition of “working”</a:t>
            </a:r>
          </a:p>
          <a:p>
            <a:pPr lvl="0"/>
            <a:r>
              <a:rPr b="1"/>
              <a:t>Healthy working life expectancy</a:t>
            </a:r>
            <a:r>
              <a:rPr/>
              <a:t>: both — and the data to observe the transitions</a:t>
            </a:r>
          </a:p>
          <a:p>
            <a:pPr lvl="0"/>
            <a:r>
              <a:rPr/>
              <a:t>Systematic review (Parker et al. 2020a): “no current and reliable estimates” for the UK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UK State Pension Age timetable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Legislation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Women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Pre-2010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Pensions Act 1995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2010–2016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60→63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Pensions Act 2011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2016–2020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65→66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63→66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2021–2025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Pensions Act 2014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2026–2028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66→67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66→67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2029–2043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Pensions Act 2007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2044–2046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67→68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67→68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2047 onwards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 · Survey approaches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096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Administrative vs. survey data — full trade-offs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6896104" cy="5459310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 b="1"/>
              <a:t>Administrative — for</a:t>
            </a:r>
          </a:p>
          <a:p>
            <a:pPr lvl="0"/>
            <a:r>
              <a:rPr/>
              <a:t>Objective events, not self-report</a:t>
            </a:r>
          </a:p>
          <a:p>
            <a:pPr lvl="0"/>
            <a:r>
              <a:rPr/>
              <a:t>Incidence, not prevalence</a:t>
            </a:r>
          </a:p>
          <a:p>
            <a:pPr lvl="0"/>
            <a:r>
              <a:rPr/>
              <a:t>Exact dates → accurate exposure by age and duration</a:t>
            </a:r>
          </a:p>
          <a:p>
            <a:pPr lvl="0"/>
            <a:r>
              <a:rPr/>
              <a:t>Sub-annual transitions observable</a:t>
            </a:r>
          </a:p>
          <a:p>
            <a:pPr lvl="0"/>
            <a:r>
              <a:rPr/>
              <a:t>Hundreds of thousands of lives/yr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hasCustomPrompt="1" idx="25" sz="quarter"/>
          </p:nvPr>
        </p:nvSpPr>
        <p:spPr>
          <a:xfrm>
            <a:off x="8229600" y="2269322"/>
            <a:ext cx="6896104" cy="5459309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 b="1"/>
              <a:t>Survey — for</a:t>
            </a:r>
          </a:p>
          <a:p>
            <a:pPr lvl="0"/>
            <a:r>
              <a:rPr/>
              <a:t>Exists, well understood, accessible</a:t>
            </a:r>
          </a:p>
          <a:p>
            <a:pPr lvl="0"/>
            <a:r>
              <a:rPr/>
              <a:t>More representative of the population</a:t>
            </a:r>
          </a:p>
          <a:p>
            <a:pPr lvl="0"/>
            <a:r>
              <a:rPr/>
              <a:t>Covers people not currently working</a:t>
            </a:r>
          </a:p>
          <a:p>
            <a:pPr lvl="0"/>
            <a:r>
              <a:rPr/>
              <a:t>Captures health while working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Definitions of health and work states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0"/>
                <a:gridCol w="4673600"/>
                <a:gridCol w="467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 / not-healthy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/ not-working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Lynch 2022; Parker 2020 (ELSA)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Self-reported long-standing illness that limits activities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Paid work or self-employment in the month before interview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CMI IP11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claiming = “working” (health unknown); claiming = not-healthy-not-working per policy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 left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 · CMI rates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 by starting age</a:t>
            </a:r>
          </a:p>
        </p:txBody>
      </p:sp>
      <p:pic>
        <p:nvPicPr>
          <p:cNvPr descr="hwle_ifoa_life_2026_files/figure-pptx/fig-by-age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43300" y="226060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104900" y="7404100"/>
            <a:ext cx="140208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HWPLE and NNPLE to age 65 by starting age and CMI occupation class (sexes combined). Source: HWP Tool, Tables 9a–9d.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CMI occupation classes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OC1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Professional, managerial, executive, administrative and clerical; not engaged in manual labour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OC2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craftsmen and tradesmen in management/supervision; skilled operatives in light manual, non-hazardous 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OC3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Skilled operatives in manual, non-hazardous 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Skilled and semi-skilled operatives in heavy manual work or subject to special hazard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CMI 3-state sickness model (CMIR 12, 1991)</a:t>
            </a:r>
          </a:p>
        </p:txBody>
      </p:sp>
      <p:pic>
        <p:nvPicPr>
          <p:cNvPr descr="media/image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2260600"/>
            <a:ext cx="5969000" cy="565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Transition rates in the HWP Tool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0"/>
                <a:gridCol w="4673600"/>
                <a:gridCol w="467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nn(x)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 → 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CMI IP11 claim inception, DP4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w(x,z)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NN → W (recovery)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CMI IP11 recovery rates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dw(x), dr(x)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mortality, W and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ONS UK 2022–24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dnn(x,z)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mortality in 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CMI IP11 claimant mortality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rw(x), rnn(x)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retirement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at age 65; 0 otherwise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x = age, z = duration in NN. Monthly IP11 rates in claim years 1–2 collapsed to yearly.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volumes behind the rates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force (start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Claims (inceptions)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Claims (recoveries)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IP11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4.76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105,957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98,659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522 k (11%)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17,745 (17%)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16,894 (17%)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Ages 50–64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1.43 m (30%)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50,019 (47%)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47,366 (48%)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Rates used rest on c. 140k–430k records vs. c. 12–15k ELSA respondents.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Life expectancy from the HWP Tool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04900" y="2260600"/>
          <a:ext cx="14020800" cy="565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Starting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Overall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 indent="0" marL="0">
              <a:buNone/>
            </a:pPr>
            <a:r>
              <a:rPr/>
              <a:t>ONS 2022–24 basis; near-identical across OCs because mortality in W is not OC-specific.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500000" y="3400000"/>
            <a:ext cx="13256000" cy="22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 · Close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17601" y="405087"/>
            <a:ext cx="14020798" cy="8188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references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4904" y="2269323"/>
            <a:ext cx="14020800" cy="5659894"/>
          </a:xfrm>
        </p:spPr>
        <p:spPr/>
        <p:txBody>
          <a:bodyPr wrap="square" rtlCol="0">
            <a:normAutofit/>
          </a:bodyPr>
          <a:lstStyle/>
          <a:p>
            <a:pPr lvl="0"/>
            <a:r>
              <a:rPr/>
              <a:t>Lièvre A. et al. (2007) </a:t>
            </a:r>
            <a:r>
              <a:rPr i="1"/>
              <a:t>J Nutr Health Aging</a:t>
            </a:r>
            <a:r>
              <a:rPr/>
              <a:t> 11:508–514</a:t>
            </a:r>
          </a:p>
          <a:p>
            <a:pPr lvl="0"/>
            <a:r>
              <a:rPr/>
              <a:t>Parker M. et al. (2020a) </a:t>
            </a:r>
            <a:r>
              <a:rPr i="1"/>
              <a:t>Soc Indic Res</a:t>
            </a:r>
            <a:r>
              <a:rPr/>
              <a:t> 150:337–350; (2020b) </a:t>
            </a:r>
            <a:r>
              <a:rPr i="1"/>
              <a:t>Lancet Public Health</a:t>
            </a:r>
            <a:r>
              <a:rPr/>
              <a:t> 5:e395–e403</a:t>
            </a:r>
          </a:p>
          <a:p>
            <a:pPr lvl="0"/>
            <a:r>
              <a:rPr/>
              <a:t>Lynch M. et al. (2022) </a:t>
            </a:r>
            <a:r>
              <a:rPr i="1"/>
              <a:t>Sci Rep</a:t>
            </a:r>
            <a:r>
              <a:rPr/>
              <a:t> 12:2408</a:t>
            </a:r>
          </a:p>
          <a:p>
            <a:pPr lvl="0"/>
            <a:r>
              <a:rPr/>
              <a:t>Dudel C. (2021) </a:t>
            </a:r>
            <a:r>
              <a:rPr i="1"/>
              <a:t>Lancet Healthy Longev</a:t>
            </a:r>
            <a:r>
              <a:rPr/>
              <a:t> 2:e629</a:t>
            </a:r>
          </a:p>
          <a:p>
            <a:pPr lvl="0"/>
            <a:r>
              <a:rPr/>
              <a:t>IFoA CMI Working Papers 109 (2018), 131 (2020), 136 (2021); IP11 Briefing Note (2020)</a:t>
            </a:r>
          </a:p>
          <a:p>
            <a:pPr lvl="0"/>
            <a:r>
              <a:rPr/>
              <a:t>IFoA Healthy Workforce Working Party (2026) </a:t>
            </a:r>
            <a:r>
              <a:rPr i="1"/>
              <a:t>Healthy Workforce Projection Tool (public version)</a:t>
            </a:r>
          </a:p>
          <a:p>
            <a:pPr lvl="0"/>
            <a:r>
              <a:rPr/>
              <a:t>Mayfield, C. (2025) </a:t>
            </a:r>
            <a:r>
              <a:rPr i="1"/>
              <a:t>Keep Britain Working</a:t>
            </a:r>
            <a:r>
              <a:rPr/>
              <a:t> — independent review (formerly </a:t>
            </a:r>
            <a:r>
              <a:rPr i="1"/>
              <a:t>Get Britain Working</a:t>
            </a:r>
            <a:r>
              <a:rPr/>
              <a:t>)</a:t>
            </a:r>
          </a:p>
          <a:p>
            <a:pPr lvl="0"/>
            <a:r>
              <a:rPr/>
              <a:t>Darzi, A. (2024) </a:t>
            </a:r>
            <a:r>
              <a:rPr i="1"/>
              <a:t>Independent investigation of the NHS in England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dirty="0"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anchor="ctr" bIns="45720" lIns="91440" rIns="91440" rtlCol="0" tIns="45720" vert="horz"/>
          <a:lstStyle>
            <a:lvl1pPr algn="ctr">
              <a:defRPr b="1" i="0" sz="12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dirty="0" lang="en-GB"/>
          </a:p>
        </p:txBody>
      </p:sp>
    </p:spTree>
  </p:cSld>
</p:sld>
</file>

<file path=ppt/theme/theme1.xml><?xml version="1.0" encoding="utf-8"?>
<a:theme xmlns:a="http://schemas.openxmlformats.org/drawingml/2006/main" name="Conference Cover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2.xml><?xml version="1.0" encoding="utf-8"?>
<a:theme xmlns:a="http://schemas.openxmlformats.org/drawingml/2006/main" name="1_Content slide layout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3.xml><?xml version="1.0" encoding="utf-8"?>
<a:theme xmlns:a="http://schemas.openxmlformats.org/drawingml/2006/main" name="Blank Slides">
  <a:themeElements>
    <a:clrScheme name="IFoA Colour Palette">
      <a:dk1>
        <a:srgbClr val="3F4548"/>
      </a:dk1>
      <a:lt1>
        <a:srgbClr val="FEFFFF"/>
      </a:lt1>
      <a:dk2>
        <a:srgbClr val="113458"/>
      </a:dk2>
      <a:lt2>
        <a:srgbClr val="FCFDF8"/>
      </a:lt2>
      <a:accent1>
        <a:srgbClr val="D9AB16"/>
      </a:accent1>
      <a:accent2>
        <a:srgbClr val="D01E45"/>
      </a:accent2>
      <a:accent3>
        <a:srgbClr val="EE741D"/>
      </a:accent3>
      <a:accent4>
        <a:srgbClr val="11B3A2"/>
      </a:accent4>
      <a:accent5>
        <a:srgbClr val="009CC8"/>
      </a:accent5>
      <a:accent6>
        <a:srgbClr val="8F4693"/>
      </a:accent6>
      <a:hlink>
        <a:srgbClr val="D9AB16"/>
      </a:hlink>
      <a:folHlink>
        <a:srgbClr val="D9AB1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SSE Master Slide</Template>
  <TotalTime>5840</TotalTime>
  <Words>117</Words>
  <Application>Microsoft Office PowerPoint</Application>
  <PresentationFormat>Custom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Light</vt:lpstr>
      <vt:lpstr>ARIAL-MDM</vt:lpstr>
      <vt:lpstr>Calibri</vt:lpstr>
      <vt:lpstr>Conference Covers</vt:lpstr>
      <vt:lpstr>1_Content slide layouts</vt:lpstr>
      <vt:lpstr>Blank Slides</vt:lpstr>
      <vt:lpstr>IFoA Life Conference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Healthy Working Life Expectancy</dc:title>
  <dc:creator>IFoA Healthy Workforce Working Party; Presented by David Beddows, Chris Martin and Jon Minton; on behalf of Z. Woodroffe, D. Bates, S. Batrakova, R. Pal and C. Zhang</dc:creator>
  <cp:keywords/>
  <dcterms:created xsi:type="dcterms:W3CDTF">2026-08-28T14:57:30Z</dcterms:created>
  <dcterms:modified xsi:type="dcterms:W3CDTF">2026-08-28T14:57:30Z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November 2026</vt:lpwstr>
  </property>
  <property fmtid="{D5CDD505-2E9C-101B-9397-08002B2CF9AE}" pid="8" name="date-format">
    <vt:lpwstr>MMMM YYYY</vt:lpwstr>
  </property>
  <property fmtid="{D5CDD505-2E9C-101B-9397-08002B2CF9AE}" pid="9" name="engines">
    <vt:lpwstr/>
  </property>
  <property fmtid="{D5CDD505-2E9C-101B-9397-08002B2CF9AE}" pid="10" name="execute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e">
    <vt:lpwstr>IFoA Life Conference 2026, Birmingham</vt:lpwstr>
  </property>
  <property fmtid="{D5CDD505-2E9C-101B-9397-08002B2CF9AE}" pid="15" name="institutes">
    <vt:lpwstr/>
  </property>
  <property fmtid="{D5CDD505-2E9C-101B-9397-08002B2CF9AE}" pid="16" name="labels">
    <vt:lpwstr/>
  </property>
  <property fmtid="{D5CDD505-2E9C-101B-9397-08002B2CF9AE}" pid="17" name="subtitle">
    <vt:lpwstr>From survey data to insurer administrative data</vt:lpwstr>
  </property>
  <property fmtid="{D5CDD505-2E9C-101B-9397-08002B2CF9AE}" pid="18" name="toc-title">
    <vt:lpwstr>Table of contents</vt:lpwstr>
  </property>
</Properties>
</file>