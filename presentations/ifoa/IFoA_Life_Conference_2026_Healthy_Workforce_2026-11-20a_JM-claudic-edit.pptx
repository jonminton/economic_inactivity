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handoutMasters/handoutMaster1.xml" ContentType="application/vnd.openxmlformats-officedocument.presentationml.handoutMaster+xml"/>
  <Override PartName="/ppt/media/image22.svg" ContentType="image/svg+xml"/>
  <Override PartName="/ppt/media/image23.svg" ContentType="image/svg+xml"/>
  <Override PartName="/ppt/media/image2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comments/modernComment_136_0F99604F.xml" ContentType="application/vnd.ms-powerpoint.comments+xml"/>
  <Override PartName="/ppt/comments/modernComment_135_510680F9.xml" ContentType="application/vnd.ms-powerpoint.comments+xml"/>
  <Override PartName="/ppt/comments/modernComment_158_C04E5C46.xml" ContentType="application/vnd.ms-powerpoint.comments+xml"/>
  <Override PartName="/ppt/comments/modernComment_143_EF0DD2EF.xml" ContentType="application/vnd.ms-powerpoint.comments+xml"/>
  <Override PartName="/ppt/comments/modernComment_13C_B433CAD8.xml" ContentType="application/vnd.ms-powerpoint.comments+xml"/>
  <Override PartName="/ppt/comments/modernComment_13D_696AE80E.xml" ContentType="application/vnd.ms-powerpoint.comments+xml"/>
  <Override PartName="/ppt/comments/modernComment_140_164385B7.xml" ContentType="application/vnd.ms-powerpoint.comments+xml"/>
  <Override PartName="/ppt/comments/modernComment_14E_6C3B12A8.xml" ContentType="application/vnd.ms-powerpoint.comments+xml"/>
  <Override PartName="/ppt/comments/modernComment_14F_980CAB11.xml" ContentType="application/vnd.ms-powerpoint.comments+xml"/>
  <Override PartName="/ppt/comments/modernComment_156_91438341.xml" ContentType="application/vnd.ms-powerpoint.comments+xml"/>
  <Override PartName="/ppt/comments/modernComment_150_4FD86DD7.xml" ContentType="application/vnd.ms-powerpoint.comments+xml"/>
  <Override PartName="/ppt/comments/modernComment_14D_B77C0CCF.xml" ContentType="application/vnd.ms-powerpoint.comments+xml"/>
  <Override PartName="/ppt/comments/modernComment_134_2E3441BB.xml" ContentType="application/vnd.ms-powerpoint.comment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4060" r:id="rId4"/>
    <p:sldMasterId id="2147484090" r:id="rId5"/>
    <p:sldMasterId id="2147483897" r:id="rId6"/>
  </p:sldMasterIdLst>
  <p:notesMasterIdLst>
    <p:notesMasterId r:id="rId42"/>
  </p:notesMasterIdLst>
  <p:handoutMasterIdLst>
    <p:handoutMasterId r:id="rId43"/>
  </p:handoutMasterIdLst>
  <p:sldIdLst>
    <p:sldId id="302" r:id="rId7"/>
    <p:sldId id="310" r:id="rId8"/>
    <p:sldId id="309" r:id="rId9"/>
    <p:sldId id="311" r:id="rId10"/>
    <p:sldId id="340" r:id="rId11"/>
    <p:sldId id="345" r:id="rId12"/>
    <p:sldId id="346" r:id="rId13"/>
    <p:sldId id="347" r:id="rId14"/>
    <p:sldId id="348" r:id="rId15"/>
    <p:sldId id="349" r:id="rId16"/>
    <p:sldId id="350" r:id="rId17"/>
    <p:sldId id="269" r:id="rId18"/>
    <p:sldId id="270" r:id="rId19"/>
    <p:sldId id="271" r:id="rId20"/>
    <p:sldId id="272" r:id="rId21"/>
    <p:sldId id="274" r:id="rId22"/>
    <p:sldId id="344" r:id="rId23"/>
    <p:sldId id="323" r:id="rId24"/>
    <p:sldId id="316" r:id="rId25"/>
    <p:sldId id="317" r:id="rId26"/>
    <p:sldId id="320" r:id="rId27"/>
    <p:sldId id="334" r:id="rId28"/>
    <p:sldId id="335" r:id="rId29"/>
    <p:sldId id="342" r:id="rId30"/>
    <p:sldId id="336" r:id="rId31"/>
    <p:sldId id="338" r:id="rId32"/>
    <p:sldId id="339" r:id="rId33"/>
    <p:sldId id="333" r:id="rId34"/>
    <p:sldId id="313" r:id="rId35"/>
    <p:sldId id="337" r:id="rId36"/>
    <p:sldId id="308" r:id="rId37"/>
    <p:sldId id="331" r:id="rId38"/>
    <p:sldId id="332" r:id="rId39"/>
    <p:sldId id="351" r:id="rId40"/>
    <p:sldId id="324" r:id="rId41"/>
  </p:sldIdLst>
  <p:sldSz cx="16256000" cy="9144000"/>
  <p:notesSz cx="16256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0D44AB-A073-7D60-BA1A-C438E60870FB}" name="Joan Grady" initials="JG" userId="S::JoanG@actuaries.org.uk::ea9b7451-2a0e-4dbc-af87-c15c24a1a3eb" providerId="AD"/>
  <p188:author id="{3B42823D-FC15-489F-A24B-AD7901105553}" name="Jon Minton" initials="JM" userId="Jon Minton"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400F8"/>
    <a:srgbClr val="EF25E1"/>
    <a:srgbClr val="0099B5"/>
    <a:srgbClr val="FCC50F"/>
    <a:srgbClr val="DC3E83"/>
    <a:srgbClr val="C11E44"/>
    <a:srgbClr val="E5712A"/>
    <a:srgbClr val="6AA5CD"/>
    <a:srgbClr val="008151"/>
    <a:srgbClr val="1E3C69"/>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31" autoAdjust="0"/>
    <p:restoredTop sz="91977" autoAdjust="0"/>
  </p:normalViewPr>
  <p:slideViewPr>
    <p:cSldViewPr snapToGrid="0">
      <p:cViewPr varScale="1">
        <p:scale>
          <a:sx n="58" d="100"/>
          <a:sy n="58" d="100"/>
        </p:scale>
        <p:origin x="77" y="298"/>
      </p:cViewPr>
      <p:guideLst>
        <p:guide orient="horz" pos="2880"/>
        <p:guide pos="2160"/>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118" d="100"/>
          <a:sy n="118" d="100"/>
        </p:scale>
        <p:origin x="1480"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notesMaster" Target="notesMasters/notesMaster1.xml"/><Relationship Id="rId43" Type="http://schemas.openxmlformats.org/officeDocument/2006/relationships/handoutMaster" Target="handoutMasters/handout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 Id="rId48" Type="http://schemas.microsoft.com/office/2018/10/relationships/authors" Targe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stacked"/>
        <c:varyColors val="0"/>
        <c:ser>
          <c:idx val="0"/>
          <c:order val="0"/>
          <c:tx>
            <c:v>Population growth</c:v>
          </c:tx>
          <c:spPr>
            <a:solidFill>
              <a:srgbClr val="0097A9"/>
            </a:solidFill>
          </c:spPr>
          <c:invertIfNegative val="0"/>
          <c:cat>
            <c:strRef>
              <c:f>'Chart Data'!$A$2:$A$2</c:f>
              <c:strCache>
                <c:ptCount val="1"/>
                <c:pt idx="0">
                  <c:v>Increase</c:v>
                </c:pt>
              </c:strCache>
            </c:strRef>
          </c:cat>
          <c:val>
            <c:numRef>
              <c:f>'Chart Data'!$B$2:$B$2</c:f>
              <c:numCache>
                <c:formatCode>General</c:formatCode>
                <c:ptCount val="1"/>
                <c:pt idx="0">
                  <c:v>86000</c:v>
                </c:pt>
              </c:numCache>
            </c:numRef>
          </c:val>
          <c:extLst>
            <c:ext xmlns:c16="http://schemas.microsoft.com/office/drawing/2014/chart" uri="{C3380CC4-5D6E-409C-BE32-E72D297353CC}">
              <c16:uniqueId val="{00000000-8EDC-4034-B47D-9FCE35509685}"/>
            </c:ext>
          </c:extLst>
        </c:ser>
        <c:ser>
          <c:idx val="1"/>
          <c:order val="1"/>
          <c:tx>
            <c:v>Demographic assumption</c:v>
          </c:tx>
          <c:spPr>
            <a:solidFill>
              <a:srgbClr val="C7D1DE"/>
            </a:solidFill>
          </c:spPr>
          <c:invertIfNegative val="0"/>
          <c:cat>
            <c:strRef>
              <c:f>'Chart Data'!$C$2:$C$2</c:f>
              <c:strCache>
                <c:ptCount val="1"/>
                <c:pt idx="0">
                  <c:v>Increase</c:v>
                </c:pt>
              </c:strCache>
            </c:strRef>
          </c:cat>
          <c:val>
            <c:numRef>
              <c:f>'Chart Data'!$D$2:$D$2</c:f>
              <c:numCache>
                <c:formatCode>General</c:formatCode>
                <c:ptCount val="1"/>
                <c:pt idx="0">
                  <c:v>64902</c:v>
                </c:pt>
              </c:numCache>
            </c:numRef>
          </c:val>
          <c:extLst>
            <c:ext xmlns:c16="http://schemas.microsoft.com/office/drawing/2014/chart" uri="{C3380CC4-5D6E-409C-BE32-E72D297353CC}">
              <c16:uniqueId val="{00000001-8EDC-4034-B47D-9FCE35509685}"/>
            </c:ext>
          </c:extLst>
        </c:ser>
        <c:ser>
          <c:idx val="2"/>
          <c:order val="2"/>
          <c:tx>
            <c:v>Arithmetic residual</c:v>
          </c:tx>
          <c:spPr>
            <a:solidFill>
              <a:srgbClr val="002D72"/>
            </a:solidFill>
          </c:spPr>
          <c:invertIfNegative val="0"/>
          <c:cat>
            <c:strRef>
              <c:f>'Chart Data'!$E$2:$E$2</c:f>
              <c:strCache>
                <c:ptCount val="1"/>
                <c:pt idx="0">
                  <c:v>Increase</c:v>
                </c:pt>
              </c:strCache>
            </c:strRef>
          </c:cat>
          <c:val>
            <c:numRef>
              <c:f>'Chart Data'!$F$2:$F$2</c:f>
              <c:numCache>
                <c:formatCode>General</c:formatCode>
                <c:ptCount val="1"/>
                <c:pt idx="0">
                  <c:v>595098</c:v>
                </c:pt>
              </c:numCache>
            </c:numRef>
          </c:val>
          <c:extLst>
            <c:ext xmlns:c16="http://schemas.microsoft.com/office/drawing/2014/chart" uri="{C3380CC4-5D6E-409C-BE32-E72D297353CC}">
              <c16:uniqueId val="{00000002-8EDC-4034-B47D-9FCE35509685}"/>
            </c:ext>
          </c:extLst>
        </c:ser>
        <c:dLbls>
          <c:showLegendKey val="0"/>
          <c:showVal val="0"/>
          <c:showCatName val="0"/>
          <c:showSerName val="0"/>
          <c:showPercent val="0"/>
          <c:showBubbleSize val="0"/>
        </c:dLbls>
        <c:gapWidth val="0"/>
        <c:overlap val="100"/>
        <c:axId val="48650112"/>
        <c:axId val="48672768"/>
      </c:barChart>
      <c:catAx>
        <c:axId val="48650112"/>
        <c:scaling>
          <c:orientation val="minMax"/>
        </c:scaling>
        <c:delete val="1"/>
        <c:axPos val="l"/>
        <c:numFmt formatCode="General" sourceLinked="1"/>
        <c:majorTickMark val="none"/>
        <c:minorTickMark val="none"/>
        <c:tickLblPos val="nextTo"/>
        <c:crossAx val="48672768"/>
        <c:crosses val="autoZero"/>
        <c:auto val="1"/>
        <c:lblAlgn val="ctr"/>
        <c:lblOffset val="100"/>
        <c:noMultiLvlLbl val="1"/>
      </c:catAx>
      <c:valAx>
        <c:axId val="48672768"/>
        <c:scaling>
          <c:orientation val="minMax"/>
          <c:max val="746000"/>
          <c:min val="0"/>
        </c:scaling>
        <c:delete val="1"/>
        <c:axPos val="b"/>
        <c:numFmt formatCode="General" sourceLinked="1"/>
        <c:majorTickMark val="none"/>
        <c:minorTickMark val="none"/>
        <c:tickLblPos val="nextTo"/>
        <c:crossAx val="48650112"/>
        <c:crosses val="autoZero"/>
        <c:crossBetween val="between"/>
      </c:valAx>
    </c:plotArea>
    <c:plotVisOnly val="1"/>
    <c:dispBlanksAs val="zero"/>
    <c:showDLblsOverMax val="1"/>
  </c:chart>
  <c:spPr>
    <a:solidFill>
      <a:srgbClr val="FFFFFF"/>
    </a:solidFill>
    <a:ln w="0">
      <a:noFill/>
      <a:prstDash val="solid"/>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onecohort!$I$6</c:f>
              <c:strCache>
                <c:ptCount val="1"/>
                <c:pt idx="0">
                  <c:v>healthy working lives</c:v>
                </c:pt>
              </c:strCache>
            </c:strRef>
          </c:tx>
          <c:spPr>
            <a:solidFill>
              <a:schemeClr val="accent4"/>
            </a:solidFill>
            <a:ln>
              <a:noFill/>
            </a:ln>
            <a:effectLst/>
          </c:spPr>
          <c:invertIfNegative val="0"/>
          <c:dLbls>
            <c:dLbl>
              <c:idx val="5"/>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058-4E0E-BA4E-17ED57060010}"/>
                </c:ext>
              </c:extLst>
            </c:dLbl>
            <c:dLbl>
              <c:idx val="14"/>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058-4E0E-BA4E-17ED57060010}"/>
                </c:ext>
              </c:extLst>
            </c:dLbl>
            <c:spPr>
              <a:noFill/>
              <a:ln>
                <a:noFill/>
              </a:ln>
              <a:effectLst/>
            </c:spPr>
            <c:txPr>
              <a:bodyPr rot="0" spcFirstLastPara="1" vertOverflow="ellipsis" vert="horz" wrap="square" anchor="ctr" anchorCtr="1"/>
              <a:lstStyle/>
              <a:p>
                <a:pPr>
                  <a:defRPr sz="1800" b="1" i="0" u="none" strike="noStrike" kern="1200" baseline="0">
                    <a:solidFill>
                      <a:schemeClr val="tx1"/>
                    </a:solidFill>
                    <a:latin typeface="+mn-lt"/>
                    <a:ea typeface="+mn-ea"/>
                    <a:cs typeface="+mn-cs"/>
                  </a:defRPr>
                </a:pPr>
                <a:endParaRPr lang="de-DE"/>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onecohort!$E$7:$E$27</c:f>
              <c:numCache>
                <c:formatCode>General</c:formatCode>
                <c:ptCount val="21"/>
                <c:pt idx="0">
                  <c:v>50</c:v>
                </c:pt>
                <c:pt idx="1">
                  <c:v>51</c:v>
                </c:pt>
                <c:pt idx="2">
                  <c:v>52</c:v>
                </c:pt>
                <c:pt idx="3">
                  <c:v>53</c:v>
                </c:pt>
                <c:pt idx="4">
                  <c:v>54</c:v>
                </c:pt>
                <c:pt idx="5">
                  <c:v>55</c:v>
                </c:pt>
                <c:pt idx="6">
                  <c:v>56</c:v>
                </c:pt>
                <c:pt idx="7">
                  <c:v>57</c:v>
                </c:pt>
                <c:pt idx="8">
                  <c:v>58</c:v>
                </c:pt>
                <c:pt idx="9">
                  <c:v>59</c:v>
                </c:pt>
                <c:pt idx="10">
                  <c:v>60</c:v>
                </c:pt>
                <c:pt idx="11">
                  <c:v>61</c:v>
                </c:pt>
                <c:pt idx="12">
                  <c:v>62</c:v>
                </c:pt>
                <c:pt idx="13">
                  <c:v>63</c:v>
                </c:pt>
                <c:pt idx="14">
                  <c:v>64</c:v>
                </c:pt>
                <c:pt idx="15">
                  <c:v>65</c:v>
                </c:pt>
                <c:pt idx="16">
                  <c:v>66</c:v>
                </c:pt>
                <c:pt idx="17">
                  <c:v>67</c:v>
                </c:pt>
                <c:pt idx="18">
                  <c:v>68</c:v>
                </c:pt>
                <c:pt idx="19">
                  <c:v>69</c:v>
                </c:pt>
                <c:pt idx="20">
                  <c:v>70</c:v>
                </c:pt>
              </c:numCache>
            </c:numRef>
          </c:cat>
          <c:val>
            <c:numRef>
              <c:f>onecohort!$I$7:$I$27</c:f>
              <c:numCache>
                <c:formatCode>#,##0</c:formatCode>
                <c:ptCount val="21"/>
                <c:pt idx="0">
                  <c:v>100000</c:v>
                </c:pt>
                <c:pt idx="1">
                  <c:v>98264.65191</c:v>
                </c:pt>
                <c:pt idx="2">
                  <c:v>97367.690878467198</c:v>
                </c:pt>
                <c:pt idx="3">
                  <c:v>96478.129401770158</c:v>
                </c:pt>
                <c:pt idx="4">
                  <c:v>95523.874623093812</c:v>
                </c:pt>
                <c:pt idx="5">
                  <c:v>94480.153893731593</c:v>
                </c:pt>
                <c:pt idx="6">
                  <c:v>93340.528925356804</c:v>
                </c:pt>
                <c:pt idx="7">
                  <c:v>92095.413360770661</c:v>
                </c:pt>
                <c:pt idx="8">
                  <c:v>90744.105145426511</c:v>
                </c:pt>
                <c:pt idx="9">
                  <c:v>89301.613003305407</c:v>
                </c:pt>
                <c:pt idx="10">
                  <c:v>87769.090536159405</c:v>
                </c:pt>
                <c:pt idx="11">
                  <c:v>86152.138467208351</c:v>
                </c:pt>
                <c:pt idx="12">
                  <c:v>84465.239051166311</c:v>
                </c:pt>
                <c:pt idx="13">
                  <c:v>82710.031169589274</c:v>
                </c:pt>
                <c:pt idx="14">
                  <c:v>80909.69280939507</c:v>
                </c:pt>
                <c:pt idx="15">
                  <c:v>78340.802120998909</c:v>
                </c:pt>
                <c:pt idx="16">
                  <c:v>0</c:v>
                </c:pt>
                <c:pt idx="17">
                  <c:v>0</c:v>
                </c:pt>
                <c:pt idx="18">
                  <c:v>0</c:v>
                </c:pt>
                <c:pt idx="19">
                  <c:v>0</c:v>
                </c:pt>
                <c:pt idx="20">
                  <c:v>0</c:v>
                </c:pt>
              </c:numCache>
            </c:numRef>
          </c:val>
          <c:extLst>
            <c:ext xmlns:c16="http://schemas.microsoft.com/office/drawing/2014/chart" uri="{C3380CC4-5D6E-409C-BE32-E72D297353CC}">
              <c16:uniqueId val="{00000002-B058-4E0E-BA4E-17ED57060010}"/>
            </c:ext>
          </c:extLst>
        </c:ser>
        <c:ser>
          <c:idx val="1"/>
          <c:order val="1"/>
          <c:tx>
            <c:strRef>
              <c:f>onecohort!$J$6</c:f>
              <c:strCache>
                <c:ptCount val="1"/>
                <c:pt idx="0">
                  <c:v>retirees</c:v>
                </c:pt>
              </c:strCache>
            </c:strRef>
          </c:tx>
          <c:spPr>
            <a:solidFill>
              <a:schemeClr val="tx2">
                <a:lumMod val="40000"/>
                <a:lumOff val="60000"/>
              </a:schemeClr>
            </a:solidFill>
            <a:ln>
              <a:noFill/>
            </a:ln>
            <a:effectLst/>
          </c:spPr>
          <c:invertIfNegative val="0"/>
          <c:cat>
            <c:numRef>
              <c:f>onecohort!$E$7:$E$27</c:f>
              <c:numCache>
                <c:formatCode>General</c:formatCode>
                <c:ptCount val="21"/>
                <c:pt idx="0">
                  <c:v>50</c:v>
                </c:pt>
                <c:pt idx="1">
                  <c:v>51</c:v>
                </c:pt>
                <c:pt idx="2">
                  <c:v>52</c:v>
                </c:pt>
                <c:pt idx="3">
                  <c:v>53</c:v>
                </c:pt>
                <c:pt idx="4">
                  <c:v>54</c:v>
                </c:pt>
                <c:pt idx="5">
                  <c:v>55</c:v>
                </c:pt>
                <c:pt idx="6">
                  <c:v>56</c:v>
                </c:pt>
                <c:pt idx="7">
                  <c:v>57</c:v>
                </c:pt>
                <c:pt idx="8">
                  <c:v>58</c:v>
                </c:pt>
                <c:pt idx="9">
                  <c:v>59</c:v>
                </c:pt>
                <c:pt idx="10">
                  <c:v>60</c:v>
                </c:pt>
                <c:pt idx="11">
                  <c:v>61</c:v>
                </c:pt>
                <c:pt idx="12">
                  <c:v>62</c:v>
                </c:pt>
                <c:pt idx="13">
                  <c:v>63</c:v>
                </c:pt>
                <c:pt idx="14">
                  <c:v>64</c:v>
                </c:pt>
                <c:pt idx="15">
                  <c:v>65</c:v>
                </c:pt>
                <c:pt idx="16">
                  <c:v>66</c:v>
                </c:pt>
                <c:pt idx="17">
                  <c:v>67</c:v>
                </c:pt>
                <c:pt idx="18">
                  <c:v>68</c:v>
                </c:pt>
                <c:pt idx="19">
                  <c:v>69</c:v>
                </c:pt>
                <c:pt idx="20">
                  <c:v>70</c:v>
                </c:pt>
              </c:numCache>
            </c:numRef>
          </c:cat>
          <c:val>
            <c:numRef>
              <c:f>onecohort!$J$7:$J$27</c:f>
              <c:numCache>
                <c:formatCode>#,##0</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10364.282839331065</c:v>
                </c:pt>
                <c:pt idx="16">
                  <c:v>91525.0456024999</c:v>
                </c:pt>
                <c:pt idx="17">
                  <c:v>90705.71339426632</c:v>
                </c:pt>
                <c:pt idx="18">
                  <c:v>89810.357297351526</c:v>
                </c:pt>
                <c:pt idx="19">
                  <c:v>88842.471076757967</c:v>
                </c:pt>
                <c:pt idx="20">
                  <c:v>87806.567864002966</c:v>
                </c:pt>
              </c:numCache>
            </c:numRef>
          </c:val>
          <c:extLst>
            <c:ext xmlns:c16="http://schemas.microsoft.com/office/drawing/2014/chart" uri="{C3380CC4-5D6E-409C-BE32-E72D297353CC}">
              <c16:uniqueId val="{00000003-B058-4E0E-BA4E-17ED57060010}"/>
            </c:ext>
          </c:extLst>
        </c:ser>
        <c:ser>
          <c:idx val="2"/>
          <c:order val="2"/>
          <c:tx>
            <c:strRef>
              <c:f>onecohort!$K$6</c:f>
              <c:strCache>
                <c:ptCount val="1"/>
                <c:pt idx="0">
                  <c:v>not-healthy not-working lives</c:v>
                </c:pt>
              </c:strCache>
            </c:strRef>
          </c:tx>
          <c:spPr>
            <a:solidFill>
              <a:schemeClr val="accent3"/>
            </a:solidFill>
            <a:ln>
              <a:noFill/>
            </a:ln>
            <a:effectLst/>
          </c:spPr>
          <c:invertIfNegative val="0"/>
          <c:dLbls>
            <c:dLbl>
              <c:idx val="5"/>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B058-4E0E-BA4E-17ED57060010}"/>
                </c:ext>
              </c:extLst>
            </c:dLbl>
            <c:dLbl>
              <c:idx val="14"/>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B058-4E0E-BA4E-17ED57060010}"/>
                </c:ext>
              </c:extLst>
            </c:dLbl>
            <c:spPr>
              <a:noFill/>
              <a:ln>
                <a:noFill/>
              </a:ln>
              <a:effectLst/>
            </c:spPr>
            <c:txPr>
              <a:bodyPr rot="0" spcFirstLastPara="1" vertOverflow="ellipsis" vert="horz" wrap="square" anchor="ctr" anchorCtr="1"/>
              <a:lstStyle/>
              <a:p>
                <a:pPr>
                  <a:defRPr sz="1800" b="1" i="0" u="none" strike="noStrike" kern="1200" baseline="0">
                    <a:solidFill>
                      <a:schemeClr val="tx1"/>
                    </a:solidFill>
                    <a:latin typeface="+mn-lt"/>
                    <a:ea typeface="+mn-ea"/>
                    <a:cs typeface="+mn-cs"/>
                  </a:defRPr>
                </a:pPr>
                <a:endParaRPr lang="de-DE"/>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onecohort!$E$7:$E$27</c:f>
              <c:numCache>
                <c:formatCode>General</c:formatCode>
                <c:ptCount val="21"/>
                <c:pt idx="0">
                  <c:v>50</c:v>
                </c:pt>
                <c:pt idx="1">
                  <c:v>51</c:v>
                </c:pt>
                <c:pt idx="2">
                  <c:v>52</c:v>
                </c:pt>
                <c:pt idx="3">
                  <c:v>53</c:v>
                </c:pt>
                <c:pt idx="4">
                  <c:v>54</c:v>
                </c:pt>
                <c:pt idx="5">
                  <c:v>55</c:v>
                </c:pt>
                <c:pt idx="6">
                  <c:v>56</c:v>
                </c:pt>
                <c:pt idx="7">
                  <c:v>57</c:v>
                </c:pt>
                <c:pt idx="8">
                  <c:v>58</c:v>
                </c:pt>
                <c:pt idx="9">
                  <c:v>59</c:v>
                </c:pt>
                <c:pt idx="10">
                  <c:v>60</c:v>
                </c:pt>
                <c:pt idx="11">
                  <c:v>61</c:v>
                </c:pt>
                <c:pt idx="12">
                  <c:v>62</c:v>
                </c:pt>
                <c:pt idx="13">
                  <c:v>63</c:v>
                </c:pt>
                <c:pt idx="14">
                  <c:v>64</c:v>
                </c:pt>
                <c:pt idx="15">
                  <c:v>65</c:v>
                </c:pt>
                <c:pt idx="16">
                  <c:v>66</c:v>
                </c:pt>
                <c:pt idx="17">
                  <c:v>67</c:v>
                </c:pt>
                <c:pt idx="18">
                  <c:v>68</c:v>
                </c:pt>
                <c:pt idx="19">
                  <c:v>69</c:v>
                </c:pt>
                <c:pt idx="20">
                  <c:v>70</c:v>
                </c:pt>
              </c:numCache>
            </c:numRef>
          </c:cat>
          <c:val>
            <c:numRef>
              <c:f>onecohort!$K$7:$K$27</c:f>
              <c:numCache>
                <c:formatCode>#,##0</c:formatCode>
                <c:ptCount val="21"/>
                <c:pt idx="0">
                  <c:v>0</c:v>
                </c:pt>
                <c:pt idx="1">
                  <c:v>1500.7240449999999</c:v>
                </c:pt>
                <c:pt idx="2">
                  <c:v>2108.6426185128457</c:v>
                </c:pt>
                <c:pt idx="3">
                  <c:v>2675.8935968846586</c:v>
                </c:pt>
                <c:pt idx="4">
                  <c:v>3271.8383529083394</c:v>
                </c:pt>
                <c:pt idx="5">
                  <c:v>3915.5624075922769</c:v>
                </c:pt>
                <c:pt idx="6">
                  <c:v>4615.2115038079837</c:v>
                </c:pt>
                <c:pt idx="7">
                  <c:v>5372.9386644543065</c:v>
                </c:pt>
                <c:pt idx="8">
                  <c:v>6186.7822890505677</c:v>
                </c:pt>
                <c:pt idx="9">
                  <c:v>7051.6334429632088</c:v>
                </c:pt>
                <c:pt idx="10">
                  <c:v>7958.9787690281564</c:v>
                </c:pt>
                <c:pt idx="11">
                  <c:v>8896.8577153278366</c:v>
                </c:pt>
                <c:pt idx="12">
                  <c:v>9849.8917213954046</c:v>
                </c:pt>
                <c:pt idx="13">
                  <c:v>10799.994607482629</c:v>
                </c:pt>
                <c:pt idx="14">
                  <c:v>11727.125629180437</c:v>
                </c:pt>
                <c:pt idx="15">
                  <c:v>3213.4146363862806</c:v>
                </c:pt>
                <c:pt idx="16">
                  <c:v>0</c:v>
                </c:pt>
                <c:pt idx="17">
                  <c:v>0</c:v>
                </c:pt>
                <c:pt idx="18">
                  <c:v>0</c:v>
                </c:pt>
                <c:pt idx="19">
                  <c:v>0</c:v>
                </c:pt>
                <c:pt idx="20">
                  <c:v>0</c:v>
                </c:pt>
              </c:numCache>
            </c:numRef>
          </c:val>
          <c:extLst>
            <c:ext xmlns:c16="http://schemas.microsoft.com/office/drawing/2014/chart" uri="{C3380CC4-5D6E-409C-BE32-E72D297353CC}">
              <c16:uniqueId val="{00000006-B058-4E0E-BA4E-17ED57060010}"/>
            </c:ext>
          </c:extLst>
        </c:ser>
        <c:ser>
          <c:idx val="3"/>
          <c:order val="3"/>
          <c:tx>
            <c:strRef>
              <c:f>onecohort!$L$6</c:f>
              <c:strCache>
                <c:ptCount val="1"/>
                <c:pt idx="0">
                  <c:v>deaths</c:v>
                </c:pt>
              </c:strCache>
            </c:strRef>
          </c:tx>
          <c:spPr>
            <a:solidFill>
              <a:schemeClr val="accent6"/>
            </a:solidFill>
            <a:ln>
              <a:noFill/>
            </a:ln>
            <a:effectLst/>
          </c:spPr>
          <c:invertIfNegative val="0"/>
          <c:cat>
            <c:numRef>
              <c:f>onecohort!$E$7:$E$27</c:f>
              <c:numCache>
                <c:formatCode>General</c:formatCode>
                <c:ptCount val="21"/>
                <c:pt idx="0">
                  <c:v>50</c:v>
                </c:pt>
                <c:pt idx="1">
                  <c:v>51</c:v>
                </c:pt>
                <c:pt idx="2">
                  <c:v>52</c:v>
                </c:pt>
                <c:pt idx="3">
                  <c:v>53</c:v>
                </c:pt>
                <c:pt idx="4">
                  <c:v>54</c:v>
                </c:pt>
                <c:pt idx="5">
                  <c:v>55</c:v>
                </c:pt>
                <c:pt idx="6">
                  <c:v>56</c:v>
                </c:pt>
                <c:pt idx="7">
                  <c:v>57</c:v>
                </c:pt>
                <c:pt idx="8">
                  <c:v>58</c:v>
                </c:pt>
                <c:pt idx="9">
                  <c:v>59</c:v>
                </c:pt>
                <c:pt idx="10">
                  <c:v>60</c:v>
                </c:pt>
                <c:pt idx="11">
                  <c:v>61</c:v>
                </c:pt>
                <c:pt idx="12">
                  <c:v>62</c:v>
                </c:pt>
                <c:pt idx="13">
                  <c:v>63</c:v>
                </c:pt>
                <c:pt idx="14">
                  <c:v>64</c:v>
                </c:pt>
                <c:pt idx="15">
                  <c:v>65</c:v>
                </c:pt>
                <c:pt idx="16">
                  <c:v>66</c:v>
                </c:pt>
                <c:pt idx="17">
                  <c:v>67</c:v>
                </c:pt>
                <c:pt idx="18">
                  <c:v>68</c:v>
                </c:pt>
                <c:pt idx="19">
                  <c:v>69</c:v>
                </c:pt>
                <c:pt idx="20">
                  <c:v>70</c:v>
                </c:pt>
              </c:numCache>
            </c:numRef>
          </c:cat>
          <c:val>
            <c:numRef>
              <c:f>onecohort!$L$7:$L$27</c:f>
              <c:numCache>
                <c:formatCode>#,##0</c:formatCode>
                <c:ptCount val="21"/>
                <c:pt idx="0">
                  <c:v>0</c:v>
                </c:pt>
                <c:pt idx="1">
                  <c:v>234.62404500000002</c:v>
                </c:pt>
                <c:pt idx="2">
                  <c:v>523.66650301995924</c:v>
                </c:pt>
                <c:pt idx="3">
                  <c:v>845.97700134518311</c:v>
                </c:pt>
                <c:pt idx="4">
                  <c:v>1204.2870239978458</c:v>
                </c:pt>
                <c:pt idx="5">
                  <c:v>1604.2836986761447</c:v>
                </c:pt>
                <c:pt idx="6">
                  <c:v>2044.2595708352194</c:v>
                </c:pt>
                <c:pt idx="7">
                  <c:v>2531.64797477505</c:v>
                </c:pt>
                <c:pt idx="8">
                  <c:v>3069.1125655229439</c:v>
                </c:pt>
                <c:pt idx="9">
                  <c:v>3646.7535537314097</c:v>
                </c:pt>
                <c:pt idx="10">
                  <c:v>4271.9306948124513</c:v>
                </c:pt>
                <c:pt idx="11">
                  <c:v>4951.0038174638294</c:v>
                </c:pt>
                <c:pt idx="12">
                  <c:v>5684.8692274383002</c:v>
                </c:pt>
                <c:pt idx="13">
                  <c:v>6489.9742229281155</c:v>
                </c:pt>
                <c:pt idx="14">
                  <c:v>7363.1815614245052</c:v>
                </c:pt>
                <c:pt idx="15">
                  <c:v>8081.5004032837633</c:v>
                </c:pt>
                <c:pt idx="16">
                  <c:v>8474.9543975001179</c:v>
                </c:pt>
                <c:pt idx="17">
                  <c:v>9294.2866057336978</c:v>
                </c:pt>
                <c:pt idx="18">
                  <c:v>10189.6427026485</c:v>
                </c:pt>
                <c:pt idx="19">
                  <c:v>11157.528923242056</c:v>
                </c:pt>
                <c:pt idx="20">
                  <c:v>12193.432135997055</c:v>
                </c:pt>
              </c:numCache>
            </c:numRef>
          </c:val>
          <c:extLst>
            <c:ext xmlns:c16="http://schemas.microsoft.com/office/drawing/2014/chart" uri="{C3380CC4-5D6E-409C-BE32-E72D297353CC}">
              <c16:uniqueId val="{00000007-B058-4E0E-BA4E-17ED57060010}"/>
            </c:ext>
          </c:extLst>
        </c:ser>
        <c:dLbls>
          <c:showLegendKey val="0"/>
          <c:showVal val="0"/>
          <c:showCatName val="0"/>
          <c:showSerName val="0"/>
          <c:showPercent val="0"/>
          <c:showBubbleSize val="0"/>
        </c:dLbls>
        <c:gapWidth val="20"/>
        <c:overlap val="100"/>
        <c:axId val="639612704"/>
        <c:axId val="612995792"/>
      </c:barChart>
      <c:catAx>
        <c:axId val="639612704"/>
        <c:scaling>
          <c:orientation val="minMax"/>
        </c:scaling>
        <c:delete val="0"/>
        <c:axPos val="b"/>
        <c:title>
          <c:tx>
            <c:rich>
              <a:bodyPr rot="0" spcFirstLastPara="1" vertOverflow="ellipsis" vert="horz" wrap="square" anchor="ctr" anchorCtr="1"/>
              <a:lstStyle/>
              <a:p>
                <a:pPr>
                  <a:defRPr sz="1800" b="0" i="0" u="none" strike="noStrike" kern="1200" baseline="0">
                    <a:solidFill>
                      <a:schemeClr val="tx1"/>
                    </a:solidFill>
                    <a:latin typeface="+mn-lt"/>
                    <a:ea typeface="+mn-ea"/>
                    <a:cs typeface="+mn-cs"/>
                  </a:defRPr>
                </a:pPr>
                <a:r>
                  <a:rPr lang="de-CH" dirty="0"/>
                  <a:t>Exact Age</a:t>
                </a:r>
              </a:p>
            </c:rich>
          </c:tx>
          <c:overlay val="0"/>
          <c:spPr>
            <a:noFill/>
            <a:ln>
              <a:noFill/>
            </a:ln>
            <a:effectLst/>
          </c:spPr>
          <c:txPr>
            <a:bodyPr rot="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de-DE"/>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de-DE"/>
          </a:p>
        </c:txPr>
        <c:crossAx val="612995792"/>
        <c:crosses val="autoZero"/>
        <c:auto val="1"/>
        <c:lblAlgn val="ctr"/>
        <c:lblOffset val="100"/>
        <c:tickLblSkip val="5"/>
        <c:noMultiLvlLbl val="0"/>
      </c:catAx>
      <c:valAx>
        <c:axId val="612995792"/>
        <c:scaling>
          <c:orientation val="minMax"/>
          <c:max val="10000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de-DE"/>
          </a:p>
        </c:txPr>
        <c:crossAx val="639612704"/>
        <c:crosses val="autoZero"/>
        <c:crossBetween val="between"/>
        <c:majorUnit val="20000"/>
      </c:valAx>
      <c:spPr>
        <a:noFill/>
        <a:ln>
          <a:noFill/>
        </a:ln>
        <a:effectLst/>
      </c:spPr>
    </c:plotArea>
    <c:legend>
      <c:legendPos val="t"/>
      <c:layout>
        <c:manualLayout>
          <c:xMode val="edge"/>
          <c:yMode val="edge"/>
          <c:x val="0.14225520290972482"/>
          <c:y val="0.25124178217352156"/>
          <c:w val="0.77582299322957937"/>
          <c:h val="0.14346291792060023"/>
        </c:manualLayout>
      </c:layout>
      <c:overlay val="1"/>
      <c:spPr>
        <a:solidFill>
          <a:schemeClr val="bg1">
            <a:lumMod val="95000"/>
          </a:schemeClr>
        </a:solidFill>
        <a:ln>
          <a:noFill/>
        </a:ln>
        <a:effectLst/>
      </c:spPr>
      <c:txPr>
        <a:bodyPr rot="0" spcFirstLastPara="1" vertOverflow="ellipsis" vert="horz" wrap="square" anchor="ctr" anchorCtr="1"/>
        <a:lstStyle/>
        <a:p>
          <a:pPr>
            <a:defRPr sz="2000" b="0" i="0" u="none" strike="noStrike" kern="1200" baseline="0">
              <a:solidFill>
                <a:schemeClr val="tx1"/>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solidFill>
            <a:schemeClr val="tx1"/>
          </a:solidFill>
        </a:defRPr>
      </a:pPr>
      <a:endParaRPr lang="de-D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537270341207349"/>
          <c:y val="5.0925925925925923E-2"/>
          <c:w val="0.84407174103237093"/>
          <c:h val="0.79016987459900845"/>
        </c:manualLayout>
      </c:layout>
      <c:barChart>
        <c:barDir val="col"/>
        <c:grouping val="stacked"/>
        <c:varyColors val="0"/>
        <c:ser>
          <c:idx val="2"/>
          <c:order val="0"/>
          <c:tx>
            <c:strRef>
              <c:f>HWP_results!$C$12</c:f>
              <c:strCache>
                <c:ptCount val="1"/>
              </c:strCache>
            </c:strRef>
          </c:tx>
          <c:spPr>
            <a:noFill/>
            <a:ln>
              <a:noFill/>
            </a:ln>
            <a:effectLst/>
          </c:spPr>
          <c:invertIfNegative val="0"/>
          <c:cat>
            <c:numRef>
              <c:f>HWP_results!$B$13:$B$17</c:f>
              <c:numCache>
                <c:formatCode>General</c:formatCode>
                <c:ptCount val="5"/>
                <c:pt idx="0">
                  <c:v>20</c:v>
                </c:pt>
                <c:pt idx="1">
                  <c:v>30</c:v>
                </c:pt>
                <c:pt idx="2">
                  <c:v>40</c:v>
                </c:pt>
                <c:pt idx="3">
                  <c:v>50</c:v>
                </c:pt>
                <c:pt idx="4">
                  <c:v>60</c:v>
                </c:pt>
              </c:numCache>
            </c:numRef>
          </c:cat>
          <c:val>
            <c:numRef>
              <c:f>HWP_results!$C$13:$C$17</c:f>
              <c:numCache>
                <c:formatCode>General</c:formatCode>
                <c:ptCount val="5"/>
                <c:pt idx="0">
                  <c:v>20</c:v>
                </c:pt>
                <c:pt idx="1">
                  <c:v>30</c:v>
                </c:pt>
                <c:pt idx="2">
                  <c:v>40</c:v>
                </c:pt>
                <c:pt idx="3">
                  <c:v>50</c:v>
                </c:pt>
                <c:pt idx="4">
                  <c:v>60</c:v>
                </c:pt>
              </c:numCache>
            </c:numRef>
          </c:val>
          <c:extLst>
            <c:ext xmlns:c16="http://schemas.microsoft.com/office/drawing/2014/chart" uri="{C3380CC4-5D6E-409C-BE32-E72D297353CC}">
              <c16:uniqueId val="{00000000-3262-4178-A0AC-29643A22E68A}"/>
            </c:ext>
          </c:extLst>
        </c:ser>
        <c:ser>
          <c:idx val="0"/>
          <c:order val="1"/>
          <c:tx>
            <c:strRef>
              <c:f>HWP_results!$D$3</c:f>
              <c:strCache>
                <c:ptCount val="1"/>
                <c:pt idx="0">
                  <c:v>Healthy Working Life Expectancy</c:v>
                </c:pt>
              </c:strCache>
            </c:strRef>
          </c:tx>
          <c:spPr>
            <a:solidFill>
              <a:schemeClr val="accent5"/>
            </a:solidFill>
            <a:ln>
              <a:noFill/>
            </a:ln>
            <a:effectLst/>
          </c:spPr>
          <c:invertIfNegative val="0"/>
          <c:dLbls>
            <c:spPr>
              <a:noFill/>
              <a:ln>
                <a:noFill/>
              </a:ln>
              <a:effectLst/>
            </c:spPr>
            <c:txPr>
              <a:bodyPr rot="0" spcFirstLastPara="1" vertOverflow="ellipsis" vert="horz" wrap="square" anchor="ctr" anchorCtr="1"/>
              <a:lstStyle/>
              <a:p>
                <a:pPr>
                  <a:defRPr sz="1800" b="1" i="0" u="none" strike="noStrike" kern="1200" baseline="0">
                    <a:solidFill>
                      <a:schemeClr val="tx1">
                        <a:lumMod val="75000"/>
                        <a:lumOff val="25000"/>
                      </a:schemeClr>
                    </a:solidFill>
                    <a:latin typeface="+mn-lt"/>
                    <a:ea typeface="+mn-ea"/>
                    <a:cs typeface="+mn-cs"/>
                  </a:defRPr>
                </a:pPr>
                <a:endParaRPr lang="de-DE"/>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HWP_results!$B$13:$B$17</c:f>
              <c:numCache>
                <c:formatCode>General</c:formatCode>
                <c:ptCount val="5"/>
                <c:pt idx="0">
                  <c:v>20</c:v>
                </c:pt>
                <c:pt idx="1">
                  <c:v>30</c:v>
                </c:pt>
                <c:pt idx="2">
                  <c:v>40</c:v>
                </c:pt>
                <c:pt idx="3">
                  <c:v>50</c:v>
                </c:pt>
                <c:pt idx="4">
                  <c:v>60</c:v>
                </c:pt>
              </c:numCache>
            </c:numRef>
          </c:cat>
          <c:val>
            <c:numRef>
              <c:f>HWP_results!$D$13:$D$17</c:f>
              <c:numCache>
                <c:formatCode>General</c:formatCode>
                <c:ptCount val="5"/>
                <c:pt idx="0">
                  <c:v>42.4</c:v>
                </c:pt>
                <c:pt idx="1">
                  <c:v>32.6</c:v>
                </c:pt>
                <c:pt idx="2">
                  <c:v>22.9</c:v>
                </c:pt>
                <c:pt idx="3">
                  <c:v>13.5</c:v>
                </c:pt>
                <c:pt idx="4">
                  <c:v>4.5999999999999996</c:v>
                </c:pt>
              </c:numCache>
            </c:numRef>
          </c:val>
          <c:extLst>
            <c:ext xmlns:c16="http://schemas.microsoft.com/office/drawing/2014/chart" uri="{C3380CC4-5D6E-409C-BE32-E72D297353CC}">
              <c16:uniqueId val="{00000001-3262-4178-A0AC-29643A22E68A}"/>
            </c:ext>
          </c:extLst>
        </c:ser>
        <c:ser>
          <c:idx val="1"/>
          <c:order val="2"/>
          <c:tx>
            <c:strRef>
              <c:f>HWP_results!$E$3</c:f>
              <c:strCache>
                <c:ptCount val="1"/>
                <c:pt idx="0">
                  <c:v>NHNW Life Expectancy</c:v>
                </c:pt>
              </c:strCache>
            </c:strRef>
          </c:tx>
          <c:spPr>
            <a:solidFill>
              <a:schemeClr val="accent3"/>
            </a:solidFill>
            <a:ln>
              <a:noFill/>
            </a:ln>
            <a:effectLst/>
          </c:spPr>
          <c:invertIfNegative val="0"/>
          <c:dLbls>
            <c:numFmt formatCode="#,##0.0" sourceLinked="0"/>
            <c:spPr>
              <a:noFill/>
              <a:ln>
                <a:noFill/>
              </a:ln>
              <a:effectLst/>
            </c:spPr>
            <c:txPr>
              <a:bodyPr rot="0" spcFirstLastPara="1" vertOverflow="ellipsis" vert="horz" wrap="square" anchor="ctr" anchorCtr="1"/>
              <a:lstStyle/>
              <a:p>
                <a:pPr>
                  <a:defRPr sz="1800" b="1" i="0" u="none" strike="noStrike" kern="1200" baseline="0">
                    <a:solidFill>
                      <a:schemeClr val="tx1">
                        <a:lumMod val="75000"/>
                        <a:lumOff val="25000"/>
                      </a:schemeClr>
                    </a:solidFill>
                    <a:latin typeface="+mn-lt"/>
                    <a:ea typeface="+mn-ea"/>
                    <a:cs typeface="+mn-cs"/>
                  </a:defRPr>
                </a:pPr>
                <a:endParaRPr lang="de-DE"/>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HWP_results!$B$13:$B$17</c:f>
              <c:numCache>
                <c:formatCode>General</c:formatCode>
                <c:ptCount val="5"/>
                <c:pt idx="0">
                  <c:v>20</c:v>
                </c:pt>
                <c:pt idx="1">
                  <c:v>30</c:v>
                </c:pt>
                <c:pt idx="2">
                  <c:v>40</c:v>
                </c:pt>
                <c:pt idx="3">
                  <c:v>50</c:v>
                </c:pt>
                <c:pt idx="4">
                  <c:v>60</c:v>
                </c:pt>
              </c:numCache>
            </c:numRef>
          </c:cat>
          <c:val>
            <c:numRef>
              <c:f>HWP_results!$E$13:$E$17</c:f>
              <c:numCache>
                <c:formatCode>General</c:formatCode>
                <c:ptCount val="5"/>
                <c:pt idx="0">
                  <c:v>1.3</c:v>
                </c:pt>
                <c:pt idx="1">
                  <c:v>1.25</c:v>
                </c:pt>
                <c:pt idx="2">
                  <c:v>1.1599999999999999</c:v>
                </c:pt>
                <c:pt idx="3">
                  <c:v>0.91</c:v>
                </c:pt>
                <c:pt idx="4">
                  <c:v>0.28000000000000003</c:v>
                </c:pt>
              </c:numCache>
            </c:numRef>
          </c:val>
          <c:extLst>
            <c:ext xmlns:c16="http://schemas.microsoft.com/office/drawing/2014/chart" uri="{C3380CC4-5D6E-409C-BE32-E72D297353CC}">
              <c16:uniqueId val="{00000002-3262-4178-A0AC-29643A22E68A}"/>
            </c:ext>
          </c:extLst>
        </c:ser>
        <c:dLbls>
          <c:showLegendKey val="0"/>
          <c:showVal val="0"/>
          <c:showCatName val="0"/>
          <c:showSerName val="0"/>
          <c:showPercent val="0"/>
          <c:showBubbleSize val="0"/>
        </c:dLbls>
        <c:gapWidth val="100"/>
        <c:overlap val="100"/>
        <c:axId val="809095680"/>
        <c:axId val="613137872"/>
      </c:barChart>
      <c:catAx>
        <c:axId val="809095680"/>
        <c:scaling>
          <c:orientation val="minMax"/>
        </c:scaling>
        <c:delete val="0"/>
        <c:axPos val="b"/>
        <c:title>
          <c:tx>
            <c:rich>
              <a:bodyPr rot="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r>
                  <a:rPr lang="de-CH"/>
                  <a:t>Starting Age</a:t>
                </a:r>
              </a:p>
            </c:rich>
          </c:tx>
          <c:layout>
            <c:manualLayout>
              <c:xMode val="edge"/>
              <c:yMode val="edge"/>
              <c:x val="0.43816535433070863"/>
              <c:y val="0.92497666958296876"/>
            </c:manualLayout>
          </c:layout>
          <c:overlay val="0"/>
          <c:spPr>
            <a:noFill/>
            <a:ln>
              <a:noFill/>
            </a:ln>
            <a:effectLst/>
          </c:spPr>
          <c:txPr>
            <a:bodyPr rot="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de-DE"/>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de-DE"/>
          </a:p>
        </c:txPr>
        <c:crossAx val="613137872"/>
        <c:crosses val="autoZero"/>
        <c:auto val="1"/>
        <c:lblAlgn val="ctr"/>
        <c:lblOffset val="100"/>
        <c:noMultiLvlLbl val="0"/>
      </c:catAx>
      <c:valAx>
        <c:axId val="613137872"/>
        <c:scaling>
          <c:orientation val="minMax"/>
          <c:max val="65"/>
          <c:min val="2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r>
                  <a:rPr lang="de-CH"/>
                  <a:t>age</a:t>
                </a:r>
              </a:p>
            </c:rich>
          </c:tx>
          <c:layout>
            <c:manualLayout>
              <c:xMode val="edge"/>
              <c:yMode val="edge"/>
              <c:x val="2.7777777777777779E-3"/>
              <c:y val="0.3029782735491397"/>
            </c:manualLayout>
          </c:layout>
          <c:overlay val="0"/>
          <c:spPr>
            <a:noFill/>
            <a:ln>
              <a:noFill/>
            </a:ln>
            <a:effectLst/>
          </c:spPr>
          <c:txPr>
            <a:bodyPr rot="-54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de-DE"/>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de-DE"/>
          </a:p>
        </c:txPr>
        <c:crossAx val="809095680"/>
        <c:crosses val="autoZero"/>
        <c:crossBetween val="between"/>
        <c:majorUnit val="1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b="1"/>
      </a:pPr>
      <a:endParaRPr lang="de-DE"/>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537270341207349"/>
          <c:y val="5.0925925925925923E-2"/>
          <c:w val="0.84407174103237093"/>
          <c:h val="0.79016987459900845"/>
        </c:manualLayout>
      </c:layout>
      <c:barChart>
        <c:barDir val="col"/>
        <c:grouping val="stacked"/>
        <c:varyColors val="0"/>
        <c:ser>
          <c:idx val="2"/>
          <c:order val="0"/>
          <c:tx>
            <c:strRef>
              <c:f>HWP_results!$C$12</c:f>
              <c:strCache>
                <c:ptCount val="1"/>
              </c:strCache>
            </c:strRef>
          </c:tx>
          <c:spPr>
            <a:noFill/>
            <a:ln>
              <a:noFill/>
            </a:ln>
            <a:effectLst/>
          </c:spPr>
          <c:invertIfNegative val="0"/>
          <c:cat>
            <c:numRef>
              <c:f>HWP_results!$B$13:$B$17</c:f>
              <c:numCache>
                <c:formatCode>General</c:formatCode>
                <c:ptCount val="5"/>
                <c:pt idx="0">
                  <c:v>20</c:v>
                </c:pt>
                <c:pt idx="1">
                  <c:v>30</c:v>
                </c:pt>
                <c:pt idx="2">
                  <c:v>40</c:v>
                </c:pt>
                <c:pt idx="3">
                  <c:v>50</c:v>
                </c:pt>
                <c:pt idx="4">
                  <c:v>60</c:v>
                </c:pt>
              </c:numCache>
            </c:numRef>
          </c:cat>
          <c:val>
            <c:numRef>
              <c:f>HWP_results!$C$13:$C$17</c:f>
              <c:numCache>
                <c:formatCode>General</c:formatCode>
                <c:ptCount val="5"/>
                <c:pt idx="0">
                  <c:v>20</c:v>
                </c:pt>
                <c:pt idx="1">
                  <c:v>30</c:v>
                </c:pt>
                <c:pt idx="2">
                  <c:v>40</c:v>
                </c:pt>
                <c:pt idx="3">
                  <c:v>50</c:v>
                </c:pt>
                <c:pt idx="4">
                  <c:v>60</c:v>
                </c:pt>
              </c:numCache>
            </c:numRef>
          </c:val>
          <c:extLst>
            <c:ext xmlns:c16="http://schemas.microsoft.com/office/drawing/2014/chart" uri="{C3380CC4-5D6E-409C-BE32-E72D297353CC}">
              <c16:uniqueId val="{00000000-0E0F-467C-BBB7-CFDE68E94476}"/>
            </c:ext>
          </c:extLst>
        </c:ser>
        <c:ser>
          <c:idx val="0"/>
          <c:order val="1"/>
          <c:tx>
            <c:strRef>
              <c:f>HWP_results!$F$3</c:f>
              <c:strCache>
                <c:ptCount val="1"/>
                <c:pt idx="0">
                  <c:v>Healthy Working Life Expectancy</c:v>
                </c:pt>
              </c:strCache>
            </c:strRef>
          </c:tx>
          <c:spPr>
            <a:solidFill>
              <a:schemeClr val="accent5"/>
            </a:solidFill>
            <a:ln>
              <a:noFill/>
            </a:ln>
            <a:effectLst/>
          </c:spPr>
          <c:invertIfNegative val="0"/>
          <c:dLbls>
            <c:spPr>
              <a:noFill/>
              <a:ln>
                <a:noFill/>
              </a:ln>
              <a:effectLst/>
            </c:spPr>
            <c:txPr>
              <a:bodyPr rot="0" spcFirstLastPara="1" vertOverflow="ellipsis" vert="horz" wrap="square" anchor="ctr" anchorCtr="1"/>
              <a:lstStyle/>
              <a:p>
                <a:pPr>
                  <a:defRPr sz="1800" b="1" i="0" u="none" strike="noStrike" kern="1200" baseline="0">
                    <a:solidFill>
                      <a:schemeClr val="tx1">
                        <a:lumMod val="75000"/>
                        <a:lumOff val="25000"/>
                      </a:schemeClr>
                    </a:solidFill>
                    <a:latin typeface="+mn-lt"/>
                    <a:ea typeface="+mn-ea"/>
                    <a:cs typeface="+mn-cs"/>
                  </a:defRPr>
                </a:pPr>
                <a:endParaRPr lang="de-DE"/>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HWP_results!$B$13:$B$17</c:f>
              <c:numCache>
                <c:formatCode>General</c:formatCode>
                <c:ptCount val="5"/>
                <c:pt idx="0">
                  <c:v>20</c:v>
                </c:pt>
                <c:pt idx="1">
                  <c:v>30</c:v>
                </c:pt>
                <c:pt idx="2">
                  <c:v>40</c:v>
                </c:pt>
                <c:pt idx="3">
                  <c:v>50</c:v>
                </c:pt>
                <c:pt idx="4">
                  <c:v>60</c:v>
                </c:pt>
              </c:numCache>
            </c:numRef>
          </c:cat>
          <c:val>
            <c:numRef>
              <c:f>HWP_results!$F$13:$F$17</c:f>
              <c:numCache>
                <c:formatCode>General</c:formatCode>
                <c:ptCount val="5"/>
                <c:pt idx="0">
                  <c:v>42.2</c:v>
                </c:pt>
                <c:pt idx="1">
                  <c:v>32.5</c:v>
                </c:pt>
                <c:pt idx="2">
                  <c:v>23</c:v>
                </c:pt>
                <c:pt idx="3">
                  <c:v>13.7</c:v>
                </c:pt>
                <c:pt idx="4">
                  <c:v>4.7</c:v>
                </c:pt>
              </c:numCache>
            </c:numRef>
          </c:val>
          <c:extLst>
            <c:ext xmlns:c16="http://schemas.microsoft.com/office/drawing/2014/chart" uri="{C3380CC4-5D6E-409C-BE32-E72D297353CC}">
              <c16:uniqueId val="{00000001-0E0F-467C-BBB7-CFDE68E94476}"/>
            </c:ext>
          </c:extLst>
        </c:ser>
        <c:ser>
          <c:idx val="1"/>
          <c:order val="2"/>
          <c:tx>
            <c:strRef>
              <c:f>HWP_results!$G$3</c:f>
              <c:strCache>
                <c:ptCount val="1"/>
                <c:pt idx="0">
                  <c:v>NHNW Life Expectancy</c:v>
                </c:pt>
              </c:strCache>
            </c:strRef>
          </c:tx>
          <c:spPr>
            <a:solidFill>
              <a:schemeClr val="accent3"/>
            </a:solidFill>
            <a:ln>
              <a:noFill/>
            </a:ln>
            <a:effectLst/>
          </c:spPr>
          <c:invertIfNegative val="0"/>
          <c:dLbls>
            <c:numFmt formatCode="#,##0.0" sourceLinked="0"/>
            <c:spPr>
              <a:noFill/>
              <a:ln>
                <a:noFill/>
              </a:ln>
              <a:effectLst/>
            </c:spPr>
            <c:txPr>
              <a:bodyPr rot="0" spcFirstLastPara="1" vertOverflow="ellipsis" vert="horz" wrap="square" anchor="ctr" anchorCtr="1"/>
              <a:lstStyle/>
              <a:p>
                <a:pPr>
                  <a:defRPr sz="1800" b="1" i="0" u="none" strike="noStrike" kern="1200" baseline="0">
                    <a:solidFill>
                      <a:schemeClr val="tx1">
                        <a:lumMod val="75000"/>
                        <a:lumOff val="25000"/>
                      </a:schemeClr>
                    </a:solidFill>
                    <a:latin typeface="+mn-lt"/>
                    <a:ea typeface="+mn-ea"/>
                    <a:cs typeface="+mn-cs"/>
                  </a:defRPr>
                </a:pPr>
                <a:endParaRPr lang="de-DE"/>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HWP_results!$B$13:$B$17</c:f>
              <c:numCache>
                <c:formatCode>General</c:formatCode>
                <c:ptCount val="5"/>
                <c:pt idx="0">
                  <c:v>20</c:v>
                </c:pt>
                <c:pt idx="1">
                  <c:v>30</c:v>
                </c:pt>
                <c:pt idx="2">
                  <c:v>40</c:v>
                </c:pt>
                <c:pt idx="3">
                  <c:v>50</c:v>
                </c:pt>
                <c:pt idx="4">
                  <c:v>60</c:v>
                </c:pt>
              </c:numCache>
            </c:numRef>
          </c:cat>
          <c:val>
            <c:numRef>
              <c:f>HWP_results!$G$13:$G$17</c:f>
              <c:numCache>
                <c:formatCode>General</c:formatCode>
                <c:ptCount val="5"/>
                <c:pt idx="0">
                  <c:v>0.9</c:v>
                </c:pt>
                <c:pt idx="1">
                  <c:v>0.84</c:v>
                </c:pt>
                <c:pt idx="2">
                  <c:v>0.75</c:v>
                </c:pt>
                <c:pt idx="3">
                  <c:v>0.56000000000000005</c:v>
                </c:pt>
                <c:pt idx="4">
                  <c:v>0.16</c:v>
                </c:pt>
              </c:numCache>
            </c:numRef>
          </c:val>
          <c:extLst>
            <c:ext xmlns:c16="http://schemas.microsoft.com/office/drawing/2014/chart" uri="{C3380CC4-5D6E-409C-BE32-E72D297353CC}">
              <c16:uniqueId val="{00000002-0E0F-467C-BBB7-CFDE68E94476}"/>
            </c:ext>
          </c:extLst>
        </c:ser>
        <c:dLbls>
          <c:showLegendKey val="0"/>
          <c:showVal val="0"/>
          <c:showCatName val="0"/>
          <c:showSerName val="0"/>
          <c:showPercent val="0"/>
          <c:showBubbleSize val="0"/>
        </c:dLbls>
        <c:gapWidth val="100"/>
        <c:overlap val="100"/>
        <c:axId val="809095680"/>
        <c:axId val="613137872"/>
      </c:barChart>
      <c:catAx>
        <c:axId val="809095680"/>
        <c:scaling>
          <c:orientation val="minMax"/>
        </c:scaling>
        <c:delete val="0"/>
        <c:axPos val="b"/>
        <c:title>
          <c:tx>
            <c:rich>
              <a:bodyPr rot="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r>
                  <a:rPr lang="de-CH"/>
                  <a:t>Starting Age</a:t>
                </a:r>
              </a:p>
            </c:rich>
          </c:tx>
          <c:layout>
            <c:manualLayout>
              <c:xMode val="edge"/>
              <c:yMode val="edge"/>
              <c:x val="0.43816535433070863"/>
              <c:y val="0.92497666958296876"/>
            </c:manualLayout>
          </c:layout>
          <c:overlay val="0"/>
          <c:spPr>
            <a:noFill/>
            <a:ln>
              <a:noFill/>
            </a:ln>
            <a:effectLst/>
          </c:spPr>
          <c:txPr>
            <a:bodyPr rot="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de-DE"/>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de-DE"/>
          </a:p>
        </c:txPr>
        <c:crossAx val="613137872"/>
        <c:crosses val="autoZero"/>
        <c:auto val="1"/>
        <c:lblAlgn val="ctr"/>
        <c:lblOffset val="100"/>
        <c:noMultiLvlLbl val="0"/>
      </c:catAx>
      <c:valAx>
        <c:axId val="613137872"/>
        <c:scaling>
          <c:orientation val="minMax"/>
          <c:max val="65"/>
          <c:min val="2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r>
                  <a:rPr lang="de-CH"/>
                  <a:t>age</a:t>
                </a:r>
              </a:p>
            </c:rich>
          </c:tx>
          <c:layout>
            <c:manualLayout>
              <c:xMode val="edge"/>
              <c:yMode val="edge"/>
              <c:x val="2.7777777777777779E-3"/>
              <c:y val="0.3029782735491397"/>
            </c:manualLayout>
          </c:layout>
          <c:overlay val="0"/>
          <c:spPr>
            <a:noFill/>
            <a:ln>
              <a:noFill/>
            </a:ln>
            <a:effectLst/>
          </c:spPr>
          <c:txPr>
            <a:bodyPr rot="-54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de-DE"/>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de-DE"/>
          </a:p>
        </c:txPr>
        <c:crossAx val="809095680"/>
        <c:crosses val="autoZero"/>
        <c:crossBetween val="between"/>
        <c:majorUnit val="1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b="1"/>
      </a:pPr>
      <a:endParaRPr lang="de-D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13C_B433CAD8.xml><?xml version="1.0" encoding="utf-8"?>
<p188:cmLst xmlns:a="http://schemas.openxmlformats.org/drawingml/2006/main" xmlns:r="http://schemas.openxmlformats.org/officeDocument/2006/relationships" xmlns:p188="http://schemas.microsoft.com/office/powerpoint/2018/8/main">
  <p188:cm id="{66E635A0-A98B-4C55-8F9A-A847565389CE}" authorId="{3B42823D-FC15-489F-A24B-AD7901105553}" created="2026-10-30T15:00:00">
    <pc:sldMkLst xmlns:pc="http://schemas.microsoft.com/office/powerpoint/2013/main/command">
      <pc:docMk/>
      <pc:sldMk cId="3023293144" sldId="316"/>
    </pc:sldMkLst>
    <p188:txBody>
      <a:bodyPr/>
      <a:lstStyle/>
      <a:p>
        <a:r>
          <a:rPr lang="en-GB"/>
          <a:t>Suggestion from Jon (Claude-assisted). This overlaps with the Conclusions on 28 (insurance uses, policy uses). Option A: drop 19 from the main run and let 28 carry the message, with 19's bullets moved to notes. Option B: keep 19 and cut 28 back to its three headline statements. Either removes about a minute of repetition.</a:t>
        </a:r>
      </a:p>
    </p188:txBody>
  </p188:cm>
</p188:cmLst>
</file>

<file path=ppt/comments/modernComment_13D_696AE80E.xml><?xml version="1.0" encoding="utf-8"?>
<p188:cmLst xmlns:a="http://schemas.openxmlformats.org/drawingml/2006/main" xmlns:r="http://schemas.openxmlformats.org/officeDocument/2006/relationships" xmlns:p188="http://schemas.microsoft.com/office/powerpoint/2018/8/main">
  <p188:cm id="{6AA61291-C830-4028-9F61-1F3236712A37}" authorId="{3B42823D-FC15-489F-A24B-AD7901105553}" created="2026-10-30T15:00:00">
    <pc:sldMkLst xmlns:pc="http://schemas.microsoft.com/office/powerpoint/2013/main/command">
      <pc:docMk/>
      <pc:sldMk cId="1768613902" sldId="317"/>
    </pc:sldMkLst>
    <p188:txBody>
      <a:bodyPr/>
      <a:lstStyle/>
      <a:p>
        <a:r>
          <a:rPr lang="en-GB"/>
          <a:t>Suggestion from Jon (Claude-assisted). David plans to cover only the key points here. Suggestion: keep the diagram and the advantages and disadvantages, and move the table of rate bases (nn, w, d, r) to the appendix next to slide 32, ready for Q&amp;A.</a:t>
        </a:r>
      </a:p>
    </p188:txBody>
  </p188:cm>
</p188:cmLst>
</file>

<file path=ppt/comments/modernComment_14D_B77C0CCF.xml><?xml version="1.0" encoding="utf-8"?>
<p188:cmLst xmlns:a="http://schemas.openxmlformats.org/drawingml/2006/main" xmlns:r="http://schemas.openxmlformats.org/officeDocument/2006/relationships" xmlns:p188="http://schemas.microsoft.com/office/powerpoint/2018/8/main">
  <p188:cm id="{BBFE9846-76CE-4CCC-ADC6-31DB1C86E874}" authorId="{3B42823D-FC15-489F-A24B-AD7901105553}" created="2026-10-30T15:00:00">
    <pc:sldMkLst xmlns:pc="http://schemas.microsoft.com/office/powerpoint/2013/main/command">
      <pc:docMk/>
      <pc:sldMk cId="3078360271" sldId="333"/>
    </pc:sldMkLst>
    <p188:txBody>
      <a:bodyPr/>
      <a:lstStyle/>
      <a:p>
        <a:r>
          <a:rPr lang="en-GB"/>
          <a:t>Suggestion from Jon (Claude-assisted). See the comment on 19 about the overlap. If 19 stays, suggestion: keep only the three headline statements here and move the sub-bullets to notes.</a:t>
        </a:r>
      </a:p>
    </p188:txBody>
  </p188:cm>
</p188:cmLst>
</file>

<file path=ppt/comments/modernComment_14E_6C3B12A8.xml><?xml version="1.0" encoding="utf-8"?>
<p188:cmLst xmlns:a="http://schemas.openxmlformats.org/drawingml/2006/main" xmlns:r="http://schemas.openxmlformats.org/officeDocument/2006/relationships" xmlns:p188="http://schemas.microsoft.com/office/powerpoint/2018/8/main">
  <p188:cm id="{D4A1D4E6-8ACE-4912-80DB-0ECFB5247978}" authorId="{3B42823D-FC15-489F-A24B-AD7901105553}" created="2026-10-30T15:00:00">
    <pc:sldMkLst xmlns:pc="http://schemas.microsoft.com/office/powerpoint/2013/main/command">
      <pc:docMk/>
      <pc:sldMk cId="1815810728" sldId="334"/>
    </pc:sldMkLst>
    <p188:txBody>
      <a:bodyPr/>
      <a:lstStyle/>
      <a:p>
        <a:r>
          <a:rPr lang="en-GB"/>
          <a:t>Suggestion from Jon (Claude-assisted). Keep (see the comment on 21).</a:t>
        </a:r>
      </a:p>
    </p188:txBody>
  </p188:cm>
</p188:cmLst>
</file>

<file path=ppt/comments/modernComment_14F_980CAB11.xml><?xml version="1.0" encoding="utf-8"?>
<p188:cmLst xmlns:a="http://schemas.openxmlformats.org/drawingml/2006/main" xmlns:r="http://schemas.openxmlformats.org/officeDocument/2006/relationships" xmlns:p188="http://schemas.microsoft.com/office/powerpoint/2018/8/main">
  <p188:cm id="{260669DC-FA77-404D-8934-FA93241ECB81}" authorId="{3B42823D-FC15-489F-A24B-AD7901105553}" created="2026-10-30T15:00:00">
    <pc:sldMkLst xmlns:pc="http://schemas.microsoft.com/office/powerpoint/2013/main/command">
      <pc:docMk/>
      <pc:sldMk cId="2550967057" sldId="335"/>
    </pc:sldMkLst>
    <p188:txBody>
      <a:bodyPr/>
      <a:lstStyle/>
      <a:p>
        <a:r>
          <a:rPr lang="en-GB"/>
          <a:t>Suggestion from Jon (Claude-assisted). Suggestion: combine 23 and 24. Keep 23's two charts, put 24's three observations underneath them, and move 24's table and worked percentages to notes or the appendix. That saves one slide.</a:t>
        </a:r>
      </a:p>
    </p188:txBody>
  </p188:cm>
</p188:cmLst>
</file>

<file path=ppt/comments/modernComment_134_2E3441BB.xml><?xml version="1.0" encoding="utf-8"?>
<p188:cmLst xmlns:a="http://schemas.openxmlformats.org/drawingml/2006/main" xmlns:r="http://schemas.openxmlformats.org/officeDocument/2006/relationships" xmlns:p188="http://schemas.microsoft.com/office/powerpoint/2018/8/main">
  <p188:cm id="{B735ADA8-6960-45FA-B8D5-734F99E91E23}" authorId="{3B42823D-FC15-489F-A24B-AD7901105553}" created="2026-10-30T15:00:00">
    <pc:sldMkLst xmlns:pc="http://schemas.microsoft.com/office/powerpoint/2013/main/command">
      <pc:docMk/>
      <pc:sldMk cId="775176635" sldId="308"/>
    </pc:sldMkLst>
    <p188:txBody>
      <a:bodyPr/>
      <a:lstStyle/>
      <a:p>
        <a:r>
          <a:rPr lang="en-GB"/>
          <a:t>Suggestion from Jon (Claude-assisted). Typos fixed: 'Sir Mayfield' → 'Sir Charlie Mayfield'; 'long-term term' → 'long-term'.</a:t>
        </a:r>
      </a:p>
    </p188:txBody>
  </p188:cm>
</p188:cmLst>
</file>

<file path=ppt/comments/modernComment_135_510680F9.xml><?xml version="1.0" encoding="utf-8"?>
<p188:cmLst xmlns:a="http://schemas.openxmlformats.org/drawingml/2006/main" xmlns:r="http://schemas.openxmlformats.org/officeDocument/2006/relationships" xmlns:p188="http://schemas.microsoft.com/office/powerpoint/2018/8/main">
  <p188:cm id="{169C73CA-65FD-4005-9922-F0A9FD975457}" authorId="{3B42823D-FC15-489F-A24B-AD7901105553}" created="2026-10-30T15:00:00">
    <pc:sldMkLst xmlns:pc="http://schemas.microsoft.com/office/powerpoint/2013/main/command">
      <pc:docMk/>
      <pc:sldMk cId="1359380729" sldId="309"/>
    </pc:sldMkLst>
    <p188:txBody>
      <a:bodyPr/>
      <a:lstStyle/>
      <a:p>
        <a:r>
          <a:rPr lang="en-GB"/>
          <a:t>Suggestion from Jon (Claude-assisted). The agenda times add up to the full 45 minutes, so the plan fits on paper. Giada's concern is the slide count: about 24 content slides for 35 minutes of talking. The comments on slides 17–28 suggest ways to take 3–4 slides out of the main run without losing any content (moved to the appendix or to notes). If Chris settles on 6 minutes, his row becomes 6 and the spare time could go to Q&amp;A or to David's section.</a:t>
        </a:r>
      </a:p>
    </p188:txBody>
  </p188:cm>
</p188:cmLst>
</file>

<file path=ppt/comments/modernComment_136_0F99604F.xml><?xml version="1.0" encoding="utf-8"?>
<p188:cmLst xmlns:a="http://schemas.openxmlformats.org/drawingml/2006/main" xmlns:r="http://schemas.openxmlformats.org/officeDocument/2006/relationships" xmlns:p188="http://schemas.microsoft.com/office/powerpoint/2018/8/main">
  <p188:cm id="{6EBA958F-2F99-4E19-8359-C858BC6900F2}" authorId="{3B42823D-FC15-489F-A24B-AD7901105553}" created="2026-10-30T15:00:00">
    <pc:sldMkLst xmlns:pc="http://schemas.microsoft.com/office/powerpoint/2013/main/command">
      <pc:docMk/>
      <pc:sldMk cId="261709903" sldId="310"/>
    </pc:sldMkLst>
    <p188:txBody>
      <a:bodyPr/>
      <a:lstStyle/>
      <a:p>
        <a:r>
          <a:rPr lang="en-GB"/>
          <a:t>Suggestion from Jon (Claude-assisted). Typos fixed in this copy: 2024 → 2026 in the date, and 'long-term term sickness' → 'long-term sickness' (also on slide 31). If the programme title still has the double 'term', Giada or Jemma may be able to correct it there too. 'Dr.' added for Jon.</a:t>
        </a:r>
      </a:p>
    </p188:txBody>
  </p188:cm>
</p188:cmLst>
</file>

<file path=ppt/comments/modernComment_140_164385B7.xml><?xml version="1.0" encoding="utf-8"?>
<p188:cmLst xmlns:a="http://schemas.openxmlformats.org/drawingml/2006/main" xmlns:r="http://schemas.openxmlformats.org/officeDocument/2006/relationships" xmlns:p188="http://schemas.microsoft.com/office/powerpoint/2018/8/main">
  <p188:cm id="{D4597206-2180-48F1-8757-D287725AC4AA}" authorId="{3B42823D-FC15-489F-A24B-AD7901105553}" created="2026-10-30T15:00:00">
    <pc:sldMkLst xmlns:pc="http://schemas.microsoft.com/office/powerpoint/2013/main/command">
      <pc:docMk/>
      <pc:sldMk cId="373523895" sldId="320"/>
    </pc:sldMkLst>
    <p188:txBody>
      <a:bodyPr/>
      <a:lstStyle/>
      <a:p>
        <a:r>
          <a:rPr lang="en-GB"/>
          <a:t>Suggestion from Jon (Claude-assisted). 21 and 22 show the same result (13.5 and 0.9 years) as a table and then a chart. Suggestion: keep 22 (the chart) in the main run and move 21 to the appendix. That saves about a minute and one slide. A small style point for a UK audience: thousands show as 100’000 here, and 100,000 may read more naturally.</a:t>
        </a:r>
      </a:p>
    </p188:txBody>
  </p188:cm>
</p188:cmLst>
</file>

<file path=ppt/comments/modernComment_143_EF0DD2EF.xml><?xml version="1.0" encoding="utf-8"?>
<p188:cmLst xmlns:a="http://schemas.openxmlformats.org/drawingml/2006/main" xmlns:r="http://schemas.openxmlformats.org/officeDocument/2006/relationships" xmlns:p188="http://schemas.microsoft.com/office/powerpoint/2018/8/main">
  <p188:cm id="{1DC5A7A2-B2FD-4129-B2F1-FC94FC6031EC}" authorId="{3B42823D-FC15-489F-A24B-AD7901105553}" created="2026-10-30T15:00:00">
    <pc:sldMkLst xmlns:pc="http://schemas.microsoft.com/office/powerpoint/2013/main/command">
      <pc:docMk/>
      <pc:sldMk cId="4010660591" sldId="323"/>
    </pc:sldMkLst>
    <p188:txBody>
      <a:bodyPr/>
      <a:lstStyle/>
      <a:p>
        <a:r>
          <a:rPr lang="en-GB"/>
          <a:t>Suggestion from Jon (Claude-assisted). See the comment on 17: a candidate to fold into 17, or to show as a build of the same slide rather than as a separate slide.</a:t>
        </a:r>
      </a:p>
    </p188:txBody>
  </p188:cm>
</p188:cmLst>
</file>

<file path=ppt/comments/modernComment_150_4FD86DD7.xml><?xml version="1.0" encoding="utf-8"?>
<p188:cmLst xmlns:a="http://schemas.openxmlformats.org/drawingml/2006/main" xmlns:r="http://schemas.openxmlformats.org/officeDocument/2006/relationships" xmlns:p188="http://schemas.microsoft.com/office/powerpoint/2018/8/main">
  <p188:cm id="{DCBCD43B-6AB2-4D32-B919-DF1DD2D2C23A}" authorId="{3B42823D-FC15-489F-A24B-AD7901105553}" created="2026-10-30T15:00:00">
    <pc:sldMkLst xmlns:pc="http://schemas.microsoft.com/office/powerpoint/2013/main/command">
      <pc:docMk/>
      <pc:sldMk cId="1339583959" sldId="336"/>
    </pc:sldMkLst>
    <p188:txBody>
      <a:bodyPr/>
      <a:lstStyle/>
      <a:p>
        <a:r>
          <a:rPr lang="en-GB"/>
          <a:t>Suggestion from Jon (Claude-assisted). Keep: this is the key comparison. Suggestion: put the basis of each number on the slide (13.6 = CMI IP11, occupation class 1, average of females and males, retirement at 65; 12.48 = Parker et al. 2020, healthy and working at 50, from survey data), and move the four bullets to notes. The audience will have seen 13.5 (females) on 21–22, so a label heads off a 'which number?' question.</a:t>
        </a:r>
      </a:p>
    </p188:txBody>
  </p188:cm>
</p188:cmLst>
</file>

<file path=ppt/comments/modernComment_156_91438341.xml><?xml version="1.0" encoding="utf-8"?>
<p188:cmLst xmlns:a="http://schemas.openxmlformats.org/drawingml/2006/main" xmlns:r="http://schemas.openxmlformats.org/officeDocument/2006/relationships" xmlns:p188="http://schemas.microsoft.com/office/powerpoint/2018/8/main">
  <p188:cm id="{82613207-0355-419F-89C2-F8CEE224DA7B}" authorId="{3B42823D-FC15-489F-A24B-AD7901105553}" created="2026-10-30T15:00:00">
    <pc:sldMkLst xmlns:pc="http://schemas.microsoft.com/office/powerpoint/2013/main/command">
      <pc:docMk/>
      <pc:sldMk cId="2437120833" sldId="342"/>
    </pc:sldMkLst>
    <p188:txBody>
      <a:bodyPr/>
      <a:lstStyle/>
      <a:p>
        <a:r>
          <a:rPr lang="en-GB"/>
          <a:t>Suggestion from Jon (Claude-assisted). The densest results slide (about 180 words). If it stays, suggestion: move the two worked examples (the percentages for a 20-year-old and a 50-year-old) to speaker notes, keep the table, and highlight the age-50 row, since that is the number compared with Parker on 25.</a:t>
        </a:r>
      </a:p>
    </p188:txBody>
  </p188:cm>
</p188:cmLst>
</file>

<file path=ppt/comments/modernComment_158_C04E5C46.xml><?xml version="1.0" encoding="utf-8"?>
<p188:cmLst xmlns:a="http://schemas.openxmlformats.org/drawingml/2006/main" xmlns:r="http://schemas.openxmlformats.org/officeDocument/2006/relationships" xmlns:p188="http://schemas.microsoft.com/office/powerpoint/2018/8/main">
  <p188:cm id="{60B1B5C0-47DA-4D07-9D03-9458EAE05B1A}" authorId="{3B42823D-FC15-489F-A24B-AD7901105553}" created="2026-10-30T15:00:00">
    <pc:sldMkLst xmlns:pc="http://schemas.microsoft.com/office/powerpoint/2013/main/command">
      <pc:docMk/>
      <pc:sldMk cId="3226360902" sldId="344"/>
    </pc:sldMkLst>
    <p188:txBody>
      <a:bodyPr/>
      <a:lstStyle/>
      <a:p>
        <a:r>
          <a:rPr lang="en-GB"/>
          <a:t>Suggestion from Jon (Claude-assisted). Suggestion: combine 17 and 18. Slide 18 tells the story ('first appears as a term in 2007 … but similar concepts in actuarial journals decades earlier'); 17 adds the actuarial and CMI rows. One option is to keep 17's full timeline under 18's two-part headline and move the reference detail into notes. That saves about a minute and one slide. 17 has about 200 words of labels, the densest slide in the deck.</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AF34AD-F03B-4FCC-A905-C259F7E7255A}"/>
              </a:ext>
            </a:extLst>
          </p:cNvPr>
          <p:cNvSpPr>
            <a:spLocks noGrp="1"/>
          </p:cNvSpPr>
          <p:nvPr>
            <p:ph type="hdr" sz="quarter"/>
          </p:nvPr>
        </p:nvSpPr>
        <p:spPr>
          <a:xfrm>
            <a:off x="0" y="0"/>
            <a:ext cx="7043738"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17F79ADB-1ABD-4395-9516-7A28E16E51EB}"/>
              </a:ext>
            </a:extLst>
          </p:cNvPr>
          <p:cNvSpPr>
            <a:spLocks noGrp="1"/>
          </p:cNvSpPr>
          <p:nvPr>
            <p:ph type="dt" sz="quarter" idx="1"/>
          </p:nvPr>
        </p:nvSpPr>
        <p:spPr>
          <a:xfrm>
            <a:off x="9207500" y="0"/>
            <a:ext cx="7045325" cy="458788"/>
          </a:xfrm>
          <a:prstGeom prst="rect">
            <a:avLst/>
          </a:prstGeom>
        </p:spPr>
        <p:txBody>
          <a:bodyPr vert="horz" lIns="91440" tIns="45720" rIns="91440" bIns="45720" rtlCol="0"/>
          <a:lstStyle>
            <a:lvl1pPr algn="r">
              <a:defRPr sz="1200"/>
            </a:lvl1pPr>
          </a:lstStyle>
          <a:p>
            <a:fld id="{7E96F64C-A6EA-4D30-8F6F-207E6D8A5736}" type="datetimeFigureOut">
              <a:rPr lang="en-GB" smtClean="0"/>
              <a:t>30/10/2026</a:t>
            </a:fld>
            <a:endParaRPr lang="en-GB"/>
          </a:p>
        </p:txBody>
      </p:sp>
      <p:sp>
        <p:nvSpPr>
          <p:cNvPr id="4" name="Footer Placeholder 3">
            <a:extLst>
              <a:ext uri="{FF2B5EF4-FFF2-40B4-BE49-F238E27FC236}">
                <a16:creationId xmlns:a16="http://schemas.microsoft.com/office/drawing/2014/main" id="{E7FA6EF5-6A30-48E5-86A7-B845C3DFBA4E}"/>
              </a:ext>
            </a:extLst>
          </p:cNvPr>
          <p:cNvSpPr>
            <a:spLocks noGrp="1"/>
          </p:cNvSpPr>
          <p:nvPr>
            <p:ph type="ftr" sz="quarter" idx="2"/>
          </p:nvPr>
        </p:nvSpPr>
        <p:spPr>
          <a:xfrm>
            <a:off x="0" y="8685213"/>
            <a:ext cx="7043738"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340FA5C3-F50C-433C-ADF9-A540F6B43840}"/>
              </a:ext>
            </a:extLst>
          </p:cNvPr>
          <p:cNvSpPr>
            <a:spLocks noGrp="1"/>
          </p:cNvSpPr>
          <p:nvPr>
            <p:ph type="sldNum" sz="quarter" idx="3"/>
          </p:nvPr>
        </p:nvSpPr>
        <p:spPr>
          <a:xfrm>
            <a:off x="9207500" y="8685213"/>
            <a:ext cx="7045325" cy="458787"/>
          </a:xfrm>
          <a:prstGeom prst="rect">
            <a:avLst/>
          </a:prstGeom>
        </p:spPr>
        <p:txBody>
          <a:bodyPr vert="horz" lIns="91440" tIns="45720" rIns="91440" bIns="45720" rtlCol="0" anchor="b"/>
          <a:lstStyle>
            <a:lvl1pPr algn="r">
              <a:defRPr sz="1200"/>
            </a:lvl1pPr>
          </a:lstStyle>
          <a:p>
            <a:fld id="{4684B978-5BC6-4E2E-9C92-7C2758F321F4}" type="slidenum">
              <a:rPr lang="en-GB" smtClean="0"/>
              <a:t>‹#›</a:t>
            </a:fld>
            <a:endParaRPr lang="en-GB"/>
          </a:p>
        </p:txBody>
      </p:sp>
    </p:spTree>
    <p:extLst>
      <p:ext uri="{BB962C8B-B14F-4D97-AF65-F5344CB8AC3E}">
        <p14:creationId xmlns:p14="http://schemas.microsoft.com/office/powerpoint/2010/main" val="41225636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043738"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9207500" y="0"/>
            <a:ext cx="7045325" cy="458788"/>
          </a:xfrm>
          <a:prstGeom prst="rect">
            <a:avLst/>
          </a:prstGeom>
        </p:spPr>
        <p:txBody>
          <a:bodyPr vert="horz" lIns="91440" tIns="45720" rIns="91440" bIns="45720" rtlCol="0"/>
          <a:lstStyle>
            <a:lvl1pPr algn="r">
              <a:defRPr sz="1200"/>
            </a:lvl1pPr>
          </a:lstStyle>
          <a:p>
            <a:fld id="{82E4061F-76E8-7547-8257-4E48B24CCEA6}" type="datetimeFigureOut">
              <a:rPr lang="en-US" smtClean="0"/>
              <a:t>10/30/2026</a:t>
            </a:fld>
            <a:endParaRPr lang="en-US"/>
          </a:p>
        </p:txBody>
      </p:sp>
      <p:sp>
        <p:nvSpPr>
          <p:cNvPr id="4" name="Slide Image Placeholder 3"/>
          <p:cNvSpPr>
            <a:spLocks noGrp="1" noRot="1" noChangeAspect="1"/>
          </p:cNvSpPr>
          <p:nvPr>
            <p:ph type="sldImg" idx="2"/>
          </p:nvPr>
        </p:nvSpPr>
        <p:spPr>
          <a:xfrm>
            <a:off x="5384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625600" y="4400550"/>
            <a:ext cx="130048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7043738"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9207500" y="8685213"/>
            <a:ext cx="7045325" cy="458787"/>
          </a:xfrm>
          <a:prstGeom prst="rect">
            <a:avLst/>
          </a:prstGeom>
        </p:spPr>
        <p:txBody>
          <a:bodyPr vert="horz" lIns="91440" tIns="45720" rIns="91440" bIns="45720" rtlCol="0" anchor="b"/>
          <a:lstStyle>
            <a:lvl1pPr algn="r">
              <a:defRPr sz="1200"/>
            </a:lvl1pPr>
          </a:lstStyle>
          <a:p>
            <a:fld id="{818DC993-C0AB-7145-A5E3-AB377573BF85}" type="slidenum">
              <a:rPr lang="en-US" smtClean="0"/>
              <a:t>‹#›</a:t>
            </a:fld>
            <a:endParaRPr lang="en-US"/>
          </a:p>
        </p:txBody>
      </p:sp>
    </p:spTree>
    <p:extLst>
      <p:ext uri="{BB962C8B-B14F-4D97-AF65-F5344CB8AC3E}">
        <p14:creationId xmlns:p14="http://schemas.microsoft.com/office/powerpoint/2010/main" val="3254785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Lord Darzi’s 2024 report on England's National Health Service stated that "the number of people [in the UK] who are economically inactive because of long-term sickness has risen to record highs."  </a:t>
            </a:r>
          </a:p>
          <a:p>
            <a:r>
              <a:rPr lang="en-US" dirty="0"/>
              <a:t>It went further: "At the start of this year [2024], long-term sickness was the most common reason why people were out of the workforce, accounting for 30 per cent of the total or some 2.8 million people."</a:t>
            </a:r>
          </a:p>
          <a:p>
            <a:r>
              <a:rPr lang="en-US" dirty="0"/>
              <a:t> </a:t>
            </a:r>
          </a:p>
          <a:p>
            <a:r>
              <a:rPr lang="en-US" dirty="0"/>
              <a:t>Long term sickness is clearly bad for the individuals affected and also bad for society.  </a:t>
            </a:r>
          </a:p>
          <a:p>
            <a:r>
              <a:rPr lang="en-US" dirty="0"/>
              <a:t>Aside from the obvious undesirable state of poor health for the individuals concerned, it generates unwanted impacts including:</a:t>
            </a:r>
          </a:p>
          <a:p>
            <a:r>
              <a:rPr lang="en-US" dirty="0"/>
              <a:t>pressure on the nation's health system to support these individuals to recover;</a:t>
            </a:r>
          </a:p>
          <a:p>
            <a:r>
              <a:rPr lang="en-US" dirty="0"/>
              <a:t>financial insecurity for the individuals and their families of being unable to work.</a:t>
            </a:r>
          </a:p>
          <a:p>
            <a:r>
              <a:rPr lang="en-US" dirty="0"/>
              <a:t> </a:t>
            </a:r>
          </a:p>
          <a:p>
            <a:r>
              <a:rPr lang="en-US" dirty="0"/>
              <a:t>Income Protection (IP) insurance products were originally developed to provide security for people against the financial consequences of being absent from work due to accident or illness for periods beyond statutory sick pay.   </a:t>
            </a:r>
          </a:p>
          <a:p>
            <a:r>
              <a:rPr lang="en-US" dirty="0"/>
              <a:t>The insurance contracts are typically designed to start paying benefits at the point that statutory sick pay, or sickness benefits provided directly by the employer, reach their expiry date.  </a:t>
            </a:r>
          </a:p>
          <a:p>
            <a:r>
              <a:rPr lang="en-US" dirty="0"/>
              <a:t>In recent years, insurers have begun to offer health and rehabilitation services alongside the pure insurance coverage.  </a:t>
            </a:r>
          </a:p>
          <a:p>
            <a:r>
              <a:rPr lang="en-US" dirty="0"/>
              <a:t>These initiatives could have the double positive effects of reducing sickness incidence rates and also increasing recovery rates.</a:t>
            </a:r>
          </a:p>
          <a:p>
            <a:r>
              <a:rPr lang="en-US" dirty="0"/>
              <a:t> </a:t>
            </a:r>
          </a:p>
          <a:p>
            <a:r>
              <a:rPr lang="en-US" dirty="0"/>
              <a:t>Within the </a:t>
            </a:r>
            <a:r>
              <a:rPr lang="en-US" dirty="0" err="1"/>
              <a:t>IFoA</a:t>
            </a:r>
            <a:r>
              <a:rPr lang="en-US" dirty="0"/>
              <a:t>, the Continuous Mortality Investigation (CMI) has produced, during several decades, many IP papers and IP claim inception rates and recovery rates tables for insured populations based on data provided by CMI subscribers.  </a:t>
            </a:r>
          </a:p>
          <a:p>
            <a:r>
              <a:rPr lang="en-US" dirty="0"/>
              <a:t>These are immensely useful for many actuarial applications, such as pricing and reserving IP portfolios. </a:t>
            </a:r>
          </a:p>
          <a:p>
            <a:r>
              <a:rPr lang="en-US" dirty="0"/>
              <a:t>Some of these analyses have reviewed the </a:t>
            </a:r>
            <a:r>
              <a:rPr lang="en-US" dirty="0" err="1"/>
              <a:t>'cause</a:t>
            </a:r>
            <a:r>
              <a:rPr lang="en-US" dirty="0"/>
              <a:t> of claim' (meaning the type of sickness) which have further potential applications, such as improving reserving methods and informing contract design.  </a:t>
            </a:r>
          </a:p>
          <a:p>
            <a:r>
              <a:rPr lang="en-US" dirty="0"/>
              <a:t>In addition to the </a:t>
            </a:r>
            <a:r>
              <a:rPr lang="en-US" dirty="0" err="1"/>
              <a:t>'cause</a:t>
            </a:r>
            <a:r>
              <a:rPr lang="en-US" dirty="0"/>
              <a:t> of claim' analyses performed by the CMI, there is potential to build on the profession's understanding of IP rates by researching UK population surveys and datasets.  </a:t>
            </a:r>
          </a:p>
          <a:p>
            <a:r>
              <a:rPr lang="en-US" dirty="0"/>
              <a:t> </a:t>
            </a:r>
          </a:p>
          <a:p>
            <a:r>
              <a:rPr lang="en-US" dirty="0"/>
              <a:t>As such, the </a:t>
            </a:r>
            <a:r>
              <a:rPr lang="en-US" dirty="0" err="1"/>
              <a:t>IFoA</a:t>
            </a:r>
            <a:r>
              <a:rPr lang="en-US" dirty="0"/>
              <a:t> set up a Working Party to explore the potential for external data sources (i.e. data not held by the CMI) to enhance the understanding of long-term sickness and recovery rates within national workforce population.  </a:t>
            </a:r>
          </a:p>
          <a:p>
            <a:r>
              <a:rPr lang="en-US" dirty="0"/>
              <a:t>The aim was to provide insights to the modelling of income protection portfolios and wider public health applications. </a:t>
            </a:r>
          </a:p>
        </p:txBody>
      </p:sp>
      <p:sp>
        <p:nvSpPr>
          <p:cNvPr id="4" name="Slide Number Placeholder 3"/>
          <p:cNvSpPr>
            <a:spLocks noGrp="1"/>
          </p:cNvSpPr>
          <p:nvPr>
            <p:ph type="sldNum" sz="quarter" idx="5"/>
          </p:nvPr>
        </p:nvSpPr>
        <p:spPr/>
        <p:txBody>
          <a:bodyPr/>
          <a:lstStyle/>
          <a:p>
            <a:fld id="{818DC993-C0AB-7145-A5E3-AB377573BF85}" type="slidenum">
              <a:rPr lang="en-US" smtClean="0"/>
              <a:t>4</a:t>
            </a:fld>
            <a:endParaRPr lang="en-US"/>
          </a:p>
        </p:txBody>
      </p:sp>
    </p:spTree>
    <p:extLst>
      <p:ext uri="{BB962C8B-B14F-4D97-AF65-F5344CB8AC3E}">
        <p14:creationId xmlns:p14="http://schemas.microsoft.com/office/powerpoint/2010/main" val="15064676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dirty="0"/>
              <a:t>SOURCE LINKS AND CALCULATIONS</a:t>
            </a:r>
          </a:p>
          <a:p>
            <a:endParaRPr dirty="0"/>
          </a:p>
          <a:p>
            <a:r>
              <a:rPr dirty="0"/>
              <a:t>1. ONS </a:t>
            </a:r>
            <a:r>
              <a:rPr dirty="0" err="1"/>
              <a:t>Labour</a:t>
            </a:r>
            <a:r>
              <a:rPr dirty="0"/>
              <a:t> Force Survey series LF69, Long Term Sick, UK ages 16–64, seasonally adjusted, thousands. Release 15 September 2026. Annual 2019: 2,046,000. Annual 2025: 2,792,000. Difference: 746,000.</a:t>
            </a:r>
          </a:p>
          <a:p>
            <a:r>
              <a:rPr dirty="0"/>
              <a:t>https://www.ons.gov.uk/employmentandlabourmarket/peoplenotinwork/economicinactivity/timeseries/lf69/lms</a:t>
            </a:r>
          </a:p>
          <a:p>
            <a:endParaRPr dirty="0"/>
          </a:p>
          <a:p>
            <a:r>
              <a:rPr dirty="0"/>
              <a:t>2. ONS LFS population aged 16–64 series LF2O, thousands. Same release. Annual 2019: 41,558,000. Annual 2025: 43,299,000. Increase: 1,741,000. Holding the aggregate 2019 sickness-inactivity rate constant gives 1,741,000 × (2,046,000 / 41,558,000) = about 85,714, rounded to 86,000 (11.5% of the increase). This is a counterfactual calculation, not an ONS causal estimate.</a:t>
            </a:r>
          </a:p>
          <a:p>
            <a:r>
              <a:rPr dirty="0"/>
              <a:t>https://www.ons.gov.uk/employmentandlabourmarket/peopleinwork/employmentandemployeetypes/timeseries/lf2o/lms</a:t>
            </a:r>
          </a:p>
          <a:p>
            <a:endParaRPr dirty="0"/>
          </a:p>
          <a:p>
            <a:r>
              <a:rPr dirty="0"/>
              <a:t>3. User-supplied demographic share 8.7%, described as extrapolated from 2019–2022. Its original source has not been verified. 746,000 × 8.7% = 64,902, rounded to 65,000.</a:t>
            </a:r>
          </a:p>
          <a:p>
            <a:r>
              <a:rPr dirty="0"/>
              <a:t>ONS (19 May 2023), Health, demographic and </a:t>
            </a:r>
            <a:r>
              <a:rPr dirty="0" err="1"/>
              <a:t>labour</a:t>
            </a:r>
            <a:r>
              <a:rPr dirty="0"/>
              <a:t> market influences on economic inactivity, UK: 2019 to 2022, estimates an age-structure effect for inactivity for ALL reasons. That analysis does not directly substantiate an 8.7% contribution to the increase due to long-term sickness.</a:t>
            </a:r>
          </a:p>
          <a:p>
            <a:r>
              <a:rPr dirty="0"/>
              <a:t>https://www.ons.gov.uk/employmentandlabourmarket/peoplenotinwork/economicinactivity/articles/healthdemographicandlabourmarketinfluencesoneconomicinactivityuk2019to2022/2023-05-19</a:t>
            </a:r>
          </a:p>
          <a:p>
            <a:endParaRPr dirty="0"/>
          </a:p>
          <a:p>
            <a:r>
              <a:rPr dirty="0"/>
              <a:t>Illustrative chart uses 86,000 + 64,902 + 595,098 = 746,000. The residual is approximately 595,000 or 79.8%. This assumes population size and demographic composition contributions can be treated separately and additively. The demographic source and its compatibility with this outcome need verification before presenting this as an established decomposition. The residual may encompass changes in health, employment conditions, reporting, measurement and other influences. It does not quantify worsening health alone.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18DC993-C0AB-7145-A5E3-AB377573BF85}" type="slidenum">
              <a:rPr lang="en-US" smtClean="0"/>
              <a:t>8</a:t>
            </a:fld>
            <a:endParaRPr lang="en-US"/>
          </a:p>
        </p:txBody>
      </p:sp>
    </p:spTree>
    <p:extLst>
      <p:ext uri="{BB962C8B-B14F-4D97-AF65-F5344CB8AC3E}">
        <p14:creationId xmlns:p14="http://schemas.microsoft.com/office/powerpoint/2010/main" val="41024480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18DC993-C0AB-7145-A5E3-AB377573BF85}" type="slidenum">
              <a:rPr lang="en-US" smtClean="0"/>
              <a:t>9</a:t>
            </a:fld>
            <a:endParaRPr lang="en-US"/>
          </a:p>
        </p:txBody>
      </p:sp>
    </p:spTree>
    <p:extLst>
      <p:ext uri="{BB962C8B-B14F-4D97-AF65-F5344CB8AC3E}">
        <p14:creationId xmlns:p14="http://schemas.microsoft.com/office/powerpoint/2010/main" val="32087171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GB"/>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lvl="0" indent="0">
              <a:buNone/>
            </a:pPr>
            <a:r>
              <a:t>Jon Minton, Knowledge Tree and Butterfly: one-line intro on taking over from Chris.</a:t>
            </a:r>
          </a:p>
          <a:p>
            <a:pPr marL="0" lvl="0" indent="0">
              <a:buNone/>
            </a:pPr>
            <a:endParaRPr/>
          </a:p>
          <a:p>
            <a:pPr marL="0" lvl="0" indent="0">
              <a:buNone/>
            </a:pPr>
            <a:r>
              <a:t>About 1.5 minutes. A reminder, not a lecture: everyone here has seen multi-state life tables. Panel (a) is the life table; (b) adds a state you can leave; (c) is the shape of the health-and-work problem. Double border = absorbing.</a:t>
            </a:r>
          </a:p>
          <a:p>
            <a:pPr marL="0" lvl="0" indent="0">
              <a:buNone/>
            </a:pPr>
            <a:endParaRPr/>
          </a:p>
          <a:p>
            <a:pPr marL="0" lvl="0" indent="0">
              <a:buNone/>
            </a:pPr>
            <a:r>
              <a:t>Retirement: “Hotel California”: you can check out any time you like, but you can never leave. In the model it is one-way; in life people do unretire, and pension-age policy cares about exactly that.</a:t>
            </a:r>
          </a:p>
          <a:p/>
          <a:p>
            <a:r>
              <a:t>REMINDER (Jon): unpack HWLE here, briefly, and say David defines it fully in his section. From a modelling perspective there are three ways to bound 'working life'. They are conceptually similar but get thought about slightly differently: (1) treat retirement as an absorbing state, like death, so time stops accruing once someone retires; (2) count only the time accumulated in the feeder states (working, sick) on the way to retirement; (3) only consider paths that start and end within working age (e.g. 50 to 65). David's model starts everyone working and retires everyone at 65, so it sits closest to (1) and (3).</a:t>
            </a:r>
          </a:p>
        </p:txBody>
      </p:sp>
      <p:sp>
        <p:nvSpPr>
          <p:cNvPr id="4" name="Slide Number Placeholder 3"/>
          <p:cNvSpPr>
            <a:spLocks noGrp="1"/>
          </p:cNvSpPr>
          <p:nvPr>
            <p:ph type="sldNum" sz="quarter" idx="10"/>
          </p:nvPr>
        </p:nvSpPr>
        <p:spPr/>
        <p:txBody>
          <a:bodyPr/>
          <a:lstStyle/>
          <a:p>
            <a:fld id="{818DC993-C0AB-7145-A5E3-AB377573BF85}" type="slidenum">
              <a:rPr lang="en-US"/>
              <a:t>13</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lvl="0" indent="0">
              <a:buNone/>
            </a:pPr>
            <a:r>
              <a:t>About 1.5 minutes. The point for this audience: health economists and actuaries build the same kind of model and ask different questions of it. Health economics attaches utilities and costs to states to decide what to fund; actuaries attach durations and money to states to price and reserve. Working-age ill health is a place where both questions matter: the policy question (Keep Britain Working, from Chris) and the insurance question (David’s section).</a:t>
            </a:r>
          </a:p>
        </p:txBody>
      </p:sp>
      <p:sp>
        <p:nvSpPr>
          <p:cNvPr id="4" name="Slide Number Placeholder 3"/>
          <p:cNvSpPr>
            <a:spLocks noGrp="1"/>
          </p:cNvSpPr>
          <p:nvPr>
            <p:ph type="sldNum" sz="quarter" idx="10"/>
          </p:nvPr>
        </p:nvSpPr>
        <p:spPr/>
        <p:txBody>
          <a:bodyPr/>
          <a:lstStyle/>
          <a:p>
            <a:fld id="{818DC993-C0AB-7145-A5E3-AB377573BF85}" type="slidenum">
              <a:rPr lang="en-US"/>
              <a:t>14</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lvl="0" indent="0">
              <a:buNone/>
            </a:pPr>
            <a:r>
              <a:t>About 2 minutes, ending on the hand-off. Survey data are the only view of the whole population, which is why every published UK HWLE estimate so far uses them (ELSA: Lynch 2022, Parker 2020; supplement). But annual waves mean the model can only be a one-year Markov chain: what happened between interviews is invisible, and there is no clock on how long someone has been sick. Actuarial time-to-event data give dated claim inceptions and recoveries, with recovery depending on how long the claim has run. Hand over: “David will show what that buys us: healthy working life expectancy from CMI income protection experience.”</a:t>
            </a:r>
          </a:p>
        </p:txBody>
      </p:sp>
      <p:sp>
        <p:nvSpPr>
          <p:cNvPr id="4" name="Slide Number Placeholder 3"/>
          <p:cNvSpPr>
            <a:spLocks noGrp="1"/>
          </p:cNvSpPr>
          <p:nvPr>
            <p:ph type="sldNum" sz="quarter" idx="10"/>
          </p:nvPr>
        </p:nvSpPr>
        <p:spPr/>
        <p:txBody>
          <a:bodyPr/>
          <a:lstStyle/>
          <a:p>
            <a:fld id="{818DC993-C0AB-7145-A5E3-AB377573BF85}" type="slidenum">
              <a:rPr lang="en-US"/>
              <a:t>15</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78141-F109-5883-3F7E-9701CE9445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E095DC-BA8F-267E-0334-7D37C74EFB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7F9932-3E63-22BC-DA88-730A5F82FF55}"/>
              </a:ext>
            </a:extLst>
          </p:cNvPr>
          <p:cNvSpPr>
            <a:spLocks noGrp="1"/>
          </p:cNvSpPr>
          <p:nvPr>
            <p:ph type="body" idx="1"/>
          </p:nvPr>
        </p:nvSpPr>
        <p:spPr/>
        <p:txBody>
          <a:bodyPr/>
          <a:lstStyle/>
          <a:p>
            <a:r>
              <a:rPr lang="en-US" dirty="0"/>
              <a:t>Similar concepts, including 'expectation of disease-free-life' and 'working life expectancy', were presented in the actuarial literature in earlier decades</a:t>
            </a:r>
          </a:p>
          <a:p>
            <a:r>
              <a:rPr lang="en-US" dirty="0"/>
              <a:t>Many examples in the Journal of the Institute of Actuaries from the 1970s to the 1990s (Pollard, 1980) and (Haberman and Bloomfield, 1990). </a:t>
            </a:r>
          </a:p>
          <a:p>
            <a:r>
              <a:rPr lang="en-US" dirty="0"/>
              <a:t>For example, analysis of 'expectation of disease-free life’ , including specific diseases such as 'expectation of breast-cancer-free life' was presented by Pollard (Pollard, 1980).  </a:t>
            </a:r>
          </a:p>
          <a:p>
            <a:r>
              <a:rPr lang="en-US" dirty="0"/>
              <a:t>Derivations of 'average duration of sickness' (Haberman, 1987) and development of methods for calculating 'working life expectancy' (Haberman and Bloomfield, 1990) were also published.</a:t>
            </a:r>
          </a:p>
          <a:p>
            <a:endParaRPr lang="en-US" dirty="0"/>
          </a:p>
          <a:p>
            <a:r>
              <a:rPr lang="en-US" dirty="0"/>
              <a:t>This coincides with the beginning of the Continuous Mortality Investigation (CMI) starting to investigate Income Protection experience.  </a:t>
            </a:r>
          </a:p>
          <a:p>
            <a:r>
              <a:rPr lang="en-US" dirty="0"/>
              <a:t>The CMI has collected data from its contributors (UK life insurers) since the 1970’s (“landmark publication” : </a:t>
            </a:r>
            <a:r>
              <a:rPr lang="en-US" dirty="0" err="1"/>
              <a:t>IFoA</a:t>
            </a:r>
            <a:r>
              <a:rPr lang="en-US" dirty="0"/>
              <a:t> CMI Report 12, 1991) on the sickness and claims incidence of individual income protection (IP) portfolios. </a:t>
            </a:r>
          </a:p>
          <a:p>
            <a:r>
              <a:rPr lang="en-US" dirty="0"/>
              <a:t>This was the forerunner to the IP investigations.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it has long been recognized that HWLE and similar metrics are of interest to actuaries and life and health insurers.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E.g. HWLE  could be a useful benchmark for life and health insurers when developing new life insurance products such as disability income protection and pensions savings contracts.  </a:t>
            </a:r>
          </a:p>
          <a:p>
            <a:endParaRPr lang="en-GB" dirty="0"/>
          </a:p>
        </p:txBody>
      </p:sp>
      <p:sp>
        <p:nvSpPr>
          <p:cNvPr id="4" name="Slide Number Placeholder 3">
            <a:extLst>
              <a:ext uri="{FF2B5EF4-FFF2-40B4-BE49-F238E27FC236}">
                <a16:creationId xmlns:a16="http://schemas.microsoft.com/office/drawing/2014/main" id="{2AA4242C-C3DD-1034-44B0-9E7B77F72593}"/>
              </a:ext>
            </a:extLst>
          </p:cNvPr>
          <p:cNvSpPr>
            <a:spLocks noGrp="1"/>
          </p:cNvSpPr>
          <p:nvPr>
            <p:ph type="sldNum" sz="quarter" idx="5"/>
          </p:nvPr>
        </p:nvSpPr>
        <p:spPr/>
        <p:txBody>
          <a:bodyPr/>
          <a:lstStyle/>
          <a:p>
            <a:fld id="{818DC993-C0AB-7145-A5E3-AB377573BF85}" type="slidenum">
              <a:rPr lang="en-US" smtClean="0"/>
              <a:t>17</a:t>
            </a:fld>
            <a:endParaRPr lang="en-US"/>
          </a:p>
        </p:txBody>
      </p:sp>
    </p:spTree>
    <p:extLst>
      <p:ext uri="{BB962C8B-B14F-4D97-AF65-F5344CB8AC3E}">
        <p14:creationId xmlns:p14="http://schemas.microsoft.com/office/powerpoint/2010/main" val="18560021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Methods for Healthy Life Expectancy described in the 1960s and 1970s.</a:t>
            </a:r>
          </a:p>
          <a:p>
            <a:r>
              <a:rPr lang="en-US" dirty="0"/>
              <a:t>Sullivan developed a method for combining disease prevalence data with life tables to derive Healthy Life Expectancy (not considering work capacity).</a:t>
            </a:r>
          </a:p>
          <a:p>
            <a:r>
              <a:rPr lang="en-US" dirty="0"/>
              <a:t>The term ‘Healthy Working Life Expectancy’ (HWLE) first appears in the literature in 2007 (Lièvre et al. 2007).</a:t>
            </a:r>
          </a:p>
          <a:p>
            <a:r>
              <a:rPr lang="en-US" dirty="0"/>
              <a:t>It has been the focus of many public health / health economics papers since then and is becoming more common as a metric for indicating the health and potential productivity of a population.</a:t>
            </a:r>
          </a:p>
          <a:p>
            <a:r>
              <a:rPr lang="en-US" dirty="0"/>
              <a:t>Many papers not shown on the slide here as we have picked out just some of the recent ones focusing on the UK.</a:t>
            </a:r>
          </a:p>
          <a:p>
            <a:r>
              <a:rPr lang="en-US" dirty="0"/>
              <a:t>But some examples during the years in between for other countries.</a:t>
            </a:r>
          </a:p>
          <a:p>
            <a:r>
              <a:rPr lang="en-US" dirty="0"/>
              <a:t>It is a useful indicator for a number of public health and policy areas.  </a:t>
            </a:r>
          </a:p>
          <a:p>
            <a:r>
              <a:rPr lang="en-US" dirty="0"/>
              <a:t>In recent years it has been presented as a measure for assessing the appropriateness of increasing retirement ages and for the adequacy of national social security policy-making (Parker et al. 2020b). </a:t>
            </a:r>
          </a:p>
          <a:p>
            <a:r>
              <a:rPr lang="en-US" dirty="0"/>
              <a:t>It could also be a useful metric for public health planning and developing and measuring the success of strategic plans for national health services. </a:t>
            </a:r>
          </a:p>
          <a:p>
            <a:endParaRPr lang="en-US" dirty="0"/>
          </a:p>
          <a:p>
            <a:r>
              <a:rPr lang="en-US" dirty="0"/>
              <a:t>Similar concepts had been presented in actuarial journals and other literature decades earlier</a:t>
            </a:r>
            <a:r>
              <a:rPr lang="en-GB" dirty="0"/>
              <a:t>.</a:t>
            </a:r>
            <a:endParaRPr lang="en-US" dirty="0"/>
          </a:p>
        </p:txBody>
      </p:sp>
      <p:sp>
        <p:nvSpPr>
          <p:cNvPr id="4" name="Slide Number Placeholder 3"/>
          <p:cNvSpPr>
            <a:spLocks noGrp="1"/>
          </p:cNvSpPr>
          <p:nvPr>
            <p:ph type="sldNum" sz="quarter" idx="5"/>
          </p:nvPr>
        </p:nvSpPr>
        <p:spPr/>
        <p:txBody>
          <a:bodyPr/>
          <a:lstStyle/>
          <a:p>
            <a:fld id="{818DC993-C0AB-7145-A5E3-AB377573BF85}" type="slidenum">
              <a:rPr lang="en-US" smtClean="0"/>
              <a:t>18</a:t>
            </a:fld>
            <a:endParaRPr lang="en-US"/>
          </a:p>
        </p:txBody>
      </p:sp>
    </p:spTree>
    <p:extLst>
      <p:ext uri="{BB962C8B-B14F-4D97-AF65-F5344CB8AC3E}">
        <p14:creationId xmlns:p14="http://schemas.microsoft.com/office/powerpoint/2010/main" val="20055600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Insurance applications</a:t>
            </a:r>
          </a:p>
          <a:p>
            <a:r>
              <a:rPr lang="en-US" dirty="0"/>
              <a:t>It allows population survey-based estimates of HWLE, WLE, HWPLE or WPLE to act as benchmarks for the HWPLE derived from life insurance portfolios which can help to refine income protection insurance modelling assumptions, pensions savings scheme projections, or develop modelling assumptions for new life insurance customer segments.</a:t>
            </a:r>
          </a:p>
          <a:p>
            <a:r>
              <a:rPr lang="en-US" dirty="0"/>
              <a:t>For example, insurers aiming to develop income protection contracts for new population segments can use estimates of HWPLE for segments with distinct health characteristics or distinct occupations to inform their pricing assumptions. </a:t>
            </a:r>
          </a:p>
          <a:p>
            <a:r>
              <a:rPr lang="en-US" dirty="0"/>
              <a:t>Insurers with existing portfolios of IP contracts can update their assumptions for claim inception rates and recovery rates by calculating HWPLE for their existing assumptions and comparing these with population trends of HWPLE.</a:t>
            </a:r>
          </a:p>
          <a:p>
            <a:r>
              <a:rPr lang="en-US" dirty="0"/>
              <a:t>HWPLE can act as a useful and easily understood descriptive statistic for describing morbidity bases.  </a:t>
            </a:r>
          </a:p>
          <a:p>
            <a:r>
              <a:rPr lang="en-US" dirty="0"/>
              <a:t>From one time period to another or from one population segment to another, the HWPLE offers a meaningful statistic that can be used to compare bases. </a:t>
            </a:r>
          </a:p>
          <a:p>
            <a:r>
              <a:rPr lang="en-US" dirty="0"/>
              <a:t>It can be understood intuitively.  </a:t>
            </a:r>
          </a:p>
          <a:p>
            <a:r>
              <a:rPr lang="en-US" dirty="0"/>
              <a:t>For example, the mortality rates in the basis can be set the same for different segments and then segment-specific sickness inception and recovery rates applied.  </a:t>
            </a:r>
          </a:p>
          <a:p>
            <a:r>
              <a:rPr lang="en-US" dirty="0"/>
              <a:t>The HWPLE then offers an indication of the relative difference of the sickness and recovery rates.</a:t>
            </a:r>
          </a:p>
          <a:p>
            <a:endParaRPr lang="en-US" dirty="0"/>
          </a:p>
          <a:p>
            <a:endParaRPr lang="en-US" dirty="0"/>
          </a:p>
          <a:p>
            <a:r>
              <a:rPr lang="en-US" dirty="0"/>
              <a:t>Health Economics applications</a:t>
            </a:r>
          </a:p>
          <a:p>
            <a:r>
              <a:rPr lang="en-US" dirty="0"/>
              <a:t>clearly a number of uses</a:t>
            </a:r>
          </a:p>
          <a:p>
            <a:r>
              <a:rPr lang="en-US" dirty="0"/>
              <a:t>For pensions provision, it provides a view on how many years people will be actively working and therefore able to make regular contributions to a pension savings scheme.  Current pension scheme projections of retirement benefits are typically based on the expectation that people will work uninterrupted from now until the State Pension Age.  In reality, this is not true for many people.  HWPLE offers a method to adjust pension projections to a more realistic level, allowing for the expectation that there will be periods of sickness during a working lifetime which may be mean periods of reduced income, and therefore allow people to make more informed decisions about their retirement provisions.</a:t>
            </a:r>
          </a:p>
          <a:p>
            <a:endParaRPr lang="en-US" dirty="0"/>
          </a:p>
          <a:p>
            <a:endParaRPr lang="en-US" dirty="0"/>
          </a:p>
          <a:p>
            <a:endParaRPr lang="en-GB" dirty="0"/>
          </a:p>
        </p:txBody>
      </p:sp>
      <p:sp>
        <p:nvSpPr>
          <p:cNvPr id="4" name="Slide Number Placeholder 3"/>
          <p:cNvSpPr>
            <a:spLocks noGrp="1"/>
          </p:cNvSpPr>
          <p:nvPr>
            <p:ph type="sldNum" sz="quarter" idx="5"/>
          </p:nvPr>
        </p:nvSpPr>
        <p:spPr/>
        <p:txBody>
          <a:bodyPr/>
          <a:lstStyle/>
          <a:p>
            <a:fld id="{818DC993-C0AB-7145-A5E3-AB377573BF85}" type="slidenum">
              <a:rPr lang="en-US" smtClean="0"/>
              <a:t>19</a:t>
            </a:fld>
            <a:endParaRPr lang="en-US"/>
          </a:p>
        </p:txBody>
      </p:sp>
    </p:spTree>
    <p:extLst>
      <p:ext uri="{BB962C8B-B14F-4D97-AF65-F5344CB8AC3E}">
        <p14:creationId xmlns:p14="http://schemas.microsoft.com/office/powerpoint/2010/main" val="15859103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here is the multi-state model we settled on in the Healthy Workforce WP for our first version, and the initial </a:t>
            </a:r>
            <a:r>
              <a:rPr lang="en-GB" dirty="0" err="1"/>
              <a:t>parameterisation</a:t>
            </a:r>
            <a:r>
              <a:rPr lang="en-GB" dirty="0"/>
              <a:t>.</a:t>
            </a:r>
          </a:p>
          <a:p>
            <a:r>
              <a:rPr lang="en-GB" dirty="0"/>
              <a:t>4 states and 7 transitions between them.</a:t>
            </a:r>
          </a:p>
          <a:p>
            <a:r>
              <a:rPr lang="en-GB" dirty="0"/>
              <a:t>Model</a:t>
            </a:r>
          </a:p>
          <a:p>
            <a:r>
              <a:rPr lang="en-GB" dirty="0"/>
              <a:t>Despite there being well-established notation conventions for such models, we introduced new notation in order to distinguish from the CMI multi-state model.</a:t>
            </a:r>
          </a:p>
          <a:p>
            <a:endParaRPr lang="en-GB" dirty="0"/>
          </a:p>
          <a:p>
            <a:r>
              <a:rPr lang="en-GB" dirty="0"/>
              <a:t>Parameterising the model with transition rates:</a:t>
            </a:r>
          </a:p>
          <a:p>
            <a:r>
              <a:rPr lang="en-GB" dirty="0"/>
              <a:t>We are using CMI claim inception rates as a proxy for sickness inception rates.</a:t>
            </a:r>
          </a:p>
          <a:p>
            <a:r>
              <a:rPr lang="en-GB" dirty="0"/>
              <a:t>Recovery rates back to the Working state are CMI rates for recoveries from claim state.</a:t>
            </a:r>
          </a:p>
          <a:p>
            <a:r>
              <a:rPr lang="en-GB" dirty="0"/>
              <a:t>Mortality rates for deaths from the Working and Retired states based on UK population data.</a:t>
            </a:r>
          </a:p>
          <a:p>
            <a:r>
              <a:rPr lang="en-GB" dirty="0"/>
              <a:t>Retirement rates set to be 1 at age 65 and 0 at all other ages. This can be varied in future iterations: e.g. to allow for early retirements, late retirements and extending the normal retirement age.</a:t>
            </a:r>
          </a:p>
          <a:p>
            <a:endParaRPr lang="en-GB" dirty="0"/>
          </a:p>
          <a:p>
            <a:r>
              <a:rPr lang="en-GB" dirty="0"/>
              <a:t>As the CMI rates are derived from income protection portfolios, the initial state is people who are working.</a:t>
            </a:r>
          </a:p>
          <a:p>
            <a:r>
              <a:rPr lang="en-GB" dirty="0"/>
              <a:t>Their health status is unknown except to the extent that they are sufficiently healthy to work.</a:t>
            </a:r>
          </a:p>
          <a:p>
            <a:r>
              <a:rPr lang="en-GB" dirty="0"/>
              <a:t>However, for the purpose of the demonstration, we refer to them as Healthy and Working.</a:t>
            </a:r>
          </a:p>
          <a:p>
            <a:r>
              <a:rPr lang="en-GB" dirty="0"/>
              <a:t>The Not-Healthy-Not-Working state is people who have paused working due to health reasons.</a:t>
            </a:r>
          </a:p>
          <a:p>
            <a:endParaRPr lang="en-GB" dirty="0"/>
          </a:p>
          <a:p>
            <a:r>
              <a:rPr lang="en-GB" dirty="0"/>
              <a:t>Advantages of this 4-state model</a:t>
            </a:r>
          </a:p>
          <a:p>
            <a:r>
              <a:rPr lang="en-GB" dirty="0"/>
              <a:t>duration-dependent recovery rates</a:t>
            </a:r>
          </a:p>
          <a:p>
            <a:r>
              <a:rPr lang="en-GB" dirty="0"/>
              <a:t>explicit allowance for retirement age</a:t>
            </a:r>
          </a:p>
          <a:p>
            <a:endParaRPr lang="en-GB" dirty="0"/>
          </a:p>
          <a:p>
            <a:r>
              <a:rPr lang="en-GB" dirty="0"/>
              <a:t>Disadvantages of this 4-state model</a:t>
            </a:r>
          </a:p>
          <a:p>
            <a:r>
              <a:rPr lang="en-GB" dirty="0"/>
              <a:t>currently limited data in the UK beyond insured populations</a:t>
            </a:r>
          </a:p>
          <a:p>
            <a:r>
              <a:rPr lang="en-GB" dirty="0"/>
              <a:t>CMI claim inception rates used as a proxy for sickness rates </a:t>
            </a:r>
          </a:p>
          <a:p>
            <a:r>
              <a:rPr lang="en-GB" dirty="0"/>
              <a:t>However, if we are interested only in long-term sickness and happy to ignore sickness where the recovery was within 4 weeks then this is not such a bad approximation,</a:t>
            </a:r>
          </a:p>
        </p:txBody>
      </p:sp>
      <p:sp>
        <p:nvSpPr>
          <p:cNvPr id="4" name="Slide Number Placeholder 3"/>
          <p:cNvSpPr>
            <a:spLocks noGrp="1"/>
          </p:cNvSpPr>
          <p:nvPr>
            <p:ph type="sldNum" sz="quarter" idx="5"/>
          </p:nvPr>
        </p:nvSpPr>
        <p:spPr/>
        <p:txBody>
          <a:bodyPr/>
          <a:lstStyle/>
          <a:p>
            <a:fld id="{818DC993-C0AB-7145-A5E3-AB377573BF85}" type="slidenum">
              <a:rPr lang="en-US" smtClean="0"/>
              <a:t>20</a:t>
            </a:fld>
            <a:endParaRPr lang="en-US"/>
          </a:p>
        </p:txBody>
      </p:sp>
    </p:spTree>
    <p:extLst>
      <p:ext uri="{BB962C8B-B14F-4D97-AF65-F5344CB8AC3E}">
        <p14:creationId xmlns:p14="http://schemas.microsoft.com/office/powerpoint/2010/main" val="31507783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here are some preliminary results. (using the CMI IP11 rates for Deferred Period 4 weeks and Occupation Class 1)</a:t>
            </a:r>
          </a:p>
          <a:p>
            <a:r>
              <a:rPr lang="en-GB" dirty="0"/>
              <a:t>The multi-state model in this example is initiated with all lives in the Working State, 100’000 lives, and aged exactly 50 at time zero.</a:t>
            </a:r>
          </a:p>
          <a:p>
            <a:r>
              <a:rPr lang="en-GB" dirty="0"/>
              <a:t>It generates a life table as shown.</a:t>
            </a:r>
          </a:p>
          <a:p>
            <a:r>
              <a:rPr lang="en-GB" dirty="0"/>
              <a:t>which can be visualised like this… [move to next slide showing the chart]</a:t>
            </a:r>
          </a:p>
          <a:p>
            <a:endParaRPr lang="en-GB" dirty="0"/>
          </a:p>
        </p:txBody>
      </p:sp>
      <p:sp>
        <p:nvSpPr>
          <p:cNvPr id="4" name="Slide Number Placeholder 3"/>
          <p:cNvSpPr>
            <a:spLocks noGrp="1"/>
          </p:cNvSpPr>
          <p:nvPr>
            <p:ph type="sldNum" sz="quarter" idx="5"/>
          </p:nvPr>
        </p:nvSpPr>
        <p:spPr/>
        <p:txBody>
          <a:bodyPr/>
          <a:lstStyle/>
          <a:p>
            <a:fld id="{818DC993-C0AB-7145-A5E3-AB377573BF85}" type="slidenum">
              <a:rPr lang="en-US" smtClean="0"/>
              <a:t>21</a:t>
            </a:fld>
            <a:endParaRPr lang="en-US"/>
          </a:p>
        </p:txBody>
      </p:sp>
    </p:spTree>
    <p:extLst>
      <p:ext uri="{BB962C8B-B14F-4D97-AF65-F5344CB8AC3E}">
        <p14:creationId xmlns:p14="http://schemas.microsoft.com/office/powerpoint/2010/main" val="3397304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537BF-51CA-1416-6DE3-3E73997F2B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862E8A-0878-A542-5E39-304CC594FD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D15434-68D7-1755-087E-7AF09350EAA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which can be visualised like this… [move to next slide showing the chart]</a:t>
            </a:r>
          </a:p>
          <a:p>
            <a:endParaRPr lang="en-GB" dirty="0"/>
          </a:p>
          <a:p>
            <a:r>
              <a:rPr lang="en-GB" dirty="0"/>
              <a:t>The 100’000 lives transition in and out of the not-healthy-not-working state from age 50 up to age 65.</a:t>
            </a:r>
          </a:p>
          <a:p>
            <a:r>
              <a:rPr lang="en-GB" dirty="0"/>
              <a:t>At age 65, all working and all not-healthy-not-working lives start transition to the Retired state during that year.</a:t>
            </a:r>
          </a:p>
          <a:p>
            <a:r>
              <a:rPr lang="en-GB" dirty="0"/>
              <a:t>(In raw results, there might be some spillage of retirements into age 66 due to multiple-decrement approximations)</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(using the CMI IP11 rates for Deferred Period 4 weeks and Occupation Class 1)</a:t>
            </a:r>
          </a:p>
          <a:p>
            <a:r>
              <a:rPr lang="en-GB" dirty="0"/>
              <a:t>Explain HWPLE and NNPLE</a:t>
            </a:r>
          </a:p>
          <a:p>
            <a:r>
              <a:rPr lang="en-GB" dirty="0"/>
              <a:t>P = Partial</a:t>
            </a:r>
          </a:p>
          <a:p>
            <a:r>
              <a:rPr lang="en-GB" dirty="0"/>
              <a:t>NN is shorthand for NHNW</a:t>
            </a:r>
          </a:p>
          <a:p>
            <a:endParaRPr lang="en-GB" dirty="0"/>
          </a:p>
          <a:p>
            <a:r>
              <a:rPr lang="en-GB" dirty="0"/>
              <a:t>From the generated life table, it is then straightforward to calculate the expected time spent in each state.</a:t>
            </a:r>
          </a:p>
          <a:p>
            <a:r>
              <a:rPr lang="en-GB" dirty="0"/>
              <a:t>Given that the model is parameterised for everyone to retire at age 65 then the maximum possible HWLE would be 15 years.</a:t>
            </a:r>
          </a:p>
          <a:p>
            <a:r>
              <a:rPr lang="en-GB" dirty="0"/>
              <a:t>Our preliminary results (as a reminder based on CMI IP11 transition rates and UK population mortality) indicates:</a:t>
            </a:r>
          </a:p>
          <a:p>
            <a:r>
              <a:rPr lang="en-GB" dirty="0"/>
              <a:t>HWLE = 13.5 years</a:t>
            </a:r>
          </a:p>
          <a:p>
            <a:r>
              <a:rPr lang="en-GB" dirty="0"/>
              <a:t>NNLE = 0.91 years</a:t>
            </a:r>
          </a:p>
          <a:p>
            <a:r>
              <a:rPr lang="en-GB" dirty="0"/>
              <a:t>The gap to 15 years relates to the deaths.</a:t>
            </a:r>
          </a:p>
        </p:txBody>
      </p:sp>
      <p:sp>
        <p:nvSpPr>
          <p:cNvPr id="4" name="Slide Number Placeholder 3">
            <a:extLst>
              <a:ext uri="{FF2B5EF4-FFF2-40B4-BE49-F238E27FC236}">
                <a16:creationId xmlns:a16="http://schemas.microsoft.com/office/drawing/2014/main" id="{C2CFECD4-BBAB-715A-DD31-3C3B273E015D}"/>
              </a:ext>
            </a:extLst>
          </p:cNvPr>
          <p:cNvSpPr>
            <a:spLocks noGrp="1"/>
          </p:cNvSpPr>
          <p:nvPr>
            <p:ph type="sldNum" sz="quarter" idx="5"/>
          </p:nvPr>
        </p:nvSpPr>
        <p:spPr/>
        <p:txBody>
          <a:bodyPr/>
          <a:lstStyle/>
          <a:p>
            <a:fld id="{818DC993-C0AB-7145-A5E3-AB377573BF85}" type="slidenum">
              <a:rPr lang="en-US" smtClean="0"/>
              <a:t>22</a:t>
            </a:fld>
            <a:endParaRPr lang="en-US"/>
          </a:p>
        </p:txBody>
      </p:sp>
    </p:spTree>
    <p:extLst>
      <p:ext uri="{BB962C8B-B14F-4D97-AF65-F5344CB8AC3E}">
        <p14:creationId xmlns:p14="http://schemas.microsoft.com/office/powerpoint/2010/main" val="16336342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 are examples of our initial results, which aim to demonstrate the proof-of-concept of using administrative data to make estimates of HWLE.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Observations </a:t>
            </a:r>
            <a:r>
              <a:rPr lang="en-GB" dirty="0"/>
              <a:t>applying to both females and males:</a:t>
            </a:r>
            <a:r>
              <a:rPr lang="en-US" dirty="0"/>
              <a:t> (align with intuition) </a:t>
            </a:r>
            <a:r>
              <a:rPr lang="en-GB" dirty="0"/>
              <a:t>(using the CMI IP11 rates for Deferred Period 4 weeks and Occupation Class 1)</a:t>
            </a:r>
          </a:p>
          <a:p>
            <a:r>
              <a:rPr lang="en-US" dirty="0"/>
              <a:t>HWPLE decreases as starting age increases (obviously); </a:t>
            </a:r>
          </a:p>
          <a:p>
            <a:r>
              <a:rPr lang="en-US" dirty="0"/>
              <a:t>NNPLE decreases as starting age increases but proportionally less so than HWPLE;</a:t>
            </a:r>
          </a:p>
          <a:p>
            <a:r>
              <a:rPr lang="en-US" dirty="0"/>
              <a:t>The proportion of the working life to age 65 spent in the NN state is higher at older starting ages.</a:t>
            </a:r>
          </a:p>
          <a:p>
            <a:endParaRPr lang="en-GB" dirty="0"/>
          </a:p>
          <a:p>
            <a:r>
              <a:rPr lang="en-US" dirty="0"/>
              <a:t>A 20-year-old woman has 42.4 years HWPLE and 1.3 years NNPLE, meaning they spend 94% of their working lifetime to age 65 in the working state and 3% of their working lifetime in the NN state.</a:t>
            </a:r>
          </a:p>
          <a:p>
            <a:endParaRPr lang="en-US" dirty="0"/>
          </a:p>
          <a:p>
            <a:r>
              <a:rPr lang="en-US" dirty="0"/>
              <a:t>A 50-year-old woman has 13.5 years HWPLE and 0.9 years NNPLE, meaning they spend 90% of their working lifetime to age 65 in the working state and 6% of their working lifetime in the NN state.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20-year-old man has 42.2 years HWPLE and 0.9 years NNPLE, meaning they spend 94% of their working lifetime to age 65 in the working state and 2% of their working lifetime in the NN state.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50-year-old man has 13.7 years HWPLE and 0.6 years NNPLE, meaning they spend 91% of their working lifetime to age 65 in the working state and 4% of their working lifetime in the NN state.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818DC993-C0AB-7145-A5E3-AB377573BF85}" type="slidenum">
              <a:rPr lang="en-US" smtClean="0"/>
              <a:t>23</a:t>
            </a:fld>
            <a:endParaRPr lang="en-US"/>
          </a:p>
        </p:txBody>
      </p:sp>
    </p:spTree>
    <p:extLst>
      <p:ext uri="{BB962C8B-B14F-4D97-AF65-F5344CB8AC3E}">
        <p14:creationId xmlns:p14="http://schemas.microsoft.com/office/powerpoint/2010/main" val="23483838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2AF58-5194-6C89-CE38-744B8ECC69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32EB59-6682-0B29-3D95-7C346C980F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280173-599F-B5A0-2EB3-5C9D23F740F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Here is a summary showing the average of female and male results at selected ages.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and summary of observations described previously.</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Highlight the result for age 50 as that is used for comparison with outputs of other studies</a:t>
            </a:r>
          </a:p>
        </p:txBody>
      </p:sp>
      <p:sp>
        <p:nvSpPr>
          <p:cNvPr id="4" name="Slide Number Placeholder 3">
            <a:extLst>
              <a:ext uri="{FF2B5EF4-FFF2-40B4-BE49-F238E27FC236}">
                <a16:creationId xmlns:a16="http://schemas.microsoft.com/office/drawing/2014/main" id="{2D9B5F3E-4406-7253-1B38-A04CB1239836}"/>
              </a:ext>
            </a:extLst>
          </p:cNvPr>
          <p:cNvSpPr>
            <a:spLocks noGrp="1"/>
          </p:cNvSpPr>
          <p:nvPr>
            <p:ph type="sldNum" sz="quarter" idx="5"/>
          </p:nvPr>
        </p:nvSpPr>
        <p:spPr/>
        <p:txBody>
          <a:bodyPr/>
          <a:lstStyle/>
          <a:p>
            <a:fld id="{818DC993-C0AB-7145-A5E3-AB377573BF85}" type="slidenum">
              <a:rPr lang="en-US" smtClean="0"/>
              <a:t>24</a:t>
            </a:fld>
            <a:endParaRPr lang="en-US"/>
          </a:p>
        </p:txBody>
      </p:sp>
    </p:spTree>
    <p:extLst>
      <p:ext uri="{BB962C8B-B14F-4D97-AF65-F5344CB8AC3E}">
        <p14:creationId xmlns:p14="http://schemas.microsoft.com/office/powerpoint/2010/main" val="30890987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Much of the literature focusses on a single starting age for calculating HWLE and this is typically chosen to be age 50. </a:t>
            </a:r>
          </a:p>
          <a:p>
            <a:r>
              <a:rPr lang="en-US" dirty="0"/>
              <a:t>Furthermore, they are based on population survey data and not a specific cohort, such as those people who are currently working.  </a:t>
            </a:r>
          </a:p>
          <a:p>
            <a:r>
              <a:rPr lang="en-US" dirty="0"/>
              <a:t>As such, there are only a small number of comparable results in the literature and, even those are not exactly like-for-like.</a:t>
            </a:r>
          </a:p>
          <a:p>
            <a:r>
              <a:rPr lang="en-US" dirty="0"/>
              <a:t>The most comparable work identified is that of Parker et al. (Parker et al. 2020b), who developed estimates of HWLE for lives starting at age 50. </a:t>
            </a:r>
          </a:p>
          <a:p>
            <a:r>
              <a:rPr lang="en-US" dirty="0"/>
              <a:t>That work was based on a representative sample of the UK population aged 50 and older.  </a:t>
            </a:r>
          </a:p>
          <a:p>
            <a:r>
              <a:rPr lang="en-US" dirty="0"/>
              <a:t>Most of their results presented show the average time spent in each of 4 healthy/working states from age 50 onwards. </a:t>
            </a:r>
          </a:p>
          <a:p>
            <a:r>
              <a:rPr lang="en-US" dirty="0"/>
              <a:t>This means that retirement is not considered and also that lives can be in any of the 4 states at age 50, unlike in our modelling in which all lives start in the Working state.  </a:t>
            </a:r>
          </a:p>
          <a:p>
            <a:r>
              <a:rPr lang="en-US" dirty="0"/>
              <a:t>Parker does present some results for lives starting in the Healthy and Working state at age 50.  </a:t>
            </a:r>
          </a:p>
          <a:p>
            <a:r>
              <a:rPr lang="en-US" dirty="0"/>
              <a:t>"People who were healthy and in work at age 50 years had a healthy working life expectancy of 10·81 years…" </a:t>
            </a:r>
          </a:p>
          <a:p>
            <a:endParaRPr lang="en-US" dirty="0"/>
          </a:p>
          <a:p>
            <a:r>
              <a:rPr lang="en-US" dirty="0"/>
              <a:t>From this, we can infer that the Healthy Working Partial Life Expectancy most comparable to our result is (the sum of HWLE and Not-Healthy but in Work LE)), meaning 10.81 + 1.67 = 12.48 years.  </a:t>
            </a:r>
          </a:p>
          <a:p>
            <a:r>
              <a:rPr lang="en-US" dirty="0"/>
              <a:t>This compares to our results of 13.6 years (OC1), 13.8 years (OC2), 13.5 years (OC3) and 13.3 years (OC4). </a:t>
            </a:r>
          </a:p>
          <a:p>
            <a:r>
              <a:rPr lang="en-US" dirty="0"/>
              <a:t>The Parker result represents the general UK population whereas the CMI IP11 rates represent insured lives, so are different population segments. Additionally, the CMI IP11 rates are claim inception rates which ignore short durations of sickness and are based on definition of sickness under IP insurance policies rather than self-reported health survey responses.  </a:t>
            </a:r>
          </a:p>
          <a:p>
            <a:r>
              <a:rPr lang="en-US" dirty="0"/>
              <a:t>Due to both the population segment and the definition of sickness/health, it is not unreasonable to expect the Parker result to be lower than the results based on the CMI IP11 rates.  </a:t>
            </a:r>
          </a:p>
          <a:p>
            <a:r>
              <a:rPr lang="en-US" dirty="0"/>
              <a:t>Additionally, Parker's method includes the possibility of people being healthy and working at ages above 65, whereas our modelling intentionally truncates the working life at age 65.  </a:t>
            </a:r>
          </a:p>
          <a:p>
            <a:r>
              <a:rPr lang="en-US" dirty="0"/>
              <a:t>This modelling assumption causes our HWPLE to be lower than Parker's HWLE, all else being equal.</a:t>
            </a:r>
          </a:p>
          <a:p>
            <a:r>
              <a:rPr lang="en-US" dirty="0"/>
              <a:t>Although both Parker and our model generate results for not-healthy-not-working, Parker‘s NHNW results include time periods post-retirement whereas our results are limited by retirement. </a:t>
            </a:r>
          </a:p>
          <a:p>
            <a:r>
              <a:rPr lang="en-US" dirty="0"/>
              <a:t>E.g. In the HWP Tool, for a 50-year-old, the sum of HWPLE and NNPLE is less than 15 years since it assumes 100% retirement at age 65. </a:t>
            </a:r>
          </a:p>
          <a:p>
            <a:r>
              <a:rPr lang="en-US" dirty="0"/>
              <a:t>Parker‘s method does not consider a retirement age.  </a:t>
            </a:r>
          </a:p>
          <a:p>
            <a:r>
              <a:rPr lang="en-US" dirty="0"/>
              <a:t>E.g. Some of the 8.68 years in Parker's NHNW result would be years post-retirement age.</a:t>
            </a:r>
          </a:p>
        </p:txBody>
      </p:sp>
      <p:sp>
        <p:nvSpPr>
          <p:cNvPr id="4" name="Slide Number Placeholder 3"/>
          <p:cNvSpPr>
            <a:spLocks noGrp="1"/>
          </p:cNvSpPr>
          <p:nvPr>
            <p:ph type="sldNum" sz="quarter" idx="5"/>
          </p:nvPr>
        </p:nvSpPr>
        <p:spPr/>
        <p:txBody>
          <a:bodyPr/>
          <a:lstStyle/>
          <a:p>
            <a:fld id="{818DC993-C0AB-7145-A5E3-AB377573BF85}" type="slidenum">
              <a:rPr lang="en-US" smtClean="0"/>
              <a:t>25</a:t>
            </a:fld>
            <a:endParaRPr lang="en-US"/>
          </a:p>
        </p:txBody>
      </p:sp>
    </p:spTree>
    <p:extLst>
      <p:ext uri="{BB962C8B-B14F-4D97-AF65-F5344CB8AC3E}">
        <p14:creationId xmlns:p14="http://schemas.microsoft.com/office/powerpoint/2010/main" val="35161419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Keep Britain Working</a:t>
            </a:r>
          </a:p>
          <a:p>
            <a:r>
              <a:rPr lang="en-US" dirty="0"/>
              <a:t>Over 250 employers, 10 mayoral authorities and all 3 devolved administrations work with Sir Charlie Mayfield, reshaping how disability and ill-health are supported at work.</a:t>
            </a:r>
          </a:p>
          <a:p>
            <a:r>
              <a:rPr lang="en-US" dirty="0"/>
              <a:t>Latest Keep Britain Working report shows shared responsibility and better data, supported by </a:t>
            </a:r>
            <a:r>
              <a:rPr lang="en-US" dirty="0" err="1"/>
              <a:t>personalised</a:t>
            </a:r>
            <a:r>
              <a:rPr lang="en-US" dirty="0"/>
              <a:t> plans will be key to helping people remain in work. </a:t>
            </a:r>
          </a:p>
          <a:p>
            <a:r>
              <a:rPr lang="en-US" dirty="0"/>
              <a:t>A new Workplace Health Intelligence Unit will track sickness absence, return-to-work outcomes and disability participation making workplace health performance visible for the first time.</a:t>
            </a:r>
            <a:endParaRPr lang="en-GB" dirty="0"/>
          </a:p>
          <a:p>
            <a:endParaRPr lang="en-GB" dirty="0"/>
          </a:p>
          <a:p>
            <a:r>
              <a:rPr lang="en-GB" b="1" dirty="0" err="1"/>
              <a:t>IFoA</a:t>
            </a:r>
            <a:r>
              <a:rPr lang="en-GB" b="1" dirty="0"/>
              <a:t> Healthy Workforce WP</a:t>
            </a:r>
          </a:p>
          <a:p>
            <a:r>
              <a:rPr lang="en-US" dirty="0"/>
              <a:t>additional scenarios to reflect the planned evolution of UK State Pension Age and also incorporating estimates of rates of early retirements;</a:t>
            </a:r>
          </a:p>
          <a:p>
            <a:r>
              <a:rPr lang="en-US" dirty="0"/>
              <a:t>alternative definitions of 'healthy' and 'working';</a:t>
            </a:r>
          </a:p>
          <a:p>
            <a:r>
              <a:rPr lang="en-US" dirty="0"/>
              <a:t>rates derived from CMI data over time periods to give indications of trends over time;</a:t>
            </a:r>
          </a:p>
          <a:p>
            <a:r>
              <a:rPr lang="en-US" dirty="0"/>
              <a:t>rates derived from population surveys to provide further benchmarks against the whole UK working-age population and comparisons against the literature;</a:t>
            </a:r>
          </a:p>
          <a:p>
            <a:r>
              <a:rPr lang="en-US" dirty="0"/>
              <a:t>transition rates that are derived from administrative data held by UK public authorities that administer sickness and incapacity benefits;</a:t>
            </a:r>
          </a:p>
          <a:p>
            <a:r>
              <a:rPr lang="en-US" dirty="0"/>
              <a:t>transition rates that are derived from administrative data from other countries to enable international comparisons.</a:t>
            </a:r>
          </a:p>
          <a:p>
            <a:endParaRPr lang="en-GB" dirty="0"/>
          </a:p>
        </p:txBody>
      </p:sp>
      <p:sp>
        <p:nvSpPr>
          <p:cNvPr id="4" name="Slide Number Placeholder 3"/>
          <p:cNvSpPr>
            <a:spLocks noGrp="1"/>
          </p:cNvSpPr>
          <p:nvPr>
            <p:ph type="sldNum" sz="quarter" idx="5"/>
          </p:nvPr>
        </p:nvSpPr>
        <p:spPr/>
        <p:txBody>
          <a:bodyPr/>
          <a:lstStyle/>
          <a:p>
            <a:fld id="{818DC993-C0AB-7145-A5E3-AB377573BF85}" type="slidenum">
              <a:rPr lang="en-US" smtClean="0"/>
              <a:t>27</a:t>
            </a:fld>
            <a:endParaRPr lang="en-US"/>
          </a:p>
        </p:txBody>
      </p:sp>
    </p:spTree>
    <p:extLst>
      <p:ext uri="{BB962C8B-B14F-4D97-AF65-F5344CB8AC3E}">
        <p14:creationId xmlns:p14="http://schemas.microsoft.com/office/powerpoint/2010/main" val="22040723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HWLE is an important metric for many purposes.</a:t>
            </a:r>
          </a:p>
          <a:p>
            <a:endParaRPr lang="en-GB" dirty="0"/>
          </a:p>
          <a:p>
            <a:r>
              <a:rPr lang="en-US" dirty="0"/>
              <a:t>Administrative data can complement or replace survey data for HWLE (methods): </a:t>
            </a:r>
          </a:p>
          <a:p>
            <a:r>
              <a:rPr lang="en-US" dirty="0"/>
              <a:t>development of public datasets;</a:t>
            </a:r>
          </a:p>
          <a:p>
            <a:r>
              <a:rPr lang="en-US" dirty="0"/>
              <a:t>opportunity for actuaries to deploy core knowledge.</a:t>
            </a:r>
          </a:p>
          <a:p>
            <a:endParaRPr lang="en-GB" dirty="0"/>
          </a:p>
          <a:p>
            <a:r>
              <a:rPr lang="en-US" dirty="0"/>
              <a:t>HWLE is a useful descriptive statistic for morbidity bases (insurance):</a:t>
            </a:r>
          </a:p>
          <a:p>
            <a:r>
              <a:rPr lang="en-US" dirty="0"/>
              <a:t>assessing pricing and reserving bases;</a:t>
            </a:r>
          </a:p>
          <a:p>
            <a:r>
              <a:rPr lang="en-US" dirty="0"/>
              <a:t>product design and expanding IP products to wider segments.</a:t>
            </a:r>
          </a:p>
          <a:p>
            <a:endParaRPr lang="en-GB" dirty="0"/>
          </a:p>
          <a:p>
            <a:r>
              <a:rPr lang="en-US" dirty="0"/>
              <a:t>HWLE has policy relevance to state benefits, State Pension Age and pensions adequacy (policy):</a:t>
            </a:r>
          </a:p>
          <a:p>
            <a:r>
              <a:rPr lang="en-US" dirty="0"/>
              <a:t>Keep Britain Working;</a:t>
            </a:r>
          </a:p>
          <a:p>
            <a:r>
              <a:rPr lang="en-US" dirty="0"/>
              <a:t>social care policy;</a:t>
            </a:r>
          </a:p>
          <a:p>
            <a:r>
              <a:rPr lang="en-US" dirty="0"/>
              <a:t>pension planning;</a:t>
            </a:r>
          </a:p>
          <a:p>
            <a:r>
              <a:rPr lang="en-US" dirty="0"/>
              <a:t>health service planning.</a:t>
            </a:r>
          </a:p>
        </p:txBody>
      </p:sp>
      <p:sp>
        <p:nvSpPr>
          <p:cNvPr id="4" name="Slide Number Placeholder 3"/>
          <p:cNvSpPr>
            <a:spLocks noGrp="1"/>
          </p:cNvSpPr>
          <p:nvPr>
            <p:ph type="sldNum" sz="quarter" idx="5"/>
          </p:nvPr>
        </p:nvSpPr>
        <p:spPr/>
        <p:txBody>
          <a:bodyPr/>
          <a:lstStyle/>
          <a:p>
            <a:fld id="{818DC993-C0AB-7145-A5E3-AB377573BF85}" type="slidenum">
              <a:rPr lang="en-US" smtClean="0"/>
              <a:t>28</a:t>
            </a:fld>
            <a:endParaRPr lang="en-US"/>
          </a:p>
        </p:txBody>
      </p:sp>
    </p:spTree>
    <p:extLst>
      <p:ext uri="{BB962C8B-B14F-4D97-AF65-F5344CB8AC3E}">
        <p14:creationId xmlns:p14="http://schemas.microsoft.com/office/powerpoint/2010/main" val="18761992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Survey-based analyses use definitions that are based on answers provided by survey respondents. </a:t>
            </a:r>
          </a:p>
          <a:p>
            <a:r>
              <a:rPr lang="en-US" dirty="0"/>
              <a:t>Answers to specific questions are used to classify the respondents into the states of interest, such as with the analyses that use results from the English Longitudinal Study of Ageing (ELSA) (Banks et al. 2021).</a:t>
            </a:r>
          </a:p>
          <a:p>
            <a:endParaRPr lang="en-US" dirty="0"/>
          </a:p>
          <a:p>
            <a:r>
              <a:rPr lang="en-US" dirty="0"/>
              <a:t>CMI IP portfolio data is based on administrative data of Income Protection portfolios and reflects actual transitions between working and not working due to ill-health (limited by the effect of IP deferred periods).  </a:t>
            </a:r>
          </a:p>
          <a:p>
            <a:r>
              <a:rPr lang="en-US" dirty="0"/>
              <a:t>However, the IP data does not collect data on health status whilst working, or during the IP policy deferred period. Insurers may have collected some data at the policy application underwriting stage but this is not routinely collected by the CMI.</a:t>
            </a:r>
          </a:p>
          <a:p>
            <a:endParaRPr lang="en-GB" dirty="0"/>
          </a:p>
        </p:txBody>
      </p:sp>
      <p:sp>
        <p:nvSpPr>
          <p:cNvPr id="4" name="Slide Number Placeholder 3"/>
          <p:cNvSpPr>
            <a:spLocks noGrp="1"/>
          </p:cNvSpPr>
          <p:nvPr>
            <p:ph type="sldNum" sz="quarter" idx="5"/>
          </p:nvPr>
        </p:nvSpPr>
        <p:spPr/>
        <p:txBody>
          <a:bodyPr/>
          <a:lstStyle/>
          <a:p>
            <a:fld id="{818DC993-C0AB-7145-A5E3-AB377573BF85}" type="slidenum">
              <a:rPr lang="en-US" smtClean="0"/>
              <a:t>33</a:t>
            </a:fld>
            <a:endParaRPr lang="en-US"/>
          </a:p>
        </p:txBody>
      </p:sp>
    </p:spTree>
    <p:extLst>
      <p:ext uri="{BB962C8B-B14F-4D97-AF65-F5344CB8AC3E}">
        <p14:creationId xmlns:p14="http://schemas.microsoft.com/office/powerpoint/2010/main" val="8427137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582AF-D5E1-BC28-51B3-7F31FE9323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39045F-3478-038C-A390-95E8715908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F3337D-BF09-7067-99B0-3B5B11B656A9}"/>
              </a:ext>
            </a:extLst>
          </p:cNvPr>
          <p:cNvSpPr>
            <a:spLocks noGrp="1"/>
          </p:cNvSpPr>
          <p:nvPr>
            <p:ph type="body" idx="1"/>
          </p:nvPr>
        </p:nvSpPr>
        <p:spPr/>
        <p:txBody>
          <a:bodyPr/>
          <a:lstStyle/>
          <a:p>
            <a:r>
              <a:rPr lang="en-US" dirty="0"/>
              <a:t>Survey-based analyses use definitions that are based on answers provided by survey respondents. </a:t>
            </a:r>
          </a:p>
          <a:p>
            <a:r>
              <a:rPr lang="en-US" dirty="0"/>
              <a:t>Answers to specific questions are used to classify the respondents into the states of interest, such as with the analyses that use results from the English Longitudinal Study of Ageing (ELSA) (Banks et al. 2021).</a:t>
            </a:r>
          </a:p>
          <a:p>
            <a:endParaRPr lang="en-US" dirty="0"/>
          </a:p>
          <a:p>
            <a:r>
              <a:rPr lang="en-US" dirty="0"/>
              <a:t>CMI IP portfolio data is based on administrative data of Income Protection portfolios and reflects actual transitions between working and not working due to ill-health (limited by the effect of IP deferred periods).  </a:t>
            </a:r>
          </a:p>
          <a:p>
            <a:r>
              <a:rPr lang="en-US" dirty="0"/>
              <a:t>However, the IP data does not collect data on health status whilst working, or during the IP policy deferred period. Insurers may have collected some data at the policy application underwriting stage but this is not routinely collected by the CMI.</a:t>
            </a:r>
          </a:p>
          <a:p>
            <a:endParaRPr lang="en-GB" dirty="0"/>
          </a:p>
        </p:txBody>
      </p:sp>
      <p:sp>
        <p:nvSpPr>
          <p:cNvPr id="4" name="Slide Number Placeholder 3">
            <a:extLst>
              <a:ext uri="{FF2B5EF4-FFF2-40B4-BE49-F238E27FC236}">
                <a16:creationId xmlns:a16="http://schemas.microsoft.com/office/drawing/2014/main" id="{05E704FA-BF97-F109-0AC8-46E8D94807C7}"/>
              </a:ext>
            </a:extLst>
          </p:cNvPr>
          <p:cNvSpPr>
            <a:spLocks noGrp="1"/>
          </p:cNvSpPr>
          <p:nvPr>
            <p:ph type="sldNum" sz="quarter" idx="5"/>
          </p:nvPr>
        </p:nvSpPr>
        <p:spPr/>
        <p:txBody>
          <a:bodyPr/>
          <a:lstStyle/>
          <a:p>
            <a:fld id="{818DC993-C0AB-7145-A5E3-AB377573BF85}" type="slidenum">
              <a:rPr lang="en-US" smtClean="0"/>
              <a:t>34</a:t>
            </a:fld>
            <a:endParaRPr lang="en-US"/>
          </a:p>
        </p:txBody>
      </p:sp>
    </p:spTree>
    <p:extLst>
      <p:ext uri="{BB962C8B-B14F-4D97-AF65-F5344CB8AC3E}">
        <p14:creationId xmlns:p14="http://schemas.microsoft.com/office/powerpoint/2010/main" val="21348800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HWPLE ranges from 13.8 years for males in occupation class 2 to 13.1 years for females in occupation class 4;</a:t>
            </a:r>
          </a:p>
          <a:p>
            <a:r>
              <a:rPr lang="en-US" dirty="0"/>
              <a:t>NNPLE ranges from 0.4 years for males in occupation class 2 to 1.2 years for females in occupation class 4</a:t>
            </a:r>
            <a:endParaRPr lang="en-GB" dirty="0"/>
          </a:p>
        </p:txBody>
      </p:sp>
      <p:sp>
        <p:nvSpPr>
          <p:cNvPr id="4" name="Slide Number Placeholder 3"/>
          <p:cNvSpPr>
            <a:spLocks noGrp="1"/>
          </p:cNvSpPr>
          <p:nvPr>
            <p:ph type="sldNum" sz="quarter" idx="5"/>
          </p:nvPr>
        </p:nvSpPr>
        <p:spPr/>
        <p:txBody>
          <a:bodyPr/>
          <a:lstStyle/>
          <a:p>
            <a:fld id="{818DC993-C0AB-7145-A5E3-AB377573BF85}" type="slidenum">
              <a:rPr lang="en-US" smtClean="0"/>
              <a:t>35</a:t>
            </a:fld>
            <a:endParaRPr lang="en-US"/>
          </a:p>
        </p:txBody>
      </p:sp>
    </p:spTree>
    <p:extLst>
      <p:ext uri="{BB962C8B-B14F-4D97-AF65-F5344CB8AC3E}">
        <p14:creationId xmlns:p14="http://schemas.microsoft.com/office/powerpoint/2010/main" val="1243191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emf"/><Relationship Id="rId4" Type="http://schemas.openxmlformats.org/officeDocument/2006/relationships/image" Target="../media/image4.png"/><Relationship Id="rId5"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jp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30A36B0-3645-2D4E-5091-6E9F267DFA8F}"/>
              </a:ext>
            </a:extLst>
          </p:cNvPr>
          <p:cNvPicPr>
            <a:picLocks noChangeAspect="1"/>
          </p:cNvPicPr>
          <p:nvPr userDrawn="1"/>
        </p:nvPicPr>
        <p:blipFill>
          <a:blip r:embed="rId3"/>
          <a:stretch>
            <a:fillRect/>
          </a:stretch>
        </p:blipFill>
        <p:spPr>
          <a:xfrm rot="16200000">
            <a:off x="-5815115" y="-1003495"/>
            <a:ext cx="12640733" cy="9071198"/>
          </a:xfrm>
          <a:prstGeom prst="rect">
            <a:avLst/>
          </a:prstGeom>
        </p:spPr>
      </p:pic>
      <p:pic>
        <p:nvPicPr>
          <p:cNvPr id="2" name="Picture 1">
            <a:extLst>
              <a:ext uri="{FF2B5EF4-FFF2-40B4-BE49-F238E27FC236}">
                <a16:creationId xmlns:a16="http://schemas.microsoft.com/office/drawing/2014/main" id="{B4A47AF0-8829-2C0D-597E-33E16B982DBF}"/>
              </a:ext>
            </a:extLst>
          </p:cNvPr>
          <p:cNvPicPr>
            <a:picLocks noChangeAspect="1"/>
          </p:cNvPicPr>
          <p:nvPr userDrawn="1"/>
        </p:nvPicPr>
        <p:blipFill>
          <a:blip r:embed="rId3"/>
          <a:stretch>
            <a:fillRect/>
          </a:stretch>
        </p:blipFill>
        <p:spPr>
          <a:xfrm rot="17379320">
            <a:off x="10602392" y="-758731"/>
            <a:ext cx="12640733" cy="9071198"/>
          </a:xfrm>
          <a:prstGeom prst="rect">
            <a:avLst/>
          </a:prstGeom>
        </p:spPr>
      </p:pic>
      <p:sp>
        <p:nvSpPr>
          <p:cNvPr id="8" name="Footer Placeholder 4">
            <a:extLst>
              <a:ext uri="{FF2B5EF4-FFF2-40B4-BE49-F238E27FC236}">
                <a16:creationId xmlns:a16="http://schemas.microsoft.com/office/drawing/2014/main" id="{15C406F6-FE38-14E0-8BF8-B9AC42B3EF15}"/>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bg1"/>
                </a:solidFill>
              </a:defRPr>
            </a:lvl1pPr>
          </a:lstStyle>
          <a:p>
            <a:r>
              <a:rPr lang="en-GB"/>
              <a:t>IFoA Life Conference</a:t>
            </a:r>
            <a:endParaRPr lang="en-GB" dirty="0"/>
          </a:p>
        </p:txBody>
      </p:sp>
      <p:sp>
        <p:nvSpPr>
          <p:cNvPr id="9" name="Slide Number Placeholder 5">
            <a:extLst>
              <a:ext uri="{FF2B5EF4-FFF2-40B4-BE49-F238E27FC236}">
                <a16:creationId xmlns:a16="http://schemas.microsoft.com/office/drawing/2014/main" id="{C18B60AF-E1FE-C3E6-C9A3-0721F1D08E6F}"/>
              </a:ext>
            </a:extLst>
          </p:cNvPr>
          <p:cNvSpPr>
            <a:spLocks noGrp="1"/>
          </p:cNvSpPr>
          <p:nvPr>
            <p:ph type="sldNum" sz="quarter" idx="4"/>
          </p:nvPr>
        </p:nvSpPr>
        <p:spPr>
          <a:xfrm>
            <a:off x="14573177" y="8382533"/>
            <a:ext cx="529680" cy="486833"/>
          </a:xfrm>
          <a:prstGeom prst="rect">
            <a:avLst/>
          </a:prstGeom>
          <a:solidFill>
            <a:schemeClr val="bg1"/>
          </a:solidFill>
        </p:spPr>
        <p:txBody>
          <a:bodyPr vert="horz" lIns="91440" tIns="45720" rIns="91440" bIns="45720" rtlCol="0" anchor="ctr"/>
          <a:lstStyle>
            <a:lvl1pPr algn="ctr">
              <a:defRPr sz="1200" b="1" i="0">
                <a:solidFill>
                  <a:schemeClr val="tx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cxnSp>
        <p:nvCxnSpPr>
          <p:cNvPr id="10" name="Straight Connector 9">
            <a:extLst>
              <a:ext uri="{FF2B5EF4-FFF2-40B4-BE49-F238E27FC236}">
                <a16:creationId xmlns:a16="http://schemas.microsoft.com/office/drawing/2014/main" id="{A0CB7D33-8423-976F-F4E8-092F373CB4D4}"/>
              </a:ext>
            </a:extLst>
          </p:cNvPr>
          <p:cNvCxnSpPr>
            <a:cxnSpLocks/>
          </p:cNvCxnSpPr>
          <p:nvPr userDrawn="1"/>
        </p:nvCxnSpPr>
        <p:spPr>
          <a:xfrm>
            <a:off x="14411899" y="8360757"/>
            <a:ext cx="0" cy="530384"/>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A334B112-156D-B47A-A01E-403E49BC030A}"/>
              </a:ext>
            </a:extLst>
          </p:cNvPr>
          <p:cNvPicPr>
            <a:picLocks noChangeAspect="1"/>
          </p:cNvPicPr>
          <p:nvPr userDrawn="1"/>
        </p:nvPicPr>
        <p:blipFill>
          <a:blip r:embed="rId4" cstate="email">
            <a:extLst>
              <a:ext uri="{28A0092B-C50C-407E-A947-70E740481C1C}">
                <a14:useLocalDpi xmlns:a14="http://schemas.microsoft.com/office/drawing/2010/main" val="0"/>
              </a:ext>
            </a:extLst>
          </a:blip>
          <a:srcRect/>
          <a:stretch/>
        </p:blipFill>
        <p:spPr>
          <a:xfrm>
            <a:off x="12850415" y="8348409"/>
            <a:ext cx="1366353" cy="555080"/>
          </a:xfrm>
          <a:prstGeom prst="rect">
            <a:avLst/>
          </a:prstGeom>
        </p:spPr>
      </p:pic>
      <p:cxnSp>
        <p:nvCxnSpPr>
          <p:cNvPr id="14" name="Straight Connector 13">
            <a:extLst>
              <a:ext uri="{FF2B5EF4-FFF2-40B4-BE49-F238E27FC236}">
                <a16:creationId xmlns:a16="http://schemas.microsoft.com/office/drawing/2014/main" id="{AECD1887-4E9C-5FF9-418B-2EFD255594FE}"/>
              </a:ext>
            </a:extLst>
          </p:cNvPr>
          <p:cNvCxnSpPr>
            <a:cxnSpLocks/>
          </p:cNvCxnSpPr>
          <p:nvPr userDrawn="1"/>
        </p:nvCxnSpPr>
        <p:spPr>
          <a:xfrm>
            <a:off x="12689014" y="8360757"/>
            <a:ext cx="0" cy="530384"/>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itle Placeholder 1">
            <a:extLst>
              <a:ext uri="{FF2B5EF4-FFF2-40B4-BE49-F238E27FC236}">
                <a16:creationId xmlns:a16="http://schemas.microsoft.com/office/drawing/2014/main" id="{6AA7276D-7192-0B34-473D-EA39E90AE910}"/>
              </a:ext>
            </a:extLst>
          </p:cNvPr>
          <p:cNvSpPr>
            <a:spLocks noGrp="1"/>
          </p:cNvSpPr>
          <p:nvPr>
            <p:ph type="title" hasCustomPrompt="1"/>
          </p:nvPr>
        </p:nvSpPr>
        <p:spPr>
          <a:xfrm>
            <a:off x="4186804" y="3896206"/>
            <a:ext cx="7882392" cy="1836584"/>
          </a:xfrm>
          <a:prstGeom prst="rect">
            <a:avLst/>
          </a:prstGeom>
        </p:spPr>
        <p:txBody>
          <a:bodyPr vert="horz" lIns="91440" tIns="45720" rIns="91440" bIns="45720" rtlCol="0" anchor="t">
            <a:noAutofit/>
          </a:bodyPr>
          <a:lstStyle>
            <a:lvl1pPr algn="ctr">
              <a:lnSpc>
                <a:spcPct val="90000"/>
              </a:lnSpc>
              <a:defRPr sz="7000" b="1" i="0">
                <a:solidFill>
                  <a:schemeClr val="bg1"/>
                </a:solidFill>
                <a:latin typeface="Arial" panose="020B0604020202020204" pitchFamily="34" charset="0"/>
                <a:cs typeface="Arial" panose="020B0604020202020204" pitchFamily="34" charset="0"/>
              </a:defRPr>
            </a:lvl1pPr>
          </a:lstStyle>
          <a:p>
            <a:r>
              <a:rPr lang="en-US" dirty="0"/>
              <a:t>IFoA Life</a:t>
            </a:r>
            <a:br>
              <a:rPr lang="en-US" dirty="0"/>
            </a:br>
            <a:r>
              <a:rPr lang="en-US" dirty="0"/>
              <a:t>Conference 2026</a:t>
            </a:r>
            <a:endParaRPr lang="en-GB" dirty="0"/>
          </a:p>
        </p:txBody>
      </p:sp>
      <p:pic>
        <p:nvPicPr>
          <p:cNvPr id="11" name="Picture 10">
            <a:extLst>
              <a:ext uri="{FF2B5EF4-FFF2-40B4-BE49-F238E27FC236}">
                <a16:creationId xmlns:a16="http://schemas.microsoft.com/office/drawing/2014/main" id="{EC12CC90-F950-8886-A0EB-8ABBD93C877B}"/>
              </a:ext>
            </a:extLst>
          </p:cNvPr>
          <p:cNvPicPr>
            <a:picLocks noChangeAspect="1"/>
          </p:cNvPicPr>
          <p:nvPr userDrawn="1"/>
        </p:nvPicPr>
        <p:blipFill>
          <a:blip r:embed="rId5" cstate="email">
            <a:extLst>
              <a:ext uri="{28A0092B-C50C-407E-A947-70E740481C1C}">
                <a14:useLocalDpi xmlns:a14="http://schemas.microsoft.com/office/drawing/2010/main" val="0"/>
              </a:ext>
            </a:extLst>
          </a:blip>
          <a:srcRect/>
          <a:stretch/>
        </p:blipFill>
        <p:spPr>
          <a:xfrm>
            <a:off x="6781798" y="2438316"/>
            <a:ext cx="2692398" cy="1093787"/>
          </a:xfrm>
          <a:prstGeom prst="rect">
            <a:avLst/>
          </a:prstGeom>
        </p:spPr>
      </p:pic>
    </p:spTree>
    <p:extLst>
      <p:ext uri="{BB962C8B-B14F-4D97-AF65-F5344CB8AC3E}">
        <p14:creationId xmlns:p14="http://schemas.microsoft.com/office/powerpoint/2010/main" val="2955788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23" name="Content Placeholder 9">
            <a:extLst>
              <a:ext uri="{FF2B5EF4-FFF2-40B4-BE49-F238E27FC236}">
                <a16:creationId xmlns:a16="http://schemas.microsoft.com/office/drawing/2014/main" id="{0C532851-4697-4B02-B344-E4852AF78CBF}"/>
              </a:ext>
            </a:extLst>
          </p:cNvPr>
          <p:cNvSpPr>
            <a:spLocks noGrp="1"/>
          </p:cNvSpPr>
          <p:nvPr>
            <p:ph sz="quarter" idx="13" hasCustomPrompt="1"/>
          </p:nvPr>
        </p:nvSpPr>
        <p:spPr>
          <a:xfrm>
            <a:off x="1104904" y="2269323"/>
            <a:ext cx="14020800" cy="5659894"/>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3"/>
              </a:buClr>
              <a:buFont typeface="Arial" panose="020B0604020202020204" pitchFamily="34" charset="0"/>
              <a:buChar char="•"/>
              <a:defRPr sz="2600">
                <a:solidFill>
                  <a:schemeClr val="tx1"/>
                </a:solidFill>
              </a:defRPr>
            </a:lvl5pPr>
          </a:lstStyle>
          <a:p>
            <a:pPr lvl="0"/>
            <a:r>
              <a:rPr lang="en-GB" dirty="0"/>
              <a:t>Click to add text or click one of the icons below to insert media</a:t>
            </a:r>
          </a:p>
        </p:txBody>
      </p:sp>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18882"/>
          </a:xfrm>
        </p:spPr>
        <p:txBody>
          <a:bodyPr>
            <a:normAutofit/>
          </a:bodyPr>
          <a:lstStyle>
            <a:lvl1pPr>
              <a:defRPr sz="4400" cap="none" baseline="0"/>
            </a:lvl1pPr>
          </a:lstStyle>
          <a:p>
            <a:r>
              <a:rPr lang="en-US" dirty="0"/>
              <a:t>Title</a:t>
            </a:r>
            <a:endParaRPr lang="en-GB" dirty="0"/>
          </a:p>
        </p:txBody>
      </p:sp>
      <p:sp>
        <p:nvSpPr>
          <p:cNvPr id="15" name="Text Placeholder 7">
            <a:extLst>
              <a:ext uri="{FF2B5EF4-FFF2-40B4-BE49-F238E27FC236}">
                <a16:creationId xmlns:a16="http://schemas.microsoft.com/office/drawing/2014/main" id="{DD26DE28-F20D-4AC8-830A-0B227BBF3E71}"/>
              </a:ext>
            </a:extLst>
          </p:cNvPr>
          <p:cNvSpPr>
            <a:spLocks noGrp="1"/>
          </p:cNvSpPr>
          <p:nvPr>
            <p:ph type="body" sz="quarter" idx="24" hasCustomPrompt="1"/>
          </p:nvPr>
        </p:nvSpPr>
        <p:spPr>
          <a:xfrm>
            <a:off x="1117601" y="1214783"/>
            <a:ext cx="14020798"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
        <p:nvSpPr>
          <p:cNvPr id="6" name="Footer Placeholder 4">
            <a:extLst>
              <a:ext uri="{FF2B5EF4-FFF2-40B4-BE49-F238E27FC236}">
                <a16:creationId xmlns:a16="http://schemas.microsoft.com/office/drawing/2014/main" id="{8F9D7237-5CD7-6037-7D60-81DA36BE7AA4}"/>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7" name="Slide Number Placeholder 5">
            <a:extLst>
              <a:ext uri="{FF2B5EF4-FFF2-40B4-BE49-F238E27FC236}">
                <a16:creationId xmlns:a16="http://schemas.microsoft.com/office/drawing/2014/main" id="{7B4B538E-25FF-2CD8-CF5C-A8AD3F07FE13}"/>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Tree>
    <p:extLst>
      <p:ext uri="{BB962C8B-B14F-4D97-AF65-F5344CB8AC3E}">
        <p14:creationId xmlns:p14="http://schemas.microsoft.com/office/powerpoint/2010/main" val="217297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ngle Column - Half page">
    <p:spTree>
      <p:nvGrpSpPr>
        <p:cNvPr id="1" name=""/>
        <p:cNvGrpSpPr/>
        <p:nvPr/>
      </p:nvGrpSpPr>
      <p:grpSpPr>
        <a:xfrm>
          <a:off x="0" y="0"/>
          <a:ext cx="0" cy="0"/>
          <a:chOff x="0" y="0"/>
          <a:chExt cx="0" cy="0"/>
        </a:xfrm>
      </p:grpSpPr>
      <p:sp>
        <p:nvSpPr>
          <p:cNvPr id="23" name="Content Placeholder 9">
            <a:extLst>
              <a:ext uri="{FF2B5EF4-FFF2-40B4-BE49-F238E27FC236}">
                <a16:creationId xmlns:a16="http://schemas.microsoft.com/office/drawing/2014/main" id="{0C532851-4697-4B02-B344-E4852AF78CBF}"/>
              </a:ext>
            </a:extLst>
          </p:cNvPr>
          <p:cNvSpPr>
            <a:spLocks noGrp="1"/>
          </p:cNvSpPr>
          <p:nvPr>
            <p:ph sz="quarter" idx="13" hasCustomPrompt="1"/>
          </p:nvPr>
        </p:nvSpPr>
        <p:spPr>
          <a:xfrm>
            <a:off x="1104904" y="1562793"/>
            <a:ext cx="6896104" cy="6467302"/>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3"/>
              </a:buClr>
              <a:buFont typeface="Arial" panose="020B0604020202020204" pitchFamily="34" charset="0"/>
              <a:buChar char="•"/>
              <a:defRPr sz="2600">
                <a:solidFill>
                  <a:schemeClr val="tx1"/>
                </a:solidFill>
              </a:defRPr>
            </a:lvl5pPr>
          </a:lstStyle>
          <a:p>
            <a:pPr lvl="0"/>
            <a:r>
              <a:rPr lang="en-GB" dirty="0"/>
              <a:t>Click to add text or click one of </a:t>
            </a:r>
            <a:br>
              <a:rPr lang="en-GB" dirty="0"/>
            </a:br>
            <a:r>
              <a:rPr lang="en-GB" dirty="0"/>
              <a:t>the icons below to insert media</a:t>
            </a:r>
          </a:p>
        </p:txBody>
      </p:sp>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09696"/>
          </a:xfrm>
        </p:spPr>
        <p:txBody>
          <a:bodyPr>
            <a:normAutofit/>
          </a:bodyPr>
          <a:lstStyle>
            <a:lvl1pPr>
              <a:defRPr sz="4400" cap="none" baseline="0"/>
            </a:lvl1pPr>
          </a:lstStyle>
          <a:p>
            <a:r>
              <a:rPr lang="en-US" dirty="0"/>
              <a:t>Title</a:t>
            </a:r>
            <a:endParaRPr lang="en-GB" dirty="0"/>
          </a:p>
        </p:txBody>
      </p:sp>
      <p:sp>
        <p:nvSpPr>
          <p:cNvPr id="7" name="Footer Placeholder 4">
            <a:extLst>
              <a:ext uri="{FF2B5EF4-FFF2-40B4-BE49-F238E27FC236}">
                <a16:creationId xmlns:a16="http://schemas.microsoft.com/office/drawing/2014/main" id="{6F6C5742-1F6C-A710-52FA-1248F020C691}"/>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Tree>
    <p:extLst>
      <p:ext uri="{BB962C8B-B14F-4D97-AF65-F5344CB8AC3E}">
        <p14:creationId xmlns:p14="http://schemas.microsoft.com/office/powerpoint/2010/main" val="1616027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ingle Column - Half page - No title">
    <p:spTree>
      <p:nvGrpSpPr>
        <p:cNvPr id="1" name=""/>
        <p:cNvGrpSpPr/>
        <p:nvPr/>
      </p:nvGrpSpPr>
      <p:grpSpPr>
        <a:xfrm>
          <a:off x="0" y="0"/>
          <a:ext cx="0" cy="0"/>
          <a:chOff x="0" y="0"/>
          <a:chExt cx="0" cy="0"/>
        </a:xfrm>
      </p:grpSpPr>
      <p:sp>
        <p:nvSpPr>
          <p:cNvPr id="23" name="Content Placeholder 9">
            <a:extLst>
              <a:ext uri="{FF2B5EF4-FFF2-40B4-BE49-F238E27FC236}">
                <a16:creationId xmlns:a16="http://schemas.microsoft.com/office/drawing/2014/main" id="{0C532851-4697-4B02-B344-E4852AF78CBF}"/>
              </a:ext>
            </a:extLst>
          </p:cNvPr>
          <p:cNvSpPr>
            <a:spLocks noGrp="1"/>
          </p:cNvSpPr>
          <p:nvPr>
            <p:ph sz="quarter" idx="13" hasCustomPrompt="1"/>
          </p:nvPr>
        </p:nvSpPr>
        <p:spPr>
          <a:xfrm>
            <a:off x="1104904" y="575035"/>
            <a:ext cx="6896104" cy="7455060"/>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3"/>
              </a:buClr>
              <a:buFont typeface="Arial" panose="020B0604020202020204" pitchFamily="34" charset="0"/>
              <a:buChar char="•"/>
              <a:defRPr sz="2600">
                <a:solidFill>
                  <a:schemeClr val="tx1"/>
                </a:solidFill>
              </a:defRPr>
            </a:lvl5pPr>
          </a:lstStyle>
          <a:p>
            <a:pPr lvl="0"/>
            <a:r>
              <a:rPr lang="en-GB" dirty="0"/>
              <a:t>Click to add text or click one of </a:t>
            </a:r>
            <a:br>
              <a:rPr lang="en-GB" dirty="0"/>
            </a:br>
            <a:r>
              <a:rPr lang="en-GB" dirty="0"/>
              <a:t>the icons below to insert media</a:t>
            </a:r>
          </a:p>
        </p:txBody>
      </p:sp>
      <p:sp>
        <p:nvSpPr>
          <p:cNvPr id="7" name="Footer Placeholder 4">
            <a:extLst>
              <a:ext uri="{FF2B5EF4-FFF2-40B4-BE49-F238E27FC236}">
                <a16:creationId xmlns:a16="http://schemas.microsoft.com/office/drawing/2014/main" id="{6F6C5742-1F6C-A710-52FA-1248F020C691}"/>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Tree>
    <p:extLst>
      <p:ext uri="{BB962C8B-B14F-4D97-AF65-F5344CB8AC3E}">
        <p14:creationId xmlns:p14="http://schemas.microsoft.com/office/powerpoint/2010/main" val="27812457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wo Columns">
    <p:spTree>
      <p:nvGrpSpPr>
        <p:cNvPr id="1" name=""/>
        <p:cNvGrpSpPr/>
        <p:nvPr/>
      </p:nvGrpSpPr>
      <p:grpSpPr>
        <a:xfrm>
          <a:off x="0" y="0"/>
          <a:ext cx="0" cy="0"/>
          <a:chOff x="0" y="0"/>
          <a:chExt cx="0" cy="0"/>
        </a:xfrm>
      </p:grpSpPr>
      <p:sp>
        <p:nvSpPr>
          <p:cNvPr id="23" name="Content Placeholder 9">
            <a:extLst>
              <a:ext uri="{FF2B5EF4-FFF2-40B4-BE49-F238E27FC236}">
                <a16:creationId xmlns:a16="http://schemas.microsoft.com/office/drawing/2014/main" id="{0C532851-4697-4B02-B344-E4852AF78CBF}"/>
              </a:ext>
            </a:extLst>
          </p:cNvPr>
          <p:cNvSpPr>
            <a:spLocks noGrp="1"/>
          </p:cNvSpPr>
          <p:nvPr>
            <p:ph sz="quarter" idx="13" hasCustomPrompt="1"/>
          </p:nvPr>
        </p:nvSpPr>
        <p:spPr>
          <a:xfrm>
            <a:off x="1104904" y="2269323"/>
            <a:ext cx="6896104" cy="5459310"/>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3"/>
              </a:buClr>
              <a:buFont typeface="Arial" panose="020B0604020202020204" pitchFamily="34" charset="0"/>
              <a:buChar char="•"/>
              <a:defRPr sz="2600">
                <a:solidFill>
                  <a:schemeClr val="tx1"/>
                </a:solidFill>
              </a:defRPr>
            </a:lvl5pPr>
          </a:lstStyle>
          <a:p>
            <a:pPr lvl="0"/>
            <a:r>
              <a:rPr lang="en-GB" dirty="0"/>
              <a:t>Click to add text or click one of </a:t>
            </a:r>
            <a:br>
              <a:rPr lang="en-GB" dirty="0"/>
            </a:br>
            <a:r>
              <a:rPr lang="en-GB" dirty="0"/>
              <a:t>the icons below to insert media</a:t>
            </a:r>
          </a:p>
        </p:txBody>
      </p:sp>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09696"/>
          </a:xfrm>
        </p:spPr>
        <p:txBody>
          <a:bodyPr>
            <a:normAutofit/>
          </a:bodyPr>
          <a:lstStyle>
            <a:lvl1pPr>
              <a:defRPr sz="4400" cap="none" baseline="0"/>
            </a:lvl1pPr>
          </a:lstStyle>
          <a:p>
            <a:r>
              <a:rPr lang="en-US" dirty="0"/>
              <a:t>Title</a:t>
            </a:r>
            <a:endParaRPr lang="en-GB" dirty="0"/>
          </a:p>
        </p:txBody>
      </p:sp>
      <p:sp>
        <p:nvSpPr>
          <p:cNvPr id="9" name="Content Placeholder 9">
            <a:extLst>
              <a:ext uri="{FF2B5EF4-FFF2-40B4-BE49-F238E27FC236}">
                <a16:creationId xmlns:a16="http://schemas.microsoft.com/office/drawing/2014/main" id="{8BE77E02-92D4-079E-ADD9-4455ABC3C3FA}"/>
              </a:ext>
            </a:extLst>
          </p:cNvPr>
          <p:cNvSpPr>
            <a:spLocks noGrp="1"/>
          </p:cNvSpPr>
          <p:nvPr>
            <p:ph sz="quarter" idx="25" hasCustomPrompt="1"/>
          </p:nvPr>
        </p:nvSpPr>
        <p:spPr>
          <a:xfrm>
            <a:off x="8229600" y="2269322"/>
            <a:ext cx="6896104" cy="5459309"/>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3"/>
              </a:buClr>
              <a:buFont typeface="Arial" panose="020B0604020202020204" pitchFamily="34" charset="0"/>
              <a:buChar char="•"/>
              <a:defRPr sz="2600">
                <a:solidFill>
                  <a:schemeClr val="tx1"/>
                </a:solidFill>
              </a:defRPr>
            </a:lvl5pPr>
          </a:lstStyle>
          <a:p>
            <a:pPr lvl="0"/>
            <a:r>
              <a:rPr lang="en-GB" dirty="0"/>
              <a:t>Click to add text or click one of </a:t>
            </a:r>
            <a:br>
              <a:rPr lang="en-GB" dirty="0"/>
            </a:br>
            <a:r>
              <a:rPr lang="en-GB" dirty="0"/>
              <a:t>the icons below to insert media</a:t>
            </a:r>
          </a:p>
        </p:txBody>
      </p:sp>
      <p:sp>
        <p:nvSpPr>
          <p:cNvPr id="7" name="Footer Placeholder 4">
            <a:extLst>
              <a:ext uri="{FF2B5EF4-FFF2-40B4-BE49-F238E27FC236}">
                <a16:creationId xmlns:a16="http://schemas.microsoft.com/office/drawing/2014/main" id="{6F6C5742-1F6C-A710-52FA-1248F020C691}"/>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2" name="Text Placeholder 7">
            <a:extLst>
              <a:ext uri="{FF2B5EF4-FFF2-40B4-BE49-F238E27FC236}">
                <a16:creationId xmlns:a16="http://schemas.microsoft.com/office/drawing/2014/main" id="{74833094-AB27-5E56-D6CB-92FC23315CD5}"/>
              </a:ext>
            </a:extLst>
          </p:cNvPr>
          <p:cNvSpPr>
            <a:spLocks noGrp="1"/>
          </p:cNvSpPr>
          <p:nvPr>
            <p:ph type="body" sz="quarter" idx="24" hasCustomPrompt="1"/>
          </p:nvPr>
        </p:nvSpPr>
        <p:spPr>
          <a:xfrm>
            <a:off x="1117601" y="1214783"/>
            <a:ext cx="14008103"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Tree>
    <p:extLst>
      <p:ext uri="{BB962C8B-B14F-4D97-AF65-F5344CB8AC3E}">
        <p14:creationId xmlns:p14="http://schemas.microsoft.com/office/powerpoint/2010/main" val="15863248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3923166" cy="809696"/>
          </a:xfrm>
        </p:spPr>
        <p:txBody>
          <a:bodyPr>
            <a:normAutofit/>
          </a:bodyPr>
          <a:lstStyle>
            <a:lvl1pPr>
              <a:defRPr sz="4400" cap="none" baseline="0"/>
            </a:lvl1pPr>
          </a:lstStyle>
          <a:p>
            <a:r>
              <a:rPr lang="en-US" dirty="0"/>
              <a:t>Title</a:t>
            </a:r>
            <a:endParaRPr lang="en-GB" dirty="0"/>
          </a:p>
        </p:txBody>
      </p:sp>
      <p:sp>
        <p:nvSpPr>
          <p:cNvPr id="9" name="Content Placeholder 9">
            <a:extLst>
              <a:ext uri="{FF2B5EF4-FFF2-40B4-BE49-F238E27FC236}">
                <a16:creationId xmlns:a16="http://schemas.microsoft.com/office/drawing/2014/main" id="{1BF38F80-87B4-544B-DF12-C4A9BD9565B0}"/>
              </a:ext>
            </a:extLst>
          </p:cNvPr>
          <p:cNvSpPr>
            <a:spLocks noGrp="1"/>
          </p:cNvSpPr>
          <p:nvPr>
            <p:ph sz="quarter" idx="25" hasCustomPrompt="1"/>
          </p:nvPr>
        </p:nvSpPr>
        <p:spPr>
          <a:xfrm>
            <a:off x="5861501" y="2288900"/>
            <a:ext cx="4435365" cy="5784615"/>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3"/>
              </a:buClr>
              <a:buFont typeface="Arial" panose="020B0604020202020204" pitchFamily="34" charset="0"/>
              <a:buChar char="•"/>
              <a:defRPr sz="2600">
                <a:solidFill>
                  <a:schemeClr val="tx1"/>
                </a:solidFill>
              </a:defRPr>
            </a:lvl5pPr>
          </a:lstStyle>
          <a:p>
            <a:pPr lvl="0"/>
            <a:r>
              <a:rPr lang="en-GB" dirty="0"/>
              <a:t>Click to add text or click one of the icons below to insert media</a:t>
            </a:r>
          </a:p>
        </p:txBody>
      </p:sp>
      <p:sp>
        <p:nvSpPr>
          <p:cNvPr id="10" name="Content Placeholder 9">
            <a:extLst>
              <a:ext uri="{FF2B5EF4-FFF2-40B4-BE49-F238E27FC236}">
                <a16:creationId xmlns:a16="http://schemas.microsoft.com/office/drawing/2014/main" id="{BD3A9E38-14F9-AA40-C02D-6282D487A775}"/>
              </a:ext>
            </a:extLst>
          </p:cNvPr>
          <p:cNvSpPr>
            <a:spLocks noGrp="1"/>
          </p:cNvSpPr>
          <p:nvPr>
            <p:ph sz="quarter" idx="26" hasCustomPrompt="1"/>
          </p:nvPr>
        </p:nvSpPr>
        <p:spPr>
          <a:xfrm>
            <a:off x="10588739" y="2269308"/>
            <a:ext cx="4435365" cy="5784617"/>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1"/>
              </a:buClr>
              <a:buFont typeface="Arial" panose="020B0604020202020204" pitchFamily="34" charset="0"/>
              <a:buChar char="•"/>
              <a:defRPr sz="2600">
                <a:solidFill>
                  <a:srgbClr val="000000"/>
                </a:solidFill>
              </a:defRPr>
            </a:lvl2pPr>
            <a:lvl3pPr marL="1523962" indent="-304792">
              <a:buClr>
                <a:schemeClr val="accent1"/>
              </a:buClr>
              <a:buFont typeface="Arial" panose="020B0604020202020204" pitchFamily="34" charset="0"/>
              <a:buChar char="•"/>
              <a:defRPr sz="2600">
                <a:solidFill>
                  <a:srgbClr val="000000"/>
                </a:solidFill>
              </a:defRPr>
            </a:lvl3pPr>
            <a:lvl4pPr marL="2133547" indent="-304792">
              <a:buClr>
                <a:schemeClr val="accent1"/>
              </a:buClr>
              <a:buFont typeface="Arial" panose="020B0604020202020204" pitchFamily="34" charset="0"/>
              <a:buChar char="•"/>
              <a:defRPr sz="2600">
                <a:solidFill>
                  <a:srgbClr val="000000"/>
                </a:solidFill>
              </a:defRPr>
            </a:lvl4pPr>
            <a:lvl5pPr marL="2743131" indent="-304792">
              <a:buClr>
                <a:schemeClr val="accent1"/>
              </a:buClr>
              <a:buFont typeface="Arial" panose="020B0604020202020204" pitchFamily="34" charset="0"/>
              <a:buChar char="•"/>
              <a:defRPr sz="2600">
                <a:solidFill>
                  <a:srgbClr val="000000"/>
                </a:solidFill>
              </a:defRPr>
            </a:lvl5pPr>
          </a:lstStyle>
          <a:p>
            <a:pPr lvl="0"/>
            <a:r>
              <a:rPr lang="en-GB" dirty="0"/>
              <a:t>Click to add text or click one of the icons below to insert media</a:t>
            </a:r>
          </a:p>
        </p:txBody>
      </p:sp>
      <p:sp>
        <p:nvSpPr>
          <p:cNvPr id="11" name="Content Placeholder 9">
            <a:extLst>
              <a:ext uri="{FF2B5EF4-FFF2-40B4-BE49-F238E27FC236}">
                <a16:creationId xmlns:a16="http://schemas.microsoft.com/office/drawing/2014/main" id="{41675E5F-BA56-6DCE-7584-0ADE83BF6DA3}"/>
              </a:ext>
            </a:extLst>
          </p:cNvPr>
          <p:cNvSpPr>
            <a:spLocks noGrp="1"/>
          </p:cNvSpPr>
          <p:nvPr>
            <p:ph sz="quarter" idx="13" hasCustomPrompt="1"/>
          </p:nvPr>
        </p:nvSpPr>
        <p:spPr>
          <a:xfrm>
            <a:off x="1117600" y="2269322"/>
            <a:ext cx="4435365" cy="5784601"/>
          </a:xfrm>
        </p:spPr>
        <p:txBody>
          <a:bodyPr>
            <a:no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1"/>
              </a:buClr>
              <a:buFont typeface="Arial" panose="020B0604020202020204" pitchFamily="34" charset="0"/>
              <a:buChar char="•"/>
              <a:defRPr sz="2600">
                <a:solidFill>
                  <a:srgbClr val="000000"/>
                </a:solidFill>
              </a:defRPr>
            </a:lvl2pPr>
            <a:lvl3pPr marL="1523962" indent="-304792">
              <a:buClr>
                <a:schemeClr val="accent1"/>
              </a:buClr>
              <a:buFont typeface="Arial" panose="020B0604020202020204" pitchFamily="34" charset="0"/>
              <a:buChar char="•"/>
              <a:defRPr sz="2600">
                <a:solidFill>
                  <a:srgbClr val="000000"/>
                </a:solidFill>
              </a:defRPr>
            </a:lvl3pPr>
            <a:lvl4pPr marL="2133547" indent="-304792">
              <a:buClr>
                <a:schemeClr val="accent1"/>
              </a:buClr>
              <a:buFont typeface="Arial" panose="020B0604020202020204" pitchFamily="34" charset="0"/>
              <a:buChar char="•"/>
              <a:defRPr sz="2600">
                <a:solidFill>
                  <a:srgbClr val="000000"/>
                </a:solidFill>
              </a:defRPr>
            </a:lvl4pPr>
            <a:lvl5pPr marL="2743131" indent="-304792">
              <a:buClr>
                <a:schemeClr val="accent1"/>
              </a:buClr>
              <a:buFont typeface="Arial" panose="020B0604020202020204" pitchFamily="34" charset="0"/>
              <a:buChar char="•"/>
              <a:defRPr sz="2600">
                <a:solidFill>
                  <a:srgbClr val="000000"/>
                </a:solidFill>
              </a:defRPr>
            </a:lvl5pPr>
          </a:lstStyle>
          <a:p>
            <a:pPr lvl="0"/>
            <a:r>
              <a:rPr lang="en-GB" dirty="0"/>
              <a:t>Click to add text or click one of the icons below to insert media</a:t>
            </a:r>
          </a:p>
        </p:txBody>
      </p:sp>
      <p:sp>
        <p:nvSpPr>
          <p:cNvPr id="6" name="Footer Placeholder 4">
            <a:extLst>
              <a:ext uri="{FF2B5EF4-FFF2-40B4-BE49-F238E27FC236}">
                <a16:creationId xmlns:a16="http://schemas.microsoft.com/office/drawing/2014/main" id="{79593CB2-6696-ADC3-FC45-ED65D7E9C798}"/>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7" name="Slide Number Placeholder 5">
            <a:extLst>
              <a:ext uri="{FF2B5EF4-FFF2-40B4-BE49-F238E27FC236}">
                <a16:creationId xmlns:a16="http://schemas.microsoft.com/office/drawing/2014/main" id="{CA2C8A32-0929-1533-11B3-52A19F702984}"/>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2" name="Text Placeholder 7">
            <a:extLst>
              <a:ext uri="{FF2B5EF4-FFF2-40B4-BE49-F238E27FC236}">
                <a16:creationId xmlns:a16="http://schemas.microsoft.com/office/drawing/2014/main" id="{678E6DBA-36BB-2D08-FD0B-EC3034A6A7C8}"/>
              </a:ext>
            </a:extLst>
          </p:cNvPr>
          <p:cNvSpPr>
            <a:spLocks noGrp="1"/>
          </p:cNvSpPr>
          <p:nvPr>
            <p:ph type="body" sz="quarter" idx="24" hasCustomPrompt="1"/>
          </p:nvPr>
        </p:nvSpPr>
        <p:spPr>
          <a:xfrm>
            <a:off x="1117601" y="1214783"/>
            <a:ext cx="13906503"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Tree>
    <p:extLst>
      <p:ext uri="{BB962C8B-B14F-4D97-AF65-F5344CB8AC3E}">
        <p14:creationId xmlns:p14="http://schemas.microsoft.com/office/powerpoint/2010/main" val="460994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ur columns">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3923166" cy="809696"/>
          </a:xfrm>
        </p:spPr>
        <p:txBody>
          <a:bodyPr>
            <a:normAutofit/>
          </a:bodyPr>
          <a:lstStyle>
            <a:lvl1pPr>
              <a:defRPr sz="4400" cap="none" baseline="0"/>
            </a:lvl1pPr>
          </a:lstStyle>
          <a:p>
            <a:r>
              <a:rPr lang="en-US" dirty="0"/>
              <a:t>Title</a:t>
            </a:r>
            <a:endParaRPr lang="en-GB" dirty="0"/>
          </a:p>
        </p:txBody>
      </p:sp>
      <p:sp>
        <p:nvSpPr>
          <p:cNvPr id="11" name="Content Placeholder 9">
            <a:extLst>
              <a:ext uri="{FF2B5EF4-FFF2-40B4-BE49-F238E27FC236}">
                <a16:creationId xmlns:a16="http://schemas.microsoft.com/office/drawing/2014/main" id="{41675E5F-BA56-6DCE-7584-0ADE83BF6DA3}"/>
              </a:ext>
            </a:extLst>
          </p:cNvPr>
          <p:cNvSpPr>
            <a:spLocks noGrp="1"/>
          </p:cNvSpPr>
          <p:nvPr>
            <p:ph sz="quarter" idx="13" hasCustomPrompt="1"/>
          </p:nvPr>
        </p:nvSpPr>
        <p:spPr>
          <a:xfrm>
            <a:off x="1117600" y="2269322"/>
            <a:ext cx="3193143" cy="5784601"/>
          </a:xfrm>
        </p:spPr>
        <p:txBody>
          <a:bodyPr>
            <a:no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1"/>
              </a:buClr>
              <a:buFont typeface="Arial" panose="020B0604020202020204" pitchFamily="34" charset="0"/>
              <a:buChar char="•"/>
              <a:defRPr sz="2600">
                <a:solidFill>
                  <a:srgbClr val="000000"/>
                </a:solidFill>
              </a:defRPr>
            </a:lvl2pPr>
            <a:lvl3pPr marL="1523962" indent="-304792">
              <a:buClr>
                <a:schemeClr val="accent1"/>
              </a:buClr>
              <a:buFont typeface="Arial" panose="020B0604020202020204" pitchFamily="34" charset="0"/>
              <a:buChar char="•"/>
              <a:defRPr sz="2600">
                <a:solidFill>
                  <a:srgbClr val="000000"/>
                </a:solidFill>
              </a:defRPr>
            </a:lvl3pPr>
            <a:lvl4pPr marL="2133547" indent="-304792">
              <a:buClr>
                <a:schemeClr val="accent1"/>
              </a:buClr>
              <a:buFont typeface="Arial" panose="020B0604020202020204" pitchFamily="34" charset="0"/>
              <a:buChar char="•"/>
              <a:defRPr sz="2600">
                <a:solidFill>
                  <a:srgbClr val="000000"/>
                </a:solidFill>
              </a:defRPr>
            </a:lvl4pPr>
            <a:lvl5pPr marL="2743131" indent="-304792">
              <a:buClr>
                <a:schemeClr val="accent1"/>
              </a:buClr>
              <a:buFont typeface="Arial" panose="020B0604020202020204" pitchFamily="34" charset="0"/>
              <a:buChar char="•"/>
              <a:defRPr sz="2600">
                <a:solidFill>
                  <a:srgbClr val="000000"/>
                </a:solidFill>
              </a:defRPr>
            </a:lvl5pPr>
          </a:lstStyle>
          <a:p>
            <a:pPr lvl="0"/>
            <a:r>
              <a:rPr lang="en-GB" dirty="0"/>
              <a:t>Click to add text or click one of the icons below to insert media</a:t>
            </a:r>
          </a:p>
        </p:txBody>
      </p:sp>
      <p:sp>
        <p:nvSpPr>
          <p:cNvPr id="6" name="Footer Placeholder 4">
            <a:extLst>
              <a:ext uri="{FF2B5EF4-FFF2-40B4-BE49-F238E27FC236}">
                <a16:creationId xmlns:a16="http://schemas.microsoft.com/office/drawing/2014/main" id="{79593CB2-6696-ADC3-FC45-ED65D7E9C798}"/>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7" name="Slide Number Placeholder 5">
            <a:extLst>
              <a:ext uri="{FF2B5EF4-FFF2-40B4-BE49-F238E27FC236}">
                <a16:creationId xmlns:a16="http://schemas.microsoft.com/office/drawing/2014/main" id="{CA2C8A32-0929-1533-11B3-52A19F702984}"/>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2" name="Text Placeholder 7">
            <a:extLst>
              <a:ext uri="{FF2B5EF4-FFF2-40B4-BE49-F238E27FC236}">
                <a16:creationId xmlns:a16="http://schemas.microsoft.com/office/drawing/2014/main" id="{678E6DBA-36BB-2D08-FD0B-EC3034A6A7C8}"/>
              </a:ext>
            </a:extLst>
          </p:cNvPr>
          <p:cNvSpPr>
            <a:spLocks noGrp="1"/>
          </p:cNvSpPr>
          <p:nvPr>
            <p:ph type="body" sz="quarter" idx="24" hasCustomPrompt="1"/>
          </p:nvPr>
        </p:nvSpPr>
        <p:spPr>
          <a:xfrm>
            <a:off x="1117601" y="1214783"/>
            <a:ext cx="13906503"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
        <p:nvSpPr>
          <p:cNvPr id="8" name="Content Placeholder 9">
            <a:extLst>
              <a:ext uri="{FF2B5EF4-FFF2-40B4-BE49-F238E27FC236}">
                <a16:creationId xmlns:a16="http://schemas.microsoft.com/office/drawing/2014/main" id="{CED9682E-9637-9A79-3C2C-9884B99CC38F}"/>
              </a:ext>
            </a:extLst>
          </p:cNvPr>
          <p:cNvSpPr>
            <a:spLocks noGrp="1"/>
          </p:cNvSpPr>
          <p:nvPr>
            <p:ph sz="quarter" idx="25" hasCustomPrompt="1"/>
          </p:nvPr>
        </p:nvSpPr>
        <p:spPr>
          <a:xfrm>
            <a:off x="4692953" y="2269322"/>
            <a:ext cx="3193143" cy="5784601"/>
          </a:xfrm>
        </p:spPr>
        <p:txBody>
          <a:bodyPr>
            <a:no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1"/>
              </a:buClr>
              <a:buFont typeface="Arial" panose="020B0604020202020204" pitchFamily="34" charset="0"/>
              <a:buChar char="•"/>
              <a:defRPr sz="2600">
                <a:solidFill>
                  <a:srgbClr val="000000"/>
                </a:solidFill>
              </a:defRPr>
            </a:lvl2pPr>
            <a:lvl3pPr marL="1523962" indent="-304792">
              <a:buClr>
                <a:schemeClr val="accent1"/>
              </a:buClr>
              <a:buFont typeface="Arial" panose="020B0604020202020204" pitchFamily="34" charset="0"/>
              <a:buChar char="•"/>
              <a:defRPr sz="2600">
                <a:solidFill>
                  <a:srgbClr val="000000"/>
                </a:solidFill>
              </a:defRPr>
            </a:lvl3pPr>
            <a:lvl4pPr marL="2133547" indent="-304792">
              <a:buClr>
                <a:schemeClr val="accent1"/>
              </a:buClr>
              <a:buFont typeface="Arial" panose="020B0604020202020204" pitchFamily="34" charset="0"/>
              <a:buChar char="•"/>
              <a:defRPr sz="2600">
                <a:solidFill>
                  <a:srgbClr val="000000"/>
                </a:solidFill>
              </a:defRPr>
            </a:lvl4pPr>
            <a:lvl5pPr marL="2743131" indent="-304792">
              <a:buClr>
                <a:schemeClr val="accent1"/>
              </a:buClr>
              <a:buFont typeface="Arial" panose="020B0604020202020204" pitchFamily="34" charset="0"/>
              <a:buChar char="•"/>
              <a:defRPr sz="2600">
                <a:solidFill>
                  <a:srgbClr val="000000"/>
                </a:solidFill>
              </a:defRPr>
            </a:lvl5pPr>
          </a:lstStyle>
          <a:p>
            <a:pPr marL="0" marR="0" lvl="0" indent="0" algn="l" defTabSz="1219170" rtl="0" eaLnBrk="1" fontAlgn="auto" latinLnBrk="0" hangingPunct="1">
              <a:lnSpc>
                <a:spcPct val="100000"/>
              </a:lnSpc>
              <a:spcBef>
                <a:spcPts val="1333"/>
              </a:spcBef>
              <a:spcAft>
                <a:spcPts val="0"/>
              </a:spcAft>
              <a:buClr>
                <a:schemeClr val="accent3"/>
              </a:buClr>
              <a:buSzTx/>
              <a:buFont typeface="Arial" panose="020B0604020202020204" pitchFamily="34" charset="0"/>
              <a:buNone/>
              <a:tabLst/>
              <a:defRPr/>
            </a:pPr>
            <a:r>
              <a:rPr lang="en-GB" dirty="0"/>
              <a:t>Click to add text or click one of the icons below to insert media</a:t>
            </a:r>
          </a:p>
          <a:p>
            <a:pPr lvl="0"/>
            <a:endParaRPr lang="en-GB" dirty="0"/>
          </a:p>
        </p:txBody>
      </p:sp>
      <p:sp>
        <p:nvSpPr>
          <p:cNvPr id="12" name="Content Placeholder 9">
            <a:extLst>
              <a:ext uri="{FF2B5EF4-FFF2-40B4-BE49-F238E27FC236}">
                <a16:creationId xmlns:a16="http://schemas.microsoft.com/office/drawing/2014/main" id="{441C2E98-E532-B7AA-99DE-FDD3C8C7909C}"/>
              </a:ext>
            </a:extLst>
          </p:cNvPr>
          <p:cNvSpPr>
            <a:spLocks noGrp="1"/>
          </p:cNvSpPr>
          <p:nvPr>
            <p:ph sz="quarter" idx="26" hasCustomPrompt="1"/>
          </p:nvPr>
        </p:nvSpPr>
        <p:spPr>
          <a:xfrm>
            <a:off x="8268306" y="2269322"/>
            <a:ext cx="3193143" cy="5784601"/>
          </a:xfrm>
        </p:spPr>
        <p:txBody>
          <a:bodyPr>
            <a:no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1"/>
              </a:buClr>
              <a:buFont typeface="Arial" panose="020B0604020202020204" pitchFamily="34" charset="0"/>
              <a:buChar char="•"/>
              <a:defRPr sz="2600">
                <a:solidFill>
                  <a:srgbClr val="000000"/>
                </a:solidFill>
              </a:defRPr>
            </a:lvl2pPr>
            <a:lvl3pPr marL="1523962" indent="-304792">
              <a:buClr>
                <a:schemeClr val="accent1"/>
              </a:buClr>
              <a:buFont typeface="Arial" panose="020B0604020202020204" pitchFamily="34" charset="0"/>
              <a:buChar char="•"/>
              <a:defRPr sz="2600">
                <a:solidFill>
                  <a:srgbClr val="000000"/>
                </a:solidFill>
              </a:defRPr>
            </a:lvl3pPr>
            <a:lvl4pPr marL="2133547" indent="-304792">
              <a:buClr>
                <a:schemeClr val="accent1"/>
              </a:buClr>
              <a:buFont typeface="Arial" panose="020B0604020202020204" pitchFamily="34" charset="0"/>
              <a:buChar char="•"/>
              <a:defRPr sz="2600">
                <a:solidFill>
                  <a:srgbClr val="000000"/>
                </a:solidFill>
              </a:defRPr>
            </a:lvl4pPr>
            <a:lvl5pPr marL="2743131" indent="-304792">
              <a:buClr>
                <a:schemeClr val="accent1"/>
              </a:buClr>
              <a:buFont typeface="Arial" panose="020B0604020202020204" pitchFamily="34" charset="0"/>
              <a:buChar char="•"/>
              <a:defRPr sz="2600">
                <a:solidFill>
                  <a:srgbClr val="000000"/>
                </a:solidFill>
              </a:defRPr>
            </a:lvl5pPr>
          </a:lstStyle>
          <a:p>
            <a:pPr marL="0" marR="0" lvl="0" indent="0" algn="l" defTabSz="1219170" rtl="0" eaLnBrk="1" fontAlgn="auto" latinLnBrk="0" hangingPunct="1">
              <a:lnSpc>
                <a:spcPct val="100000"/>
              </a:lnSpc>
              <a:spcBef>
                <a:spcPts val="1333"/>
              </a:spcBef>
              <a:spcAft>
                <a:spcPts val="0"/>
              </a:spcAft>
              <a:buClr>
                <a:schemeClr val="accent3"/>
              </a:buClr>
              <a:buSzTx/>
              <a:buFont typeface="Arial" panose="020B0604020202020204" pitchFamily="34" charset="0"/>
              <a:buNone/>
              <a:tabLst/>
              <a:defRPr/>
            </a:pPr>
            <a:r>
              <a:rPr lang="en-GB" dirty="0"/>
              <a:t>Click to add text or click one of the icons below to insert media</a:t>
            </a:r>
          </a:p>
          <a:p>
            <a:pPr lvl="0"/>
            <a:endParaRPr lang="en-GB" dirty="0"/>
          </a:p>
        </p:txBody>
      </p:sp>
      <p:sp>
        <p:nvSpPr>
          <p:cNvPr id="13" name="Content Placeholder 9">
            <a:extLst>
              <a:ext uri="{FF2B5EF4-FFF2-40B4-BE49-F238E27FC236}">
                <a16:creationId xmlns:a16="http://schemas.microsoft.com/office/drawing/2014/main" id="{4C4DF2BD-647C-8875-244B-203CEF15829C}"/>
              </a:ext>
            </a:extLst>
          </p:cNvPr>
          <p:cNvSpPr>
            <a:spLocks noGrp="1"/>
          </p:cNvSpPr>
          <p:nvPr>
            <p:ph sz="quarter" idx="27" hasCustomPrompt="1"/>
          </p:nvPr>
        </p:nvSpPr>
        <p:spPr>
          <a:xfrm>
            <a:off x="11843658" y="2269322"/>
            <a:ext cx="3193143" cy="5784601"/>
          </a:xfrm>
        </p:spPr>
        <p:txBody>
          <a:bodyPr>
            <a:noAutofit/>
          </a:bodyPr>
          <a:lstStyle>
            <a:lvl1pPr marL="304792" indent="-304792">
              <a:buClr>
                <a:schemeClr val="accent3"/>
              </a:buClr>
              <a:buFont typeface="Arial" panose="020B0604020202020204" pitchFamily="34" charset="0"/>
              <a:buChar char="•"/>
              <a:defRPr sz="2600">
                <a:solidFill>
                  <a:schemeClr val="tx1"/>
                </a:solidFill>
              </a:defRPr>
            </a:lvl1pPr>
            <a:lvl2pPr marL="914377" indent="-304792">
              <a:buClr>
                <a:schemeClr val="accent1"/>
              </a:buClr>
              <a:buFont typeface="Arial" panose="020B0604020202020204" pitchFamily="34" charset="0"/>
              <a:buChar char="•"/>
              <a:defRPr sz="2600">
                <a:solidFill>
                  <a:srgbClr val="000000"/>
                </a:solidFill>
              </a:defRPr>
            </a:lvl2pPr>
            <a:lvl3pPr marL="1523962" indent="-304792">
              <a:buClr>
                <a:schemeClr val="accent1"/>
              </a:buClr>
              <a:buFont typeface="Arial" panose="020B0604020202020204" pitchFamily="34" charset="0"/>
              <a:buChar char="•"/>
              <a:defRPr sz="2600">
                <a:solidFill>
                  <a:srgbClr val="000000"/>
                </a:solidFill>
              </a:defRPr>
            </a:lvl3pPr>
            <a:lvl4pPr marL="2133547" indent="-304792">
              <a:buClr>
                <a:schemeClr val="accent1"/>
              </a:buClr>
              <a:buFont typeface="Arial" panose="020B0604020202020204" pitchFamily="34" charset="0"/>
              <a:buChar char="•"/>
              <a:defRPr sz="2600">
                <a:solidFill>
                  <a:srgbClr val="000000"/>
                </a:solidFill>
              </a:defRPr>
            </a:lvl4pPr>
            <a:lvl5pPr marL="2743131" indent="-304792">
              <a:buClr>
                <a:schemeClr val="accent1"/>
              </a:buClr>
              <a:buFont typeface="Arial" panose="020B0604020202020204" pitchFamily="34" charset="0"/>
              <a:buChar char="•"/>
              <a:defRPr sz="2600">
                <a:solidFill>
                  <a:srgbClr val="000000"/>
                </a:solidFill>
              </a:defRPr>
            </a:lvl5pPr>
          </a:lstStyle>
          <a:p>
            <a:pPr marL="0" marR="0" lvl="0" indent="0" algn="l" defTabSz="1219170" rtl="0" eaLnBrk="1" fontAlgn="auto" latinLnBrk="0" hangingPunct="1">
              <a:lnSpc>
                <a:spcPct val="100000"/>
              </a:lnSpc>
              <a:spcBef>
                <a:spcPts val="1333"/>
              </a:spcBef>
              <a:spcAft>
                <a:spcPts val="0"/>
              </a:spcAft>
              <a:buClr>
                <a:schemeClr val="accent3"/>
              </a:buClr>
              <a:buSzTx/>
              <a:buFont typeface="Arial" panose="020B0604020202020204" pitchFamily="34" charset="0"/>
              <a:buNone/>
              <a:tabLst/>
              <a:defRPr/>
            </a:pPr>
            <a:r>
              <a:rPr lang="en-GB" dirty="0"/>
              <a:t>Click to add text or click one of the icons below to insert media</a:t>
            </a:r>
          </a:p>
          <a:p>
            <a:pPr marL="0" indent="0">
              <a:buNone/>
            </a:pPr>
            <a:endParaRPr lang="en-GB" dirty="0"/>
          </a:p>
        </p:txBody>
      </p:sp>
    </p:spTree>
    <p:extLst>
      <p:ext uri="{BB962C8B-B14F-4D97-AF65-F5344CB8AC3E}">
        <p14:creationId xmlns:p14="http://schemas.microsoft.com/office/powerpoint/2010/main" val="4240001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flowing columns">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18882"/>
          </a:xfrm>
        </p:spPr>
        <p:txBody>
          <a:bodyPr>
            <a:normAutofit/>
          </a:bodyPr>
          <a:lstStyle>
            <a:lvl1pPr>
              <a:defRPr sz="4400" cap="none" baseline="0"/>
            </a:lvl1pPr>
          </a:lstStyle>
          <a:p>
            <a:r>
              <a:rPr lang="en-US" dirty="0"/>
              <a:t>Title</a:t>
            </a:r>
            <a:endParaRPr lang="en-GB" dirty="0"/>
          </a:p>
        </p:txBody>
      </p:sp>
      <p:sp>
        <p:nvSpPr>
          <p:cNvPr id="15" name="Text Placeholder 7">
            <a:extLst>
              <a:ext uri="{FF2B5EF4-FFF2-40B4-BE49-F238E27FC236}">
                <a16:creationId xmlns:a16="http://schemas.microsoft.com/office/drawing/2014/main" id="{DD26DE28-F20D-4AC8-830A-0B227BBF3E71}"/>
              </a:ext>
            </a:extLst>
          </p:cNvPr>
          <p:cNvSpPr>
            <a:spLocks noGrp="1"/>
          </p:cNvSpPr>
          <p:nvPr>
            <p:ph type="body" sz="quarter" idx="24" hasCustomPrompt="1"/>
          </p:nvPr>
        </p:nvSpPr>
        <p:spPr>
          <a:xfrm>
            <a:off x="1117601" y="1214783"/>
            <a:ext cx="14020798"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
        <p:nvSpPr>
          <p:cNvPr id="6" name="Footer Placeholder 4">
            <a:extLst>
              <a:ext uri="{FF2B5EF4-FFF2-40B4-BE49-F238E27FC236}">
                <a16:creationId xmlns:a16="http://schemas.microsoft.com/office/drawing/2014/main" id="{8F9D7237-5CD7-6037-7D60-81DA36BE7AA4}"/>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7" name="Slide Number Placeholder 5">
            <a:extLst>
              <a:ext uri="{FF2B5EF4-FFF2-40B4-BE49-F238E27FC236}">
                <a16:creationId xmlns:a16="http://schemas.microsoft.com/office/drawing/2014/main" id="{7B4B538E-25FF-2CD8-CF5C-A8AD3F07FE13}"/>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2" name="Text Placeholder 5">
            <a:extLst>
              <a:ext uri="{FF2B5EF4-FFF2-40B4-BE49-F238E27FC236}">
                <a16:creationId xmlns:a16="http://schemas.microsoft.com/office/drawing/2014/main" id="{51A82075-318E-FE63-214B-277AB26AD95E}"/>
              </a:ext>
            </a:extLst>
          </p:cNvPr>
          <p:cNvSpPr>
            <a:spLocks noGrp="1"/>
          </p:cNvSpPr>
          <p:nvPr>
            <p:ph type="body" sz="quarter" idx="13" hasCustomPrompt="1"/>
          </p:nvPr>
        </p:nvSpPr>
        <p:spPr>
          <a:xfrm>
            <a:off x="1117600" y="2033665"/>
            <a:ext cx="14020798" cy="5895552"/>
          </a:xfrm>
        </p:spPr>
        <p:txBody>
          <a:bodyPr numCol="2" spcCol="540000"/>
          <a:lstStyle>
            <a:lvl1pPr marL="0" indent="0">
              <a:buNone/>
              <a:defRPr/>
            </a:lvl1pPr>
          </a:lstStyle>
          <a:p>
            <a:pPr lvl="0"/>
            <a:r>
              <a:rPr lang="en-GB" dirty="0"/>
              <a:t>Click to insert text which flows over 2 columns</a:t>
            </a:r>
          </a:p>
        </p:txBody>
      </p:sp>
    </p:spTree>
    <p:extLst>
      <p:ext uri="{BB962C8B-B14F-4D97-AF65-F5344CB8AC3E}">
        <p14:creationId xmlns:p14="http://schemas.microsoft.com/office/powerpoint/2010/main" val="2781990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 flowing columns">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18882"/>
          </a:xfrm>
        </p:spPr>
        <p:txBody>
          <a:bodyPr>
            <a:normAutofit/>
          </a:bodyPr>
          <a:lstStyle>
            <a:lvl1pPr>
              <a:defRPr sz="4400" cap="none" baseline="0"/>
            </a:lvl1pPr>
          </a:lstStyle>
          <a:p>
            <a:r>
              <a:rPr lang="en-US" dirty="0"/>
              <a:t>Title</a:t>
            </a:r>
            <a:endParaRPr lang="en-GB" dirty="0"/>
          </a:p>
        </p:txBody>
      </p:sp>
      <p:sp>
        <p:nvSpPr>
          <p:cNvPr id="15" name="Text Placeholder 7">
            <a:extLst>
              <a:ext uri="{FF2B5EF4-FFF2-40B4-BE49-F238E27FC236}">
                <a16:creationId xmlns:a16="http://schemas.microsoft.com/office/drawing/2014/main" id="{DD26DE28-F20D-4AC8-830A-0B227BBF3E71}"/>
              </a:ext>
            </a:extLst>
          </p:cNvPr>
          <p:cNvSpPr>
            <a:spLocks noGrp="1"/>
          </p:cNvSpPr>
          <p:nvPr>
            <p:ph type="body" sz="quarter" idx="24" hasCustomPrompt="1"/>
          </p:nvPr>
        </p:nvSpPr>
        <p:spPr>
          <a:xfrm>
            <a:off x="1117601" y="1214783"/>
            <a:ext cx="14020798"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
        <p:nvSpPr>
          <p:cNvPr id="6" name="Footer Placeholder 4">
            <a:extLst>
              <a:ext uri="{FF2B5EF4-FFF2-40B4-BE49-F238E27FC236}">
                <a16:creationId xmlns:a16="http://schemas.microsoft.com/office/drawing/2014/main" id="{8F9D7237-5CD7-6037-7D60-81DA36BE7AA4}"/>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7" name="Slide Number Placeholder 5">
            <a:extLst>
              <a:ext uri="{FF2B5EF4-FFF2-40B4-BE49-F238E27FC236}">
                <a16:creationId xmlns:a16="http://schemas.microsoft.com/office/drawing/2014/main" id="{7B4B538E-25FF-2CD8-CF5C-A8AD3F07FE13}"/>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3" name="Text Placeholder 5">
            <a:extLst>
              <a:ext uri="{FF2B5EF4-FFF2-40B4-BE49-F238E27FC236}">
                <a16:creationId xmlns:a16="http://schemas.microsoft.com/office/drawing/2014/main" id="{B277027B-C185-A30F-5AED-F092B2367762}"/>
              </a:ext>
            </a:extLst>
          </p:cNvPr>
          <p:cNvSpPr>
            <a:spLocks noGrp="1"/>
          </p:cNvSpPr>
          <p:nvPr>
            <p:ph type="body" sz="quarter" idx="13" hasCustomPrompt="1"/>
          </p:nvPr>
        </p:nvSpPr>
        <p:spPr>
          <a:xfrm>
            <a:off x="1117600" y="2112532"/>
            <a:ext cx="13985257" cy="5625287"/>
          </a:xfrm>
        </p:spPr>
        <p:txBody>
          <a:bodyPr numCol="3" spcCol="360000"/>
          <a:lstStyle>
            <a:lvl1pPr marL="0" indent="0" algn="l">
              <a:buNone/>
              <a:defRPr/>
            </a:lvl1pPr>
          </a:lstStyle>
          <a:p>
            <a:pPr lvl="0"/>
            <a:r>
              <a:rPr lang="en-GB" dirty="0"/>
              <a:t>Click to insert text which flows over 3 columns</a:t>
            </a:r>
          </a:p>
        </p:txBody>
      </p:sp>
    </p:spTree>
    <p:extLst>
      <p:ext uri="{BB962C8B-B14F-4D97-AF65-F5344CB8AC3E}">
        <p14:creationId xmlns:p14="http://schemas.microsoft.com/office/powerpoint/2010/main" val="26199424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 flowing columns">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18882"/>
          </a:xfrm>
        </p:spPr>
        <p:txBody>
          <a:bodyPr>
            <a:normAutofit/>
          </a:bodyPr>
          <a:lstStyle>
            <a:lvl1pPr>
              <a:defRPr sz="4400" cap="none" baseline="0"/>
            </a:lvl1pPr>
          </a:lstStyle>
          <a:p>
            <a:r>
              <a:rPr lang="en-US" dirty="0"/>
              <a:t>Title</a:t>
            </a:r>
            <a:endParaRPr lang="en-GB" dirty="0"/>
          </a:p>
        </p:txBody>
      </p:sp>
      <p:sp>
        <p:nvSpPr>
          <p:cNvPr id="15" name="Text Placeholder 7">
            <a:extLst>
              <a:ext uri="{FF2B5EF4-FFF2-40B4-BE49-F238E27FC236}">
                <a16:creationId xmlns:a16="http://schemas.microsoft.com/office/drawing/2014/main" id="{DD26DE28-F20D-4AC8-830A-0B227BBF3E71}"/>
              </a:ext>
            </a:extLst>
          </p:cNvPr>
          <p:cNvSpPr>
            <a:spLocks noGrp="1"/>
          </p:cNvSpPr>
          <p:nvPr>
            <p:ph type="body" sz="quarter" idx="24" hasCustomPrompt="1"/>
          </p:nvPr>
        </p:nvSpPr>
        <p:spPr>
          <a:xfrm>
            <a:off x="1117601" y="1214783"/>
            <a:ext cx="14020798"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
        <p:nvSpPr>
          <p:cNvPr id="6" name="Footer Placeholder 4">
            <a:extLst>
              <a:ext uri="{FF2B5EF4-FFF2-40B4-BE49-F238E27FC236}">
                <a16:creationId xmlns:a16="http://schemas.microsoft.com/office/drawing/2014/main" id="{8F9D7237-5CD7-6037-7D60-81DA36BE7AA4}"/>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7" name="Slide Number Placeholder 5">
            <a:extLst>
              <a:ext uri="{FF2B5EF4-FFF2-40B4-BE49-F238E27FC236}">
                <a16:creationId xmlns:a16="http://schemas.microsoft.com/office/drawing/2014/main" id="{7B4B538E-25FF-2CD8-CF5C-A8AD3F07FE13}"/>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2" name="Text Placeholder 5">
            <a:extLst>
              <a:ext uri="{FF2B5EF4-FFF2-40B4-BE49-F238E27FC236}">
                <a16:creationId xmlns:a16="http://schemas.microsoft.com/office/drawing/2014/main" id="{6D0E0B45-EF5B-71C0-EE7B-708421866330}"/>
              </a:ext>
            </a:extLst>
          </p:cNvPr>
          <p:cNvSpPr>
            <a:spLocks noGrp="1"/>
          </p:cNvSpPr>
          <p:nvPr>
            <p:ph type="body" sz="quarter" idx="13" hasCustomPrompt="1"/>
          </p:nvPr>
        </p:nvSpPr>
        <p:spPr>
          <a:xfrm>
            <a:off x="1117600" y="2033665"/>
            <a:ext cx="13985257" cy="6036278"/>
          </a:xfrm>
        </p:spPr>
        <p:txBody>
          <a:bodyPr numCol="4" spcCol="360000"/>
          <a:lstStyle>
            <a:lvl1pPr marL="0" indent="0">
              <a:buNone/>
              <a:defRPr b="0" i="0">
                <a:latin typeface="Arial Light" pitchFamily="2" charset="77"/>
                <a:cs typeface="Arial" panose="020B0604020202020204" pitchFamily="34" charset="0"/>
              </a:defRPr>
            </a:lvl1pPr>
            <a:lvl2pPr>
              <a:defRPr b="0" i="0">
                <a:latin typeface="Arial Light" pitchFamily="2" charset="77"/>
                <a:cs typeface="Arial" panose="020B0604020202020204" pitchFamily="34" charset="0"/>
              </a:defRPr>
            </a:lvl2pPr>
            <a:lvl3pPr>
              <a:defRPr b="0" i="0">
                <a:latin typeface="Arial Light" pitchFamily="2" charset="77"/>
                <a:cs typeface="Arial" panose="020B0604020202020204" pitchFamily="34" charset="0"/>
              </a:defRPr>
            </a:lvl3pPr>
            <a:lvl4pPr>
              <a:defRPr b="0" i="0">
                <a:latin typeface="Arial Light" pitchFamily="2" charset="77"/>
                <a:cs typeface="Arial" panose="020B0604020202020204" pitchFamily="34" charset="0"/>
              </a:defRPr>
            </a:lvl4pPr>
            <a:lvl5pPr>
              <a:defRPr b="0" i="0">
                <a:latin typeface="Arial Light" pitchFamily="2" charset="77"/>
                <a:cs typeface="Arial" panose="020B0604020202020204" pitchFamily="34" charset="0"/>
              </a:defRPr>
            </a:lvl5pPr>
          </a:lstStyle>
          <a:p>
            <a:pPr lvl="0"/>
            <a:r>
              <a:rPr lang="en-GB" dirty="0"/>
              <a:t>Click to insert text which flows over 4 columns</a:t>
            </a:r>
          </a:p>
        </p:txBody>
      </p:sp>
    </p:spTree>
    <p:extLst>
      <p:ext uri="{BB962C8B-B14F-4D97-AF65-F5344CB8AC3E}">
        <p14:creationId xmlns:p14="http://schemas.microsoft.com/office/powerpoint/2010/main" val="3668838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s - in 3rds">
    <p:spTree>
      <p:nvGrpSpPr>
        <p:cNvPr id="1" name=""/>
        <p:cNvGrpSpPr/>
        <p:nvPr/>
      </p:nvGrpSpPr>
      <p:grpSpPr>
        <a:xfrm>
          <a:off x="0" y="0"/>
          <a:ext cx="0" cy="0"/>
          <a:chOff x="0" y="0"/>
          <a:chExt cx="0" cy="0"/>
        </a:xfrm>
      </p:grpSpPr>
      <p:sp>
        <p:nvSpPr>
          <p:cNvPr id="8" name="Content Placeholder 9">
            <a:extLst>
              <a:ext uri="{FF2B5EF4-FFF2-40B4-BE49-F238E27FC236}">
                <a16:creationId xmlns:a16="http://schemas.microsoft.com/office/drawing/2014/main" id="{A8CB7FDC-00A7-7B90-CE40-65AA02F36E99}"/>
              </a:ext>
            </a:extLst>
          </p:cNvPr>
          <p:cNvSpPr>
            <a:spLocks noGrp="1"/>
          </p:cNvSpPr>
          <p:nvPr>
            <p:ph sz="quarter" idx="25" hasCustomPrompt="1"/>
          </p:nvPr>
        </p:nvSpPr>
        <p:spPr>
          <a:xfrm>
            <a:off x="1104904" y="2269323"/>
            <a:ext cx="9177279" cy="5665310"/>
          </a:xfrm>
          <a:prstGeom prst="rect">
            <a:avLst/>
          </a:prstGeom>
        </p:spPr>
        <p:txBody>
          <a:bodyPr>
            <a:normAutofit/>
          </a:bodyPr>
          <a:lstStyle>
            <a:lvl1pPr marL="0" indent="0">
              <a:buClr>
                <a:schemeClr val="accent3"/>
              </a:buClr>
              <a:buFont typeface="Arial" panose="020B0604020202020204" pitchFamily="34" charset="0"/>
              <a:buNone/>
              <a:defRPr sz="2600" baseline="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1"/>
              </a:buClr>
              <a:buFont typeface="Arial" panose="020B0604020202020204" pitchFamily="34" charset="0"/>
              <a:buChar char="•"/>
              <a:defRPr sz="2600">
                <a:solidFill>
                  <a:schemeClr val="tx1">
                    <a:lumMod val="75000"/>
                    <a:lumOff val="25000"/>
                  </a:schemeClr>
                </a:solidFill>
              </a:defRPr>
            </a:lvl5pPr>
          </a:lstStyle>
          <a:p>
            <a:pPr lvl="0"/>
            <a:r>
              <a:rPr lang="en-GB" dirty="0"/>
              <a:t>Click to add text or click one of </a:t>
            </a:r>
            <a:br>
              <a:rPr lang="en-GB" dirty="0"/>
            </a:br>
            <a:r>
              <a:rPr lang="en-GB" dirty="0"/>
              <a:t>the icons below to insert media</a:t>
            </a:r>
          </a:p>
        </p:txBody>
      </p:sp>
      <p:sp>
        <p:nvSpPr>
          <p:cNvPr id="9" name="Content Placeholder 9">
            <a:extLst>
              <a:ext uri="{FF2B5EF4-FFF2-40B4-BE49-F238E27FC236}">
                <a16:creationId xmlns:a16="http://schemas.microsoft.com/office/drawing/2014/main" id="{45924F48-10A6-D386-6573-95AAB40DB4AE}"/>
              </a:ext>
            </a:extLst>
          </p:cNvPr>
          <p:cNvSpPr>
            <a:spLocks noGrp="1"/>
          </p:cNvSpPr>
          <p:nvPr>
            <p:ph sz="quarter" idx="26" hasCustomPrompt="1"/>
          </p:nvPr>
        </p:nvSpPr>
        <p:spPr>
          <a:xfrm>
            <a:off x="10588739" y="2269309"/>
            <a:ext cx="4514118" cy="5665310"/>
          </a:xfrm>
          <a:prstGeom prst="rect">
            <a:avLst/>
          </a:prstGeo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1"/>
              </a:buClr>
              <a:buFont typeface="Arial" panose="020B0604020202020204" pitchFamily="34" charset="0"/>
              <a:buChar char="•"/>
              <a:defRPr sz="2600">
                <a:solidFill>
                  <a:srgbClr val="000000"/>
                </a:solidFill>
              </a:defRPr>
            </a:lvl2pPr>
            <a:lvl3pPr marL="1523962" indent="-304792">
              <a:buClr>
                <a:schemeClr val="accent1"/>
              </a:buClr>
              <a:buFont typeface="Arial" panose="020B0604020202020204" pitchFamily="34" charset="0"/>
              <a:buChar char="•"/>
              <a:defRPr sz="2600">
                <a:solidFill>
                  <a:srgbClr val="000000"/>
                </a:solidFill>
              </a:defRPr>
            </a:lvl3pPr>
            <a:lvl4pPr marL="2133547" indent="-304792">
              <a:buClr>
                <a:schemeClr val="accent1"/>
              </a:buClr>
              <a:buFont typeface="Arial" panose="020B0604020202020204" pitchFamily="34" charset="0"/>
              <a:buChar char="•"/>
              <a:defRPr sz="2600">
                <a:solidFill>
                  <a:srgbClr val="000000"/>
                </a:solidFill>
              </a:defRPr>
            </a:lvl4pPr>
            <a:lvl5pPr marL="2743131" indent="-304792">
              <a:buClr>
                <a:schemeClr val="accent1"/>
              </a:buClr>
              <a:buFont typeface="Arial" panose="020B0604020202020204" pitchFamily="34" charset="0"/>
              <a:buChar char="•"/>
              <a:defRPr sz="2600">
                <a:solidFill>
                  <a:srgbClr val="000000"/>
                </a:solidFill>
              </a:defRPr>
            </a:lvl5pPr>
          </a:lstStyle>
          <a:p>
            <a:pPr lvl="0"/>
            <a:r>
              <a:rPr lang="en-GB" dirty="0"/>
              <a:t>Click one of the icons</a:t>
            </a:r>
            <a:br>
              <a:rPr lang="en-GB" dirty="0"/>
            </a:br>
            <a:r>
              <a:rPr lang="en-GB" dirty="0"/>
              <a:t> below to insert media</a:t>
            </a:r>
          </a:p>
        </p:txBody>
      </p:sp>
      <p:sp>
        <p:nvSpPr>
          <p:cNvPr id="6" name="Footer Placeholder 4">
            <a:extLst>
              <a:ext uri="{FF2B5EF4-FFF2-40B4-BE49-F238E27FC236}">
                <a16:creationId xmlns:a16="http://schemas.microsoft.com/office/drawing/2014/main" id="{B90F4604-732A-2FB0-E6FF-0331577B71A4}"/>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7" name="Slide Number Placeholder 5">
            <a:extLst>
              <a:ext uri="{FF2B5EF4-FFF2-40B4-BE49-F238E27FC236}">
                <a16:creationId xmlns:a16="http://schemas.microsoft.com/office/drawing/2014/main" id="{E0EEF7A8-D589-FB0C-1734-28318341D14F}"/>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2" name="Text Placeholder 7">
            <a:extLst>
              <a:ext uri="{FF2B5EF4-FFF2-40B4-BE49-F238E27FC236}">
                <a16:creationId xmlns:a16="http://schemas.microsoft.com/office/drawing/2014/main" id="{520053E3-B033-D924-C090-76A8F4A33F97}"/>
              </a:ext>
            </a:extLst>
          </p:cNvPr>
          <p:cNvSpPr>
            <a:spLocks noGrp="1"/>
          </p:cNvSpPr>
          <p:nvPr>
            <p:ph type="body" sz="quarter" idx="24" hasCustomPrompt="1"/>
          </p:nvPr>
        </p:nvSpPr>
        <p:spPr>
          <a:xfrm>
            <a:off x="1117601" y="1214783"/>
            <a:ext cx="13985256"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
        <p:nvSpPr>
          <p:cNvPr id="3" name="Title 1">
            <a:extLst>
              <a:ext uri="{FF2B5EF4-FFF2-40B4-BE49-F238E27FC236}">
                <a16:creationId xmlns:a16="http://schemas.microsoft.com/office/drawing/2014/main" id="{7656508B-9D1D-4B9C-D356-97C518AE379C}"/>
              </a:ext>
            </a:extLst>
          </p:cNvPr>
          <p:cNvSpPr>
            <a:spLocks noGrp="1"/>
          </p:cNvSpPr>
          <p:nvPr>
            <p:ph type="title" hasCustomPrompt="1"/>
          </p:nvPr>
        </p:nvSpPr>
        <p:spPr>
          <a:xfrm>
            <a:off x="1117601" y="405087"/>
            <a:ext cx="14020798" cy="818882"/>
          </a:xfrm>
        </p:spPr>
        <p:txBody>
          <a:bodyPr>
            <a:normAutofit/>
          </a:bodyPr>
          <a:lstStyle>
            <a:lvl1pPr>
              <a:defRPr sz="4400" cap="none" baseline="0"/>
            </a:lvl1pPr>
          </a:lstStyle>
          <a:p>
            <a:r>
              <a:rPr lang="en-US" dirty="0"/>
              <a:t>Title</a:t>
            </a:r>
            <a:endParaRPr lang="en-GB" dirty="0"/>
          </a:p>
        </p:txBody>
      </p:sp>
    </p:spTree>
    <p:extLst>
      <p:ext uri="{BB962C8B-B14F-4D97-AF65-F5344CB8AC3E}">
        <p14:creationId xmlns:p14="http://schemas.microsoft.com/office/powerpoint/2010/main" val="6830896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ingle column + image">
    <p:bg>
      <p:bgPr>
        <a:solidFill>
          <a:schemeClr val="bg1"/>
        </a:solidFill>
        <a:effectLst/>
      </p:bgPr>
    </p:bg>
    <p:spTree>
      <p:nvGrpSpPr>
        <p:cNvPr id="1" name=""/>
        <p:cNvGrpSpPr/>
        <p:nvPr/>
      </p:nvGrpSpPr>
      <p:grpSpPr>
        <a:xfrm>
          <a:off x="0" y="0"/>
          <a:ext cx="0" cy="0"/>
          <a:chOff x="0" y="0"/>
          <a:chExt cx="0" cy="0"/>
        </a:xfrm>
      </p:grpSpPr>
      <p:sp>
        <p:nvSpPr>
          <p:cNvPr id="15" name="Content Placeholder 9">
            <a:extLst>
              <a:ext uri="{FF2B5EF4-FFF2-40B4-BE49-F238E27FC236}">
                <a16:creationId xmlns:a16="http://schemas.microsoft.com/office/drawing/2014/main" id="{32F0192D-E8DE-61E3-DEC9-05AD0EC85990}"/>
              </a:ext>
            </a:extLst>
          </p:cNvPr>
          <p:cNvSpPr>
            <a:spLocks noGrp="1"/>
          </p:cNvSpPr>
          <p:nvPr>
            <p:ph sz="quarter" idx="13" hasCustomPrompt="1"/>
          </p:nvPr>
        </p:nvSpPr>
        <p:spPr>
          <a:xfrm>
            <a:off x="1117600" y="2271252"/>
            <a:ext cx="7835898" cy="5438577"/>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3"/>
              </a:buClr>
              <a:buFont typeface="Arial" panose="020B0604020202020204" pitchFamily="34" charset="0"/>
              <a:buChar char="•"/>
              <a:defRPr sz="2600">
                <a:solidFill>
                  <a:schemeClr val="tx1"/>
                </a:solidFill>
              </a:defRPr>
            </a:lvl5pPr>
          </a:lstStyle>
          <a:p>
            <a:pPr lvl="0"/>
            <a:r>
              <a:rPr lang="en-GB" dirty="0"/>
              <a:t>Click to add text or click one </a:t>
            </a:r>
            <a:br>
              <a:rPr lang="en-GB" dirty="0"/>
            </a:br>
            <a:r>
              <a:rPr lang="en-GB" dirty="0"/>
              <a:t>of the icons below to insert media</a:t>
            </a:r>
          </a:p>
        </p:txBody>
      </p:sp>
      <p:sp>
        <p:nvSpPr>
          <p:cNvPr id="17" name="Title 1">
            <a:extLst>
              <a:ext uri="{FF2B5EF4-FFF2-40B4-BE49-F238E27FC236}">
                <a16:creationId xmlns:a16="http://schemas.microsoft.com/office/drawing/2014/main" id="{2201D773-B270-A904-F7B4-E3D12A5090E8}"/>
              </a:ext>
            </a:extLst>
          </p:cNvPr>
          <p:cNvSpPr>
            <a:spLocks noGrp="1"/>
          </p:cNvSpPr>
          <p:nvPr>
            <p:ph type="title" hasCustomPrompt="1"/>
          </p:nvPr>
        </p:nvSpPr>
        <p:spPr>
          <a:xfrm>
            <a:off x="1117601" y="405087"/>
            <a:ext cx="7835899" cy="809696"/>
          </a:xfrm>
        </p:spPr>
        <p:txBody>
          <a:bodyPr>
            <a:normAutofit/>
          </a:bodyPr>
          <a:lstStyle>
            <a:lvl1pPr>
              <a:defRPr sz="4400" cap="none" baseline="0"/>
            </a:lvl1pPr>
          </a:lstStyle>
          <a:p>
            <a:r>
              <a:rPr lang="en-US" dirty="0"/>
              <a:t>Title</a:t>
            </a:r>
            <a:endParaRPr lang="en-GB" dirty="0"/>
          </a:p>
        </p:txBody>
      </p:sp>
      <p:sp>
        <p:nvSpPr>
          <p:cNvPr id="4" name="Footer Placeholder 4">
            <a:extLst>
              <a:ext uri="{FF2B5EF4-FFF2-40B4-BE49-F238E27FC236}">
                <a16:creationId xmlns:a16="http://schemas.microsoft.com/office/drawing/2014/main" id="{DC23DC44-3B0C-C87B-E24C-89B8089705B7}"/>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5" name="Slide Number Placeholder 5">
            <a:extLst>
              <a:ext uri="{FF2B5EF4-FFF2-40B4-BE49-F238E27FC236}">
                <a16:creationId xmlns:a16="http://schemas.microsoft.com/office/drawing/2014/main" id="{125F658A-3036-925D-7B4C-FAAE8466A6BA}"/>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8" name="Picture Placeholder 7">
            <a:extLst>
              <a:ext uri="{FF2B5EF4-FFF2-40B4-BE49-F238E27FC236}">
                <a16:creationId xmlns:a16="http://schemas.microsoft.com/office/drawing/2014/main" id="{8B29DB11-D16E-4E32-9950-179FAF3546C4}"/>
              </a:ext>
            </a:extLst>
          </p:cNvPr>
          <p:cNvSpPr>
            <a:spLocks noGrp="1"/>
          </p:cNvSpPr>
          <p:nvPr>
            <p:ph type="pic" sz="quarter" idx="25"/>
          </p:nvPr>
        </p:nvSpPr>
        <p:spPr>
          <a:xfrm>
            <a:off x="9274629" y="405087"/>
            <a:ext cx="5863772" cy="7304742"/>
          </a:xfrm>
        </p:spPr>
        <p:txBody>
          <a:bodyPr/>
          <a:lstStyle/>
          <a:p>
            <a:endParaRPr lang="en-US"/>
          </a:p>
        </p:txBody>
      </p:sp>
      <p:sp>
        <p:nvSpPr>
          <p:cNvPr id="2" name="Text Placeholder 7">
            <a:extLst>
              <a:ext uri="{FF2B5EF4-FFF2-40B4-BE49-F238E27FC236}">
                <a16:creationId xmlns:a16="http://schemas.microsoft.com/office/drawing/2014/main" id="{A72182E1-C703-5E9B-AF1E-2220AA60B4A1}"/>
              </a:ext>
            </a:extLst>
          </p:cNvPr>
          <p:cNvSpPr>
            <a:spLocks noGrp="1"/>
          </p:cNvSpPr>
          <p:nvPr>
            <p:ph type="body" sz="quarter" idx="24" hasCustomPrompt="1"/>
          </p:nvPr>
        </p:nvSpPr>
        <p:spPr>
          <a:xfrm>
            <a:off x="1117601" y="1214783"/>
            <a:ext cx="7835897"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Tree>
    <p:extLst>
      <p:ext uri="{BB962C8B-B14F-4D97-AF65-F5344CB8AC3E}">
        <p14:creationId xmlns:p14="http://schemas.microsoft.com/office/powerpoint/2010/main" val="15180877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ingle column + 2 images">
    <p:bg>
      <p:bgPr>
        <a:solidFill>
          <a:schemeClr val="bg1"/>
        </a:solidFill>
        <a:effectLst/>
      </p:bgPr>
    </p:bg>
    <p:spTree>
      <p:nvGrpSpPr>
        <p:cNvPr id="1" name=""/>
        <p:cNvGrpSpPr/>
        <p:nvPr/>
      </p:nvGrpSpPr>
      <p:grpSpPr>
        <a:xfrm>
          <a:off x="0" y="0"/>
          <a:ext cx="0" cy="0"/>
          <a:chOff x="0" y="0"/>
          <a:chExt cx="0" cy="0"/>
        </a:xfrm>
      </p:grpSpPr>
      <p:sp>
        <p:nvSpPr>
          <p:cNvPr id="15" name="Content Placeholder 9">
            <a:extLst>
              <a:ext uri="{FF2B5EF4-FFF2-40B4-BE49-F238E27FC236}">
                <a16:creationId xmlns:a16="http://schemas.microsoft.com/office/drawing/2014/main" id="{32F0192D-E8DE-61E3-DEC9-05AD0EC85990}"/>
              </a:ext>
            </a:extLst>
          </p:cNvPr>
          <p:cNvSpPr>
            <a:spLocks noGrp="1"/>
          </p:cNvSpPr>
          <p:nvPr>
            <p:ph sz="quarter" idx="13" hasCustomPrompt="1"/>
          </p:nvPr>
        </p:nvSpPr>
        <p:spPr>
          <a:xfrm>
            <a:off x="1117600" y="2271252"/>
            <a:ext cx="8737598" cy="5438577"/>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438339" indent="0">
              <a:buClr>
                <a:schemeClr val="accent3"/>
              </a:buClr>
              <a:buFont typeface="Arial" panose="020B0604020202020204" pitchFamily="34" charset="0"/>
              <a:buNone/>
              <a:defRPr sz="2600">
                <a:solidFill>
                  <a:schemeClr val="tx1"/>
                </a:solidFill>
              </a:defRPr>
            </a:lvl5pPr>
          </a:lstStyle>
          <a:p>
            <a:pPr lvl="0"/>
            <a:r>
              <a:rPr lang="en-GB" dirty="0"/>
              <a:t>Click to add text or click one of </a:t>
            </a:r>
            <a:br>
              <a:rPr lang="en-GB" dirty="0"/>
            </a:br>
            <a:r>
              <a:rPr lang="en-GB" dirty="0"/>
              <a:t>the icons below to insert media</a:t>
            </a:r>
          </a:p>
          <a:p>
            <a:pPr lvl="4"/>
            <a:endParaRPr lang="en-GB" dirty="0"/>
          </a:p>
        </p:txBody>
      </p:sp>
      <p:sp>
        <p:nvSpPr>
          <p:cNvPr id="17" name="Title 1">
            <a:extLst>
              <a:ext uri="{FF2B5EF4-FFF2-40B4-BE49-F238E27FC236}">
                <a16:creationId xmlns:a16="http://schemas.microsoft.com/office/drawing/2014/main" id="{2201D773-B270-A904-F7B4-E3D12A5090E8}"/>
              </a:ext>
            </a:extLst>
          </p:cNvPr>
          <p:cNvSpPr>
            <a:spLocks noGrp="1"/>
          </p:cNvSpPr>
          <p:nvPr>
            <p:ph type="title" hasCustomPrompt="1"/>
          </p:nvPr>
        </p:nvSpPr>
        <p:spPr>
          <a:xfrm>
            <a:off x="1117601" y="405087"/>
            <a:ext cx="8737599" cy="809696"/>
          </a:xfrm>
        </p:spPr>
        <p:txBody>
          <a:bodyPr>
            <a:normAutofit/>
          </a:bodyPr>
          <a:lstStyle>
            <a:lvl1pPr>
              <a:defRPr sz="4400" cap="none" baseline="0"/>
            </a:lvl1pPr>
          </a:lstStyle>
          <a:p>
            <a:r>
              <a:rPr lang="en-US" dirty="0"/>
              <a:t>Title</a:t>
            </a:r>
            <a:endParaRPr lang="en-GB" dirty="0"/>
          </a:p>
        </p:txBody>
      </p:sp>
      <p:sp>
        <p:nvSpPr>
          <p:cNvPr id="4" name="Footer Placeholder 4">
            <a:extLst>
              <a:ext uri="{FF2B5EF4-FFF2-40B4-BE49-F238E27FC236}">
                <a16:creationId xmlns:a16="http://schemas.microsoft.com/office/drawing/2014/main" id="{DC23DC44-3B0C-C87B-E24C-89B8089705B7}"/>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5" name="Slide Number Placeholder 5">
            <a:extLst>
              <a:ext uri="{FF2B5EF4-FFF2-40B4-BE49-F238E27FC236}">
                <a16:creationId xmlns:a16="http://schemas.microsoft.com/office/drawing/2014/main" id="{125F658A-3036-925D-7B4C-FAAE8466A6BA}"/>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2" name="Picture Placeholder 7">
            <a:extLst>
              <a:ext uri="{FF2B5EF4-FFF2-40B4-BE49-F238E27FC236}">
                <a16:creationId xmlns:a16="http://schemas.microsoft.com/office/drawing/2014/main" id="{3FC21040-7C3A-D93A-BACC-D0E0F715F6F8}"/>
              </a:ext>
            </a:extLst>
          </p:cNvPr>
          <p:cNvSpPr>
            <a:spLocks noGrp="1"/>
          </p:cNvSpPr>
          <p:nvPr>
            <p:ph type="pic" sz="quarter" idx="27"/>
          </p:nvPr>
        </p:nvSpPr>
        <p:spPr>
          <a:xfrm>
            <a:off x="10163331" y="405087"/>
            <a:ext cx="4975070" cy="3410857"/>
          </a:xfrm>
        </p:spPr>
        <p:txBody>
          <a:bodyPr/>
          <a:lstStyle/>
          <a:p>
            <a:endParaRPr lang="en-US"/>
          </a:p>
        </p:txBody>
      </p:sp>
      <p:sp>
        <p:nvSpPr>
          <p:cNvPr id="3" name="Picture Placeholder 7">
            <a:extLst>
              <a:ext uri="{FF2B5EF4-FFF2-40B4-BE49-F238E27FC236}">
                <a16:creationId xmlns:a16="http://schemas.microsoft.com/office/drawing/2014/main" id="{CA7DC709-43C4-BE86-719C-D5983D073DBC}"/>
              </a:ext>
            </a:extLst>
          </p:cNvPr>
          <p:cNvSpPr>
            <a:spLocks noGrp="1"/>
          </p:cNvSpPr>
          <p:nvPr>
            <p:ph type="pic" sz="quarter" idx="28"/>
          </p:nvPr>
        </p:nvSpPr>
        <p:spPr>
          <a:xfrm>
            <a:off x="10163331" y="4122058"/>
            <a:ext cx="4975070" cy="3569202"/>
          </a:xfrm>
        </p:spPr>
        <p:txBody>
          <a:bodyPr/>
          <a:lstStyle/>
          <a:p>
            <a:endParaRPr lang="en-US"/>
          </a:p>
        </p:txBody>
      </p:sp>
      <p:sp>
        <p:nvSpPr>
          <p:cNvPr id="6" name="Text Placeholder 7">
            <a:extLst>
              <a:ext uri="{FF2B5EF4-FFF2-40B4-BE49-F238E27FC236}">
                <a16:creationId xmlns:a16="http://schemas.microsoft.com/office/drawing/2014/main" id="{6D1B7872-CCAD-289C-1C26-F2E8BFC8556F}"/>
              </a:ext>
            </a:extLst>
          </p:cNvPr>
          <p:cNvSpPr>
            <a:spLocks noGrp="1"/>
          </p:cNvSpPr>
          <p:nvPr>
            <p:ph type="body" sz="quarter" idx="24" hasCustomPrompt="1"/>
          </p:nvPr>
        </p:nvSpPr>
        <p:spPr>
          <a:xfrm>
            <a:off x="1117601" y="1214783"/>
            <a:ext cx="8737597"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Tree>
    <p:extLst>
      <p:ext uri="{BB962C8B-B14F-4D97-AF65-F5344CB8AC3E}">
        <p14:creationId xmlns:p14="http://schemas.microsoft.com/office/powerpoint/2010/main" val="41297689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images">
    <p:bg>
      <p:bgPr>
        <a:solidFill>
          <a:schemeClr val="bg1"/>
        </a:solidFill>
        <a:effectLst/>
      </p:bgPr>
    </p:bg>
    <p:spTree>
      <p:nvGrpSpPr>
        <p:cNvPr id="1" name=""/>
        <p:cNvGrpSpPr/>
        <p:nvPr/>
      </p:nvGrpSpPr>
      <p:grpSpPr>
        <a:xfrm>
          <a:off x="0" y="0"/>
          <a:ext cx="0" cy="0"/>
          <a:chOff x="0" y="0"/>
          <a:chExt cx="0" cy="0"/>
        </a:xfrm>
      </p:grpSpPr>
      <p:sp>
        <p:nvSpPr>
          <p:cNvPr id="6" name="Picture Placeholder 23">
            <a:extLst>
              <a:ext uri="{FF2B5EF4-FFF2-40B4-BE49-F238E27FC236}">
                <a16:creationId xmlns:a16="http://schemas.microsoft.com/office/drawing/2014/main" id="{1E54B20A-0ED5-60AB-9116-D7F540559CAA}"/>
              </a:ext>
            </a:extLst>
          </p:cNvPr>
          <p:cNvSpPr>
            <a:spLocks noGrp="1"/>
          </p:cNvSpPr>
          <p:nvPr>
            <p:ph type="pic" sz="quarter" idx="25"/>
          </p:nvPr>
        </p:nvSpPr>
        <p:spPr>
          <a:xfrm>
            <a:off x="1122858" y="2227720"/>
            <a:ext cx="4320000" cy="5047597"/>
          </a:xfrm>
        </p:spPr>
        <p:txBody>
          <a:bodyPr/>
          <a:lstStyle/>
          <a:p>
            <a:endParaRPr lang="en-US"/>
          </a:p>
        </p:txBody>
      </p:sp>
      <p:sp>
        <p:nvSpPr>
          <p:cNvPr id="4" name="Footer Placeholder 4">
            <a:extLst>
              <a:ext uri="{FF2B5EF4-FFF2-40B4-BE49-F238E27FC236}">
                <a16:creationId xmlns:a16="http://schemas.microsoft.com/office/drawing/2014/main" id="{DC23DC44-3B0C-C87B-E24C-89B8089705B7}"/>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22" name="Text Placeholder 14">
            <a:extLst>
              <a:ext uri="{FF2B5EF4-FFF2-40B4-BE49-F238E27FC236}">
                <a16:creationId xmlns:a16="http://schemas.microsoft.com/office/drawing/2014/main" id="{2E2CF2B2-CE90-1EC2-8033-61D78C5C9560}"/>
              </a:ext>
            </a:extLst>
          </p:cNvPr>
          <p:cNvSpPr txBox="1">
            <a:spLocks/>
          </p:cNvSpPr>
          <p:nvPr userDrawn="1"/>
        </p:nvSpPr>
        <p:spPr>
          <a:xfrm>
            <a:off x="1117599" y="7479273"/>
            <a:ext cx="4319999" cy="27638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49" name="Slide Number Placeholder 5">
            <a:extLst>
              <a:ext uri="{FF2B5EF4-FFF2-40B4-BE49-F238E27FC236}">
                <a16:creationId xmlns:a16="http://schemas.microsoft.com/office/drawing/2014/main" id="{8E30A6DC-06ED-2E3E-EC0A-0AF6E5626781}"/>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2" name="Picture Placeholder 23">
            <a:extLst>
              <a:ext uri="{FF2B5EF4-FFF2-40B4-BE49-F238E27FC236}">
                <a16:creationId xmlns:a16="http://schemas.microsoft.com/office/drawing/2014/main" id="{BE21E811-6F8B-2D50-58A6-ACEE6EA28BB5}"/>
              </a:ext>
            </a:extLst>
          </p:cNvPr>
          <p:cNvSpPr>
            <a:spLocks noGrp="1"/>
          </p:cNvSpPr>
          <p:nvPr>
            <p:ph type="pic" sz="quarter" idx="11"/>
          </p:nvPr>
        </p:nvSpPr>
        <p:spPr>
          <a:xfrm>
            <a:off x="10745829" y="2227720"/>
            <a:ext cx="4320000" cy="5047597"/>
          </a:xfrm>
        </p:spPr>
        <p:txBody>
          <a:bodyPr/>
          <a:lstStyle/>
          <a:p>
            <a:endParaRPr lang="en-US"/>
          </a:p>
        </p:txBody>
      </p:sp>
      <p:sp>
        <p:nvSpPr>
          <p:cNvPr id="3" name="Title 1">
            <a:extLst>
              <a:ext uri="{FF2B5EF4-FFF2-40B4-BE49-F238E27FC236}">
                <a16:creationId xmlns:a16="http://schemas.microsoft.com/office/drawing/2014/main" id="{0C50608C-32BB-CCC4-447F-12ECBE13C8C5}"/>
              </a:ext>
            </a:extLst>
          </p:cNvPr>
          <p:cNvSpPr>
            <a:spLocks noGrp="1"/>
          </p:cNvSpPr>
          <p:nvPr>
            <p:ph type="title" hasCustomPrompt="1"/>
          </p:nvPr>
        </p:nvSpPr>
        <p:spPr>
          <a:xfrm>
            <a:off x="1117601" y="405087"/>
            <a:ext cx="13923166" cy="809696"/>
          </a:xfrm>
        </p:spPr>
        <p:txBody>
          <a:bodyPr>
            <a:normAutofit/>
          </a:bodyPr>
          <a:lstStyle>
            <a:lvl1pPr>
              <a:defRPr sz="4400" cap="none" baseline="0"/>
            </a:lvl1pPr>
          </a:lstStyle>
          <a:p>
            <a:r>
              <a:rPr lang="en-US" dirty="0"/>
              <a:t>Title</a:t>
            </a:r>
            <a:endParaRPr lang="en-GB" dirty="0"/>
          </a:p>
        </p:txBody>
      </p:sp>
      <p:sp>
        <p:nvSpPr>
          <p:cNvPr id="5" name="Text Placeholder 7">
            <a:extLst>
              <a:ext uri="{FF2B5EF4-FFF2-40B4-BE49-F238E27FC236}">
                <a16:creationId xmlns:a16="http://schemas.microsoft.com/office/drawing/2014/main" id="{80A7FBBD-F834-15B2-2E8F-951D0E1E4472}"/>
              </a:ext>
            </a:extLst>
          </p:cNvPr>
          <p:cNvSpPr>
            <a:spLocks noGrp="1"/>
          </p:cNvSpPr>
          <p:nvPr>
            <p:ph type="body" sz="quarter" idx="24" hasCustomPrompt="1"/>
          </p:nvPr>
        </p:nvSpPr>
        <p:spPr>
          <a:xfrm>
            <a:off x="1117601" y="1214783"/>
            <a:ext cx="13948228"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
        <p:nvSpPr>
          <p:cNvPr id="7" name="Picture Placeholder 23">
            <a:extLst>
              <a:ext uri="{FF2B5EF4-FFF2-40B4-BE49-F238E27FC236}">
                <a16:creationId xmlns:a16="http://schemas.microsoft.com/office/drawing/2014/main" id="{53AB13EF-0BA9-6520-3A3D-C0EFE0FD43A6}"/>
              </a:ext>
            </a:extLst>
          </p:cNvPr>
          <p:cNvSpPr>
            <a:spLocks noGrp="1"/>
          </p:cNvSpPr>
          <p:nvPr>
            <p:ph type="pic" sz="quarter" idx="26"/>
          </p:nvPr>
        </p:nvSpPr>
        <p:spPr>
          <a:xfrm>
            <a:off x="5970629" y="2227720"/>
            <a:ext cx="4320000" cy="5047597"/>
          </a:xfrm>
        </p:spPr>
        <p:txBody>
          <a:bodyPr/>
          <a:lstStyle/>
          <a:p>
            <a:endParaRPr lang="en-US"/>
          </a:p>
        </p:txBody>
      </p:sp>
      <p:sp>
        <p:nvSpPr>
          <p:cNvPr id="8" name="Text Placeholder 14">
            <a:extLst>
              <a:ext uri="{FF2B5EF4-FFF2-40B4-BE49-F238E27FC236}">
                <a16:creationId xmlns:a16="http://schemas.microsoft.com/office/drawing/2014/main" id="{3F1B95EC-FF59-D907-FFE4-D9726189FAA6}"/>
              </a:ext>
            </a:extLst>
          </p:cNvPr>
          <p:cNvSpPr txBox="1">
            <a:spLocks/>
          </p:cNvSpPr>
          <p:nvPr userDrawn="1"/>
        </p:nvSpPr>
        <p:spPr>
          <a:xfrm>
            <a:off x="5965371" y="7479273"/>
            <a:ext cx="4319999" cy="27638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9" name="Text Placeholder 14">
            <a:extLst>
              <a:ext uri="{FF2B5EF4-FFF2-40B4-BE49-F238E27FC236}">
                <a16:creationId xmlns:a16="http://schemas.microsoft.com/office/drawing/2014/main" id="{10E7CABF-5EAF-F4E1-72CE-E3591D5B4F9C}"/>
              </a:ext>
            </a:extLst>
          </p:cNvPr>
          <p:cNvSpPr txBox="1">
            <a:spLocks/>
          </p:cNvSpPr>
          <p:nvPr userDrawn="1"/>
        </p:nvSpPr>
        <p:spPr>
          <a:xfrm>
            <a:off x="10740571" y="7479273"/>
            <a:ext cx="4319999" cy="27638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Tree>
    <p:extLst>
      <p:ext uri="{BB962C8B-B14F-4D97-AF65-F5344CB8AC3E}">
        <p14:creationId xmlns:p14="http://schemas.microsoft.com/office/powerpoint/2010/main" val="33254714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umbnail gallery">
    <p:bg>
      <p:bgPr>
        <a:solidFill>
          <a:schemeClr val="bg1"/>
        </a:solidFill>
        <a:effectLst/>
      </p:bgPr>
    </p:bg>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DC23DC44-3B0C-C87B-E24C-89B8089705B7}"/>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22" name="Text Placeholder 14">
            <a:extLst>
              <a:ext uri="{FF2B5EF4-FFF2-40B4-BE49-F238E27FC236}">
                <a16:creationId xmlns:a16="http://schemas.microsoft.com/office/drawing/2014/main" id="{2E2CF2B2-CE90-1EC2-8033-61D78C5C9560}"/>
              </a:ext>
            </a:extLst>
          </p:cNvPr>
          <p:cNvSpPr txBox="1">
            <a:spLocks/>
          </p:cNvSpPr>
          <p:nvPr userDrawn="1"/>
        </p:nvSpPr>
        <p:spPr>
          <a:xfrm>
            <a:off x="1132110" y="2704416"/>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24" name="Picture Placeholder 23">
            <a:extLst>
              <a:ext uri="{FF2B5EF4-FFF2-40B4-BE49-F238E27FC236}">
                <a16:creationId xmlns:a16="http://schemas.microsoft.com/office/drawing/2014/main" id="{40CD1E30-D050-4126-D7E1-07DB4F673A12}"/>
              </a:ext>
            </a:extLst>
          </p:cNvPr>
          <p:cNvSpPr>
            <a:spLocks noGrp="1"/>
          </p:cNvSpPr>
          <p:nvPr>
            <p:ph type="pic" sz="quarter" idx="10"/>
          </p:nvPr>
        </p:nvSpPr>
        <p:spPr>
          <a:xfrm>
            <a:off x="1132109" y="522284"/>
            <a:ext cx="3106738" cy="2076450"/>
          </a:xfrm>
        </p:spPr>
        <p:txBody>
          <a:bodyPr/>
          <a:lstStyle/>
          <a:p>
            <a:endParaRPr lang="en-US"/>
          </a:p>
        </p:txBody>
      </p:sp>
      <p:sp>
        <p:nvSpPr>
          <p:cNvPr id="27" name="Text Placeholder 14">
            <a:extLst>
              <a:ext uri="{FF2B5EF4-FFF2-40B4-BE49-F238E27FC236}">
                <a16:creationId xmlns:a16="http://schemas.microsoft.com/office/drawing/2014/main" id="{FED0EADB-D05B-A497-5CC0-51E46F04F7E2}"/>
              </a:ext>
            </a:extLst>
          </p:cNvPr>
          <p:cNvSpPr txBox="1">
            <a:spLocks/>
          </p:cNvSpPr>
          <p:nvPr userDrawn="1"/>
        </p:nvSpPr>
        <p:spPr>
          <a:xfrm>
            <a:off x="4746168" y="2704416"/>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28" name="Picture Placeholder 23">
            <a:extLst>
              <a:ext uri="{FF2B5EF4-FFF2-40B4-BE49-F238E27FC236}">
                <a16:creationId xmlns:a16="http://schemas.microsoft.com/office/drawing/2014/main" id="{3306FA8E-5404-C01E-927B-29F904AA8F93}"/>
              </a:ext>
            </a:extLst>
          </p:cNvPr>
          <p:cNvSpPr>
            <a:spLocks noGrp="1"/>
          </p:cNvSpPr>
          <p:nvPr>
            <p:ph type="pic" sz="quarter" idx="11"/>
          </p:nvPr>
        </p:nvSpPr>
        <p:spPr>
          <a:xfrm>
            <a:off x="4746167" y="522284"/>
            <a:ext cx="3106738" cy="2076450"/>
          </a:xfrm>
        </p:spPr>
        <p:txBody>
          <a:bodyPr/>
          <a:lstStyle/>
          <a:p>
            <a:endParaRPr lang="en-US"/>
          </a:p>
        </p:txBody>
      </p:sp>
      <p:sp>
        <p:nvSpPr>
          <p:cNvPr id="29" name="Text Placeholder 14">
            <a:extLst>
              <a:ext uri="{FF2B5EF4-FFF2-40B4-BE49-F238E27FC236}">
                <a16:creationId xmlns:a16="http://schemas.microsoft.com/office/drawing/2014/main" id="{30A93B9D-5E0A-A718-C13B-FE01C42D559F}"/>
              </a:ext>
            </a:extLst>
          </p:cNvPr>
          <p:cNvSpPr txBox="1">
            <a:spLocks/>
          </p:cNvSpPr>
          <p:nvPr userDrawn="1"/>
        </p:nvSpPr>
        <p:spPr>
          <a:xfrm>
            <a:off x="8360226" y="2704416"/>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30" name="Picture Placeholder 23">
            <a:extLst>
              <a:ext uri="{FF2B5EF4-FFF2-40B4-BE49-F238E27FC236}">
                <a16:creationId xmlns:a16="http://schemas.microsoft.com/office/drawing/2014/main" id="{E7A50FA6-8234-EA95-2A47-39241CFC07D1}"/>
              </a:ext>
            </a:extLst>
          </p:cNvPr>
          <p:cNvSpPr>
            <a:spLocks noGrp="1"/>
          </p:cNvSpPr>
          <p:nvPr>
            <p:ph type="pic" sz="quarter" idx="12"/>
          </p:nvPr>
        </p:nvSpPr>
        <p:spPr>
          <a:xfrm>
            <a:off x="8360225" y="522284"/>
            <a:ext cx="3106738" cy="2076450"/>
          </a:xfrm>
        </p:spPr>
        <p:txBody>
          <a:bodyPr/>
          <a:lstStyle/>
          <a:p>
            <a:endParaRPr lang="en-US"/>
          </a:p>
        </p:txBody>
      </p:sp>
      <p:sp>
        <p:nvSpPr>
          <p:cNvPr id="31" name="Text Placeholder 14">
            <a:extLst>
              <a:ext uri="{FF2B5EF4-FFF2-40B4-BE49-F238E27FC236}">
                <a16:creationId xmlns:a16="http://schemas.microsoft.com/office/drawing/2014/main" id="{6A0D816E-D4AF-433A-69BE-807521951344}"/>
              </a:ext>
            </a:extLst>
          </p:cNvPr>
          <p:cNvSpPr txBox="1">
            <a:spLocks/>
          </p:cNvSpPr>
          <p:nvPr userDrawn="1"/>
        </p:nvSpPr>
        <p:spPr>
          <a:xfrm>
            <a:off x="11974283" y="2704416"/>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32" name="Picture Placeholder 23">
            <a:extLst>
              <a:ext uri="{FF2B5EF4-FFF2-40B4-BE49-F238E27FC236}">
                <a16:creationId xmlns:a16="http://schemas.microsoft.com/office/drawing/2014/main" id="{37D36736-E5C4-D510-24F7-E3E8DA889F91}"/>
              </a:ext>
            </a:extLst>
          </p:cNvPr>
          <p:cNvSpPr>
            <a:spLocks noGrp="1"/>
          </p:cNvSpPr>
          <p:nvPr>
            <p:ph type="pic" sz="quarter" idx="13"/>
          </p:nvPr>
        </p:nvSpPr>
        <p:spPr>
          <a:xfrm>
            <a:off x="11974282" y="522284"/>
            <a:ext cx="3106738" cy="2076450"/>
          </a:xfrm>
        </p:spPr>
        <p:txBody>
          <a:bodyPr/>
          <a:lstStyle/>
          <a:p>
            <a:endParaRPr lang="en-US" dirty="0"/>
          </a:p>
        </p:txBody>
      </p:sp>
      <p:sp>
        <p:nvSpPr>
          <p:cNvPr id="33" name="Text Placeholder 14">
            <a:extLst>
              <a:ext uri="{FF2B5EF4-FFF2-40B4-BE49-F238E27FC236}">
                <a16:creationId xmlns:a16="http://schemas.microsoft.com/office/drawing/2014/main" id="{75E8601B-5C57-0BE3-4F75-8296F81EC500}"/>
              </a:ext>
            </a:extLst>
          </p:cNvPr>
          <p:cNvSpPr txBox="1">
            <a:spLocks/>
          </p:cNvSpPr>
          <p:nvPr userDrawn="1"/>
        </p:nvSpPr>
        <p:spPr>
          <a:xfrm>
            <a:off x="1132110" y="5302473"/>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34" name="Picture Placeholder 23">
            <a:extLst>
              <a:ext uri="{FF2B5EF4-FFF2-40B4-BE49-F238E27FC236}">
                <a16:creationId xmlns:a16="http://schemas.microsoft.com/office/drawing/2014/main" id="{B246A558-3A99-3774-978B-079E67BE5A9F}"/>
              </a:ext>
            </a:extLst>
          </p:cNvPr>
          <p:cNvSpPr>
            <a:spLocks noGrp="1"/>
          </p:cNvSpPr>
          <p:nvPr>
            <p:ph type="pic" sz="quarter" idx="14"/>
          </p:nvPr>
        </p:nvSpPr>
        <p:spPr>
          <a:xfrm>
            <a:off x="1132109" y="3120341"/>
            <a:ext cx="3106738" cy="2076450"/>
          </a:xfrm>
        </p:spPr>
        <p:txBody>
          <a:bodyPr/>
          <a:lstStyle/>
          <a:p>
            <a:endParaRPr lang="en-US"/>
          </a:p>
        </p:txBody>
      </p:sp>
      <p:sp>
        <p:nvSpPr>
          <p:cNvPr id="35" name="Text Placeholder 14">
            <a:extLst>
              <a:ext uri="{FF2B5EF4-FFF2-40B4-BE49-F238E27FC236}">
                <a16:creationId xmlns:a16="http://schemas.microsoft.com/office/drawing/2014/main" id="{9FF048B5-45F9-1E6F-B7DA-5CDF2F524748}"/>
              </a:ext>
            </a:extLst>
          </p:cNvPr>
          <p:cNvSpPr txBox="1">
            <a:spLocks/>
          </p:cNvSpPr>
          <p:nvPr userDrawn="1"/>
        </p:nvSpPr>
        <p:spPr>
          <a:xfrm>
            <a:off x="4746168" y="5302473"/>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36" name="Picture Placeholder 23">
            <a:extLst>
              <a:ext uri="{FF2B5EF4-FFF2-40B4-BE49-F238E27FC236}">
                <a16:creationId xmlns:a16="http://schemas.microsoft.com/office/drawing/2014/main" id="{3881D084-0D11-14A0-776A-7C423BA18C5B}"/>
              </a:ext>
            </a:extLst>
          </p:cNvPr>
          <p:cNvSpPr>
            <a:spLocks noGrp="1"/>
          </p:cNvSpPr>
          <p:nvPr>
            <p:ph type="pic" sz="quarter" idx="15"/>
          </p:nvPr>
        </p:nvSpPr>
        <p:spPr>
          <a:xfrm>
            <a:off x="4746167" y="3120341"/>
            <a:ext cx="3106738" cy="2076450"/>
          </a:xfrm>
        </p:spPr>
        <p:txBody>
          <a:bodyPr/>
          <a:lstStyle/>
          <a:p>
            <a:endParaRPr lang="en-US"/>
          </a:p>
        </p:txBody>
      </p:sp>
      <p:sp>
        <p:nvSpPr>
          <p:cNvPr id="37" name="Text Placeholder 14">
            <a:extLst>
              <a:ext uri="{FF2B5EF4-FFF2-40B4-BE49-F238E27FC236}">
                <a16:creationId xmlns:a16="http://schemas.microsoft.com/office/drawing/2014/main" id="{B5B67010-4466-C4F2-6B31-8F7360F681A1}"/>
              </a:ext>
            </a:extLst>
          </p:cNvPr>
          <p:cNvSpPr txBox="1">
            <a:spLocks/>
          </p:cNvSpPr>
          <p:nvPr userDrawn="1"/>
        </p:nvSpPr>
        <p:spPr>
          <a:xfrm>
            <a:off x="8360226" y="5302473"/>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38" name="Picture Placeholder 23">
            <a:extLst>
              <a:ext uri="{FF2B5EF4-FFF2-40B4-BE49-F238E27FC236}">
                <a16:creationId xmlns:a16="http://schemas.microsoft.com/office/drawing/2014/main" id="{DAB7F4E5-A04F-BBF5-81F4-67355D163738}"/>
              </a:ext>
            </a:extLst>
          </p:cNvPr>
          <p:cNvSpPr>
            <a:spLocks noGrp="1"/>
          </p:cNvSpPr>
          <p:nvPr>
            <p:ph type="pic" sz="quarter" idx="16"/>
          </p:nvPr>
        </p:nvSpPr>
        <p:spPr>
          <a:xfrm>
            <a:off x="8360225" y="3120341"/>
            <a:ext cx="3106738" cy="2076450"/>
          </a:xfrm>
        </p:spPr>
        <p:txBody>
          <a:bodyPr/>
          <a:lstStyle/>
          <a:p>
            <a:endParaRPr lang="en-US"/>
          </a:p>
        </p:txBody>
      </p:sp>
      <p:sp>
        <p:nvSpPr>
          <p:cNvPr id="39" name="Text Placeholder 14">
            <a:extLst>
              <a:ext uri="{FF2B5EF4-FFF2-40B4-BE49-F238E27FC236}">
                <a16:creationId xmlns:a16="http://schemas.microsoft.com/office/drawing/2014/main" id="{4C42F6C7-AAC2-8778-499D-C164828408DF}"/>
              </a:ext>
            </a:extLst>
          </p:cNvPr>
          <p:cNvSpPr txBox="1">
            <a:spLocks/>
          </p:cNvSpPr>
          <p:nvPr userDrawn="1"/>
        </p:nvSpPr>
        <p:spPr>
          <a:xfrm>
            <a:off x="11974283" y="5302473"/>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40" name="Picture Placeholder 23">
            <a:extLst>
              <a:ext uri="{FF2B5EF4-FFF2-40B4-BE49-F238E27FC236}">
                <a16:creationId xmlns:a16="http://schemas.microsoft.com/office/drawing/2014/main" id="{5EFAAFFD-4B6F-A01D-FB8D-E1CEE2ADB98F}"/>
              </a:ext>
            </a:extLst>
          </p:cNvPr>
          <p:cNvSpPr>
            <a:spLocks noGrp="1"/>
          </p:cNvSpPr>
          <p:nvPr>
            <p:ph type="pic" sz="quarter" idx="17"/>
          </p:nvPr>
        </p:nvSpPr>
        <p:spPr>
          <a:xfrm>
            <a:off x="11974282" y="3120341"/>
            <a:ext cx="3106738" cy="2076450"/>
          </a:xfrm>
        </p:spPr>
        <p:txBody>
          <a:bodyPr/>
          <a:lstStyle/>
          <a:p>
            <a:endParaRPr lang="en-US"/>
          </a:p>
        </p:txBody>
      </p:sp>
      <p:sp>
        <p:nvSpPr>
          <p:cNvPr id="41" name="Text Placeholder 14">
            <a:extLst>
              <a:ext uri="{FF2B5EF4-FFF2-40B4-BE49-F238E27FC236}">
                <a16:creationId xmlns:a16="http://schemas.microsoft.com/office/drawing/2014/main" id="{0E4A8696-1F8F-C702-AC0F-D9C70FA977DB}"/>
              </a:ext>
            </a:extLst>
          </p:cNvPr>
          <p:cNvSpPr txBox="1">
            <a:spLocks/>
          </p:cNvSpPr>
          <p:nvPr userDrawn="1"/>
        </p:nvSpPr>
        <p:spPr>
          <a:xfrm>
            <a:off x="1132110" y="7915044"/>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42" name="Picture Placeholder 23">
            <a:extLst>
              <a:ext uri="{FF2B5EF4-FFF2-40B4-BE49-F238E27FC236}">
                <a16:creationId xmlns:a16="http://schemas.microsoft.com/office/drawing/2014/main" id="{48525AE3-22AF-AB5E-B257-E390E05DCF4C}"/>
              </a:ext>
            </a:extLst>
          </p:cNvPr>
          <p:cNvSpPr>
            <a:spLocks noGrp="1"/>
          </p:cNvSpPr>
          <p:nvPr>
            <p:ph type="pic" sz="quarter" idx="18"/>
          </p:nvPr>
        </p:nvSpPr>
        <p:spPr>
          <a:xfrm>
            <a:off x="1132109" y="5732912"/>
            <a:ext cx="3106738" cy="2076450"/>
          </a:xfrm>
        </p:spPr>
        <p:txBody>
          <a:bodyPr/>
          <a:lstStyle/>
          <a:p>
            <a:endParaRPr lang="en-US"/>
          </a:p>
        </p:txBody>
      </p:sp>
      <p:sp>
        <p:nvSpPr>
          <p:cNvPr id="43" name="Text Placeholder 14">
            <a:extLst>
              <a:ext uri="{FF2B5EF4-FFF2-40B4-BE49-F238E27FC236}">
                <a16:creationId xmlns:a16="http://schemas.microsoft.com/office/drawing/2014/main" id="{2DB5F926-5570-5FB5-10F3-958A3436E4B2}"/>
              </a:ext>
            </a:extLst>
          </p:cNvPr>
          <p:cNvSpPr txBox="1">
            <a:spLocks/>
          </p:cNvSpPr>
          <p:nvPr userDrawn="1"/>
        </p:nvSpPr>
        <p:spPr>
          <a:xfrm>
            <a:off x="4746168" y="7915044"/>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44" name="Picture Placeholder 23">
            <a:extLst>
              <a:ext uri="{FF2B5EF4-FFF2-40B4-BE49-F238E27FC236}">
                <a16:creationId xmlns:a16="http://schemas.microsoft.com/office/drawing/2014/main" id="{1C6351E8-B42F-7A4F-3F19-3E005A51DB1A}"/>
              </a:ext>
            </a:extLst>
          </p:cNvPr>
          <p:cNvSpPr>
            <a:spLocks noGrp="1"/>
          </p:cNvSpPr>
          <p:nvPr>
            <p:ph type="pic" sz="quarter" idx="19"/>
          </p:nvPr>
        </p:nvSpPr>
        <p:spPr>
          <a:xfrm>
            <a:off x="4746167" y="5732912"/>
            <a:ext cx="3106738" cy="2076450"/>
          </a:xfrm>
        </p:spPr>
        <p:txBody>
          <a:bodyPr/>
          <a:lstStyle/>
          <a:p>
            <a:endParaRPr lang="en-US"/>
          </a:p>
        </p:txBody>
      </p:sp>
      <p:sp>
        <p:nvSpPr>
          <p:cNvPr id="45" name="Text Placeholder 14">
            <a:extLst>
              <a:ext uri="{FF2B5EF4-FFF2-40B4-BE49-F238E27FC236}">
                <a16:creationId xmlns:a16="http://schemas.microsoft.com/office/drawing/2014/main" id="{0504FC3D-6ABC-68D4-8027-CE6DFF05BF6B}"/>
              </a:ext>
            </a:extLst>
          </p:cNvPr>
          <p:cNvSpPr txBox="1">
            <a:spLocks/>
          </p:cNvSpPr>
          <p:nvPr userDrawn="1"/>
        </p:nvSpPr>
        <p:spPr>
          <a:xfrm>
            <a:off x="8360226" y="7915044"/>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46" name="Picture Placeholder 23">
            <a:extLst>
              <a:ext uri="{FF2B5EF4-FFF2-40B4-BE49-F238E27FC236}">
                <a16:creationId xmlns:a16="http://schemas.microsoft.com/office/drawing/2014/main" id="{38E88081-1294-4E5E-E7B8-648E83EA9E53}"/>
              </a:ext>
            </a:extLst>
          </p:cNvPr>
          <p:cNvSpPr>
            <a:spLocks noGrp="1"/>
          </p:cNvSpPr>
          <p:nvPr>
            <p:ph type="pic" sz="quarter" idx="20"/>
          </p:nvPr>
        </p:nvSpPr>
        <p:spPr>
          <a:xfrm>
            <a:off x="8360225" y="5732912"/>
            <a:ext cx="3106738" cy="2076450"/>
          </a:xfrm>
        </p:spPr>
        <p:txBody>
          <a:bodyPr/>
          <a:lstStyle/>
          <a:p>
            <a:endParaRPr lang="en-US"/>
          </a:p>
        </p:txBody>
      </p:sp>
      <p:sp>
        <p:nvSpPr>
          <p:cNvPr id="47" name="Text Placeholder 14">
            <a:extLst>
              <a:ext uri="{FF2B5EF4-FFF2-40B4-BE49-F238E27FC236}">
                <a16:creationId xmlns:a16="http://schemas.microsoft.com/office/drawing/2014/main" id="{0D01F23B-2855-CC9C-BD6F-B9DA99CEA871}"/>
              </a:ext>
            </a:extLst>
          </p:cNvPr>
          <p:cNvSpPr txBox="1">
            <a:spLocks/>
          </p:cNvSpPr>
          <p:nvPr userDrawn="1"/>
        </p:nvSpPr>
        <p:spPr>
          <a:xfrm>
            <a:off x="11974283" y="7915044"/>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48" name="Picture Placeholder 23">
            <a:extLst>
              <a:ext uri="{FF2B5EF4-FFF2-40B4-BE49-F238E27FC236}">
                <a16:creationId xmlns:a16="http://schemas.microsoft.com/office/drawing/2014/main" id="{A1802AC9-D438-0940-F6FA-4EF796B5070E}"/>
              </a:ext>
            </a:extLst>
          </p:cNvPr>
          <p:cNvSpPr>
            <a:spLocks noGrp="1"/>
          </p:cNvSpPr>
          <p:nvPr>
            <p:ph type="pic" sz="quarter" idx="21"/>
          </p:nvPr>
        </p:nvSpPr>
        <p:spPr>
          <a:xfrm>
            <a:off x="11974282" y="5732912"/>
            <a:ext cx="3106738" cy="2076450"/>
          </a:xfrm>
        </p:spPr>
        <p:txBody>
          <a:bodyPr/>
          <a:lstStyle/>
          <a:p>
            <a:endParaRPr lang="en-US"/>
          </a:p>
        </p:txBody>
      </p:sp>
      <p:sp>
        <p:nvSpPr>
          <p:cNvPr id="49" name="Slide Number Placeholder 5">
            <a:extLst>
              <a:ext uri="{FF2B5EF4-FFF2-40B4-BE49-F238E27FC236}">
                <a16:creationId xmlns:a16="http://schemas.microsoft.com/office/drawing/2014/main" id="{8E30A6DC-06ED-2E3E-EC0A-0AF6E5626781}"/>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Tree>
    <p:extLst>
      <p:ext uri="{BB962C8B-B14F-4D97-AF65-F5344CB8AC3E}">
        <p14:creationId xmlns:p14="http://schemas.microsoft.com/office/powerpoint/2010/main" val="3772121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15C406F6-FE38-14E0-8BF8-B9AC42B3EF15}"/>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bg1"/>
                </a:solidFill>
              </a:defRPr>
            </a:lvl1pPr>
          </a:lstStyle>
          <a:p>
            <a:r>
              <a:rPr lang="en-GB"/>
              <a:t>IFoA Life Conference</a:t>
            </a:r>
            <a:endParaRPr lang="en-GB" dirty="0"/>
          </a:p>
        </p:txBody>
      </p:sp>
      <p:sp>
        <p:nvSpPr>
          <p:cNvPr id="9" name="Slide Number Placeholder 5">
            <a:extLst>
              <a:ext uri="{FF2B5EF4-FFF2-40B4-BE49-F238E27FC236}">
                <a16:creationId xmlns:a16="http://schemas.microsoft.com/office/drawing/2014/main" id="{C18B60AF-E1FE-C3E6-C9A3-0721F1D08E6F}"/>
              </a:ext>
            </a:extLst>
          </p:cNvPr>
          <p:cNvSpPr>
            <a:spLocks noGrp="1"/>
          </p:cNvSpPr>
          <p:nvPr>
            <p:ph type="sldNum" sz="quarter" idx="4"/>
          </p:nvPr>
        </p:nvSpPr>
        <p:spPr>
          <a:xfrm>
            <a:off x="14573177" y="8382533"/>
            <a:ext cx="529680" cy="486833"/>
          </a:xfrm>
          <a:prstGeom prst="rect">
            <a:avLst/>
          </a:prstGeom>
          <a:solidFill>
            <a:schemeClr val="bg1"/>
          </a:solidFill>
        </p:spPr>
        <p:txBody>
          <a:bodyPr vert="horz" lIns="91440" tIns="45720" rIns="91440" bIns="45720" rtlCol="0" anchor="ctr"/>
          <a:lstStyle>
            <a:lvl1pPr algn="ctr">
              <a:defRPr sz="1200" b="1" i="0">
                <a:solidFill>
                  <a:schemeClr val="tx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cxnSp>
        <p:nvCxnSpPr>
          <p:cNvPr id="10" name="Straight Connector 9">
            <a:extLst>
              <a:ext uri="{FF2B5EF4-FFF2-40B4-BE49-F238E27FC236}">
                <a16:creationId xmlns:a16="http://schemas.microsoft.com/office/drawing/2014/main" id="{A0CB7D33-8423-976F-F4E8-092F373CB4D4}"/>
              </a:ext>
            </a:extLst>
          </p:cNvPr>
          <p:cNvCxnSpPr>
            <a:cxnSpLocks/>
          </p:cNvCxnSpPr>
          <p:nvPr userDrawn="1"/>
        </p:nvCxnSpPr>
        <p:spPr>
          <a:xfrm>
            <a:off x="14411899" y="8360757"/>
            <a:ext cx="0" cy="530384"/>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A334B112-156D-B47A-A01E-403E49BC030A}"/>
              </a:ext>
            </a:extLst>
          </p:cNvPr>
          <p:cNvPicPr>
            <a:picLocks noChangeAspect="1"/>
          </p:cNvPicPr>
          <p:nvPr userDrawn="1"/>
        </p:nvPicPr>
        <p:blipFill>
          <a:blip r:embed="rId3" cstate="email">
            <a:extLst>
              <a:ext uri="{28A0092B-C50C-407E-A947-70E740481C1C}">
                <a14:useLocalDpi xmlns:a14="http://schemas.microsoft.com/office/drawing/2010/main" val="0"/>
              </a:ext>
            </a:extLst>
          </a:blip>
          <a:srcRect/>
          <a:stretch/>
        </p:blipFill>
        <p:spPr>
          <a:xfrm>
            <a:off x="12850415" y="8348409"/>
            <a:ext cx="1366353" cy="555080"/>
          </a:xfrm>
          <a:prstGeom prst="rect">
            <a:avLst/>
          </a:prstGeom>
        </p:spPr>
      </p:pic>
      <p:cxnSp>
        <p:nvCxnSpPr>
          <p:cNvPr id="14" name="Straight Connector 13">
            <a:extLst>
              <a:ext uri="{FF2B5EF4-FFF2-40B4-BE49-F238E27FC236}">
                <a16:creationId xmlns:a16="http://schemas.microsoft.com/office/drawing/2014/main" id="{AECD1887-4E9C-5FF9-418B-2EFD255594FE}"/>
              </a:ext>
            </a:extLst>
          </p:cNvPr>
          <p:cNvCxnSpPr>
            <a:cxnSpLocks/>
          </p:cNvCxnSpPr>
          <p:nvPr userDrawn="1"/>
        </p:nvCxnSpPr>
        <p:spPr>
          <a:xfrm>
            <a:off x="12689014" y="8360757"/>
            <a:ext cx="0" cy="530384"/>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sp>
        <p:nvSpPr>
          <p:cNvPr id="97"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500000" y="3400000"/>
            <a:ext cx="13256000" cy="2200000"/>
          </a:xfrm>
        </p:spPr>
        <p:txBody>
          <a:bodyPr>
            <a:normAutofit/>
          </a:bodyPr>
          <a:lstStyle>
            <a:lvl1pPr>
              <a:defRPr sz="4400" cap="none" baseline="0"/>
            </a:lvl1pPr>
          </a:lstStyle>
          <a:p>
            <a:r>
              <a:rPr lang="en-US" dirty="0"/>
              <a:t>Title</a:t>
            </a:r>
            <a:endParaRPr lang="en-GB" dirty="0"/>
          </a:p>
        </p:txBody>
      </p:sp>
    </p:spTree>
    <p:extLst>
      <p:ext uri="{BB962C8B-B14F-4D97-AF65-F5344CB8AC3E}">
        <p14:creationId xmlns:p14="http://schemas.microsoft.com/office/powerpoint/2010/main" val="5671004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82279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sp>
        <p:nvSpPr>
          <p:cNvPr id="23" name="Content Placeholder 9">
            <a:extLst>
              <a:ext uri="{FF2B5EF4-FFF2-40B4-BE49-F238E27FC236}">
                <a16:creationId xmlns:a16="http://schemas.microsoft.com/office/drawing/2014/main" id="{0C532851-4697-4B02-B344-E4852AF78CBF}"/>
              </a:ext>
            </a:extLst>
          </p:cNvPr>
          <p:cNvSpPr>
            <a:spLocks noGrp="1"/>
          </p:cNvSpPr>
          <p:nvPr>
            <p:ph sz="quarter" idx="13" hasCustomPrompt="1"/>
          </p:nvPr>
        </p:nvSpPr>
        <p:spPr>
          <a:xfrm>
            <a:off x="1104904" y="2269323"/>
            <a:ext cx="6896104" cy="5459310"/>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3"/>
              </a:buClr>
              <a:buFont typeface="Arial" panose="020B0604020202020204" pitchFamily="34" charset="0"/>
              <a:buChar char="•"/>
              <a:defRPr sz="2600">
                <a:solidFill>
                  <a:schemeClr val="tx1"/>
                </a:solidFill>
              </a:defRPr>
            </a:lvl5pPr>
          </a:lstStyle>
          <a:p>
            <a:pPr lvl="0"/>
            <a:r>
              <a:rPr lang="en-GB" dirty="0"/>
              <a:t>Click to add text or click one of </a:t>
            </a:r>
            <a:br>
              <a:rPr lang="en-GB" dirty="0"/>
            </a:br>
            <a:r>
              <a:rPr lang="en-GB" dirty="0"/>
              <a:t>the icons below to insert media</a:t>
            </a:r>
          </a:p>
        </p:txBody>
      </p:sp>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09696"/>
          </a:xfrm>
        </p:spPr>
        <p:txBody>
          <a:bodyPr>
            <a:normAutofit/>
          </a:bodyPr>
          <a:lstStyle>
            <a:lvl1pPr>
              <a:defRPr sz="4400" cap="none" baseline="0"/>
            </a:lvl1pPr>
          </a:lstStyle>
          <a:p>
            <a:r>
              <a:rPr lang="en-US" dirty="0"/>
              <a:t>Title</a:t>
            </a:r>
            <a:endParaRPr lang="en-GB" dirty="0"/>
          </a:p>
        </p:txBody>
      </p:sp>
      <p:sp>
        <p:nvSpPr>
          <p:cNvPr id="9" name="Content Placeholder 9">
            <a:extLst>
              <a:ext uri="{FF2B5EF4-FFF2-40B4-BE49-F238E27FC236}">
                <a16:creationId xmlns:a16="http://schemas.microsoft.com/office/drawing/2014/main" id="{8BE77E02-92D4-079E-ADD9-4455ABC3C3FA}"/>
              </a:ext>
            </a:extLst>
          </p:cNvPr>
          <p:cNvSpPr>
            <a:spLocks noGrp="1"/>
          </p:cNvSpPr>
          <p:nvPr>
            <p:ph sz="quarter" idx="25" hasCustomPrompt="1"/>
          </p:nvPr>
        </p:nvSpPr>
        <p:spPr>
          <a:xfrm>
            <a:off x="8229600" y="2269322"/>
            <a:ext cx="6896104" cy="5459309"/>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3"/>
              </a:buClr>
              <a:buFont typeface="Arial" panose="020B0604020202020204" pitchFamily="34" charset="0"/>
              <a:buChar char="•"/>
              <a:defRPr sz="2600">
                <a:solidFill>
                  <a:schemeClr val="tx1"/>
                </a:solidFill>
              </a:defRPr>
            </a:lvl5pPr>
          </a:lstStyle>
          <a:p>
            <a:pPr lvl="0"/>
            <a:r>
              <a:rPr lang="en-GB" dirty="0"/>
              <a:t>Click to add text or click one of </a:t>
            </a:r>
            <a:br>
              <a:rPr lang="en-GB" dirty="0"/>
            </a:br>
            <a:r>
              <a:rPr lang="en-GB" dirty="0"/>
              <a:t>the icons below to insert media</a:t>
            </a:r>
          </a:p>
        </p:txBody>
      </p:sp>
      <p:sp>
        <p:nvSpPr>
          <p:cNvPr id="7" name="Footer Placeholder 4">
            <a:extLst>
              <a:ext uri="{FF2B5EF4-FFF2-40B4-BE49-F238E27FC236}">
                <a16:creationId xmlns:a16="http://schemas.microsoft.com/office/drawing/2014/main" id="{6F6C5742-1F6C-A710-52FA-1248F020C691}"/>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2" name="Text Placeholder 7">
            <a:extLst>
              <a:ext uri="{FF2B5EF4-FFF2-40B4-BE49-F238E27FC236}">
                <a16:creationId xmlns:a16="http://schemas.microsoft.com/office/drawing/2014/main" id="{74833094-AB27-5E56-D6CB-92FC23315CD5}"/>
              </a:ext>
            </a:extLst>
          </p:cNvPr>
          <p:cNvSpPr>
            <a:spLocks noGrp="1"/>
          </p:cNvSpPr>
          <p:nvPr>
            <p:ph type="body" sz="quarter" idx="24" hasCustomPrompt="1"/>
          </p:nvPr>
        </p:nvSpPr>
        <p:spPr>
          <a:xfrm>
            <a:off x="1117601" y="1214783"/>
            <a:ext cx="14008103"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Tree>
    <p:extLst>
      <p:ext uri="{BB962C8B-B14F-4D97-AF65-F5344CB8AC3E}">
        <p14:creationId xmlns:p14="http://schemas.microsoft.com/office/powerpoint/2010/main" val="21805668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lank -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16010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with footer - Whit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BD73577C-5ADA-DE55-B128-83AA66D6CFE7}"/>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6" name="Slide Number Placeholder 5">
            <a:extLst>
              <a:ext uri="{FF2B5EF4-FFF2-40B4-BE49-F238E27FC236}">
                <a16:creationId xmlns:a16="http://schemas.microsoft.com/office/drawing/2014/main" id="{23718304-6C36-249F-E42A-4B587A18B9E8}"/>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Tree>
    <p:extLst>
      <p:ext uri="{BB962C8B-B14F-4D97-AF65-F5344CB8AC3E}">
        <p14:creationId xmlns:p14="http://schemas.microsoft.com/office/powerpoint/2010/main" val="7071768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Blank with footer - Colou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15C406F6-FE38-14E0-8BF8-B9AC42B3EF15}"/>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bg1"/>
                </a:solidFill>
              </a:defRPr>
            </a:lvl1pPr>
          </a:lstStyle>
          <a:p>
            <a:r>
              <a:rPr lang="en-GB"/>
              <a:t>IFoA Life Conference</a:t>
            </a:r>
            <a:endParaRPr lang="en-GB" dirty="0"/>
          </a:p>
        </p:txBody>
      </p:sp>
      <p:sp>
        <p:nvSpPr>
          <p:cNvPr id="9" name="Slide Number Placeholder 5">
            <a:extLst>
              <a:ext uri="{FF2B5EF4-FFF2-40B4-BE49-F238E27FC236}">
                <a16:creationId xmlns:a16="http://schemas.microsoft.com/office/drawing/2014/main" id="{C18B60AF-E1FE-C3E6-C9A3-0721F1D08E6F}"/>
              </a:ext>
            </a:extLst>
          </p:cNvPr>
          <p:cNvSpPr>
            <a:spLocks noGrp="1"/>
          </p:cNvSpPr>
          <p:nvPr>
            <p:ph type="sldNum" sz="quarter" idx="4"/>
          </p:nvPr>
        </p:nvSpPr>
        <p:spPr>
          <a:xfrm>
            <a:off x="14573177" y="8382533"/>
            <a:ext cx="529680" cy="486833"/>
          </a:xfrm>
          <a:prstGeom prst="rect">
            <a:avLst/>
          </a:prstGeom>
          <a:solidFill>
            <a:schemeClr val="bg1"/>
          </a:solidFill>
        </p:spPr>
        <p:txBody>
          <a:bodyPr vert="horz" lIns="91440" tIns="45720" rIns="91440" bIns="45720" rtlCol="0" anchor="ctr"/>
          <a:lstStyle>
            <a:lvl1pPr algn="ctr">
              <a:defRPr sz="1200" b="1" i="0">
                <a:solidFill>
                  <a:schemeClr val="tx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cxnSp>
        <p:nvCxnSpPr>
          <p:cNvPr id="10" name="Straight Connector 9">
            <a:extLst>
              <a:ext uri="{FF2B5EF4-FFF2-40B4-BE49-F238E27FC236}">
                <a16:creationId xmlns:a16="http://schemas.microsoft.com/office/drawing/2014/main" id="{A0CB7D33-8423-976F-F4E8-092F373CB4D4}"/>
              </a:ext>
            </a:extLst>
          </p:cNvPr>
          <p:cNvCxnSpPr>
            <a:cxnSpLocks/>
          </p:cNvCxnSpPr>
          <p:nvPr userDrawn="1"/>
        </p:nvCxnSpPr>
        <p:spPr>
          <a:xfrm>
            <a:off x="14411899" y="8360757"/>
            <a:ext cx="0" cy="530384"/>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A334B112-156D-B47A-A01E-403E49BC030A}"/>
              </a:ext>
            </a:extLst>
          </p:cNvPr>
          <p:cNvPicPr>
            <a:picLocks noChangeAspect="1"/>
          </p:cNvPicPr>
          <p:nvPr userDrawn="1"/>
        </p:nvPicPr>
        <p:blipFill>
          <a:blip r:embed="rId3" cstate="email">
            <a:extLst>
              <a:ext uri="{28A0092B-C50C-407E-A947-70E740481C1C}">
                <a14:useLocalDpi xmlns:a14="http://schemas.microsoft.com/office/drawing/2010/main" val="0"/>
              </a:ext>
            </a:extLst>
          </a:blip>
          <a:srcRect/>
          <a:stretch/>
        </p:blipFill>
        <p:spPr>
          <a:xfrm>
            <a:off x="12850415" y="8348409"/>
            <a:ext cx="1366353" cy="555080"/>
          </a:xfrm>
          <a:prstGeom prst="rect">
            <a:avLst/>
          </a:prstGeom>
        </p:spPr>
      </p:pic>
      <p:cxnSp>
        <p:nvCxnSpPr>
          <p:cNvPr id="14" name="Straight Connector 13">
            <a:extLst>
              <a:ext uri="{FF2B5EF4-FFF2-40B4-BE49-F238E27FC236}">
                <a16:creationId xmlns:a16="http://schemas.microsoft.com/office/drawing/2014/main" id="{AECD1887-4E9C-5FF9-418B-2EFD255594FE}"/>
              </a:ext>
            </a:extLst>
          </p:cNvPr>
          <p:cNvCxnSpPr>
            <a:cxnSpLocks/>
          </p:cNvCxnSpPr>
          <p:nvPr userDrawn="1"/>
        </p:nvCxnSpPr>
        <p:spPr>
          <a:xfrm>
            <a:off x="12689014" y="8360757"/>
            <a:ext cx="0" cy="530384"/>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52155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Blank without footer - Background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314133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slideLayout" Target="../slideLayouts/slideLayout14.xml"/><Relationship Id="rId14" Type="http://schemas.openxmlformats.org/officeDocument/2006/relationships/slideLayout" Target="../slideLayouts/slideLayout15.xml"/><Relationship Id="rId15" Type="http://schemas.openxmlformats.org/officeDocument/2006/relationships/slideLayout" Target="../slideLayouts/slideLayout16.xml"/><Relationship Id="rId16" Type="http://schemas.openxmlformats.org/officeDocument/2006/relationships/slideLayout" Target="../slideLayouts/slideLayout17.xml"/><Relationship Id="rId17" Type="http://schemas.openxmlformats.org/officeDocument/2006/relationships/slideLayout" Target="../slideLayouts/slideLayout18.xml"/><Relationship Id="rId18" Type="http://schemas.openxmlformats.org/officeDocument/2006/relationships/theme" Target="../theme/theme2.xml"/><Relationship Id="rId19"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slideLayout" Target="../slideLayouts/slideLayout20.xml"/><Relationship Id="rId3" Type="http://schemas.openxmlformats.org/officeDocument/2006/relationships/slideLayout" Target="../slideLayouts/slideLayout21.xml"/><Relationship Id="rId4" Type="http://schemas.openxmlformats.org/officeDocument/2006/relationships/slideLayout" Target="../slideLayouts/slideLayout22.xml"/><Relationship Id="rId5" Type="http://schemas.openxmlformats.org/officeDocument/2006/relationships/theme" Target="../theme/theme3.xml"/><Relationship Id="rId6"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F25C570-C0B9-76B3-4BFD-E6B3A0571624}"/>
              </a:ext>
            </a:extLst>
          </p:cNvPr>
          <p:cNvSpPr>
            <a:spLocks noGrp="1"/>
          </p:cNvSpPr>
          <p:nvPr>
            <p:ph type="title"/>
          </p:nvPr>
        </p:nvSpPr>
        <p:spPr>
          <a:xfrm>
            <a:off x="1117600" y="486834"/>
            <a:ext cx="14020800" cy="1767417"/>
          </a:xfrm>
          <a:prstGeom prst="rect">
            <a:avLst/>
          </a:prstGeom>
        </p:spPr>
        <p:txBody>
          <a:bodyPr vert="horz" lIns="91440" tIns="45720" rIns="91440" bIns="45720" rtlCol="0" anchor="ctr">
            <a:normAutofit/>
          </a:bodyPr>
          <a:lstStyle/>
          <a:p>
            <a:r>
              <a:rPr lang="en-GB" dirty="0"/>
              <a:t>Click to edit master title style</a:t>
            </a:r>
          </a:p>
        </p:txBody>
      </p:sp>
      <p:sp>
        <p:nvSpPr>
          <p:cNvPr id="6" name="Text Placeholder 2">
            <a:extLst>
              <a:ext uri="{FF2B5EF4-FFF2-40B4-BE49-F238E27FC236}">
                <a16:creationId xmlns:a16="http://schemas.microsoft.com/office/drawing/2014/main" id="{A630D8FD-A6F6-6EE4-2434-A38016314418}"/>
              </a:ext>
            </a:extLst>
          </p:cNvPr>
          <p:cNvSpPr>
            <a:spLocks noGrp="1"/>
          </p:cNvSpPr>
          <p:nvPr>
            <p:ph type="body" idx="1"/>
          </p:nvPr>
        </p:nvSpPr>
        <p:spPr>
          <a:xfrm>
            <a:off x="1117600" y="2434167"/>
            <a:ext cx="14020800" cy="5801784"/>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pic>
        <p:nvPicPr>
          <p:cNvPr id="7" name="Picture 6">
            <a:extLst>
              <a:ext uri="{FF2B5EF4-FFF2-40B4-BE49-F238E27FC236}">
                <a16:creationId xmlns:a16="http://schemas.microsoft.com/office/drawing/2014/main" id="{BDD3F4E8-5CDA-8955-4BFE-A2FCDD5BA013}"/>
              </a:ext>
            </a:extLst>
          </p:cNvPr>
          <p:cNvPicPr>
            <a:picLocks noChangeAspect="1"/>
          </p:cNvPicPr>
          <p:nvPr userDrawn="1"/>
        </p:nvPicPr>
        <p:blipFill>
          <a:blip r:embed="rId3" cstate="email">
            <a:extLst>
              <a:ext uri="{28A0092B-C50C-407E-A947-70E740481C1C}">
                <a14:useLocalDpi xmlns:a14="http://schemas.microsoft.com/office/drawing/2010/main" val="0"/>
              </a:ext>
            </a:extLst>
          </a:blip>
          <a:srcRect/>
          <a:stretch/>
        </p:blipFill>
        <p:spPr>
          <a:xfrm>
            <a:off x="12850415" y="8348635"/>
            <a:ext cx="1366353" cy="554629"/>
          </a:xfrm>
          <a:prstGeom prst="rect">
            <a:avLst/>
          </a:prstGeom>
        </p:spPr>
      </p:pic>
      <p:sp>
        <p:nvSpPr>
          <p:cNvPr id="8" name="Footer Placeholder 4">
            <a:extLst>
              <a:ext uri="{FF2B5EF4-FFF2-40B4-BE49-F238E27FC236}">
                <a16:creationId xmlns:a16="http://schemas.microsoft.com/office/drawing/2014/main" id="{ACA03778-E4AF-D519-D257-3D5B728D22F7}"/>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9" name="Slide Number Placeholder 5">
            <a:extLst>
              <a:ext uri="{FF2B5EF4-FFF2-40B4-BE49-F238E27FC236}">
                <a16:creationId xmlns:a16="http://schemas.microsoft.com/office/drawing/2014/main" id="{A1516921-5FEC-FB3B-75CE-FB6663376CD0}"/>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cxnSp>
        <p:nvCxnSpPr>
          <p:cNvPr id="10" name="Straight Connector 9">
            <a:extLst>
              <a:ext uri="{FF2B5EF4-FFF2-40B4-BE49-F238E27FC236}">
                <a16:creationId xmlns:a16="http://schemas.microsoft.com/office/drawing/2014/main" id="{5B708CF7-AFA2-B03F-3762-97D636B572D0}"/>
              </a:ext>
            </a:extLst>
          </p:cNvPr>
          <p:cNvCxnSpPr>
            <a:cxnSpLocks/>
          </p:cNvCxnSpPr>
          <p:nvPr userDrawn="1"/>
        </p:nvCxnSpPr>
        <p:spPr>
          <a:xfrm>
            <a:off x="14411899" y="8360757"/>
            <a:ext cx="0" cy="530384"/>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F886170-12CD-9DF7-29C3-124E4C5EF48A}"/>
              </a:ext>
            </a:extLst>
          </p:cNvPr>
          <p:cNvCxnSpPr>
            <a:cxnSpLocks/>
          </p:cNvCxnSpPr>
          <p:nvPr userDrawn="1"/>
        </p:nvCxnSpPr>
        <p:spPr>
          <a:xfrm>
            <a:off x="12689014" y="8360757"/>
            <a:ext cx="0" cy="530384"/>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686094"/>
      </p:ext>
    </p:extLst>
  </p:cSld>
  <p:clrMap bg1="lt1" tx1="dk1" bg2="lt2" tx2="dk2" accent1="accent1" accent2="accent2" accent3="accent3" accent4="accent4" accent5="accent5" accent6="accent6" hlink="hlink" folHlink="folHlink"/>
  <p:sldLayoutIdLst>
    <p:sldLayoutId id="2147483989" r:id="rId1"/>
  </p:sldLayoutIdLst>
  <p:hf hdr="0" dt="0"/>
  <p:txStyles>
    <p:titleStyle>
      <a:lvl1pPr algn="l" defTabSz="1219170" rtl="0" eaLnBrk="1" latinLnBrk="0" hangingPunct="1">
        <a:lnSpc>
          <a:spcPct val="90000"/>
        </a:lnSpc>
        <a:spcBef>
          <a:spcPct val="0"/>
        </a:spcBef>
        <a:buNone/>
        <a:defRPr sz="4400" b="1" i="0" kern="1200" spc="-150" baseline="0">
          <a:solidFill>
            <a:schemeClr val="tx1"/>
          </a:solidFill>
          <a:latin typeface="Arial" panose="020B0604020202020204" pitchFamily="34" charset="0"/>
          <a:ea typeface="+mj-ea"/>
          <a:cs typeface="Arial" panose="020B0604020202020204" pitchFamily="34" charset="0"/>
        </a:defRPr>
      </a:lvl1pPr>
    </p:titleStyle>
    <p:bodyStyle>
      <a:lvl1pPr marL="304792" indent="-304792" algn="l" defTabSz="1219170" rtl="0" eaLnBrk="1" latinLnBrk="0" hangingPunct="1">
        <a:lnSpc>
          <a:spcPct val="100000"/>
        </a:lnSpc>
        <a:spcBef>
          <a:spcPts val="1333"/>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F9E5E3-50B6-4FBB-92A3-9FF023DDE2C5}"/>
              </a:ext>
            </a:extLst>
          </p:cNvPr>
          <p:cNvSpPr>
            <a:spLocks noGrp="1"/>
          </p:cNvSpPr>
          <p:nvPr>
            <p:ph type="title"/>
          </p:nvPr>
        </p:nvSpPr>
        <p:spPr>
          <a:xfrm>
            <a:off x="1117600" y="486834"/>
            <a:ext cx="14020800" cy="1767417"/>
          </a:xfrm>
          <a:prstGeom prst="rect">
            <a:avLst/>
          </a:prstGeom>
        </p:spPr>
        <p:txBody>
          <a:bodyPr vert="horz" lIns="91440" tIns="45720" rIns="91440" bIns="45720" rtlCol="0" anchor="ctr">
            <a:normAutofit/>
          </a:bodyPr>
          <a:lstStyle/>
          <a:p>
            <a:r>
              <a:rPr lang="en-GB" dirty="0"/>
              <a:t>Click to edit master title style</a:t>
            </a:r>
          </a:p>
        </p:txBody>
      </p:sp>
      <p:sp>
        <p:nvSpPr>
          <p:cNvPr id="3" name="Text Placeholder 2">
            <a:extLst>
              <a:ext uri="{FF2B5EF4-FFF2-40B4-BE49-F238E27FC236}">
                <a16:creationId xmlns:a16="http://schemas.microsoft.com/office/drawing/2014/main" id="{CD748E6F-0121-4691-8E7F-4F7004A7CAA4}"/>
              </a:ext>
            </a:extLst>
          </p:cNvPr>
          <p:cNvSpPr>
            <a:spLocks noGrp="1"/>
          </p:cNvSpPr>
          <p:nvPr>
            <p:ph type="body" idx="1"/>
          </p:nvPr>
        </p:nvSpPr>
        <p:spPr>
          <a:xfrm>
            <a:off x="1117600" y="2434167"/>
            <a:ext cx="14020800" cy="5801784"/>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2" name="Footer Placeholder 4">
            <a:extLst>
              <a:ext uri="{FF2B5EF4-FFF2-40B4-BE49-F238E27FC236}">
                <a16:creationId xmlns:a16="http://schemas.microsoft.com/office/drawing/2014/main" id="{15B6EA79-ADD6-536F-9385-DD3D12B23CD5}"/>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23" name="Slide Number Placeholder 5">
            <a:extLst>
              <a:ext uri="{FF2B5EF4-FFF2-40B4-BE49-F238E27FC236}">
                <a16:creationId xmlns:a16="http://schemas.microsoft.com/office/drawing/2014/main" id="{E2592FD6-5F90-36CF-89E1-38DFB0DCDE60}"/>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cxnSp>
        <p:nvCxnSpPr>
          <p:cNvPr id="24" name="Straight Connector 23">
            <a:extLst>
              <a:ext uri="{FF2B5EF4-FFF2-40B4-BE49-F238E27FC236}">
                <a16:creationId xmlns:a16="http://schemas.microsoft.com/office/drawing/2014/main" id="{CB2459A5-41A4-9F91-CD93-561B1A34EFD3}"/>
              </a:ext>
            </a:extLst>
          </p:cNvPr>
          <p:cNvCxnSpPr>
            <a:cxnSpLocks/>
          </p:cNvCxnSpPr>
          <p:nvPr userDrawn="1"/>
        </p:nvCxnSpPr>
        <p:spPr>
          <a:xfrm>
            <a:off x="14411899" y="8360757"/>
            <a:ext cx="0" cy="530384"/>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93BB4BF-B293-D332-15CC-111A2FEAA3DA}"/>
              </a:ext>
            </a:extLst>
          </p:cNvPr>
          <p:cNvCxnSpPr>
            <a:cxnSpLocks/>
          </p:cNvCxnSpPr>
          <p:nvPr userDrawn="1"/>
        </p:nvCxnSpPr>
        <p:spPr>
          <a:xfrm>
            <a:off x="12689014" y="8360757"/>
            <a:ext cx="0" cy="530384"/>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C59BA104-4A55-2960-85E0-106CAE1FF314}"/>
              </a:ext>
            </a:extLst>
          </p:cNvPr>
          <p:cNvPicPr>
            <a:picLocks noChangeAspect="1"/>
          </p:cNvPicPr>
          <p:nvPr userDrawn="1"/>
        </p:nvPicPr>
        <p:blipFill>
          <a:blip r:embed="rId19" cstate="email">
            <a:extLst>
              <a:ext uri="{28A0092B-C50C-407E-A947-70E740481C1C}">
                <a14:useLocalDpi xmlns:a14="http://schemas.microsoft.com/office/drawing/2010/main" val="0"/>
              </a:ext>
            </a:extLst>
          </a:blip>
          <a:srcRect/>
          <a:stretch/>
        </p:blipFill>
        <p:spPr>
          <a:xfrm>
            <a:off x="12850416" y="8348635"/>
            <a:ext cx="1366351" cy="554629"/>
          </a:xfrm>
          <a:prstGeom prst="rect">
            <a:avLst/>
          </a:prstGeom>
        </p:spPr>
      </p:pic>
    </p:spTree>
    <p:extLst>
      <p:ext uri="{BB962C8B-B14F-4D97-AF65-F5344CB8AC3E}">
        <p14:creationId xmlns:p14="http://schemas.microsoft.com/office/powerpoint/2010/main" val="2805869975"/>
      </p:ext>
    </p:extLst>
  </p:cSld>
  <p:clrMap bg1="lt1" tx1="dk1" bg2="lt2" tx2="dk2" accent1="accent1" accent2="accent2" accent3="accent3" accent4="accent4" accent5="accent5" accent6="accent6" hlink="hlink" folHlink="folHlink"/>
  <p:sldLayoutIdLst>
    <p:sldLayoutId id="2147484091" r:id="rId1"/>
    <p:sldLayoutId id="2147484092" r:id="rId2"/>
    <p:sldLayoutId id="2147484093" r:id="rId3"/>
    <p:sldLayoutId id="2147484094" r:id="rId4"/>
    <p:sldLayoutId id="2147484095" r:id="rId5"/>
    <p:sldLayoutId id="2147484096" r:id="rId6"/>
    <p:sldLayoutId id="2147484097" r:id="rId7"/>
    <p:sldLayoutId id="2147484098" r:id="rId8"/>
    <p:sldLayoutId id="2147484099" r:id="rId9"/>
    <p:sldLayoutId id="2147484100" r:id="rId10"/>
    <p:sldLayoutId id="2147484101" r:id="rId11"/>
    <p:sldLayoutId id="2147484102" r:id="rId12"/>
    <p:sldLayoutId id="2147484103" r:id="rId13"/>
    <p:sldLayoutId id="2147484104" r:id="rId14"/>
    <p:sldLayoutId id="2147484134" r:id="rId15"/>
    <p:sldLayoutId id="2147484136" r:id="rId16"/>
    <p:sldLayoutId id="2147484137" r:id="rId17"/>
  </p:sldLayoutIdLst>
  <p:hf hdr="0" dt="0"/>
  <p:txStyles>
    <p:titleStyle>
      <a:lvl1pPr algn="l" defTabSz="1219170" rtl="0" eaLnBrk="1" latinLnBrk="0" hangingPunct="1">
        <a:lnSpc>
          <a:spcPct val="90000"/>
        </a:lnSpc>
        <a:spcBef>
          <a:spcPct val="0"/>
        </a:spcBef>
        <a:buNone/>
        <a:defRPr sz="4400" b="1" i="0" kern="1200" spc="-150" baseline="0">
          <a:solidFill>
            <a:schemeClr val="tx1"/>
          </a:solidFill>
          <a:latin typeface="Arial" panose="020B0604020202020204" pitchFamily="34" charset="0"/>
          <a:ea typeface="+mj-ea"/>
          <a:cs typeface="Arial" panose="020B0604020202020204" pitchFamily="34" charset="0"/>
        </a:defRPr>
      </a:lvl1pPr>
    </p:titleStyle>
    <p:bodyStyle>
      <a:lvl1pPr marL="304792" indent="-304792" algn="l" defTabSz="1219170" rtl="0" eaLnBrk="1" latinLnBrk="0" hangingPunct="1">
        <a:lnSpc>
          <a:spcPct val="100000"/>
        </a:lnSpc>
        <a:spcBef>
          <a:spcPts val="1333"/>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F9E5E3-50B6-4FBB-92A3-9FF023DDE2C5}"/>
              </a:ext>
            </a:extLst>
          </p:cNvPr>
          <p:cNvSpPr>
            <a:spLocks noGrp="1"/>
          </p:cNvSpPr>
          <p:nvPr>
            <p:ph type="title"/>
          </p:nvPr>
        </p:nvSpPr>
        <p:spPr>
          <a:xfrm>
            <a:off x="1117600" y="486834"/>
            <a:ext cx="14020800" cy="1767417"/>
          </a:xfrm>
          <a:prstGeom prst="rect">
            <a:avLst/>
          </a:prstGeom>
        </p:spPr>
        <p:txBody>
          <a:bodyPr vert="horz" lIns="91440" tIns="45720" rIns="91440" bIns="45720" rtlCol="0" anchor="ctr">
            <a:normAutofit/>
          </a:bodyPr>
          <a:lstStyle/>
          <a:p>
            <a:r>
              <a:rPr lang="en-GB" dirty="0"/>
              <a:t>Click to edit master title style</a:t>
            </a:r>
          </a:p>
        </p:txBody>
      </p:sp>
      <p:sp>
        <p:nvSpPr>
          <p:cNvPr id="3" name="Text Placeholder 2">
            <a:extLst>
              <a:ext uri="{FF2B5EF4-FFF2-40B4-BE49-F238E27FC236}">
                <a16:creationId xmlns:a16="http://schemas.microsoft.com/office/drawing/2014/main" id="{CD748E6F-0121-4691-8E7F-4F7004A7CAA4}"/>
              </a:ext>
            </a:extLst>
          </p:cNvPr>
          <p:cNvSpPr>
            <a:spLocks noGrp="1"/>
          </p:cNvSpPr>
          <p:nvPr>
            <p:ph type="body" idx="1"/>
          </p:nvPr>
        </p:nvSpPr>
        <p:spPr>
          <a:xfrm>
            <a:off x="1117600" y="2434167"/>
            <a:ext cx="14020800" cy="5644962"/>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pic>
        <p:nvPicPr>
          <p:cNvPr id="17" name="Picture 16">
            <a:extLst>
              <a:ext uri="{FF2B5EF4-FFF2-40B4-BE49-F238E27FC236}">
                <a16:creationId xmlns:a16="http://schemas.microsoft.com/office/drawing/2014/main" id="{342F200D-848E-FCA7-CEE7-C3A16BDD429D}"/>
              </a:ext>
            </a:extLst>
          </p:cNvPr>
          <p:cNvPicPr>
            <a:picLocks noChangeAspect="1"/>
          </p:cNvPicPr>
          <p:nvPr userDrawn="1"/>
        </p:nvPicPr>
        <p:blipFill>
          <a:blip r:embed="rId6" cstate="email">
            <a:extLst>
              <a:ext uri="{28A0092B-C50C-407E-A947-70E740481C1C}">
                <a14:useLocalDpi xmlns:a14="http://schemas.microsoft.com/office/drawing/2010/main" val="0"/>
              </a:ext>
            </a:extLst>
          </a:blip>
          <a:srcRect/>
          <a:stretch/>
        </p:blipFill>
        <p:spPr>
          <a:xfrm>
            <a:off x="12850415" y="8348635"/>
            <a:ext cx="1366353" cy="554629"/>
          </a:xfrm>
          <a:prstGeom prst="rect">
            <a:avLst/>
          </a:prstGeom>
        </p:spPr>
      </p:pic>
      <p:sp>
        <p:nvSpPr>
          <p:cNvPr id="18" name="Footer Placeholder 4">
            <a:extLst>
              <a:ext uri="{FF2B5EF4-FFF2-40B4-BE49-F238E27FC236}">
                <a16:creationId xmlns:a16="http://schemas.microsoft.com/office/drawing/2014/main" id="{BD97F80B-912B-9BAB-E4A2-3A8BC133603E}"/>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19" name="Slide Number Placeholder 5">
            <a:extLst>
              <a:ext uri="{FF2B5EF4-FFF2-40B4-BE49-F238E27FC236}">
                <a16:creationId xmlns:a16="http://schemas.microsoft.com/office/drawing/2014/main" id="{0C107E2B-92C7-C410-9DB1-828DE7DBBB1A}"/>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cxnSp>
        <p:nvCxnSpPr>
          <p:cNvPr id="20" name="Straight Connector 19">
            <a:extLst>
              <a:ext uri="{FF2B5EF4-FFF2-40B4-BE49-F238E27FC236}">
                <a16:creationId xmlns:a16="http://schemas.microsoft.com/office/drawing/2014/main" id="{98974C6E-57E6-DAC2-B12F-C7C5F8AA94F5}"/>
              </a:ext>
            </a:extLst>
          </p:cNvPr>
          <p:cNvCxnSpPr>
            <a:cxnSpLocks/>
          </p:cNvCxnSpPr>
          <p:nvPr userDrawn="1"/>
        </p:nvCxnSpPr>
        <p:spPr>
          <a:xfrm>
            <a:off x="14411899" y="8360757"/>
            <a:ext cx="0" cy="530384"/>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70E9DA1-EA1C-F4E2-697B-CF7B512536B1}"/>
              </a:ext>
            </a:extLst>
          </p:cNvPr>
          <p:cNvCxnSpPr>
            <a:cxnSpLocks/>
          </p:cNvCxnSpPr>
          <p:nvPr userDrawn="1"/>
        </p:nvCxnSpPr>
        <p:spPr>
          <a:xfrm>
            <a:off x="12689014" y="8360757"/>
            <a:ext cx="0" cy="530384"/>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9549632"/>
      </p:ext>
    </p:extLst>
  </p:cSld>
  <p:clrMap bg1="lt1" tx1="dk1" bg2="lt2" tx2="dk2" accent1="accent1" accent2="accent2" accent3="accent3" accent4="accent4" accent5="accent5" accent6="accent6" hlink="hlink" folHlink="folHlink"/>
  <p:sldLayoutIdLst>
    <p:sldLayoutId id="2147483898" r:id="rId1"/>
    <p:sldLayoutId id="2147483899" r:id="rId2"/>
    <p:sldLayoutId id="2147484133" r:id="rId3"/>
    <p:sldLayoutId id="2147484109" r:id="rId4"/>
  </p:sldLayoutIdLst>
  <p:hf hdr="0" dt="0"/>
  <p:txStyles>
    <p:titleStyle>
      <a:lvl1pPr algn="l" defTabSz="1219170" rtl="0" eaLnBrk="1" latinLnBrk="0" hangingPunct="1">
        <a:lnSpc>
          <a:spcPct val="90000"/>
        </a:lnSpc>
        <a:spcBef>
          <a:spcPct val="0"/>
        </a:spcBef>
        <a:buNone/>
        <a:defRPr sz="4400" b="1" i="0" kern="1200" spc="-150" baseline="0">
          <a:solidFill>
            <a:schemeClr val="tx1"/>
          </a:solidFill>
          <a:latin typeface="Arial" panose="020B0604020202020204" pitchFamily="34" charset="0"/>
          <a:ea typeface="+mj-ea"/>
          <a:cs typeface="Arial" panose="020B0604020202020204" pitchFamily="34" charset="0"/>
        </a:defRPr>
      </a:lvl1pPr>
    </p:titleStyle>
    <p:bodyStyle>
      <a:lvl1pPr marL="304792" indent="-304792" algn="l" defTabSz="1219170" rtl="0" eaLnBrk="1" latinLnBrk="0" hangingPunct="1">
        <a:lnSpc>
          <a:spcPct val="100000"/>
        </a:lnSpc>
        <a:spcBef>
          <a:spcPts val="1333"/>
        </a:spcBef>
        <a:buClr>
          <a:schemeClr val="accent1"/>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1"/>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1"/>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1"/>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1"/>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microsoft.com/office/2018/10/relationships/comments" Target="../comments/modernComment_136_0F99604F.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18/10/relationships/comments" Target="../comments/modernComment_135_510680F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microsoft.com/office/2018/10/relationships/comments" Target="../comments/modernComment_158_C04E5C4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microsoft.com/office/2018/10/relationships/comments" Target="../comments/modernComment_143_EF0DD2EF.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microsoft.com/office/2018/10/relationships/comments" Target="../comments/modernComment_13C_B433CAD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9.png"/><Relationship Id="rId4" Type="http://schemas.microsoft.com/office/2018/10/relationships/comments" Target="../comments/modernComment_13D_696AE80E.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microsoft.com/office/2018/10/relationships/comments" Target="../comments/modernComment_140_164385B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chart" Target="../charts/chart2.xml"/><Relationship Id="rId4" Type="http://schemas.microsoft.com/office/2018/10/relationships/comments" Target="../comments/modernComment_14E_6C3B12A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chart" Target="../charts/chart3.xml"/><Relationship Id="rId4" Type="http://schemas.openxmlformats.org/officeDocument/2006/relationships/chart" Target="../charts/chart4.xml"/><Relationship Id="rId5" Type="http://schemas.microsoft.com/office/2018/10/relationships/comments" Target="../comments/modernComment_14F_980CAB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microsoft.com/office/2018/10/relationships/comments" Target="../comments/modernComment_156_9143834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20.png"/><Relationship Id="rId4" Type="http://schemas.microsoft.com/office/2018/10/relationships/comments" Target="../comments/modernComment_150_4FD86DD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22.svg"/><Relationship Id="rId4" Type="http://schemas.openxmlformats.org/officeDocument/2006/relationships/image" Target="../media/image23.svg"/><Relationship Id="rId5" Type="http://schemas.openxmlformats.org/officeDocument/2006/relationships/image" Target="../media/image24.svg"/><Relationship Id="rId6" Type="http://schemas.microsoft.com/office/2018/10/relationships/comments" Target="../comments/modernComment_14D_B77C0CCF.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microsoft.com/office/2018/10/relationships/comments" Target="../comments/modernComment_134_2E3441BB.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5.png"/><Relationship Id="rId3"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3BBF01D-71AF-2AA4-9C97-E43E574E71BF}"/>
              </a:ext>
            </a:extLst>
          </p:cNvPr>
          <p:cNvSpPr>
            <a:spLocks noGrp="1"/>
          </p:cNvSpPr>
          <p:nvPr>
            <p:ph type="ftr" sz="quarter" idx="3"/>
          </p:nvPr>
        </p:nvSpPr>
        <p:spPr/>
        <p:txBody>
          <a:bodyPr/>
          <a:lstStyle/>
          <a:p>
            <a:r>
              <a:rPr lang="en-GB"/>
              <a:t>IFoA Life Conference</a:t>
            </a:r>
            <a:endParaRPr lang="en-GB" dirty="0"/>
          </a:p>
        </p:txBody>
      </p:sp>
      <p:sp>
        <p:nvSpPr>
          <p:cNvPr id="4" name="Title 3">
            <a:extLst>
              <a:ext uri="{FF2B5EF4-FFF2-40B4-BE49-F238E27FC236}">
                <a16:creationId xmlns:a16="http://schemas.microsoft.com/office/drawing/2014/main" id="{A41A352A-E150-6CA4-17A5-C5CC01DA6E8A}"/>
              </a:ext>
            </a:extLst>
          </p:cNvPr>
          <p:cNvSpPr>
            <a:spLocks noGrp="1"/>
          </p:cNvSpPr>
          <p:nvPr>
            <p:ph type="title"/>
          </p:nvPr>
        </p:nvSpPr>
        <p:spPr/>
        <p:txBody>
          <a:bodyPr/>
          <a:lstStyle/>
          <a:p>
            <a:r>
              <a:rPr lang="en-US" dirty="0"/>
              <a:t>IFoA Life</a:t>
            </a:r>
            <a:br>
              <a:rPr lang="en-US" dirty="0"/>
            </a:br>
            <a:r>
              <a:rPr lang="en-US" dirty="0"/>
              <a:t>Conference 2026</a:t>
            </a:r>
          </a:p>
        </p:txBody>
      </p:sp>
      <p:sp>
        <p:nvSpPr>
          <p:cNvPr id="5" name="Slide Number Placeholder 4">
            <a:extLst>
              <a:ext uri="{FF2B5EF4-FFF2-40B4-BE49-F238E27FC236}">
                <a16:creationId xmlns:a16="http://schemas.microsoft.com/office/drawing/2014/main" id="{5C4359CE-CB65-7948-B2AD-96F3742DE349}"/>
              </a:ext>
            </a:extLst>
          </p:cNvPr>
          <p:cNvSpPr>
            <a:spLocks noGrp="1"/>
          </p:cNvSpPr>
          <p:nvPr>
            <p:ph type="sldNum" sz="quarter" idx="4"/>
          </p:nvPr>
        </p:nvSpPr>
        <p:spPr/>
        <p:txBody>
          <a:bodyPr/>
          <a:lstStyle/>
          <a:p>
            <a:fld id="{40FC62D0-A2F2-4BF8-8DAC-E86C11000EC3}" type="slidenum">
              <a:rPr lang="en-GB" smtClean="0"/>
              <a:pPr/>
              <a:t>1</a:t>
            </a:fld>
            <a:endParaRPr lang="en-GB" dirty="0"/>
          </a:p>
        </p:txBody>
      </p:sp>
    </p:spTree>
    <p:extLst>
      <p:ext uri="{BB962C8B-B14F-4D97-AF65-F5344CB8AC3E}">
        <p14:creationId xmlns:p14="http://schemas.microsoft.com/office/powerpoint/2010/main" val="3042842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FFC615F-0F27-AE17-94D7-890440957ADC}"/>
              </a:ext>
            </a:extLst>
          </p:cNvPr>
          <p:cNvSpPr>
            <a:spLocks noGrp="1"/>
          </p:cNvSpPr>
          <p:nvPr>
            <p:ph type="ftr" sz="quarter" idx="3"/>
          </p:nvPr>
        </p:nvSpPr>
        <p:spPr/>
        <p:txBody>
          <a:bodyPr/>
          <a:lstStyle/>
          <a:p>
            <a:r>
              <a:rPr lang="en-GB"/>
              <a:t>IFoA Life Conference</a:t>
            </a:r>
            <a:endParaRPr lang="en-GB" dirty="0"/>
          </a:p>
        </p:txBody>
      </p:sp>
      <p:sp>
        <p:nvSpPr>
          <p:cNvPr id="3" name="Slide Number Placeholder 2">
            <a:extLst>
              <a:ext uri="{FF2B5EF4-FFF2-40B4-BE49-F238E27FC236}">
                <a16:creationId xmlns:a16="http://schemas.microsoft.com/office/drawing/2014/main" id="{622B6D3E-AA8B-62A9-0E03-E91FC16133D8}"/>
              </a:ext>
            </a:extLst>
          </p:cNvPr>
          <p:cNvSpPr>
            <a:spLocks noGrp="1"/>
          </p:cNvSpPr>
          <p:nvPr>
            <p:ph type="sldNum" sz="quarter" idx="4"/>
          </p:nvPr>
        </p:nvSpPr>
        <p:spPr/>
        <p:txBody>
          <a:bodyPr/>
          <a:lstStyle/>
          <a:p>
            <a:fld id="{40FC62D0-A2F2-4BF8-8DAC-E86C11000EC3}" type="slidenum">
              <a:rPr lang="en-GB" smtClean="0"/>
              <a:pPr/>
              <a:t>2</a:t>
            </a:fld>
            <a:endParaRPr lang="en-GB" dirty="0"/>
          </a:p>
        </p:txBody>
      </p:sp>
      <p:sp>
        <p:nvSpPr>
          <p:cNvPr id="5" name="Subtitle 2">
            <a:extLst>
              <a:ext uri="{FF2B5EF4-FFF2-40B4-BE49-F238E27FC236}">
                <a16:creationId xmlns:a16="http://schemas.microsoft.com/office/drawing/2014/main" id="{80C9B5BE-5048-4E8E-07B1-0A9DB8C82FC8}"/>
              </a:ext>
            </a:extLst>
          </p:cNvPr>
          <p:cNvSpPr txBox="1">
            <a:spLocks/>
          </p:cNvSpPr>
          <p:nvPr/>
        </p:nvSpPr>
        <p:spPr>
          <a:xfrm>
            <a:off x="3089535" y="6210136"/>
            <a:ext cx="9232005" cy="1836584"/>
          </a:xfrm>
          <a:prstGeom prst="rect">
            <a:avLst/>
          </a:prstGeom>
        </p:spPr>
        <p:txBody>
          <a:bodyPr/>
          <a:lstStyle>
            <a:lvl1pPr marL="304792" indent="-304792" algn="l" defTabSz="1219170" rtl="0" eaLnBrk="1" latinLnBrk="0" hangingPunct="1">
              <a:lnSpc>
                <a:spcPct val="100000"/>
              </a:lnSpc>
              <a:spcBef>
                <a:spcPts val="1333"/>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0" indent="0" algn="ctr">
              <a:buNone/>
            </a:pPr>
            <a:r>
              <a:rPr lang="en-US" dirty="0">
                <a:solidFill>
                  <a:schemeClr val="bg1"/>
                </a:solidFill>
              </a:rPr>
              <a:t>David Beddows FIA </a:t>
            </a:r>
            <a:r>
              <a:rPr lang="en-US" dirty="0" err="1">
                <a:solidFill>
                  <a:schemeClr val="bg1"/>
                </a:solidFill>
              </a:rPr>
              <a:t>C.Act</a:t>
            </a:r>
            <a:r>
              <a:rPr lang="en-US" dirty="0">
                <a:solidFill>
                  <a:schemeClr val="bg1"/>
                </a:solidFill>
              </a:rPr>
              <a:t>, Dr. Chris Martin, Dr. Jon Minton</a:t>
            </a:r>
          </a:p>
          <a:p>
            <a:pPr marL="0" indent="0" algn="ctr">
              <a:buNone/>
            </a:pPr>
            <a:r>
              <a:rPr lang="en-US" dirty="0" err="1">
                <a:solidFill>
                  <a:schemeClr val="bg1"/>
                </a:solidFill>
              </a:rPr>
              <a:t>IFoA</a:t>
            </a:r>
            <a:r>
              <a:rPr lang="en-US" dirty="0">
                <a:solidFill>
                  <a:schemeClr val="bg1"/>
                </a:solidFill>
              </a:rPr>
              <a:t> Healthy Workforce Working Party</a:t>
            </a:r>
          </a:p>
          <a:p>
            <a:pPr marL="0" indent="0" algn="ctr">
              <a:buNone/>
            </a:pPr>
            <a:r>
              <a:rPr lang="en-US" dirty="0">
                <a:solidFill>
                  <a:schemeClr val="bg1"/>
                </a:solidFill>
              </a:rPr>
              <a:t>09:55 – 10:40, Friday 20</a:t>
            </a:r>
            <a:r>
              <a:rPr lang="en-US" baseline="30000" dirty="0">
                <a:solidFill>
                  <a:schemeClr val="bg1"/>
                </a:solidFill>
              </a:rPr>
              <a:t>th</a:t>
            </a:r>
            <a:r>
              <a:rPr lang="en-US" dirty="0">
                <a:solidFill>
                  <a:schemeClr val="bg1"/>
                </a:solidFill>
              </a:rPr>
              <a:t> November 2026</a:t>
            </a:r>
          </a:p>
        </p:txBody>
      </p:sp>
      <p:sp>
        <p:nvSpPr>
          <p:cNvPr id="6" name="Title 1">
            <a:extLst>
              <a:ext uri="{FF2B5EF4-FFF2-40B4-BE49-F238E27FC236}">
                <a16:creationId xmlns:a16="http://schemas.microsoft.com/office/drawing/2014/main" id="{01239CC1-DCC0-A9E6-32ED-EB23C1166BDC}"/>
              </a:ext>
            </a:extLst>
          </p:cNvPr>
          <p:cNvSpPr txBox="1">
            <a:spLocks/>
          </p:cNvSpPr>
          <p:nvPr/>
        </p:nvSpPr>
        <p:spPr>
          <a:xfrm>
            <a:off x="2431134" y="4198290"/>
            <a:ext cx="10558131" cy="1551000"/>
          </a:xfrm>
          <a:prstGeom prst="rect">
            <a:avLst/>
          </a:prstGeom>
        </p:spPr>
        <p:txBody>
          <a:bodyPr vert="horz" lIns="91440" tIns="45720" rIns="91440" bIns="45720" rtlCol="0" anchor="t">
            <a:noAutofit/>
          </a:bodyPr>
          <a:lstStyle>
            <a:lvl1pPr algn="ctr" defTabSz="1219170" rtl="0" eaLnBrk="1" latinLnBrk="0" hangingPunct="1">
              <a:lnSpc>
                <a:spcPct val="90000"/>
              </a:lnSpc>
              <a:spcBef>
                <a:spcPct val="0"/>
              </a:spcBef>
              <a:buNone/>
              <a:defRPr sz="7000" b="1" i="0" kern="1200" spc="-150" baseline="0">
                <a:solidFill>
                  <a:schemeClr val="bg1"/>
                </a:solidFill>
                <a:latin typeface="Arial" panose="020B0604020202020204" pitchFamily="34" charset="0"/>
                <a:ea typeface="+mj-ea"/>
                <a:cs typeface="Arial" panose="020B0604020202020204" pitchFamily="34" charset="0"/>
              </a:defRPr>
            </a:lvl1pPr>
          </a:lstStyle>
          <a:p>
            <a:r>
              <a:rPr lang="en-US" sz="3600" dirty="0"/>
              <a:t>Healthy Workforce: </a:t>
            </a:r>
            <a:br>
              <a:rPr lang="en-US" sz="3600" dirty="0"/>
            </a:br>
            <a:r>
              <a:rPr lang="en-US" sz="3600" b="0" dirty="0"/>
              <a:t>Trends and metrics for long-term sickness and recovery rates for the UK working-age population </a:t>
            </a:r>
          </a:p>
        </p:txBody>
      </p:sp>
    </p:spTree>
    <p:extLst>
      <p:ext uri="{BB962C8B-B14F-4D97-AF65-F5344CB8AC3E}">
        <p14:creationId xmlns:p14="http://schemas.microsoft.com/office/powerpoint/2010/main" val="261709903"/>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9AA05-3DCB-81E7-1B12-BFCB2D6D22F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3807F72-B562-FB58-CD11-45E8FA39322D}"/>
              </a:ext>
            </a:extLst>
          </p:cNvPr>
          <p:cNvSpPr>
            <a:spLocks noGrp="1"/>
          </p:cNvSpPr>
          <p:nvPr>
            <p:ph type="title"/>
          </p:nvPr>
        </p:nvSpPr>
        <p:spPr/>
        <p:txBody>
          <a:bodyPr/>
          <a:lstStyle/>
          <a:p>
            <a:r>
              <a:rPr lang="en-US" dirty="0"/>
              <a:t>Today’s agenda</a:t>
            </a:r>
            <a:endParaRPr lang="en-GB" dirty="0"/>
          </a:p>
        </p:txBody>
      </p:sp>
      <p:sp>
        <p:nvSpPr>
          <p:cNvPr id="4" name="Text Placeholder 3">
            <a:extLst>
              <a:ext uri="{FF2B5EF4-FFF2-40B4-BE49-F238E27FC236}">
                <a16:creationId xmlns:a16="http://schemas.microsoft.com/office/drawing/2014/main" id="{FC9BF448-089A-7C01-FB62-27C3BBA3E457}"/>
              </a:ext>
            </a:extLst>
          </p:cNvPr>
          <p:cNvSpPr>
            <a:spLocks noGrp="1"/>
          </p:cNvSpPr>
          <p:nvPr>
            <p:ph type="body" sz="quarter" idx="24"/>
          </p:nvPr>
        </p:nvSpPr>
        <p:spPr/>
        <p:txBody>
          <a:bodyPr/>
          <a:lstStyle/>
          <a:p>
            <a:r>
              <a:rPr lang="en-GB" dirty="0"/>
              <a:t>Presented by members of the </a:t>
            </a:r>
            <a:r>
              <a:rPr lang="en-GB" dirty="0" err="1"/>
              <a:t>IFoA</a:t>
            </a:r>
            <a:r>
              <a:rPr lang="en-GB" dirty="0"/>
              <a:t> Healthy Workforce WP</a:t>
            </a:r>
          </a:p>
        </p:txBody>
      </p:sp>
      <p:sp>
        <p:nvSpPr>
          <p:cNvPr id="5" name="Footer Placeholder 4">
            <a:extLst>
              <a:ext uri="{FF2B5EF4-FFF2-40B4-BE49-F238E27FC236}">
                <a16:creationId xmlns:a16="http://schemas.microsoft.com/office/drawing/2014/main" id="{AC18E53D-60EC-DD2B-343D-625A115C0F84}"/>
              </a:ext>
            </a:extLst>
          </p:cNvPr>
          <p:cNvSpPr>
            <a:spLocks noGrp="1"/>
          </p:cNvSpPr>
          <p:nvPr>
            <p:ph type="ftr" sz="quarter" idx="3"/>
          </p:nvPr>
        </p:nvSpPr>
        <p:spPr/>
        <p:txBody>
          <a:bodyPr/>
          <a:lstStyle/>
          <a:p>
            <a:r>
              <a:rPr lang="en-GB"/>
              <a:t>IFoA Life Conference</a:t>
            </a:r>
            <a:endParaRPr lang="en-GB" dirty="0"/>
          </a:p>
        </p:txBody>
      </p:sp>
      <p:sp>
        <p:nvSpPr>
          <p:cNvPr id="6" name="Slide Number Placeholder 5">
            <a:extLst>
              <a:ext uri="{FF2B5EF4-FFF2-40B4-BE49-F238E27FC236}">
                <a16:creationId xmlns:a16="http://schemas.microsoft.com/office/drawing/2014/main" id="{15AA2052-1BA1-4E07-DBE2-5F808D7D3D00}"/>
              </a:ext>
            </a:extLst>
          </p:cNvPr>
          <p:cNvSpPr>
            <a:spLocks noGrp="1"/>
          </p:cNvSpPr>
          <p:nvPr>
            <p:ph type="sldNum" sz="quarter" idx="4"/>
          </p:nvPr>
        </p:nvSpPr>
        <p:spPr/>
        <p:txBody>
          <a:bodyPr/>
          <a:lstStyle/>
          <a:p>
            <a:fld id="{40FC62D0-A2F2-4BF8-8DAC-E86C11000EC3}" type="slidenum">
              <a:rPr lang="en-GB" smtClean="0"/>
              <a:pPr/>
              <a:t>3</a:t>
            </a:fld>
            <a:endParaRPr lang="en-GB" dirty="0"/>
          </a:p>
        </p:txBody>
      </p:sp>
      <p:graphicFrame>
        <p:nvGraphicFramePr>
          <p:cNvPr id="8" name="Content Placeholder 5">
            <a:extLst>
              <a:ext uri="{FF2B5EF4-FFF2-40B4-BE49-F238E27FC236}">
                <a16:creationId xmlns:a16="http://schemas.microsoft.com/office/drawing/2014/main" id="{18E0883C-D3E9-77E9-0E89-5F05842D57CC}"/>
              </a:ext>
            </a:extLst>
          </p:cNvPr>
          <p:cNvGraphicFramePr>
            <a:graphicFrameLocks noGrp="1"/>
          </p:cNvGraphicFramePr>
          <p:nvPr>
            <p:ph sz="quarter" idx="13"/>
            <p:extLst>
              <p:ext uri="{D42A27DB-BD31-4B8C-83A1-F6EECF244321}">
                <p14:modId xmlns:p14="http://schemas.microsoft.com/office/powerpoint/2010/main" val="2846796606"/>
              </p:ext>
            </p:extLst>
          </p:nvPr>
        </p:nvGraphicFramePr>
        <p:xfrm>
          <a:off x="1082059" y="1812942"/>
          <a:ext cx="14020798" cy="5176272"/>
        </p:xfrm>
        <a:graphic>
          <a:graphicData uri="http://schemas.openxmlformats.org/drawingml/2006/table">
            <a:tbl>
              <a:tblPr firstRow="1" bandRow="1"/>
              <a:tblGrid>
                <a:gridCol w="4866482">
                  <a:extLst>
                    <a:ext uri="{9D8B030D-6E8A-4147-A177-3AD203B41FA5}">
                      <a16:colId xmlns:a16="http://schemas.microsoft.com/office/drawing/2014/main" val="20000"/>
                    </a:ext>
                  </a:extLst>
                </a:gridCol>
                <a:gridCol w="2277415">
                  <a:extLst>
                    <a:ext uri="{9D8B030D-6E8A-4147-A177-3AD203B41FA5}">
                      <a16:colId xmlns:a16="http://schemas.microsoft.com/office/drawing/2014/main" val="20001"/>
                    </a:ext>
                  </a:extLst>
                </a:gridCol>
                <a:gridCol w="6876901">
                  <a:extLst>
                    <a:ext uri="{9D8B030D-6E8A-4147-A177-3AD203B41FA5}">
                      <a16:colId xmlns:a16="http://schemas.microsoft.com/office/drawing/2014/main" val="20002"/>
                    </a:ext>
                  </a:extLst>
                </a:gridCol>
              </a:tblGrid>
              <a:tr h="499451">
                <a:tc>
                  <a:txBody>
                    <a:bodyPr/>
                    <a:lstStyle>
                      <a:lvl1pPr marL="0" algn="l" defTabSz="1219170" rtl="0" eaLnBrk="1" latinLnBrk="0" hangingPunct="1">
                        <a:defRPr sz="2400" b="1" kern="1200">
                          <a:solidFill>
                            <a:schemeClr val="lt1"/>
                          </a:solidFill>
                          <a:latin typeface="Arial" panose="020B0604020202020204"/>
                        </a:defRPr>
                      </a:lvl1pPr>
                      <a:lvl2pPr marL="609585" algn="l" defTabSz="1219170" rtl="0" eaLnBrk="1" latinLnBrk="0" hangingPunct="1">
                        <a:defRPr sz="2400" b="1" kern="1200">
                          <a:solidFill>
                            <a:schemeClr val="lt1"/>
                          </a:solidFill>
                          <a:latin typeface="Arial" panose="020B0604020202020204"/>
                        </a:defRPr>
                      </a:lvl2pPr>
                      <a:lvl3pPr marL="1219170" algn="l" defTabSz="1219170" rtl="0" eaLnBrk="1" latinLnBrk="0" hangingPunct="1">
                        <a:defRPr sz="2400" b="1" kern="1200">
                          <a:solidFill>
                            <a:schemeClr val="lt1"/>
                          </a:solidFill>
                          <a:latin typeface="Arial" panose="020B0604020202020204"/>
                        </a:defRPr>
                      </a:lvl3pPr>
                      <a:lvl4pPr marL="1828754" algn="l" defTabSz="1219170" rtl="0" eaLnBrk="1" latinLnBrk="0" hangingPunct="1">
                        <a:defRPr sz="2400" b="1" kern="1200">
                          <a:solidFill>
                            <a:schemeClr val="lt1"/>
                          </a:solidFill>
                          <a:latin typeface="Arial" panose="020B0604020202020204"/>
                        </a:defRPr>
                      </a:lvl4pPr>
                      <a:lvl5pPr marL="2438339" algn="l" defTabSz="1219170" rtl="0" eaLnBrk="1" latinLnBrk="0" hangingPunct="1">
                        <a:defRPr sz="2400" b="1" kern="1200">
                          <a:solidFill>
                            <a:schemeClr val="lt1"/>
                          </a:solidFill>
                          <a:latin typeface="Arial" panose="020B0604020202020204"/>
                        </a:defRPr>
                      </a:lvl5pPr>
                      <a:lvl6pPr marL="3047924" algn="l" defTabSz="1219170" rtl="0" eaLnBrk="1" latinLnBrk="0" hangingPunct="1">
                        <a:defRPr sz="2400" b="1" kern="1200">
                          <a:solidFill>
                            <a:schemeClr val="lt1"/>
                          </a:solidFill>
                          <a:latin typeface="Arial" panose="020B0604020202020204"/>
                        </a:defRPr>
                      </a:lvl6pPr>
                      <a:lvl7pPr marL="3657509" algn="l" defTabSz="1219170" rtl="0" eaLnBrk="1" latinLnBrk="0" hangingPunct="1">
                        <a:defRPr sz="2400" b="1" kern="1200">
                          <a:solidFill>
                            <a:schemeClr val="lt1"/>
                          </a:solidFill>
                          <a:latin typeface="Arial" panose="020B0604020202020204"/>
                        </a:defRPr>
                      </a:lvl7pPr>
                      <a:lvl8pPr marL="4267093" algn="l" defTabSz="1219170" rtl="0" eaLnBrk="1" latinLnBrk="0" hangingPunct="1">
                        <a:defRPr sz="2400" b="1" kern="1200">
                          <a:solidFill>
                            <a:schemeClr val="lt1"/>
                          </a:solidFill>
                          <a:latin typeface="Arial" panose="020B0604020202020204"/>
                        </a:defRPr>
                      </a:lvl8pPr>
                      <a:lvl9pPr marL="4876678" algn="l" defTabSz="1219170" rtl="0" eaLnBrk="1" latinLnBrk="0" hangingPunct="1">
                        <a:defRPr sz="2400" b="1" kern="1200">
                          <a:solidFill>
                            <a:schemeClr val="lt1"/>
                          </a:solidFill>
                          <a:latin typeface="Arial" panose="020B0604020202020204"/>
                        </a:defRPr>
                      </a:lvl9pPr>
                    </a:lstStyle>
                    <a:p>
                      <a:r>
                        <a:rPr lang="en-GB" sz="2400" dirty="0"/>
                        <a:t>Item</a:t>
                      </a:r>
                    </a:p>
                  </a:txBody>
                  <a:tcPr marL="121920" marR="121920" marT="60960" marB="60960">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AB16"/>
                    </a:solidFill>
                  </a:tcPr>
                </a:tc>
                <a:tc>
                  <a:txBody>
                    <a:bodyPr/>
                    <a:lstStyle>
                      <a:lvl1pPr marL="0" algn="l" defTabSz="1219170" rtl="0" eaLnBrk="1" latinLnBrk="0" hangingPunct="1">
                        <a:defRPr sz="2400" b="1" kern="1200">
                          <a:solidFill>
                            <a:schemeClr val="lt1"/>
                          </a:solidFill>
                          <a:latin typeface="Arial" panose="020B0604020202020204"/>
                        </a:defRPr>
                      </a:lvl1pPr>
                      <a:lvl2pPr marL="609585" algn="l" defTabSz="1219170" rtl="0" eaLnBrk="1" latinLnBrk="0" hangingPunct="1">
                        <a:defRPr sz="2400" b="1" kern="1200">
                          <a:solidFill>
                            <a:schemeClr val="lt1"/>
                          </a:solidFill>
                          <a:latin typeface="Arial" panose="020B0604020202020204"/>
                        </a:defRPr>
                      </a:lvl2pPr>
                      <a:lvl3pPr marL="1219170" algn="l" defTabSz="1219170" rtl="0" eaLnBrk="1" latinLnBrk="0" hangingPunct="1">
                        <a:defRPr sz="2400" b="1" kern="1200">
                          <a:solidFill>
                            <a:schemeClr val="lt1"/>
                          </a:solidFill>
                          <a:latin typeface="Arial" panose="020B0604020202020204"/>
                        </a:defRPr>
                      </a:lvl3pPr>
                      <a:lvl4pPr marL="1828754" algn="l" defTabSz="1219170" rtl="0" eaLnBrk="1" latinLnBrk="0" hangingPunct="1">
                        <a:defRPr sz="2400" b="1" kern="1200">
                          <a:solidFill>
                            <a:schemeClr val="lt1"/>
                          </a:solidFill>
                          <a:latin typeface="Arial" panose="020B0604020202020204"/>
                        </a:defRPr>
                      </a:lvl4pPr>
                      <a:lvl5pPr marL="2438339" algn="l" defTabSz="1219170" rtl="0" eaLnBrk="1" latinLnBrk="0" hangingPunct="1">
                        <a:defRPr sz="2400" b="1" kern="1200">
                          <a:solidFill>
                            <a:schemeClr val="lt1"/>
                          </a:solidFill>
                          <a:latin typeface="Arial" panose="020B0604020202020204"/>
                        </a:defRPr>
                      </a:lvl5pPr>
                      <a:lvl6pPr marL="3047924" algn="l" defTabSz="1219170" rtl="0" eaLnBrk="1" latinLnBrk="0" hangingPunct="1">
                        <a:defRPr sz="2400" b="1" kern="1200">
                          <a:solidFill>
                            <a:schemeClr val="lt1"/>
                          </a:solidFill>
                          <a:latin typeface="Arial" panose="020B0604020202020204"/>
                        </a:defRPr>
                      </a:lvl6pPr>
                      <a:lvl7pPr marL="3657509" algn="l" defTabSz="1219170" rtl="0" eaLnBrk="1" latinLnBrk="0" hangingPunct="1">
                        <a:defRPr sz="2400" b="1" kern="1200">
                          <a:solidFill>
                            <a:schemeClr val="lt1"/>
                          </a:solidFill>
                          <a:latin typeface="Arial" panose="020B0604020202020204"/>
                        </a:defRPr>
                      </a:lvl7pPr>
                      <a:lvl8pPr marL="4267093" algn="l" defTabSz="1219170" rtl="0" eaLnBrk="1" latinLnBrk="0" hangingPunct="1">
                        <a:defRPr sz="2400" b="1" kern="1200">
                          <a:solidFill>
                            <a:schemeClr val="lt1"/>
                          </a:solidFill>
                          <a:latin typeface="Arial" panose="020B0604020202020204"/>
                        </a:defRPr>
                      </a:lvl8pPr>
                      <a:lvl9pPr marL="4876678" algn="l" defTabSz="1219170" rtl="0" eaLnBrk="1" latinLnBrk="0" hangingPunct="1">
                        <a:defRPr sz="2400" b="1" kern="1200">
                          <a:solidFill>
                            <a:schemeClr val="lt1"/>
                          </a:solidFill>
                          <a:latin typeface="Arial" panose="020B0604020202020204"/>
                        </a:defRPr>
                      </a:lvl9pPr>
                    </a:lstStyle>
                    <a:p>
                      <a:r>
                        <a:rPr lang="en-GB" sz="2400" dirty="0"/>
                        <a:t>Time</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AB16"/>
                    </a:solidFill>
                  </a:tcPr>
                </a:tc>
                <a:tc>
                  <a:txBody>
                    <a:bodyPr/>
                    <a:lstStyle>
                      <a:lvl1pPr marL="0" algn="l" defTabSz="1219170" rtl="0" eaLnBrk="1" latinLnBrk="0" hangingPunct="1">
                        <a:defRPr sz="2400" b="1" kern="1200">
                          <a:solidFill>
                            <a:schemeClr val="lt1"/>
                          </a:solidFill>
                          <a:latin typeface="Arial" panose="020B0604020202020204"/>
                        </a:defRPr>
                      </a:lvl1pPr>
                      <a:lvl2pPr marL="609585" algn="l" defTabSz="1219170" rtl="0" eaLnBrk="1" latinLnBrk="0" hangingPunct="1">
                        <a:defRPr sz="2400" b="1" kern="1200">
                          <a:solidFill>
                            <a:schemeClr val="lt1"/>
                          </a:solidFill>
                          <a:latin typeface="Arial" panose="020B0604020202020204"/>
                        </a:defRPr>
                      </a:lvl2pPr>
                      <a:lvl3pPr marL="1219170" algn="l" defTabSz="1219170" rtl="0" eaLnBrk="1" latinLnBrk="0" hangingPunct="1">
                        <a:defRPr sz="2400" b="1" kern="1200">
                          <a:solidFill>
                            <a:schemeClr val="lt1"/>
                          </a:solidFill>
                          <a:latin typeface="Arial" panose="020B0604020202020204"/>
                        </a:defRPr>
                      </a:lvl3pPr>
                      <a:lvl4pPr marL="1828754" algn="l" defTabSz="1219170" rtl="0" eaLnBrk="1" latinLnBrk="0" hangingPunct="1">
                        <a:defRPr sz="2400" b="1" kern="1200">
                          <a:solidFill>
                            <a:schemeClr val="lt1"/>
                          </a:solidFill>
                          <a:latin typeface="Arial" panose="020B0604020202020204"/>
                        </a:defRPr>
                      </a:lvl4pPr>
                      <a:lvl5pPr marL="2438339" algn="l" defTabSz="1219170" rtl="0" eaLnBrk="1" latinLnBrk="0" hangingPunct="1">
                        <a:defRPr sz="2400" b="1" kern="1200">
                          <a:solidFill>
                            <a:schemeClr val="lt1"/>
                          </a:solidFill>
                          <a:latin typeface="Arial" panose="020B0604020202020204"/>
                        </a:defRPr>
                      </a:lvl5pPr>
                      <a:lvl6pPr marL="3047924" algn="l" defTabSz="1219170" rtl="0" eaLnBrk="1" latinLnBrk="0" hangingPunct="1">
                        <a:defRPr sz="2400" b="1" kern="1200">
                          <a:solidFill>
                            <a:schemeClr val="lt1"/>
                          </a:solidFill>
                          <a:latin typeface="Arial" panose="020B0604020202020204"/>
                        </a:defRPr>
                      </a:lvl6pPr>
                      <a:lvl7pPr marL="3657509" algn="l" defTabSz="1219170" rtl="0" eaLnBrk="1" latinLnBrk="0" hangingPunct="1">
                        <a:defRPr sz="2400" b="1" kern="1200">
                          <a:solidFill>
                            <a:schemeClr val="lt1"/>
                          </a:solidFill>
                          <a:latin typeface="Arial" panose="020B0604020202020204"/>
                        </a:defRPr>
                      </a:lvl7pPr>
                      <a:lvl8pPr marL="4267093" algn="l" defTabSz="1219170" rtl="0" eaLnBrk="1" latinLnBrk="0" hangingPunct="1">
                        <a:defRPr sz="2400" b="1" kern="1200">
                          <a:solidFill>
                            <a:schemeClr val="lt1"/>
                          </a:solidFill>
                          <a:latin typeface="Arial" panose="020B0604020202020204"/>
                        </a:defRPr>
                      </a:lvl8pPr>
                      <a:lvl9pPr marL="4876678" algn="l" defTabSz="1219170" rtl="0" eaLnBrk="1" latinLnBrk="0" hangingPunct="1">
                        <a:defRPr sz="2400" b="1" kern="1200">
                          <a:solidFill>
                            <a:schemeClr val="lt1"/>
                          </a:solidFill>
                          <a:latin typeface="Arial" panose="020B0604020202020204"/>
                        </a:defRPr>
                      </a:lvl9pPr>
                    </a:lstStyle>
                    <a:p>
                      <a:r>
                        <a:rPr lang="en-GB" sz="2400" dirty="0"/>
                        <a:t>Description</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AB16"/>
                    </a:solidFill>
                  </a:tcPr>
                </a:tc>
                <a:extLst>
                  <a:ext uri="{0D108BD9-81ED-4DB2-BD59-A6C34878D82A}">
                    <a16:rowId xmlns:a16="http://schemas.microsoft.com/office/drawing/2014/main" val="10000"/>
                  </a:ext>
                </a:extLst>
              </a:tr>
              <a:tr h="690880">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400" dirty="0">
                          <a:solidFill>
                            <a:schemeClr val="tx1"/>
                          </a:solidFill>
                        </a:rPr>
                        <a:t>Welcome</a:t>
                      </a:r>
                      <a:endParaRPr lang="en-GB" sz="1600" dirty="0">
                        <a:solidFill>
                          <a:schemeClr val="tx1"/>
                        </a:solidFill>
                        <a:highlight>
                          <a:srgbClr val="FFFF00"/>
                        </a:highlight>
                      </a:endParaRPr>
                    </a:p>
                  </a:txBody>
                  <a:tcPr marL="121920" marR="121920" marT="60960" marB="6096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400" dirty="0">
                          <a:solidFill>
                            <a:schemeClr val="tx1"/>
                          </a:solidFill>
                        </a:rPr>
                        <a:t>5 minutes</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CFDF8">
                        <a:lumMod val="85000"/>
                      </a:srgbClr>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Background to the Healthy Workforce Working Party and relevance for actuaries</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extLst>
                  <a:ext uri="{0D108BD9-81ED-4DB2-BD59-A6C34878D82A}">
                    <a16:rowId xmlns:a16="http://schemas.microsoft.com/office/drawing/2014/main" val="10001"/>
                  </a:ext>
                </a:extLst>
              </a:tr>
              <a:tr h="1052991">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Why a healthy workforce matters</a:t>
                      </a:r>
                      <a:endParaRPr lang="en-GB" sz="1600" dirty="0">
                        <a:solidFill>
                          <a:schemeClr val="tx1"/>
                        </a:solidFill>
                      </a:endParaRPr>
                    </a:p>
                  </a:txBody>
                  <a:tcPr marL="121920" marR="121920" marT="60960" marB="60960">
                    <a:lnL w="12700" cmpd="sng">
                      <a:noFill/>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400" dirty="0">
                          <a:solidFill>
                            <a:schemeClr val="tx1"/>
                          </a:solidFill>
                        </a:rPr>
                        <a:t>10 minutes</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CFDF8">
                        <a:lumMod val="85000"/>
                      </a:srgbClr>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900" dirty="0">
                          <a:solidFill>
                            <a:schemeClr val="tx1"/>
                          </a:solidFill>
                        </a:rPr>
                        <a:t>Recent trends</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900" dirty="0">
                          <a:solidFill>
                            <a:schemeClr val="tx1"/>
                          </a:solidFill>
                        </a:rPr>
                        <a:t>Independent and government-commissioned reviews</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900" dirty="0">
                          <a:solidFill>
                            <a:schemeClr val="tx1"/>
                          </a:solidFill>
                        </a:rPr>
                        <a:t>Reflections from a clinical practitioner and human perspective</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extLst>
                  <a:ext uri="{0D108BD9-81ED-4DB2-BD59-A6C34878D82A}">
                    <a16:rowId xmlns:a16="http://schemas.microsoft.com/office/drawing/2014/main" val="10002"/>
                  </a:ext>
                </a:extLst>
              </a:tr>
              <a:tr h="1003981">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Health economics approaches to modelling long-term sickness</a:t>
                      </a:r>
                      <a:endParaRPr lang="en-GB" sz="1600" dirty="0">
                        <a:solidFill>
                          <a:schemeClr val="tx1"/>
                        </a:solidFill>
                      </a:endParaRPr>
                    </a:p>
                  </a:txBody>
                  <a:tcPr marL="121920" marR="121920" marT="60960" marB="60960">
                    <a:lnL w="12700" cmpd="sng">
                      <a:noFill/>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400" dirty="0">
                          <a:solidFill>
                            <a:schemeClr val="tx1"/>
                          </a:solidFill>
                        </a:rPr>
                        <a:t>5 minutes</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CFDF8">
                        <a:lumMod val="85000"/>
                      </a:srgbClr>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Multi-state models for long-term sickness</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Health economics compared to actuarial approaches</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Survey data compared to administrative data</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extLst>
                  <a:ext uri="{0D108BD9-81ED-4DB2-BD59-A6C34878D82A}">
                    <a16:rowId xmlns:a16="http://schemas.microsoft.com/office/drawing/2014/main" val="10003"/>
                  </a:ext>
                </a:extLst>
              </a:tr>
              <a:tr h="690880">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Metrics: methods and estimates</a:t>
                      </a:r>
                      <a:endParaRPr lang="en-US" sz="1600" dirty="0"/>
                    </a:p>
                  </a:txBody>
                  <a:tcPr marL="121920" marR="121920" marT="60960" marB="60960">
                    <a:lnL w="12700" cmpd="sng">
                      <a:noFill/>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400" dirty="0">
                          <a:solidFill>
                            <a:schemeClr val="tx1"/>
                          </a:solidFill>
                        </a:rPr>
                        <a:t>15 minutes</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CFDF8">
                        <a:lumMod val="85000"/>
                      </a:srgbClr>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Healthy Working Life Expectancy and related metrics</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Estimates of HWLE with CMI rates</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Applications of these metrics</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extLst>
                  <a:ext uri="{0D108BD9-81ED-4DB2-BD59-A6C34878D82A}">
                    <a16:rowId xmlns:a16="http://schemas.microsoft.com/office/drawing/2014/main" val="10004"/>
                  </a:ext>
                </a:extLst>
              </a:tr>
              <a:tr h="690880">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Q&amp;A</a:t>
                      </a:r>
                      <a:endParaRPr lang="en-GB" sz="2400" dirty="0">
                        <a:solidFill>
                          <a:schemeClr val="tx1"/>
                        </a:solidFill>
                      </a:endParaRPr>
                    </a:p>
                  </a:txBody>
                  <a:tcPr marL="121920" marR="121920" marT="60960" marB="60960">
                    <a:lnL w="12700" cmpd="sng">
                      <a:noFill/>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400" dirty="0">
                          <a:solidFill>
                            <a:schemeClr val="tx1"/>
                          </a:solidFill>
                        </a:rPr>
                        <a:t>10 minutes</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CFDF8">
                        <a:lumMod val="85000"/>
                      </a:srgbClr>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Discussion of the topics presented</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Next steps for the WP</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extLst>
                  <a:ext uri="{0D108BD9-81ED-4DB2-BD59-A6C34878D82A}">
                    <a16:rowId xmlns:a16="http://schemas.microsoft.com/office/drawing/2014/main" val="2619458449"/>
                  </a:ext>
                </a:extLst>
              </a:tr>
            </a:tbl>
          </a:graphicData>
        </a:graphic>
      </p:graphicFrame>
    </p:spTree>
    <p:extLst>
      <p:ext uri="{BB962C8B-B14F-4D97-AF65-F5344CB8AC3E}">
        <p14:creationId xmlns:p14="http://schemas.microsoft.com/office/powerpoint/2010/main" val="1359380729"/>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4102D62-308D-76B1-46C1-A7F905FB28FF}"/>
              </a:ext>
            </a:extLst>
          </p:cNvPr>
          <p:cNvSpPr>
            <a:spLocks noGrp="1"/>
          </p:cNvSpPr>
          <p:nvPr>
            <p:ph sz="quarter" idx="13"/>
          </p:nvPr>
        </p:nvSpPr>
        <p:spPr>
          <a:xfrm>
            <a:off x="1104904" y="2269323"/>
            <a:ext cx="6896104" cy="2756032"/>
          </a:xfrm>
        </p:spPr>
        <p:txBody>
          <a:bodyPr>
            <a:normAutofit lnSpcReduction="10000"/>
          </a:bodyPr>
          <a:lstStyle/>
          <a:p>
            <a:pPr marL="457200" indent="-457200">
              <a:spcBef>
                <a:spcPts val="600"/>
              </a:spcBef>
              <a:buFont typeface="Arial" panose="020B0604020202020204" pitchFamily="34" charset="0"/>
              <a:buChar char="•"/>
            </a:pPr>
            <a:r>
              <a:rPr lang="en-GB" dirty="0"/>
              <a:t>public interest and government focus in 2024</a:t>
            </a:r>
          </a:p>
          <a:p>
            <a:pPr marL="1371577" lvl="1" indent="-457200">
              <a:spcBef>
                <a:spcPts val="600"/>
              </a:spcBef>
            </a:pPr>
            <a:r>
              <a:rPr lang="en-GB" dirty="0"/>
              <a:t>Lord Darzi NHS review</a:t>
            </a:r>
          </a:p>
          <a:p>
            <a:pPr marL="1371577" lvl="1" indent="-457200">
              <a:spcBef>
                <a:spcPts val="600"/>
              </a:spcBef>
            </a:pPr>
            <a:r>
              <a:rPr lang="en-GB" dirty="0"/>
              <a:t>Get Britain Working White Paper</a:t>
            </a:r>
          </a:p>
          <a:p>
            <a:pPr marL="457200" indent="-457200">
              <a:spcBef>
                <a:spcPts val="600"/>
              </a:spcBef>
              <a:buFont typeface="Arial" panose="020B0604020202020204" pitchFamily="34" charset="0"/>
              <a:buChar char="•"/>
            </a:pPr>
            <a:r>
              <a:rPr lang="en-GB" dirty="0"/>
              <a:t>high profile media stories, e.g.</a:t>
            </a:r>
          </a:p>
          <a:p>
            <a:pPr marL="1371577" lvl="1" indent="-457200">
              <a:spcBef>
                <a:spcPts val="600"/>
              </a:spcBef>
            </a:pPr>
            <a:r>
              <a:rPr lang="en-GB" dirty="0"/>
              <a:t>Channel 4 Dispatches documentary</a:t>
            </a:r>
          </a:p>
        </p:txBody>
      </p:sp>
      <p:sp>
        <p:nvSpPr>
          <p:cNvPr id="3" name="Title 2">
            <a:extLst>
              <a:ext uri="{FF2B5EF4-FFF2-40B4-BE49-F238E27FC236}">
                <a16:creationId xmlns:a16="http://schemas.microsoft.com/office/drawing/2014/main" id="{5C016849-1196-70AA-2369-A1E9A30DC0B9}"/>
              </a:ext>
            </a:extLst>
          </p:cNvPr>
          <p:cNvSpPr>
            <a:spLocks noGrp="1"/>
          </p:cNvSpPr>
          <p:nvPr>
            <p:ph type="title"/>
          </p:nvPr>
        </p:nvSpPr>
        <p:spPr/>
        <p:txBody>
          <a:bodyPr>
            <a:normAutofit/>
          </a:bodyPr>
          <a:lstStyle/>
          <a:p>
            <a:r>
              <a:rPr lang="en-US" dirty="0"/>
              <a:t>Background to the Healthy Workforce WP</a:t>
            </a:r>
            <a:endParaRPr lang="en-GB" dirty="0"/>
          </a:p>
        </p:txBody>
      </p:sp>
      <p:sp>
        <p:nvSpPr>
          <p:cNvPr id="4" name="Content Placeholder 3">
            <a:extLst>
              <a:ext uri="{FF2B5EF4-FFF2-40B4-BE49-F238E27FC236}">
                <a16:creationId xmlns:a16="http://schemas.microsoft.com/office/drawing/2014/main" id="{BCEF1067-90E1-7232-4632-2DA7E90826EC}"/>
              </a:ext>
            </a:extLst>
          </p:cNvPr>
          <p:cNvSpPr>
            <a:spLocks noGrp="1"/>
          </p:cNvSpPr>
          <p:nvPr>
            <p:ph sz="quarter" idx="25"/>
          </p:nvPr>
        </p:nvSpPr>
        <p:spPr>
          <a:xfrm>
            <a:off x="8229600" y="2269322"/>
            <a:ext cx="6896104" cy="2756033"/>
          </a:xfrm>
        </p:spPr>
        <p:txBody>
          <a:bodyPr>
            <a:normAutofit/>
          </a:bodyPr>
          <a:lstStyle/>
          <a:p>
            <a:pPr marL="457200" indent="-457200">
              <a:spcBef>
                <a:spcPts val="600"/>
              </a:spcBef>
              <a:buFont typeface="Arial" panose="020B0604020202020204" pitchFamily="34" charset="0"/>
              <a:buChar char="•"/>
            </a:pPr>
            <a:r>
              <a:rPr lang="en-GB" dirty="0"/>
              <a:t>actuarial knowledge and expertise in this area</a:t>
            </a:r>
          </a:p>
          <a:p>
            <a:pPr marL="457200" indent="-457200">
              <a:spcBef>
                <a:spcPts val="600"/>
              </a:spcBef>
              <a:buFont typeface="Arial" panose="020B0604020202020204" pitchFamily="34" charset="0"/>
              <a:buChar char="•"/>
            </a:pPr>
            <a:r>
              <a:rPr lang="en-GB" dirty="0"/>
              <a:t>well established methods with Income Protection modelling</a:t>
            </a:r>
          </a:p>
          <a:p>
            <a:pPr marL="457200" indent="-457200">
              <a:spcBef>
                <a:spcPts val="600"/>
              </a:spcBef>
              <a:buFont typeface="Arial" panose="020B0604020202020204" pitchFamily="34" charset="0"/>
              <a:buChar char="•"/>
            </a:pPr>
            <a:r>
              <a:rPr lang="en-GB" dirty="0"/>
              <a:t>CMI well-established methods and data</a:t>
            </a:r>
          </a:p>
          <a:p>
            <a:pPr marL="457200" indent="-457200">
              <a:spcBef>
                <a:spcPts val="600"/>
              </a:spcBef>
              <a:buFont typeface="Arial" panose="020B0604020202020204" pitchFamily="34" charset="0"/>
              <a:buChar char="•"/>
            </a:pPr>
            <a:r>
              <a:rPr lang="en-GB" dirty="0"/>
              <a:t>WP set up in early-2025</a:t>
            </a:r>
          </a:p>
          <a:p>
            <a:endParaRPr lang="en-GB" dirty="0"/>
          </a:p>
        </p:txBody>
      </p:sp>
      <p:sp>
        <p:nvSpPr>
          <p:cNvPr id="5" name="Footer Placeholder 4">
            <a:extLst>
              <a:ext uri="{FF2B5EF4-FFF2-40B4-BE49-F238E27FC236}">
                <a16:creationId xmlns:a16="http://schemas.microsoft.com/office/drawing/2014/main" id="{47258DFE-0437-E6ED-0FBE-4EA36A0C31AA}"/>
              </a:ext>
            </a:extLst>
          </p:cNvPr>
          <p:cNvSpPr>
            <a:spLocks noGrp="1"/>
          </p:cNvSpPr>
          <p:nvPr>
            <p:ph type="ftr" sz="quarter" idx="3"/>
          </p:nvPr>
        </p:nvSpPr>
        <p:spPr/>
        <p:txBody>
          <a:bodyPr/>
          <a:lstStyle/>
          <a:p>
            <a:r>
              <a:rPr lang="en-GB"/>
              <a:t>IFoA Life Conference</a:t>
            </a:r>
            <a:endParaRPr lang="en-GB" dirty="0"/>
          </a:p>
        </p:txBody>
      </p:sp>
      <p:sp>
        <p:nvSpPr>
          <p:cNvPr id="6" name="Slide Number Placeholder 5">
            <a:extLst>
              <a:ext uri="{FF2B5EF4-FFF2-40B4-BE49-F238E27FC236}">
                <a16:creationId xmlns:a16="http://schemas.microsoft.com/office/drawing/2014/main" id="{863BC808-62D5-32EC-46F7-8A136CC54BB1}"/>
              </a:ext>
            </a:extLst>
          </p:cNvPr>
          <p:cNvSpPr>
            <a:spLocks noGrp="1"/>
          </p:cNvSpPr>
          <p:nvPr>
            <p:ph type="sldNum" sz="quarter" idx="4"/>
          </p:nvPr>
        </p:nvSpPr>
        <p:spPr/>
        <p:txBody>
          <a:bodyPr/>
          <a:lstStyle/>
          <a:p>
            <a:fld id="{40FC62D0-A2F2-4BF8-8DAC-E86C11000EC3}" type="slidenum">
              <a:rPr lang="en-GB" smtClean="0"/>
              <a:pPr/>
              <a:t>4</a:t>
            </a:fld>
            <a:endParaRPr lang="en-GB" dirty="0"/>
          </a:p>
        </p:txBody>
      </p:sp>
      <p:sp>
        <p:nvSpPr>
          <p:cNvPr id="7" name="Text Placeholder 6">
            <a:extLst>
              <a:ext uri="{FF2B5EF4-FFF2-40B4-BE49-F238E27FC236}">
                <a16:creationId xmlns:a16="http://schemas.microsoft.com/office/drawing/2014/main" id="{DBEB24B4-8556-9784-1E3D-8F68A1D3DAEC}"/>
              </a:ext>
            </a:extLst>
          </p:cNvPr>
          <p:cNvSpPr>
            <a:spLocks noGrp="1"/>
          </p:cNvSpPr>
          <p:nvPr>
            <p:ph type="body" sz="quarter" idx="24"/>
          </p:nvPr>
        </p:nvSpPr>
        <p:spPr/>
        <p:txBody>
          <a:bodyPr/>
          <a:lstStyle/>
          <a:p>
            <a:r>
              <a:rPr lang="en-GB" dirty="0"/>
              <a:t>Renewed focus on long-term sickness having high relevance for actuaries</a:t>
            </a:r>
          </a:p>
        </p:txBody>
      </p:sp>
      <p:pic>
        <p:nvPicPr>
          <p:cNvPr id="11" name="Content Placeholder 16">
            <a:extLst>
              <a:ext uri="{FF2B5EF4-FFF2-40B4-BE49-F238E27FC236}">
                <a16:creationId xmlns:a16="http://schemas.microsoft.com/office/drawing/2014/main" id="{E3425432-D926-2FAE-4566-005A97833BE4}"/>
              </a:ext>
            </a:extLst>
          </p:cNvPr>
          <p:cNvPicPr>
            <a:picLocks noChangeAspect="1"/>
          </p:cNvPicPr>
          <p:nvPr/>
        </p:nvPicPr>
        <p:blipFill>
          <a:blip r:embed="rId3"/>
          <a:stretch>
            <a:fillRect/>
          </a:stretch>
        </p:blipFill>
        <p:spPr>
          <a:xfrm>
            <a:off x="912290" y="5497046"/>
            <a:ext cx="3845977" cy="3425097"/>
          </a:xfrm>
          <a:prstGeom prst="rect">
            <a:avLst/>
          </a:prstGeom>
          <a:ln w="25400">
            <a:solidFill>
              <a:schemeClr val="tx1"/>
            </a:solidFill>
          </a:ln>
        </p:spPr>
      </p:pic>
      <p:pic>
        <p:nvPicPr>
          <p:cNvPr id="12" name="Picture 11">
            <a:extLst>
              <a:ext uri="{FF2B5EF4-FFF2-40B4-BE49-F238E27FC236}">
                <a16:creationId xmlns:a16="http://schemas.microsoft.com/office/drawing/2014/main" id="{A5EF535C-553A-041F-758B-E9E64D01A6CA}"/>
              </a:ext>
            </a:extLst>
          </p:cNvPr>
          <p:cNvPicPr>
            <a:picLocks noChangeAspect="1"/>
          </p:cNvPicPr>
          <p:nvPr/>
        </p:nvPicPr>
        <p:blipFill>
          <a:blip r:embed="rId4"/>
          <a:stretch>
            <a:fillRect/>
          </a:stretch>
        </p:blipFill>
        <p:spPr>
          <a:xfrm>
            <a:off x="4552956" y="5327783"/>
            <a:ext cx="3845977" cy="3411130"/>
          </a:xfrm>
          <a:prstGeom prst="rect">
            <a:avLst/>
          </a:prstGeom>
          <a:ln w="25400">
            <a:solidFill>
              <a:schemeClr val="tx1"/>
            </a:solidFill>
          </a:ln>
        </p:spPr>
      </p:pic>
      <p:pic>
        <p:nvPicPr>
          <p:cNvPr id="8" name="Content Placeholder 8">
            <a:extLst>
              <a:ext uri="{FF2B5EF4-FFF2-40B4-BE49-F238E27FC236}">
                <a16:creationId xmlns:a16="http://schemas.microsoft.com/office/drawing/2014/main" id="{05BFC614-1CCD-6EAD-551C-16CD66BE3C92}"/>
              </a:ext>
            </a:extLst>
          </p:cNvPr>
          <p:cNvPicPr>
            <a:picLocks noChangeAspect="1"/>
          </p:cNvPicPr>
          <p:nvPr/>
        </p:nvPicPr>
        <p:blipFill>
          <a:blip r:embed="rId5"/>
          <a:stretch>
            <a:fillRect/>
          </a:stretch>
        </p:blipFill>
        <p:spPr>
          <a:xfrm>
            <a:off x="8194028" y="5111550"/>
            <a:ext cx="5296983" cy="3028154"/>
          </a:xfrm>
          <a:prstGeom prst="rect">
            <a:avLst/>
          </a:prstGeom>
          <a:ln w="25400">
            <a:solidFill>
              <a:schemeClr val="accent5"/>
            </a:solidFill>
          </a:ln>
        </p:spPr>
      </p:pic>
      <p:pic>
        <p:nvPicPr>
          <p:cNvPr id="14" name="Picture 13">
            <a:extLst>
              <a:ext uri="{FF2B5EF4-FFF2-40B4-BE49-F238E27FC236}">
                <a16:creationId xmlns:a16="http://schemas.microsoft.com/office/drawing/2014/main" id="{4698C899-F107-7D62-2DED-EE4053E7A1D1}"/>
              </a:ext>
            </a:extLst>
          </p:cNvPr>
          <p:cNvPicPr>
            <a:picLocks noChangeAspect="1"/>
          </p:cNvPicPr>
          <p:nvPr/>
        </p:nvPicPr>
        <p:blipFill>
          <a:blip r:embed="rId6"/>
          <a:stretch>
            <a:fillRect/>
          </a:stretch>
        </p:blipFill>
        <p:spPr>
          <a:xfrm>
            <a:off x="12773926" y="4571961"/>
            <a:ext cx="2580370" cy="3399907"/>
          </a:xfrm>
          <a:prstGeom prst="rect">
            <a:avLst/>
          </a:prstGeom>
        </p:spPr>
      </p:pic>
    </p:spTree>
    <p:extLst>
      <p:ext uri="{BB962C8B-B14F-4D97-AF65-F5344CB8AC3E}">
        <p14:creationId xmlns:p14="http://schemas.microsoft.com/office/powerpoint/2010/main" val="2998715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60DE3-147F-6F27-980B-F413AFC4C8CB}"/>
            </a:ext>
          </a:extLst>
        </p:cNvPr>
        <p:cNvGrpSpPr/>
        <p:nvPr/>
      </p:nvGrpSpPr>
      <p:grpSpPr>
        <a:xfrm>
          <a:off x="0" y="0"/>
          <a:ext cx="0" cy="0"/>
          <a:chOff x="0" y="0"/>
          <a:chExt cx="0" cy="0"/>
        </a:xfrm>
      </p:grpSpPr>
      <p:sp>
        <p:nvSpPr>
          <p:cNvPr id="97" name="Title 1">
            <a:extLst>
              <a:ext uri="{FF2B5EF4-FFF2-40B4-BE49-F238E27FC236}">
                <a16:creationId xmlns:a16="http://schemas.microsoft.com/office/drawing/2014/main" id="{84EC5900-2FDF-E4DC-27FB-DAFDAD4EB46D}"/>
              </a:ext>
            </a:extLst>
          </p:cNvPr>
          <p:cNvSpPr>
            <a:spLocks noGrp="1"/>
          </p:cNvSpPr>
          <p:nvPr>
            <p:ph type="title" hasCustomPrompt="1"/>
          </p:nvPr>
        </p:nvSpPr>
        <p:spPr>
          <a:xfrm>
            <a:off x="1500000" y="3400000"/>
            <a:ext cx="13256000" cy="2200000"/>
          </a:xfrm>
        </p:spPr>
        <p:txBody>
          <a:bodyPr/>
          <a:lstStyle/>
          <a:p>
            <a:pPr marL="0" lvl="0" indent="0">
              <a:buNone/>
            </a:pPr>
            <a:r>
              <a:rPr lang="de-CH" dirty="0">
                <a:solidFill>
                  <a:schemeClr val="bg1"/>
                </a:solidFill>
              </a:rPr>
              <a:t>The </a:t>
            </a:r>
            <a:r>
              <a:rPr lang="de-CH" dirty="0" err="1">
                <a:solidFill>
                  <a:schemeClr val="bg1"/>
                </a:solidFill>
              </a:rPr>
              <a:t>importance</a:t>
            </a:r>
            <a:r>
              <a:rPr lang="de-CH" dirty="0">
                <a:solidFill>
                  <a:schemeClr val="bg1"/>
                </a:solidFill>
              </a:rPr>
              <a:t> of a </a:t>
            </a:r>
            <a:r>
              <a:rPr lang="de-CH" dirty="0" err="1">
                <a:solidFill>
                  <a:schemeClr val="bg1"/>
                </a:solidFill>
              </a:rPr>
              <a:t>healthy</a:t>
            </a:r>
            <a:r>
              <a:rPr lang="de-CH" dirty="0">
                <a:solidFill>
                  <a:schemeClr val="bg1"/>
                </a:solidFill>
              </a:rPr>
              <a:t> </a:t>
            </a:r>
            <a:r>
              <a:rPr lang="de-CH" dirty="0" err="1">
                <a:solidFill>
                  <a:schemeClr val="bg1"/>
                </a:solidFill>
              </a:rPr>
              <a:t>workforce</a:t>
            </a:r>
            <a:endParaRPr dirty="0">
              <a:solidFill>
                <a:schemeClr val="bg1"/>
              </a:solidFill>
            </a:endParaRPr>
          </a:p>
        </p:txBody>
      </p:sp>
      <p:sp>
        <p:nvSpPr>
          <p:cNvPr id="8" name="Footer Placeholder 4">
            <a:extLst>
              <a:ext uri="{FF2B5EF4-FFF2-40B4-BE49-F238E27FC236}">
                <a16:creationId xmlns:a16="http://schemas.microsoft.com/office/drawing/2014/main" id="{D1BC85C3-C42C-96B9-66C1-3C73D71844D8}"/>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bg1"/>
                </a:solidFill>
              </a:defRPr>
            </a:lvl1pPr>
          </a:lstStyle>
          <a:p>
            <a:r>
              <a:rPr lang="en-GB"/>
              <a:t>IFoA Life Conference</a:t>
            </a:r>
            <a:endParaRPr lang="en-GB" dirty="0"/>
          </a:p>
        </p:txBody>
      </p:sp>
      <p:sp>
        <p:nvSpPr>
          <p:cNvPr id="9" name="Slide Number Placeholder 5">
            <a:extLst>
              <a:ext uri="{FF2B5EF4-FFF2-40B4-BE49-F238E27FC236}">
                <a16:creationId xmlns:a16="http://schemas.microsoft.com/office/drawing/2014/main" id="{F5D579F7-4B70-348A-F827-3B9ECD67D54E}"/>
              </a:ext>
            </a:extLst>
          </p:cNvPr>
          <p:cNvSpPr>
            <a:spLocks noGrp="1"/>
          </p:cNvSpPr>
          <p:nvPr>
            <p:ph type="sldNum" sz="quarter" idx="4"/>
          </p:nvPr>
        </p:nvSpPr>
        <p:spPr>
          <a:xfrm>
            <a:off x="14573177" y="8382533"/>
            <a:ext cx="529680" cy="486833"/>
          </a:xfrm>
          <a:prstGeom prst="rect">
            <a:avLst/>
          </a:prstGeom>
          <a:solidFill>
            <a:schemeClr val="bg1"/>
          </a:solidFill>
        </p:spPr>
        <p:txBody>
          <a:bodyPr vert="horz" lIns="91440" tIns="45720" rIns="91440" bIns="45720" rtlCol="0" anchor="ctr"/>
          <a:lstStyle>
            <a:lvl1pPr algn="ctr">
              <a:defRPr sz="1200" b="1" i="0">
                <a:solidFill>
                  <a:schemeClr val="tx1"/>
                </a:solidFill>
                <a:latin typeface="Arial" panose="020B0604020202020204" pitchFamily="34" charset="0"/>
                <a:cs typeface="Arial" panose="020B0604020202020204" pitchFamily="34" charset="0"/>
              </a:defRPr>
            </a:lvl1pPr>
          </a:lstStyle>
          <a:p>
            <a:fld id="{40FC62D0-A2F2-4BF8-8DAC-E86C11000EC3}" type="slidenum">
              <a:rPr lang="en-GB" smtClean="0"/>
              <a:pPr/>
              <a:t>5</a:t>
            </a:fld>
            <a:endParaRPr lang="en-GB" dirty="0"/>
          </a:p>
        </p:txBody>
      </p:sp>
    </p:spTree>
    <p:extLst>
      <p:ext uri="{BB962C8B-B14F-4D97-AF65-F5344CB8AC3E}">
        <p14:creationId xmlns:p14="http://schemas.microsoft.com/office/powerpoint/2010/main" val="533257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8C82092C-F9D4-4226-AFC8-263598A25438}"/>
              </a:ext>
            </a:extLst>
          </p:cNvPr>
          <p:cNvPicPr>
            <a:picLocks noChangeAspect="1"/>
          </p:cNvPicPr>
          <p:nvPr/>
        </p:nvPicPr>
        <p:blipFill>
          <a:blip r:embed="rId2"/>
          <a:stretch>
            <a:fillRect/>
          </a:stretch>
        </p:blipFill>
        <p:spPr>
          <a:xfrm>
            <a:off x="881543" y="3032340"/>
            <a:ext cx="7072959" cy="4724071"/>
          </a:xfrm>
          <a:prstGeom prst="rect">
            <a:avLst/>
          </a:prstGeom>
        </p:spPr>
      </p:pic>
      <p:pic>
        <p:nvPicPr>
          <p:cNvPr id="13" name="Picture 12">
            <a:extLst>
              <a:ext uri="{FF2B5EF4-FFF2-40B4-BE49-F238E27FC236}">
                <a16:creationId xmlns:a16="http://schemas.microsoft.com/office/drawing/2014/main" id="{3B9599DC-E72E-D51F-8851-9B4795810977}"/>
              </a:ext>
            </a:extLst>
          </p:cNvPr>
          <p:cNvPicPr>
            <a:picLocks noChangeAspect="1"/>
          </p:cNvPicPr>
          <p:nvPr/>
        </p:nvPicPr>
        <p:blipFill>
          <a:blip r:embed="rId3"/>
          <a:stretch>
            <a:fillRect/>
          </a:stretch>
        </p:blipFill>
        <p:spPr>
          <a:xfrm>
            <a:off x="8529237" y="3032340"/>
            <a:ext cx="6735343" cy="4832422"/>
          </a:xfrm>
          <a:prstGeom prst="rect">
            <a:avLst/>
          </a:prstGeom>
        </p:spPr>
      </p:pic>
      <p:sp>
        <p:nvSpPr>
          <p:cNvPr id="3" name="Title 2">
            <a:extLst>
              <a:ext uri="{FF2B5EF4-FFF2-40B4-BE49-F238E27FC236}">
                <a16:creationId xmlns:a16="http://schemas.microsoft.com/office/drawing/2014/main" id="{A688EFA1-9587-F998-34C0-292A59241123}"/>
              </a:ext>
            </a:extLst>
          </p:cNvPr>
          <p:cNvSpPr>
            <a:spLocks noGrp="1"/>
          </p:cNvSpPr>
          <p:nvPr>
            <p:ph type="title"/>
          </p:nvPr>
        </p:nvSpPr>
        <p:spPr/>
        <p:txBody>
          <a:bodyPr>
            <a:normAutofit fontScale="90000"/>
          </a:bodyPr>
          <a:lstStyle/>
          <a:p>
            <a:r>
              <a:rPr lang="en-GB" dirty="0"/>
              <a:t>The rise in long-term economic inactivity due to ill health</a:t>
            </a:r>
          </a:p>
        </p:txBody>
      </p:sp>
      <p:sp>
        <p:nvSpPr>
          <p:cNvPr id="5" name="Footer Placeholder 4">
            <a:extLst>
              <a:ext uri="{FF2B5EF4-FFF2-40B4-BE49-F238E27FC236}">
                <a16:creationId xmlns:a16="http://schemas.microsoft.com/office/drawing/2014/main" id="{E9872D60-EA80-3CEA-BC94-F9BC5212A048}"/>
              </a:ext>
            </a:extLst>
          </p:cNvPr>
          <p:cNvSpPr>
            <a:spLocks noGrp="1"/>
          </p:cNvSpPr>
          <p:nvPr>
            <p:ph type="ftr" sz="quarter" idx="3"/>
          </p:nvPr>
        </p:nvSpPr>
        <p:spPr/>
        <p:txBody>
          <a:bodyPr/>
          <a:lstStyle/>
          <a:p>
            <a:r>
              <a:rPr lang="en-GB"/>
              <a:t>IFoA Life Conference</a:t>
            </a:r>
            <a:endParaRPr lang="en-GB" dirty="0"/>
          </a:p>
        </p:txBody>
      </p:sp>
      <p:sp>
        <p:nvSpPr>
          <p:cNvPr id="6" name="Slide Number Placeholder 5">
            <a:extLst>
              <a:ext uri="{FF2B5EF4-FFF2-40B4-BE49-F238E27FC236}">
                <a16:creationId xmlns:a16="http://schemas.microsoft.com/office/drawing/2014/main" id="{E052A548-5019-F1E6-1C3E-97AD740E7C75}"/>
              </a:ext>
            </a:extLst>
          </p:cNvPr>
          <p:cNvSpPr>
            <a:spLocks noGrp="1"/>
          </p:cNvSpPr>
          <p:nvPr>
            <p:ph type="sldNum" sz="quarter" idx="4"/>
          </p:nvPr>
        </p:nvSpPr>
        <p:spPr/>
        <p:txBody>
          <a:bodyPr/>
          <a:lstStyle/>
          <a:p>
            <a:fld id="{40FC62D0-A2F2-4BF8-8DAC-E86C11000EC3}" type="slidenum">
              <a:rPr lang="en-GB" smtClean="0"/>
              <a:pPr/>
              <a:t>6</a:t>
            </a:fld>
            <a:endParaRPr lang="en-GB" dirty="0"/>
          </a:p>
        </p:txBody>
      </p:sp>
      <p:sp>
        <p:nvSpPr>
          <p:cNvPr id="15" name="TextBox 14">
            <a:extLst>
              <a:ext uri="{FF2B5EF4-FFF2-40B4-BE49-F238E27FC236}">
                <a16:creationId xmlns:a16="http://schemas.microsoft.com/office/drawing/2014/main" id="{2D870B6D-3F66-2AFE-F6DC-D593E6CA4244}"/>
              </a:ext>
            </a:extLst>
          </p:cNvPr>
          <p:cNvSpPr txBox="1"/>
          <p:nvPr/>
        </p:nvSpPr>
        <p:spPr>
          <a:xfrm>
            <a:off x="1536700" y="1387589"/>
            <a:ext cx="9677400" cy="584775"/>
          </a:xfrm>
          <a:prstGeom prst="rect">
            <a:avLst/>
          </a:prstGeom>
          <a:noFill/>
        </p:spPr>
        <p:txBody>
          <a:bodyPr wrap="square" rtlCol="0">
            <a:spAutoFit/>
          </a:bodyPr>
          <a:lstStyle/>
          <a:p>
            <a:r>
              <a:rPr lang="en-GB" sz="3200" b="1" dirty="0"/>
              <a:t>The pandemic was clearly an important factor.</a:t>
            </a:r>
          </a:p>
        </p:txBody>
      </p:sp>
      <p:sp>
        <p:nvSpPr>
          <p:cNvPr id="16" name="TextBox 15">
            <a:extLst>
              <a:ext uri="{FF2B5EF4-FFF2-40B4-BE49-F238E27FC236}">
                <a16:creationId xmlns:a16="http://schemas.microsoft.com/office/drawing/2014/main" id="{7CDA5A90-3F82-ED06-6737-2C7A06ACFDCF}"/>
              </a:ext>
            </a:extLst>
          </p:cNvPr>
          <p:cNvSpPr txBox="1"/>
          <p:nvPr/>
        </p:nvSpPr>
        <p:spPr>
          <a:xfrm>
            <a:off x="977900" y="2070100"/>
            <a:ext cx="13595277" cy="646331"/>
          </a:xfrm>
          <a:prstGeom prst="rect">
            <a:avLst/>
          </a:prstGeom>
          <a:noFill/>
        </p:spPr>
        <p:txBody>
          <a:bodyPr wrap="square" rtlCol="0">
            <a:spAutoFit/>
          </a:bodyPr>
          <a:lstStyle/>
          <a:p>
            <a:r>
              <a:rPr lang="en-GB" dirty="0"/>
              <a:t>Whilst many suggest the problem began before the pandemic, the trivial rise in LSA in 2019 is marginal and may reflect population and demographic change.</a:t>
            </a:r>
          </a:p>
        </p:txBody>
      </p:sp>
      <p:sp>
        <p:nvSpPr>
          <p:cNvPr id="2" name="Rectangle 1">
            <a:extLst>
              <a:ext uri="{FF2B5EF4-FFF2-40B4-BE49-F238E27FC236}">
                <a16:creationId xmlns:a16="http://schemas.microsoft.com/office/drawing/2014/main" id="{904808A0-68AB-9C36-DF9C-1A1B463E8269}"/>
              </a:ext>
            </a:extLst>
          </p:cNvPr>
          <p:cNvSpPr/>
          <p:nvPr/>
        </p:nvSpPr>
        <p:spPr>
          <a:xfrm>
            <a:off x="5626386" y="4024371"/>
            <a:ext cx="764089" cy="2816167"/>
          </a:xfrm>
          <a:prstGeom prst="rect">
            <a:avLst/>
          </a:prstGeom>
          <a:solidFill>
            <a:srgbClr val="C00000">
              <a:alpha val="39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3AC3FAE8-FF1B-4D08-B8F9-DD3AD3164CBD}"/>
              </a:ext>
            </a:extLst>
          </p:cNvPr>
          <p:cNvSpPr txBox="1"/>
          <p:nvPr/>
        </p:nvSpPr>
        <p:spPr>
          <a:xfrm>
            <a:off x="5499611" y="4664336"/>
            <a:ext cx="1017638" cy="307777"/>
          </a:xfrm>
          <a:prstGeom prst="rect">
            <a:avLst/>
          </a:prstGeom>
          <a:noFill/>
        </p:spPr>
        <p:txBody>
          <a:bodyPr wrap="square" rtlCol="0">
            <a:spAutoFit/>
          </a:bodyPr>
          <a:lstStyle/>
          <a:p>
            <a:r>
              <a:rPr lang="en-GB" sz="1400" dirty="0"/>
              <a:t>Pandemic</a:t>
            </a:r>
          </a:p>
        </p:txBody>
      </p:sp>
      <p:sp>
        <p:nvSpPr>
          <p:cNvPr id="9" name="Rectangle 8">
            <a:extLst>
              <a:ext uri="{FF2B5EF4-FFF2-40B4-BE49-F238E27FC236}">
                <a16:creationId xmlns:a16="http://schemas.microsoft.com/office/drawing/2014/main" id="{FDB46A40-56CF-3D38-BC18-8ECF01D5C176}"/>
              </a:ext>
            </a:extLst>
          </p:cNvPr>
          <p:cNvSpPr/>
          <p:nvPr/>
        </p:nvSpPr>
        <p:spPr>
          <a:xfrm>
            <a:off x="12933843" y="4024371"/>
            <a:ext cx="766709" cy="2816167"/>
          </a:xfrm>
          <a:prstGeom prst="rect">
            <a:avLst/>
          </a:prstGeom>
          <a:solidFill>
            <a:srgbClr val="C00000">
              <a:alpha val="39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FD4360E5-C4BD-1FB2-1A0E-7C784B850070}"/>
              </a:ext>
            </a:extLst>
          </p:cNvPr>
          <p:cNvSpPr txBox="1"/>
          <p:nvPr/>
        </p:nvSpPr>
        <p:spPr>
          <a:xfrm>
            <a:off x="12808378" y="5240486"/>
            <a:ext cx="1017638" cy="307777"/>
          </a:xfrm>
          <a:prstGeom prst="rect">
            <a:avLst/>
          </a:prstGeom>
          <a:noFill/>
        </p:spPr>
        <p:txBody>
          <a:bodyPr wrap="square" rtlCol="0">
            <a:spAutoFit/>
          </a:bodyPr>
          <a:lstStyle/>
          <a:p>
            <a:r>
              <a:rPr lang="en-GB" sz="1400" dirty="0"/>
              <a:t>Pandemic</a:t>
            </a:r>
          </a:p>
        </p:txBody>
      </p:sp>
    </p:spTree>
    <p:extLst>
      <p:ext uri="{BB962C8B-B14F-4D97-AF65-F5344CB8AC3E}">
        <p14:creationId xmlns:p14="http://schemas.microsoft.com/office/powerpoint/2010/main" val="890640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a:extLst>
              <a:ext uri="{FF2B5EF4-FFF2-40B4-BE49-F238E27FC236}">
                <a16:creationId xmlns:a16="http://schemas.microsoft.com/office/drawing/2014/main" id="{F4877B0A-64E1-4B8B-8B99-0E5567C8FFDC}"/>
              </a:ext>
            </a:extLst>
          </p:cNvPr>
          <p:cNvSpPr>
            <a:spLocks noGrp="1"/>
          </p:cNvSpPr>
          <p:nvPr/>
        </p:nvSpPr>
        <p:spPr>
          <a:xfrm>
            <a:off x="809625" y="457200"/>
            <a:ext cx="14639925" cy="723900"/>
          </a:xfrm>
          <a:prstGeom prst="rect">
            <a:avLst/>
          </a:prstGeom>
          <a:noFill/>
          <a:ln w="0">
            <a:noFill/>
            <a:prstDash val="solid"/>
          </a:ln>
        </p:spPr>
        <p:txBody>
          <a:bodyPr wrap="square" lIns="0" tIns="0" rIns="0" bIns="0">
            <a:noAutofit/>
          </a:bodyPr>
          <a:lstStyle>
            <a:defPPr>
              <a:defRPr sz="4050" b="1">
                <a:solidFill>
                  <a:srgbClr val="002D72"/>
                </a:solidFill>
                <a:latin typeface="Arial"/>
                <a:ea typeface="Arial"/>
                <a:cs typeface="Arial"/>
              </a:defRPr>
            </a:defPPr>
          </a:lstStyle>
          <a:p>
            <a:pPr>
              <a:defRPr sz="4050" b="1">
                <a:solidFill>
                  <a:srgbClr val="002D72"/>
                </a:solidFill>
                <a:latin typeface="Arial"/>
                <a:ea typeface="Arial"/>
                <a:cs typeface="Arial"/>
              </a:defRPr>
            </a:pPr>
            <a:r>
              <a:rPr sz="4050" b="1" dirty="0">
                <a:solidFill>
                  <a:schemeClr val="tx1">
                    <a:lumMod val="50000"/>
                  </a:schemeClr>
                </a:solidFill>
                <a:latin typeface="Arial"/>
                <a:ea typeface="Arial"/>
                <a:cs typeface="Arial"/>
              </a:rPr>
              <a:t>The rise in sickness-related economic inactivity</a:t>
            </a:r>
          </a:p>
        </p:txBody>
      </p:sp>
      <p:sp>
        <p:nvSpPr>
          <p:cNvPr id="2" name="period">
            <a:extLst>
              <a:ext uri="{FF2B5EF4-FFF2-40B4-BE49-F238E27FC236}">
                <a16:creationId xmlns:a16="http://schemas.microsoft.com/office/drawing/2014/main" id="{9F407A9A-0E02-472D-82C3-388AFC290B66}"/>
              </a:ext>
            </a:extLst>
          </p:cNvPr>
          <p:cNvSpPr>
            <a:spLocks noGrp="1"/>
          </p:cNvSpPr>
          <p:nvPr/>
        </p:nvSpPr>
        <p:spPr>
          <a:xfrm>
            <a:off x="809625" y="1314450"/>
            <a:ext cx="14639925" cy="409575"/>
          </a:xfrm>
          <a:prstGeom prst="rect">
            <a:avLst/>
          </a:prstGeom>
          <a:noFill/>
          <a:ln w="0">
            <a:noFill/>
            <a:prstDash val="solid"/>
          </a:ln>
        </p:spPr>
        <p:txBody>
          <a:bodyPr wrap="square" lIns="0" tIns="0" rIns="0" bIns="0">
            <a:noAutofit/>
          </a:bodyPr>
          <a:lstStyle>
            <a:defPPr>
              <a:defRPr sz="2250" b="0">
                <a:solidFill>
                  <a:srgbClr val="626D7A"/>
                </a:solidFill>
                <a:latin typeface="Arial"/>
                <a:ea typeface="Arial"/>
                <a:cs typeface="Arial"/>
              </a:defRPr>
            </a:defPPr>
          </a:lstStyle>
          <a:p>
            <a:pPr>
              <a:defRPr sz="2250" b="0">
                <a:solidFill>
                  <a:srgbClr val="626D7A"/>
                </a:solidFill>
                <a:latin typeface="Arial"/>
                <a:ea typeface="Arial"/>
                <a:cs typeface="Arial"/>
              </a:defRPr>
            </a:pPr>
            <a:r>
              <a:rPr sz="2250" b="0">
                <a:solidFill>
                  <a:srgbClr val="626D7A"/>
                </a:solidFill>
                <a:latin typeface="Arial"/>
                <a:ea typeface="Arial"/>
                <a:cs typeface="Arial"/>
              </a:rPr>
              <a:t>UK, ages 16–64. Annual averages, 2019 to 2025</a:t>
            </a:r>
          </a:p>
        </p:txBody>
      </p:sp>
      <p:sp>
        <p:nvSpPr>
          <p:cNvPr id="3" name="total">
            <a:extLst>
              <a:ext uri="{FF2B5EF4-FFF2-40B4-BE49-F238E27FC236}">
                <a16:creationId xmlns:a16="http://schemas.microsoft.com/office/drawing/2014/main" id="{15E1A89B-E33F-402A-96ED-D90A9C10631B}"/>
              </a:ext>
            </a:extLst>
          </p:cNvPr>
          <p:cNvSpPr>
            <a:spLocks noGrp="1"/>
          </p:cNvSpPr>
          <p:nvPr/>
        </p:nvSpPr>
        <p:spPr>
          <a:xfrm>
            <a:off x="809625" y="1952625"/>
            <a:ext cx="5476875" cy="1190625"/>
          </a:xfrm>
          <a:prstGeom prst="rect">
            <a:avLst/>
          </a:prstGeom>
          <a:noFill/>
          <a:ln w="0">
            <a:noFill/>
            <a:prstDash val="solid"/>
          </a:ln>
        </p:spPr>
        <p:txBody>
          <a:bodyPr wrap="square" lIns="0" tIns="0" rIns="0" bIns="0">
            <a:noAutofit/>
          </a:bodyPr>
          <a:lstStyle>
            <a:defPPr>
              <a:defRPr sz="7425" b="1">
                <a:solidFill>
                  <a:srgbClr val="002D72"/>
                </a:solidFill>
                <a:latin typeface="Arial"/>
                <a:ea typeface="Arial"/>
                <a:cs typeface="Arial"/>
              </a:defRPr>
            </a:defPPr>
          </a:lstStyle>
          <a:p>
            <a:pPr>
              <a:defRPr sz="7425" b="1">
                <a:solidFill>
                  <a:srgbClr val="002D72"/>
                </a:solidFill>
                <a:latin typeface="Arial"/>
                <a:ea typeface="Arial"/>
                <a:cs typeface="Arial"/>
              </a:defRPr>
            </a:pPr>
            <a:r>
              <a:rPr sz="7425" b="1">
                <a:solidFill>
                  <a:srgbClr val="002D72"/>
                </a:solidFill>
                <a:latin typeface="Arial"/>
                <a:ea typeface="Arial"/>
                <a:cs typeface="Arial"/>
              </a:rPr>
              <a:t>+746,000</a:t>
            </a:r>
          </a:p>
        </p:txBody>
      </p:sp>
      <p:sp>
        <p:nvSpPr>
          <p:cNvPr id="4" name="outcome">
            <a:extLst>
              <a:ext uri="{FF2B5EF4-FFF2-40B4-BE49-F238E27FC236}">
                <a16:creationId xmlns:a16="http://schemas.microsoft.com/office/drawing/2014/main" id="{53CD4A58-EB52-4E57-8609-550C0B04748A}"/>
              </a:ext>
            </a:extLst>
          </p:cNvPr>
          <p:cNvSpPr>
            <a:spLocks noGrp="1"/>
          </p:cNvSpPr>
          <p:nvPr/>
        </p:nvSpPr>
        <p:spPr>
          <a:xfrm>
            <a:off x="6762750" y="2124075"/>
            <a:ext cx="8715375" cy="942975"/>
          </a:xfrm>
          <a:prstGeom prst="rect">
            <a:avLst/>
          </a:prstGeom>
          <a:noFill/>
          <a:ln w="0">
            <a:noFill/>
            <a:prstDash val="solid"/>
          </a:ln>
        </p:spPr>
        <p:txBody>
          <a:bodyPr wrap="square" lIns="0" tIns="0" rIns="0" bIns="0">
            <a:noAutofit/>
          </a:bodyPr>
          <a:lstStyle>
            <a:defPPr>
              <a:defRPr sz="2925" b="1">
                <a:solidFill>
                  <a:srgbClr val="3F3F3F"/>
                </a:solidFill>
                <a:latin typeface="Arial"/>
                <a:ea typeface="Arial"/>
                <a:cs typeface="Arial"/>
              </a:defRPr>
            </a:defPPr>
          </a:lstStyle>
          <a:p>
            <a:pPr>
              <a:defRPr sz="2925" b="1">
                <a:solidFill>
                  <a:srgbClr val="3F3F3F"/>
                </a:solidFill>
                <a:latin typeface="Arial"/>
                <a:ea typeface="Arial"/>
                <a:cs typeface="Arial"/>
              </a:defRPr>
            </a:pPr>
            <a:r>
              <a:rPr sz="2925" b="1">
                <a:solidFill>
                  <a:srgbClr val="3F3F3F"/>
                </a:solidFill>
                <a:latin typeface="Arial"/>
                <a:ea typeface="Arial"/>
                <a:cs typeface="Arial"/>
              </a:rPr>
              <a:t>More people economically inactive</a:t>
            </a:r>
          </a:p>
          <a:p>
            <a:pPr>
              <a:defRPr sz="2925" b="1">
                <a:solidFill>
                  <a:srgbClr val="3F3F3F"/>
                </a:solidFill>
                <a:latin typeface="Arial"/>
                <a:ea typeface="Arial"/>
                <a:cs typeface="Arial"/>
              </a:defRPr>
            </a:pPr>
            <a:r>
              <a:rPr sz="2925" b="1">
                <a:solidFill>
                  <a:srgbClr val="3F3F3F"/>
                </a:solidFill>
                <a:latin typeface="Arial"/>
                <a:ea typeface="Arial"/>
                <a:cs typeface="Arial"/>
              </a:rPr>
              <a:t>because of long-term sickness</a:t>
            </a:r>
          </a:p>
        </p:txBody>
      </p:sp>
      <p:sp>
        <p:nvSpPr>
          <p:cNvPr id="5" name="endpoints">
            <a:extLst>
              <a:ext uri="{FF2B5EF4-FFF2-40B4-BE49-F238E27FC236}">
                <a16:creationId xmlns:a16="http://schemas.microsoft.com/office/drawing/2014/main" id="{CDE49FF9-FD2C-42EC-80FC-46AEC63BF9E6}"/>
              </a:ext>
            </a:extLst>
          </p:cNvPr>
          <p:cNvSpPr>
            <a:spLocks noGrp="1"/>
          </p:cNvSpPr>
          <p:nvPr/>
        </p:nvSpPr>
        <p:spPr>
          <a:xfrm>
            <a:off x="809625" y="3190875"/>
            <a:ext cx="14639925" cy="390525"/>
          </a:xfrm>
          <a:prstGeom prst="rect">
            <a:avLst/>
          </a:prstGeom>
          <a:noFill/>
          <a:ln w="0">
            <a:noFill/>
            <a:prstDash val="solid"/>
          </a:ln>
        </p:spPr>
        <p:txBody>
          <a:bodyPr wrap="square" lIns="0" tIns="0" rIns="0" bIns="0">
            <a:noAutofit/>
          </a:bodyPr>
          <a:lstStyle>
            <a:defPPr>
              <a:defRPr sz="2100" b="0">
                <a:solidFill>
                  <a:srgbClr val="626D7A"/>
                </a:solidFill>
                <a:latin typeface="Arial"/>
                <a:ea typeface="Arial"/>
                <a:cs typeface="Arial"/>
              </a:defRPr>
            </a:defPPr>
          </a:lstStyle>
          <a:p>
            <a:pPr>
              <a:defRPr sz="2100" b="0">
                <a:solidFill>
                  <a:srgbClr val="626D7A"/>
                </a:solidFill>
                <a:latin typeface="Arial"/>
                <a:ea typeface="Arial"/>
                <a:cs typeface="Arial"/>
              </a:defRPr>
            </a:pPr>
            <a:r>
              <a:rPr sz="2100" b="0">
                <a:solidFill>
                  <a:srgbClr val="626D7A"/>
                </a:solidFill>
                <a:latin typeface="Arial"/>
                <a:ea typeface="Arial"/>
                <a:cs typeface="Arial"/>
              </a:rPr>
              <a:t>2.046 million in 2019 to 2.792 million in 2025 [1]</a:t>
            </a:r>
          </a:p>
        </p:txBody>
      </p:sp>
      <p:sp>
        <p:nvSpPr>
          <p:cNvPr id="6" name="allocation">
            <a:extLst>
              <a:ext uri="{FF2B5EF4-FFF2-40B4-BE49-F238E27FC236}">
                <a16:creationId xmlns:a16="http://schemas.microsoft.com/office/drawing/2014/main" id="{C58EA147-2267-473D-84A7-A71E50B7357E}"/>
              </a:ext>
            </a:extLst>
          </p:cNvPr>
          <p:cNvSpPr>
            <a:spLocks noGrp="1"/>
          </p:cNvSpPr>
          <p:nvPr/>
        </p:nvSpPr>
        <p:spPr>
          <a:xfrm>
            <a:off x="809625" y="3829050"/>
            <a:ext cx="14639925" cy="476250"/>
          </a:xfrm>
          <a:prstGeom prst="rect">
            <a:avLst/>
          </a:prstGeom>
          <a:noFill/>
          <a:ln w="0">
            <a:noFill/>
            <a:prstDash val="solid"/>
          </a:ln>
        </p:spPr>
        <p:txBody>
          <a:bodyPr wrap="square" lIns="0" tIns="0" rIns="0" bIns="0">
            <a:noAutofit/>
          </a:bodyPr>
          <a:lstStyle>
            <a:defPPr>
              <a:defRPr sz="2700" b="1">
                <a:solidFill>
                  <a:srgbClr val="002D72"/>
                </a:solidFill>
                <a:latin typeface="Arial"/>
                <a:ea typeface="Arial"/>
                <a:cs typeface="Arial"/>
              </a:defRPr>
            </a:defPPr>
          </a:lstStyle>
          <a:p>
            <a:pPr>
              <a:defRPr sz="2700" b="1">
                <a:solidFill>
                  <a:srgbClr val="002D72"/>
                </a:solidFill>
                <a:latin typeface="Arial"/>
                <a:ea typeface="Arial"/>
                <a:cs typeface="Arial"/>
              </a:defRPr>
            </a:pPr>
            <a:r>
              <a:rPr sz="2700" b="1">
                <a:solidFill>
                  <a:srgbClr val="002D72"/>
                </a:solidFill>
                <a:latin typeface="Arial"/>
                <a:ea typeface="Arial"/>
                <a:cs typeface="Arial"/>
              </a:rPr>
              <a:t>Illustrative allocation of the increase</a:t>
            </a:r>
          </a:p>
        </p:txBody>
      </p:sp>
      <p:graphicFrame>
        <p:nvGraphicFramePr>
          <p:cNvPr id="7" name="Chart">
            <a:extLst>
              <a:ext uri="{FF2B5EF4-FFF2-40B4-BE49-F238E27FC236}">
                <a16:creationId xmlns:a16="http://schemas.microsoft.com/office/drawing/2014/main" id="{C0B2340A-3D08-48A0-B693-45516F411F7C}"/>
              </a:ext>
            </a:extLst>
          </p:cNvPr>
          <p:cNvGraphicFramePr/>
          <p:nvPr/>
        </p:nvGraphicFramePr>
        <p:xfrm>
          <a:off x="809625" y="4324350"/>
          <a:ext cx="14639925" cy="933450"/>
        </p:xfrm>
        <a:graphic>
          <a:graphicData uri="http://schemas.openxmlformats.org/drawingml/2006/chart">
            <c:chart xmlns:c="http://schemas.openxmlformats.org/drawingml/2006/chart" xmlns:r="http://schemas.openxmlformats.org/officeDocument/2006/relationships" r:id="rId3"/>
          </a:graphicData>
        </a:graphic>
      </p:graphicFrame>
      <p:sp>
        <p:nvSpPr>
          <p:cNvPr id="8" name="component-0">
            <a:extLst>
              <a:ext uri="{FF2B5EF4-FFF2-40B4-BE49-F238E27FC236}">
                <a16:creationId xmlns:a16="http://schemas.microsoft.com/office/drawing/2014/main" id="{DBF4B639-60B1-4CAE-8EB4-5BD25DEB5BCA}"/>
              </a:ext>
            </a:extLst>
          </p:cNvPr>
          <p:cNvSpPr>
            <a:spLocks noGrp="1"/>
          </p:cNvSpPr>
          <p:nvPr/>
        </p:nvSpPr>
        <p:spPr>
          <a:xfrm>
            <a:off x="809625" y="5410200"/>
            <a:ext cx="4638675" cy="409575"/>
          </a:xfrm>
          <a:prstGeom prst="rect">
            <a:avLst/>
          </a:prstGeom>
          <a:noFill/>
          <a:ln w="0">
            <a:noFill/>
            <a:prstDash val="solid"/>
          </a:ln>
        </p:spPr>
        <p:txBody>
          <a:bodyPr wrap="square" lIns="0" tIns="0" rIns="0" bIns="0">
            <a:noAutofit/>
          </a:bodyPr>
          <a:lstStyle>
            <a:defPPr>
              <a:defRPr sz="2250" b="1">
                <a:solidFill>
                  <a:srgbClr val="002D72"/>
                </a:solidFill>
                <a:latin typeface="Arial"/>
                <a:ea typeface="Arial"/>
                <a:cs typeface="Arial"/>
              </a:defRPr>
            </a:defPPr>
          </a:lstStyle>
          <a:p>
            <a:pPr>
              <a:defRPr sz="2250" b="1">
                <a:solidFill>
                  <a:srgbClr val="002D72"/>
                </a:solidFill>
                <a:latin typeface="Arial"/>
                <a:ea typeface="Arial"/>
                <a:cs typeface="Arial"/>
              </a:defRPr>
            </a:pPr>
            <a:r>
              <a:rPr sz="2250" b="1">
                <a:solidFill>
                  <a:srgbClr val="002D72"/>
                </a:solidFill>
                <a:latin typeface="Arial"/>
                <a:ea typeface="Arial"/>
                <a:cs typeface="Arial"/>
              </a:rPr>
              <a:t>Population growth</a:t>
            </a:r>
          </a:p>
        </p:txBody>
      </p:sp>
      <p:sp>
        <p:nvSpPr>
          <p:cNvPr id="9" name="number-0">
            <a:extLst>
              <a:ext uri="{FF2B5EF4-FFF2-40B4-BE49-F238E27FC236}">
                <a16:creationId xmlns:a16="http://schemas.microsoft.com/office/drawing/2014/main" id="{E3589F1B-78AF-4BE5-98EB-31A94A9CAAD9}"/>
              </a:ext>
            </a:extLst>
          </p:cNvPr>
          <p:cNvSpPr>
            <a:spLocks noGrp="1"/>
          </p:cNvSpPr>
          <p:nvPr/>
        </p:nvSpPr>
        <p:spPr>
          <a:xfrm>
            <a:off x="809625" y="5857875"/>
            <a:ext cx="4638675" cy="809625"/>
          </a:xfrm>
          <a:prstGeom prst="rect">
            <a:avLst/>
          </a:prstGeom>
          <a:noFill/>
          <a:ln w="0">
            <a:noFill/>
            <a:prstDash val="solid"/>
          </a:ln>
        </p:spPr>
        <p:txBody>
          <a:bodyPr wrap="square" lIns="0" tIns="0" rIns="0" bIns="0">
            <a:noAutofit/>
          </a:bodyPr>
          <a:lstStyle>
            <a:defPPr>
              <a:defRPr sz="4800" b="1">
                <a:solidFill>
                  <a:srgbClr val="0097A9"/>
                </a:solidFill>
                <a:latin typeface="Arial"/>
                <a:ea typeface="Arial"/>
                <a:cs typeface="Arial"/>
              </a:defRPr>
            </a:defPPr>
          </a:lstStyle>
          <a:p>
            <a:pPr>
              <a:defRPr sz="4800" b="1">
                <a:solidFill>
                  <a:srgbClr val="0097A9"/>
                </a:solidFill>
                <a:latin typeface="Arial"/>
                <a:ea typeface="Arial"/>
                <a:cs typeface="Arial"/>
              </a:defRPr>
            </a:pPr>
            <a:r>
              <a:rPr sz="4800" b="1">
                <a:solidFill>
                  <a:srgbClr val="0097A9"/>
                </a:solidFill>
                <a:latin typeface="Arial"/>
                <a:ea typeface="Arial"/>
                <a:cs typeface="Arial"/>
              </a:rPr>
              <a:t>≈86,000</a:t>
            </a:r>
          </a:p>
        </p:txBody>
      </p:sp>
      <p:sp>
        <p:nvSpPr>
          <p:cNvPr id="10" name="share-0">
            <a:extLst>
              <a:ext uri="{FF2B5EF4-FFF2-40B4-BE49-F238E27FC236}">
                <a16:creationId xmlns:a16="http://schemas.microsoft.com/office/drawing/2014/main" id="{28771DBD-8524-4D1F-ADDD-87392B447812}"/>
              </a:ext>
            </a:extLst>
          </p:cNvPr>
          <p:cNvSpPr>
            <a:spLocks noGrp="1"/>
          </p:cNvSpPr>
          <p:nvPr/>
        </p:nvSpPr>
        <p:spPr>
          <a:xfrm>
            <a:off x="809625" y="6648450"/>
            <a:ext cx="4638675" cy="390525"/>
          </a:xfrm>
          <a:prstGeom prst="rect">
            <a:avLst/>
          </a:prstGeom>
          <a:noFill/>
          <a:ln w="0">
            <a:noFill/>
            <a:prstDash val="solid"/>
          </a:ln>
        </p:spPr>
        <p:txBody>
          <a:bodyPr wrap="square" lIns="0" tIns="0" rIns="0" bIns="0">
            <a:noAutofit/>
          </a:bodyPr>
          <a:lstStyle>
            <a:defPPr>
              <a:defRPr sz="2100" b="1">
                <a:solidFill>
                  <a:srgbClr val="3F3F3F"/>
                </a:solidFill>
                <a:latin typeface="Arial"/>
                <a:ea typeface="Arial"/>
                <a:cs typeface="Arial"/>
              </a:defRPr>
            </a:defPPr>
          </a:lstStyle>
          <a:p>
            <a:pPr>
              <a:defRPr sz="2100" b="1">
                <a:solidFill>
                  <a:srgbClr val="3F3F3F"/>
                </a:solidFill>
                <a:latin typeface="Arial"/>
                <a:ea typeface="Arial"/>
                <a:cs typeface="Arial"/>
              </a:defRPr>
            </a:pPr>
            <a:r>
              <a:rPr sz="2100" b="1">
                <a:solidFill>
                  <a:srgbClr val="3F3F3F"/>
                </a:solidFill>
                <a:latin typeface="Arial"/>
                <a:ea typeface="Arial"/>
                <a:cs typeface="Arial"/>
              </a:rPr>
              <a:t>11.5% of the increase</a:t>
            </a:r>
          </a:p>
        </p:txBody>
      </p:sp>
      <p:sp>
        <p:nvSpPr>
          <p:cNvPr id="11" name="method-0">
            <a:extLst>
              <a:ext uri="{FF2B5EF4-FFF2-40B4-BE49-F238E27FC236}">
                <a16:creationId xmlns:a16="http://schemas.microsoft.com/office/drawing/2014/main" id="{50367FFE-FD5C-4EA8-B9F4-52265EC4BD0D}"/>
              </a:ext>
            </a:extLst>
          </p:cNvPr>
          <p:cNvSpPr>
            <a:spLocks noGrp="1"/>
          </p:cNvSpPr>
          <p:nvPr/>
        </p:nvSpPr>
        <p:spPr>
          <a:xfrm>
            <a:off x="809625" y="7134225"/>
            <a:ext cx="4638675" cy="657225"/>
          </a:xfrm>
          <a:prstGeom prst="rect">
            <a:avLst/>
          </a:prstGeom>
          <a:noFill/>
          <a:ln w="0">
            <a:noFill/>
            <a:prstDash val="solid"/>
          </a:ln>
        </p:spPr>
        <p:txBody>
          <a:bodyPr wrap="square" lIns="0" tIns="0" rIns="0" bIns="0">
            <a:noAutofit/>
          </a:bodyPr>
          <a:lstStyle>
            <a:defPPr>
              <a:defRPr sz="1875" b="0">
                <a:solidFill>
                  <a:srgbClr val="626D7A"/>
                </a:solidFill>
                <a:latin typeface="Arial"/>
                <a:ea typeface="Arial"/>
                <a:cs typeface="Arial"/>
              </a:defRPr>
            </a:defPPr>
          </a:lstStyle>
          <a:p>
            <a:pPr>
              <a:defRPr sz="1875" b="0">
                <a:solidFill>
                  <a:srgbClr val="626D7A"/>
                </a:solidFill>
                <a:latin typeface="Arial"/>
                <a:ea typeface="Arial"/>
                <a:cs typeface="Arial"/>
              </a:defRPr>
            </a:pPr>
            <a:r>
              <a:rPr sz="1875" b="0">
                <a:solidFill>
                  <a:srgbClr val="626D7A"/>
                </a:solidFill>
                <a:latin typeface="Arial"/>
                <a:ea typeface="Arial"/>
                <a:cs typeface="Arial"/>
              </a:rPr>
              <a:t>Larger population, holding the</a:t>
            </a:r>
          </a:p>
          <a:p>
            <a:pPr>
              <a:defRPr sz="1875" b="0">
                <a:solidFill>
                  <a:srgbClr val="626D7A"/>
                </a:solidFill>
                <a:latin typeface="Arial"/>
                <a:ea typeface="Arial"/>
                <a:cs typeface="Arial"/>
              </a:defRPr>
            </a:pPr>
            <a:r>
              <a:rPr sz="1875" b="0">
                <a:solidFill>
                  <a:srgbClr val="626D7A"/>
                </a:solidFill>
                <a:latin typeface="Arial"/>
                <a:ea typeface="Arial"/>
                <a:cs typeface="Arial"/>
              </a:rPr>
              <a:t>2019 inactivity rate fixed. [1, 2]</a:t>
            </a:r>
          </a:p>
        </p:txBody>
      </p:sp>
      <p:sp>
        <p:nvSpPr>
          <p:cNvPr id="12" name="component-1">
            <a:extLst>
              <a:ext uri="{FF2B5EF4-FFF2-40B4-BE49-F238E27FC236}">
                <a16:creationId xmlns:a16="http://schemas.microsoft.com/office/drawing/2014/main" id="{D90E29E9-A040-4613-A878-D7A41EAD8171}"/>
              </a:ext>
            </a:extLst>
          </p:cNvPr>
          <p:cNvSpPr>
            <a:spLocks noGrp="1"/>
          </p:cNvSpPr>
          <p:nvPr/>
        </p:nvSpPr>
        <p:spPr>
          <a:xfrm>
            <a:off x="5810250" y="5410200"/>
            <a:ext cx="4638675" cy="409575"/>
          </a:xfrm>
          <a:prstGeom prst="rect">
            <a:avLst/>
          </a:prstGeom>
          <a:noFill/>
          <a:ln w="0">
            <a:noFill/>
            <a:prstDash val="solid"/>
          </a:ln>
        </p:spPr>
        <p:txBody>
          <a:bodyPr wrap="square" lIns="0" tIns="0" rIns="0" bIns="0">
            <a:noAutofit/>
          </a:bodyPr>
          <a:lstStyle>
            <a:defPPr>
              <a:defRPr sz="2250" b="1">
                <a:solidFill>
                  <a:srgbClr val="002D72"/>
                </a:solidFill>
                <a:latin typeface="Arial"/>
                <a:ea typeface="Arial"/>
                <a:cs typeface="Arial"/>
              </a:defRPr>
            </a:defPPr>
          </a:lstStyle>
          <a:p>
            <a:pPr>
              <a:defRPr sz="2250" b="1">
                <a:solidFill>
                  <a:srgbClr val="002D72"/>
                </a:solidFill>
                <a:latin typeface="Arial"/>
                <a:ea typeface="Arial"/>
                <a:cs typeface="Arial"/>
              </a:defRPr>
            </a:pPr>
            <a:r>
              <a:rPr sz="2250" b="1">
                <a:solidFill>
                  <a:srgbClr val="002D72"/>
                </a:solidFill>
                <a:latin typeface="Arial"/>
                <a:ea typeface="Arial"/>
                <a:cs typeface="Arial"/>
              </a:rPr>
              <a:t>Demographic change</a:t>
            </a:r>
          </a:p>
        </p:txBody>
      </p:sp>
      <p:sp>
        <p:nvSpPr>
          <p:cNvPr id="13" name="number-1">
            <a:extLst>
              <a:ext uri="{FF2B5EF4-FFF2-40B4-BE49-F238E27FC236}">
                <a16:creationId xmlns:a16="http://schemas.microsoft.com/office/drawing/2014/main" id="{EEEBACA6-E195-4A74-B664-1840C196AA4E}"/>
              </a:ext>
            </a:extLst>
          </p:cNvPr>
          <p:cNvSpPr>
            <a:spLocks noGrp="1"/>
          </p:cNvSpPr>
          <p:nvPr/>
        </p:nvSpPr>
        <p:spPr>
          <a:xfrm>
            <a:off x="5810250" y="5857875"/>
            <a:ext cx="4638675" cy="809625"/>
          </a:xfrm>
          <a:prstGeom prst="rect">
            <a:avLst/>
          </a:prstGeom>
          <a:noFill/>
          <a:ln w="0">
            <a:noFill/>
            <a:prstDash val="solid"/>
          </a:ln>
        </p:spPr>
        <p:txBody>
          <a:bodyPr wrap="square" lIns="0" tIns="0" rIns="0" bIns="0">
            <a:noAutofit/>
          </a:bodyPr>
          <a:lstStyle>
            <a:defPPr>
              <a:defRPr sz="4800" b="1">
                <a:solidFill>
                  <a:srgbClr val="002D72"/>
                </a:solidFill>
                <a:latin typeface="Arial"/>
                <a:ea typeface="Arial"/>
                <a:cs typeface="Arial"/>
              </a:defRPr>
            </a:defPPr>
          </a:lstStyle>
          <a:p>
            <a:pPr>
              <a:defRPr sz="4800" b="1">
                <a:solidFill>
                  <a:srgbClr val="002D72"/>
                </a:solidFill>
                <a:latin typeface="Arial"/>
                <a:ea typeface="Arial"/>
                <a:cs typeface="Arial"/>
              </a:defRPr>
            </a:pPr>
            <a:r>
              <a:rPr sz="4800" b="1" dirty="0">
                <a:solidFill>
                  <a:schemeClr val="bg1">
                    <a:lumMod val="50000"/>
                  </a:schemeClr>
                </a:solidFill>
                <a:latin typeface="Arial"/>
                <a:ea typeface="Arial"/>
                <a:cs typeface="Arial"/>
              </a:rPr>
              <a:t>≈65,000</a:t>
            </a:r>
          </a:p>
        </p:txBody>
      </p:sp>
      <p:sp>
        <p:nvSpPr>
          <p:cNvPr id="14" name="share-1">
            <a:extLst>
              <a:ext uri="{FF2B5EF4-FFF2-40B4-BE49-F238E27FC236}">
                <a16:creationId xmlns:a16="http://schemas.microsoft.com/office/drawing/2014/main" id="{91009426-08F3-410B-A382-9495EDE3D0F5}"/>
              </a:ext>
            </a:extLst>
          </p:cNvPr>
          <p:cNvSpPr>
            <a:spLocks noGrp="1"/>
          </p:cNvSpPr>
          <p:nvPr/>
        </p:nvSpPr>
        <p:spPr>
          <a:xfrm>
            <a:off x="5810250" y="6648450"/>
            <a:ext cx="4638675" cy="390525"/>
          </a:xfrm>
          <a:prstGeom prst="rect">
            <a:avLst/>
          </a:prstGeom>
          <a:noFill/>
          <a:ln w="0">
            <a:noFill/>
            <a:prstDash val="solid"/>
          </a:ln>
        </p:spPr>
        <p:txBody>
          <a:bodyPr wrap="square" lIns="0" tIns="0" rIns="0" bIns="0">
            <a:noAutofit/>
          </a:bodyPr>
          <a:lstStyle>
            <a:defPPr>
              <a:defRPr sz="2100" b="1">
                <a:solidFill>
                  <a:srgbClr val="3F3F3F"/>
                </a:solidFill>
                <a:latin typeface="Arial"/>
                <a:ea typeface="Arial"/>
                <a:cs typeface="Arial"/>
              </a:defRPr>
            </a:defPPr>
          </a:lstStyle>
          <a:p>
            <a:pPr>
              <a:defRPr sz="2100" b="1">
                <a:solidFill>
                  <a:srgbClr val="3F3F3F"/>
                </a:solidFill>
                <a:latin typeface="Arial"/>
                <a:ea typeface="Arial"/>
                <a:cs typeface="Arial"/>
              </a:defRPr>
            </a:pPr>
            <a:r>
              <a:rPr sz="2100" b="1">
                <a:solidFill>
                  <a:srgbClr val="3F3F3F"/>
                </a:solidFill>
                <a:latin typeface="Arial"/>
                <a:ea typeface="Arial"/>
                <a:cs typeface="Arial"/>
              </a:rPr>
              <a:t>8.7% of the increase</a:t>
            </a:r>
          </a:p>
        </p:txBody>
      </p:sp>
      <p:sp>
        <p:nvSpPr>
          <p:cNvPr id="15" name="method-1">
            <a:extLst>
              <a:ext uri="{FF2B5EF4-FFF2-40B4-BE49-F238E27FC236}">
                <a16:creationId xmlns:a16="http://schemas.microsoft.com/office/drawing/2014/main" id="{344CAAC4-F96D-4FC0-9F5A-E3AA7EC827A9}"/>
              </a:ext>
            </a:extLst>
          </p:cNvPr>
          <p:cNvSpPr>
            <a:spLocks noGrp="1"/>
          </p:cNvSpPr>
          <p:nvPr/>
        </p:nvSpPr>
        <p:spPr>
          <a:xfrm>
            <a:off x="5810250" y="7134225"/>
            <a:ext cx="4638675" cy="657225"/>
          </a:xfrm>
          <a:prstGeom prst="rect">
            <a:avLst/>
          </a:prstGeom>
          <a:noFill/>
          <a:ln w="0">
            <a:noFill/>
            <a:prstDash val="solid"/>
          </a:ln>
        </p:spPr>
        <p:txBody>
          <a:bodyPr wrap="square" lIns="0" tIns="0" rIns="0" bIns="0">
            <a:noAutofit/>
          </a:bodyPr>
          <a:lstStyle>
            <a:defPPr>
              <a:defRPr sz="1875" b="0">
                <a:solidFill>
                  <a:srgbClr val="626D7A"/>
                </a:solidFill>
                <a:latin typeface="Arial"/>
                <a:ea typeface="Arial"/>
                <a:cs typeface="Arial"/>
              </a:defRPr>
            </a:defPPr>
          </a:lstStyle>
          <a:p>
            <a:pPr>
              <a:defRPr sz="1875" b="0">
                <a:solidFill>
                  <a:srgbClr val="626D7A"/>
                </a:solidFill>
                <a:latin typeface="Arial"/>
                <a:ea typeface="Arial"/>
                <a:cs typeface="Arial"/>
              </a:defRPr>
            </a:pPr>
            <a:r>
              <a:rPr sz="1875" b="0" dirty="0">
                <a:solidFill>
                  <a:srgbClr val="626D7A"/>
                </a:solidFill>
                <a:latin typeface="Arial"/>
                <a:ea typeface="Arial"/>
                <a:cs typeface="Arial"/>
              </a:rPr>
              <a:t>2019–2022 share extrapolated</a:t>
            </a:r>
          </a:p>
          <a:p>
            <a:pPr>
              <a:defRPr sz="1875" b="0">
                <a:solidFill>
                  <a:srgbClr val="626D7A"/>
                </a:solidFill>
                <a:latin typeface="Arial"/>
                <a:ea typeface="Arial"/>
                <a:cs typeface="Arial"/>
              </a:defRPr>
            </a:pPr>
            <a:r>
              <a:rPr sz="1875" b="0" dirty="0">
                <a:solidFill>
                  <a:srgbClr val="626D7A"/>
                </a:solidFill>
                <a:latin typeface="Arial"/>
                <a:ea typeface="Arial"/>
                <a:cs typeface="Arial"/>
              </a:rPr>
              <a:t>to 2019–2025. </a:t>
            </a:r>
          </a:p>
        </p:txBody>
      </p:sp>
      <p:sp>
        <p:nvSpPr>
          <p:cNvPr id="16" name="component-2">
            <a:extLst>
              <a:ext uri="{FF2B5EF4-FFF2-40B4-BE49-F238E27FC236}">
                <a16:creationId xmlns:a16="http://schemas.microsoft.com/office/drawing/2014/main" id="{ADA19B4D-5ED0-4A79-B23A-C681201246BC}"/>
              </a:ext>
            </a:extLst>
          </p:cNvPr>
          <p:cNvSpPr>
            <a:spLocks noGrp="1"/>
          </p:cNvSpPr>
          <p:nvPr/>
        </p:nvSpPr>
        <p:spPr>
          <a:xfrm>
            <a:off x="10810875" y="5410200"/>
            <a:ext cx="4638675" cy="409575"/>
          </a:xfrm>
          <a:prstGeom prst="rect">
            <a:avLst/>
          </a:prstGeom>
          <a:noFill/>
          <a:ln w="0">
            <a:noFill/>
            <a:prstDash val="solid"/>
          </a:ln>
        </p:spPr>
        <p:txBody>
          <a:bodyPr wrap="square" lIns="0" tIns="0" rIns="0" bIns="0">
            <a:noAutofit/>
          </a:bodyPr>
          <a:lstStyle>
            <a:defPPr>
              <a:defRPr sz="2250" b="1">
                <a:solidFill>
                  <a:srgbClr val="002D72"/>
                </a:solidFill>
                <a:latin typeface="Arial"/>
                <a:ea typeface="Arial"/>
                <a:cs typeface="Arial"/>
              </a:defRPr>
            </a:defPPr>
          </a:lstStyle>
          <a:p>
            <a:pPr>
              <a:defRPr sz="2250" b="1">
                <a:solidFill>
                  <a:srgbClr val="002D72"/>
                </a:solidFill>
                <a:latin typeface="Arial"/>
                <a:ea typeface="Arial"/>
                <a:cs typeface="Arial"/>
              </a:defRPr>
            </a:pPr>
            <a:r>
              <a:rPr sz="2250" b="1">
                <a:solidFill>
                  <a:srgbClr val="002D72"/>
                </a:solidFill>
                <a:latin typeface="Arial"/>
                <a:ea typeface="Arial"/>
                <a:cs typeface="Arial"/>
              </a:rPr>
              <a:t>Remaining increase</a:t>
            </a:r>
          </a:p>
        </p:txBody>
      </p:sp>
      <p:sp>
        <p:nvSpPr>
          <p:cNvPr id="17" name="number-2">
            <a:extLst>
              <a:ext uri="{FF2B5EF4-FFF2-40B4-BE49-F238E27FC236}">
                <a16:creationId xmlns:a16="http://schemas.microsoft.com/office/drawing/2014/main" id="{F127D47B-DBA8-416E-8438-5BAF5663D252}"/>
              </a:ext>
            </a:extLst>
          </p:cNvPr>
          <p:cNvSpPr>
            <a:spLocks noGrp="1"/>
          </p:cNvSpPr>
          <p:nvPr/>
        </p:nvSpPr>
        <p:spPr>
          <a:xfrm>
            <a:off x="10810875" y="5857875"/>
            <a:ext cx="4638675" cy="809625"/>
          </a:xfrm>
          <a:prstGeom prst="rect">
            <a:avLst/>
          </a:prstGeom>
          <a:noFill/>
          <a:ln w="0">
            <a:noFill/>
            <a:prstDash val="solid"/>
          </a:ln>
        </p:spPr>
        <p:txBody>
          <a:bodyPr wrap="square" lIns="0" tIns="0" rIns="0" bIns="0">
            <a:noAutofit/>
          </a:bodyPr>
          <a:lstStyle>
            <a:defPPr>
              <a:defRPr sz="4800" b="1">
                <a:solidFill>
                  <a:srgbClr val="002D72"/>
                </a:solidFill>
                <a:latin typeface="Arial"/>
                <a:ea typeface="Arial"/>
                <a:cs typeface="Arial"/>
              </a:defRPr>
            </a:defPPr>
          </a:lstStyle>
          <a:p>
            <a:pPr>
              <a:defRPr sz="4800" b="1">
                <a:solidFill>
                  <a:srgbClr val="002D72"/>
                </a:solidFill>
                <a:latin typeface="Arial"/>
                <a:ea typeface="Arial"/>
                <a:cs typeface="Arial"/>
              </a:defRPr>
            </a:pPr>
            <a:r>
              <a:rPr sz="4800" b="1">
                <a:solidFill>
                  <a:srgbClr val="002D72"/>
                </a:solidFill>
                <a:latin typeface="Arial"/>
                <a:ea typeface="Arial"/>
                <a:cs typeface="Arial"/>
              </a:rPr>
              <a:t>≈595,000</a:t>
            </a:r>
          </a:p>
        </p:txBody>
      </p:sp>
      <p:sp>
        <p:nvSpPr>
          <p:cNvPr id="18" name="share-2">
            <a:extLst>
              <a:ext uri="{FF2B5EF4-FFF2-40B4-BE49-F238E27FC236}">
                <a16:creationId xmlns:a16="http://schemas.microsoft.com/office/drawing/2014/main" id="{5B327635-A0D9-4120-BF6C-4DE79FD32FCC}"/>
              </a:ext>
            </a:extLst>
          </p:cNvPr>
          <p:cNvSpPr>
            <a:spLocks noGrp="1"/>
          </p:cNvSpPr>
          <p:nvPr/>
        </p:nvSpPr>
        <p:spPr>
          <a:xfrm>
            <a:off x="10810875" y="6648450"/>
            <a:ext cx="4638675" cy="390525"/>
          </a:xfrm>
          <a:prstGeom prst="rect">
            <a:avLst/>
          </a:prstGeom>
          <a:noFill/>
          <a:ln w="0">
            <a:noFill/>
            <a:prstDash val="solid"/>
          </a:ln>
        </p:spPr>
        <p:txBody>
          <a:bodyPr wrap="square" lIns="0" tIns="0" rIns="0" bIns="0">
            <a:noAutofit/>
          </a:bodyPr>
          <a:lstStyle>
            <a:defPPr>
              <a:defRPr sz="2100" b="1">
                <a:solidFill>
                  <a:srgbClr val="3F3F3F"/>
                </a:solidFill>
                <a:latin typeface="Arial"/>
                <a:ea typeface="Arial"/>
                <a:cs typeface="Arial"/>
              </a:defRPr>
            </a:defPPr>
          </a:lstStyle>
          <a:p>
            <a:pPr>
              <a:defRPr sz="2100" b="1">
                <a:solidFill>
                  <a:srgbClr val="3F3F3F"/>
                </a:solidFill>
                <a:latin typeface="Arial"/>
                <a:ea typeface="Arial"/>
                <a:cs typeface="Arial"/>
              </a:defRPr>
            </a:pPr>
            <a:r>
              <a:rPr sz="2100" b="1" u="sng" dirty="0">
                <a:solidFill>
                  <a:srgbClr val="3F3F3F"/>
                </a:solidFill>
                <a:latin typeface="Arial"/>
                <a:ea typeface="Arial"/>
                <a:cs typeface="Arial"/>
              </a:rPr>
              <a:t>79.8% </a:t>
            </a:r>
            <a:r>
              <a:rPr sz="2100" b="1" dirty="0">
                <a:solidFill>
                  <a:srgbClr val="3F3F3F"/>
                </a:solidFill>
                <a:latin typeface="Arial"/>
                <a:ea typeface="Arial"/>
                <a:cs typeface="Arial"/>
              </a:rPr>
              <a:t>of the increase</a:t>
            </a:r>
          </a:p>
        </p:txBody>
      </p:sp>
      <p:sp>
        <p:nvSpPr>
          <p:cNvPr id="19" name="method-2">
            <a:extLst>
              <a:ext uri="{FF2B5EF4-FFF2-40B4-BE49-F238E27FC236}">
                <a16:creationId xmlns:a16="http://schemas.microsoft.com/office/drawing/2014/main" id="{75548DFA-F4BB-4806-8A51-7D8F5E1F7815}"/>
              </a:ext>
            </a:extLst>
          </p:cNvPr>
          <p:cNvSpPr>
            <a:spLocks noGrp="1"/>
          </p:cNvSpPr>
          <p:nvPr/>
        </p:nvSpPr>
        <p:spPr>
          <a:xfrm>
            <a:off x="10810875" y="7134225"/>
            <a:ext cx="4638675" cy="657225"/>
          </a:xfrm>
          <a:prstGeom prst="rect">
            <a:avLst/>
          </a:prstGeom>
          <a:noFill/>
          <a:ln w="0">
            <a:noFill/>
            <a:prstDash val="solid"/>
          </a:ln>
        </p:spPr>
        <p:txBody>
          <a:bodyPr wrap="square" lIns="0" tIns="0" rIns="0" bIns="0">
            <a:noAutofit/>
          </a:bodyPr>
          <a:lstStyle>
            <a:defPPr>
              <a:defRPr sz="1875" b="0">
                <a:solidFill>
                  <a:srgbClr val="626D7A"/>
                </a:solidFill>
                <a:latin typeface="Arial"/>
                <a:ea typeface="Arial"/>
                <a:cs typeface="Arial"/>
              </a:defRPr>
            </a:defPPr>
          </a:lstStyle>
          <a:p>
            <a:pPr>
              <a:defRPr sz="1875" b="0">
                <a:solidFill>
                  <a:srgbClr val="626D7A"/>
                </a:solidFill>
                <a:latin typeface="Arial"/>
                <a:ea typeface="Arial"/>
                <a:cs typeface="Arial"/>
              </a:defRPr>
            </a:pPr>
            <a:endParaRPr sz="1875" b="0" dirty="0">
              <a:solidFill>
                <a:srgbClr val="626D7A"/>
              </a:solidFill>
              <a:latin typeface="Arial"/>
              <a:ea typeface="Arial"/>
              <a:cs typeface="Arial"/>
            </a:endParaRPr>
          </a:p>
        </p:txBody>
      </p:sp>
      <p:sp>
        <p:nvSpPr>
          <p:cNvPr id="20" name="caveat">
            <a:extLst>
              <a:ext uri="{FF2B5EF4-FFF2-40B4-BE49-F238E27FC236}">
                <a16:creationId xmlns:a16="http://schemas.microsoft.com/office/drawing/2014/main" id="{B1E7BD57-AEA0-446E-9D56-18599AEE82D5}"/>
              </a:ext>
            </a:extLst>
          </p:cNvPr>
          <p:cNvSpPr>
            <a:spLocks noGrp="1"/>
          </p:cNvSpPr>
          <p:nvPr/>
        </p:nvSpPr>
        <p:spPr>
          <a:xfrm>
            <a:off x="809625" y="7962900"/>
            <a:ext cx="14639925" cy="361950"/>
          </a:xfrm>
          <a:prstGeom prst="rect">
            <a:avLst/>
          </a:prstGeom>
          <a:noFill/>
          <a:ln w="0">
            <a:noFill/>
            <a:prstDash val="solid"/>
          </a:ln>
        </p:spPr>
        <p:txBody>
          <a:bodyPr wrap="square" lIns="0" tIns="0" rIns="0" bIns="0">
            <a:noAutofit/>
          </a:bodyPr>
          <a:lstStyle>
            <a:defPPr>
              <a:defRPr sz="1725" b="0">
                <a:solidFill>
                  <a:srgbClr val="3F3F3F"/>
                </a:solidFill>
                <a:latin typeface="Arial"/>
                <a:ea typeface="Arial"/>
                <a:cs typeface="Arial"/>
              </a:defRPr>
            </a:defPPr>
          </a:lstStyle>
          <a:p>
            <a:pPr>
              <a:defRPr sz="1725" b="0">
                <a:solidFill>
                  <a:srgbClr val="3F3F3F"/>
                </a:solidFill>
                <a:latin typeface="Arial"/>
                <a:ea typeface="Arial"/>
                <a:cs typeface="Arial"/>
              </a:defRPr>
            </a:pPr>
            <a:r>
              <a:rPr sz="1725" b="0">
                <a:solidFill>
                  <a:srgbClr val="3F3F3F"/>
                </a:solidFill>
                <a:latin typeface="Arial"/>
                <a:ea typeface="Arial"/>
                <a:cs typeface="Arial"/>
              </a:rPr>
              <a:t>Assumes separate, additive effects of population size and age composition. The residual does not isolate worsening health.</a:t>
            </a:r>
          </a:p>
        </p:txBody>
      </p:sp>
      <p:sp>
        <p:nvSpPr>
          <p:cNvPr id="21" name="sources">
            <a:extLst>
              <a:ext uri="{FF2B5EF4-FFF2-40B4-BE49-F238E27FC236}">
                <a16:creationId xmlns:a16="http://schemas.microsoft.com/office/drawing/2014/main" id="{F80047A6-3CBC-4943-B5E3-67BB38E24026}"/>
              </a:ext>
            </a:extLst>
          </p:cNvPr>
          <p:cNvSpPr>
            <a:spLocks noGrp="1"/>
          </p:cNvSpPr>
          <p:nvPr/>
        </p:nvSpPr>
        <p:spPr>
          <a:xfrm>
            <a:off x="809625" y="8496300"/>
            <a:ext cx="14639925" cy="523875"/>
          </a:xfrm>
          <a:prstGeom prst="rect">
            <a:avLst/>
          </a:prstGeom>
          <a:noFill/>
          <a:ln w="0">
            <a:noFill/>
            <a:prstDash val="solid"/>
          </a:ln>
        </p:spPr>
        <p:txBody>
          <a:bodyPr wrap="square" lIns="0" tIns="0" rIns="0" bIns="0">
            <a:noAutofit/>
          </a:bodyPr>
          <a:lstStyle>
            <a:defPPr>
              <a:defRPr sz="1425" b="0">
                <a:solidFill>
                  <a:srgbClr val="626D7A"/>
                </a:solidFill>
                <a:latin typeface="Arial"/>
                <a:ea typeface="Arial"/>
                <a:cs typeface="Arial"/>
              </a:defRPr>
            </a:defPPr>
          </a:lstStyle>
          <a:p>
            <a:pPr>
              <a:defRPr sz="1425" b="0">
                <a:solidFill>
                  <a:srgbClr val="626D7A"/>
                </a:solidFill>
                <a:latin typeface="Arial"/>
                <a:ea typeface="Arial"/>
                <a:cs typeface="Arial"/>
              </a:defRPr>
            </a:pPr>
            <a:r>
              <a:rPr sz="1425" b="0" dirty="0">
                <a:solidFill>
                  <a:srgbClr val="626D7A"/>
                </a:solidFill>
                <a:latin typeface="Arial"/>
                <a:ea typeface="Arial"/>
                <a:cs typeface="Arial"/>
              </a:rPr>
              <a:t>Sources: [1] ONS LFS, LF69. [2] ONS LFS, LF2O. September 2026 release.</a:t>
            </a:r>
          </a:p>
          <a:p>
            <a:pPr>
              <a:defRPr sz="1425" b="0">
                <a:solidFill>
                  <a:srgbClr val="626D7A"/>
                </a:solidFill>
                <a:latin typeface="Arial"/>
                <a:ea typeface="Arial"/>
                <a:cs typeface="Arial"/>
              </a:defRPr>
            </a:pPr>
            <a:r>
              <a:rPr sz="1425" b="0" dirty="0">
                <a:solidFill>
                  <a:srgbClr val="626D7A"/>
                </a:solidFill>
                <a:latin typeface="Arial"/>
                <a:ea typeface="Arial"/>
                <a:cs typeface="Arial"/>
              </a:rPr>
              <a:t>Demographic share: </a:t>
            </a:r>
            <a:r>
              <a:rPr lang="en-GB" sz="1425" b="0" dirty="0">
                <a:solidFill>
                  <a:srgbClr val="626D7A"/>
                </a:solidFill>
                <a:latin typeface="Arial"/>
                <a:ea typeface="Arial"/>
                <a:cs typeface="Arial"/>
              </a:rPr>
              <a:t>Observed</a:t>
            </a:r>
            <a:r>
              <a:rPr sz="1425" b="0" dirty="0">
                <a:solidFill>
                  <a:srgbClr val="626D7A"/>
                </a:solidFill>
                <a:latin typeface="Arial"/>
                <a:ea typeface="Arial"/>
                <a:cs typeface="Arial"/>
              </a:rPr>
              <a:t> 8.7% </a:t>
            </a:r>
            <a:r>
              <a:rPr lang="en-GB" sz="1425" b="0" dirty="0">
                <a:solidFill>
                  <a:srgbClr val="626D7A"/>
                </a:solidFill>
                <a:latin typeface="Arial"/>
                <a:ea typeface="Arial"/>
                <a:cs typeface="Arial"/>
              </a:rPr>
              <a:t>of the increase between 2019 and 2022 projected to 2025.</a:t>
            </a:r>
            <a:endParaRPr sz="1425" b="0" dirty="0">
              <a:solidFill>
                <a:srgbClr val="626D7A"/>
              </a:solidFill>
              <a:latin typeface="Arial"/>
              <a:ea typeface="Arial"/>
              <a:cs typeface="Arial"/>
            </a:endParaRPr>
          </a:p>
        </p:txBody>
      </p:sp>
    </p:spTree>
    <p:extLst>
      <p:ext uri="{BB962C8B-B14F-4D97-AF65-F5344CB8AC3E}">
        <p14:creationId xmlns:p14="http://schemas.microsoft.com/office/powerpoint/2010/main" val="13537194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65E2A-26B5-FD1E-119B-75C708AC517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7F29554-1483-B8D3-F17C-9B9AB62C2B10}"/>
              </a:ext>
            </a:extLst>
          </p:cNvPr>
          <p:cNvSpPr>
            <a:spLocks noGrp="1"/>
          </p:cNvSpPr>
          <p:nvPr>
            <p:ph type="title"/>
          </p:nvPr>
        </p:nvSpPr>
        <p:spPr/>
        <p:txBody>
          <a:bodyPr>
            <a:normAutofit/>
          </a:bodyPr>
          <a:lstStyle/>
          <a:p>
            <a:r>
              <a:rPr lang="en-US" dirty="0"/>
              <a:t>The problem</a:t>
            </a:r>
            <a:endParaRPr lang="en-GB" dirty="0"/>
          </a:p>
        </p:txBody>
      </p:sp>
      <p:sp>
        <p:nvSpPr>
          <p:cNvPr id="5" name="Footer Placeholder 4">
            <a:extLst>
              <a:ext uri="{FF2B5EF4-FFF2-40B4-BE49-F238E27FC236}">
                <a16:creationId xmlns:a16="http://schemas.microsoft.com/office/drawing/2014/main" id="{68B7FBF6-DE18-7F5B-F4AC-61FA0B57E928}"/>
              </a:ext>
            </a:extLst>
          </p:cNvPr>
          <p:cNvSpPr>
            <a:spLocks noGrp="1"/>
          </p:cNvSpPr>
          <p:nvPr>
            <p:ph type="ftr" sz="quarter" idx="3"/>
          </p:nvPr>
        </p:nvSpPr>
        <p:spPr>
          <a:xfrm>
            <a:off x="1153143" y="8625949"/>
            <a:ext cx="11368098" cy="486833"/>
          </a:xfrm>
        </p:spPr>
        <p:txBody>
          <a:bodyPr/>
          <a:lstStyle/>
          <a:p>
            <a:r>
              <a:rPr lang="en-GB"/>
              <a:t>IFoA Life Conference</a:t>
            </a:r>
            <a:endParaRPr lang="en-GB" dirty="0"/>
          </a:p>
        </p:txBody>
      </p:sp>
      <p:sp>
        <p:nvSpPr>
          <p:cNvPr id="6" name="Slide Number Placeholder 5">
            <a:extLst>
              <a:ext uri="{FF2B5EF4-FFF2-40B4-BE49-F238E27FC236}">
                <a16:creationId xmlns:a16="http://schemas.microsoft.com/office/drawing/2014/main" id="{8CD0791A-80AD-EAE6-9930-0AB8B7541CE8}"/>
              </a:ext>
            </a:extLst>
          </p:cNvPr>
          <p:cNvSpPr>
            <a:spLocks noGrp="1"/>
          </p:cNvSpPr>
          <p:nvPr>
            <p:ph type="sldNum" sz="quarter" idx="4"/>
          </p:nvPr>
        </p:nvSpPr>
        <p:spPr/>
        <p:txBody>
          <a:bodyPr/>
          <a:lstStyle/>
          <a:p>
            <a:fld id="{40FC62D0-A2F2-4BF8-8DAC-E86C11000EC3}" type="slidenum">
              <a:rPr lang="en-GB" smtClean="0"/>
              <a:pPr/>
              <a:t>8</a:t>
            </a:fld>
            <a:endParaRPr lang="en-GB" dirty="0"/>
          </a:p>
        </p:txBody>
      </p:sp>
      <p:pic>
        <p:nvPicPr>
          <p:cNvPr id="11" name="Picture 10">
            <a:extLst>
              <a:ext uri="{FF2B5EF4-FFF2-40B4-BE49-F238E27FC236}">
                <a16:creationId xmlns:a16="http://schemas.microsoft.com/office/drawing/2014/main" id="{69720F83-27C7-B4DC-B3A1-4C116BEF60DE}"/>
              </a:ext>
            </a:extLst>
          </p:cNvPr>
          <p:cNvPicPr>
            <a:picLocks noChangeAspect="1"/>
          </p:cNvPicPr>
          <p:nvPr/>
        </p:nvPicPr>
        <p:blipFill>
          <a:blip r:embed="rId3"/>
          <a:stretch>
            <a:fillRect/>
          </a:stretch>
        </p:blipFill>
        <p:spPr>
          <a:xfrm>
            <a:off x="915655" y="1658364"/>
            <a:ext cx="2881222" cy="1913085"/>
          </a:xfrm>
          <a:prstGeom prst="rect">
            <a:avLst/>
          </a:prstGeom>
        </p:spPr>
      </p:pic>
      <p:sp>
        <p:nvSpPr>
          <p:cNvPr id="12" name="TextBox 11">
            <a:extLst>
              <a:ext uri="{FF2B5EF4-FFF2-40B4-BE49-F238E27FC236}">
                <a16:creationId xmlns:a16="http://schemas.microsoft.com/office/drawing/2014/main" id="{3B93CFC1-59DB-ADD1-0FD9-C9D1969B14C1}"/>
              </a:ext>
            </a:extLst>
          </p:cNvPr>
          <p:cNvSpPr txBox="1"/>
          <p:nvPr/>
        </p:nvSpPr>
        <p:spPr>
          <a:xfrm>
            <a:off x="3796877" y="1511138"/>
            <a:ext cx="6828503" cy="2123658"/>
          </a:xfrm>
          <a:prstGeom prst="rect">
            <a:avLst/>
          </a:prstGeom>
          <a:noFill/>
        </p:spPr>
        <p:txBody>
          <a:bodyPr wrap="square" rtlCol="0">
            <a:spAutoFit/>
          </a:bodyPr>
          <a:lstStyle/>
          <a:p>
            <a:r>
              <a:rPr lang="en-GB" sz="3600" b="1" dirty="0"/>
              <a:t>2024</a:t>
            </a:r>
          </a:p>
          <a:p>
            <a:r>
              <a:rPr lang="en-GB" sz="2400" b="1" dirty="0"/>
              <a:t>Lord Darzi’s independent review of the NHS</a:t>
            </a:r>
          </a:p>
          <a:p>
            <a:r>
              <a:rPr lang="en-GB" dirty="0"/>
              <a:t>Identified:</a:t>
            </a:r>
          </a:p>
          <a:p>
            <a:pPr marL="285750" indent="-285750">
              <a:buFont typeface="Arial" panose="020B0604020202020204" pitchFamily="34" charset="0"/>
              <a:buChar char="•"/>
            </a:pPr>
            <a:r>
              <a:rPr lang="en-GB" dirty="0"/>
              <a:t>Deteriorating working age health</a:t>
            </a:r>
          </a:p>
          <a:p>
            <a:pPr marL="285750" indent="-285750">
              <a:buFont typeface="Arial" panose="020B0604020202020204" pitchFamily="34" charset="0"/>
              <a:buChar char="•"/>
            </a:pPr>
            <a:r>
              <a:rPr lang="en-GB" dirty="0"/>
              <a:t>Deteriorating access to health care</a:t>
            </a:r>
          </a:p>
          <a:p>
            <a:pPr marL="285750" indent="-285750">
              <a:buFont typeface="Arial" panose="020B0604020202020204" pitchFamily="34" charset="0"/>
              <a:buChar char="•"/>
            </a:pPr>
            <a:r>
              <a:rPr lang="en-GB" dirty="0"/>
              <a:t>Rise in long-term economic inactivity due to poor health.</a:t>
            </a:r>
          </a:p>
        </p:txBody>
      </p:sp>
      <p:pic>
        <p:nvPicPr>
          <p:cNvPr id="14" name="Picture 13">
            <a:extLst>
              <a:ext uri="{FF2B5EF4-FFF2-40B4-BE49-F238E27FC236}">
                <a16:creationId xmlns:a16="http://schemas.microsoft.com/office/drawing/2014/main" id="{C5D6C27D-D05F-777A-13F7-9491399A63D7}"/>
              </a:ext>
            </a:extLst>
          </p:cNvPr>
          <p:cNvPicPr>
            <a:picLocks noChangeAspect="1"/>
          </p:cNvPicPr>
          <p:nvPr/>
        </p:nvPicPr>
        <p:blipFill>
          <a:blip r:embed="rId4"/>
          <a:stretch>
            <a:fillRect/>
          </a:stretch>
        </p:blipFill>
        <p:spPr>
          <a:xfrm>
            <a:off x="2533246" y="4458107"/>
            <a:ext cx="5550549" cy="1518312"/>
          </a:xfrm>
          <a:prstGeom prst="rect">
            <a:avLst/>
          </a:prstGeom>
        </p:spPr>
      </p:pic>
      <p:sp>
        <p:nvSpPr>
          <p:cNvPr id="16" name="TextBox 15">
            <a:extLst>
              <a:ext uri="{FF2B5EF4-FFF2-40B4-BE49-F238E27FC236}">
                <a16:creationId xmlns:a16="http://schemas.microsoft.com/office/drawing/2014/main" id="{E933D733-D231-00CD-61F1-94E4E1A40784}"/>
              </a:ext>
            </a:extLst>
          </p:cNvPr>
          <p:cNvSpPr txBox="1"/>
          <p:nvPr/>
        </p:nvSpPr>
        <p:spPr>
          <a:xfrm>
            <a:off x="8451334" y="4232801"/>
            <a:ext cx="6828503" cy="1569660"/>
          </a:xfrm>
          <a:prstGeom prst="rect">
            <a:avLst/>
          </a:prstGeom>
          <a:noFill/>
        </p:spPr>
        <p:txBody>
          <a:bodyPr wrap="square" rtlCol="0">
            <a:spAutoFit/>
          </a:bodyPr>
          <a:lstStyle/>
          <a:p>
            <a:r>
              <a:rPr lang="en-GB" sz="3600" b="1" dirty="0"/>
              <a:t>2024</a:t>
            </a:r>
          </a:p>
          <a:p>
            <a:r>
              <a:rPr lang="en-GB" sz="2400" b="1" dirty="0"/>
              <a:t>Get Britain Working</a:t>
            </a:r>
          </a:p>
          <a:p>
            <a:pPr marL="285750" indent="-285750">
              <a:buFont typeface="Arial" panose="020B0604020202020204" pitchFamily="34" charset="0"/>
              <a:buChar char="•"/>
            </a:pPr>
            <a:r>
              <a:rPr lang="en-GB" dirty="0"/>
              <a:t>80% employment ambition</a:t>
            </a:r>
          </a:p>
          <a:p>
            <a:pPr marL="285750" indent="-285750">
              <a:buFont typeface="Arial" panose="020B0604020202020204" pitchFamily="34" charset="0"/>
              <a:buChar char="•"/>
            </a:pPr>
            <a:r>
              <a:rPr lang="en-GB" dirty="0"/>
              <a:t>Joining up of health, employment and skills support</a:t>
            </a:r>
          </a:p>
        </p:txBody>
      </p:sp>
      <p:sp>
        <p:nvSpPr>
          <p:cNvPr id="17" name="Arrow: Bent 16">
            <a:extLst>
              <a:ext uri="{FF2B5EF4-FFF2-40B4-BE49-F238E27FC236}">
                <a16:creationId xmlns:a16="http://schemas.microsoft.com/office/drawing/2014/main" id="{05EC1F3A-5749-4FA4-2073-404EBA2AE159}"/>
              </a:ext>
            </a:extLst>
          </p:cNvPr>
          <p:cNvSpPr/>
          <p:nvPr/>
        </p:nvSpPr>
        <p:spPr>
          <a:xfrm flipV="1">
            <a:off x="1445341" y="4661561"/>
            <a:ext cx="855407" cy="760377"/>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pic>
        <p:nvPicPr>
          <p:cNvPr id="19" name="Picture 18">
            <a:extLst>
              <a:ext uri="{FF2B5EF4-FFF2-40B4-BE49-F238E27FC236}">
                <a16:creationId xmlns:a16="http://schemas.microsoft.com/office/drawing/2014/main" id="{42BC694D-5985-3550-3BCA-16E818A97FB7}"/>
              </a:ext>
            </a:extLst>
          </p:cNvPr>
          <p:cNvPicPr>
            <a:picLocks noChangeAspect="1"/>
          </p:cNvPicPr>
          <p:nvPr/>
        </p:nvPicPr>
        <p:blipFill>
          <a:blip r:embed="rId5"/>
          <a:stretch>
            <a:fillRect/>
          </a:stretch>
        </p:blipFill>
        <p:spPr>
          <a:xfrm>
            <a:off x="3796877" y="6480415"/>
            <a:ext cx="6343313" cy="1408332"/>
          </a:xfrm>
          <a:prstGeom prst="rect">
            <a:avLst/>
          </a:prstGeom>
        </p:spPr>
      </p:pic>
      <p:sp>
        <p:nvSpPr>
          <p:cNvPr id="20" name="TextBox 19">
            <a:extLst>
              <a:ext uri="{FF2B5EF4-FFF2-40B4-BE49-F238E27FC236}">
                <a16:creationId xmlns:a16="http://schemas.microsoft.com/office/drawing/2014/main" id="{EA61C318-3446-7135-0769-4AEC911017C2}"/>
              </a:ext>
            </a:extLst>
          </p:cNvPr>
          <p:cNvSpPr txBox="1"/>
          <p:nvPr/>
        </p:nvSpPr>
        <p:spPr>
          <a:xfrm>
            <a:off x="10556733" y="6444267"/>
            <a:ext cx="5322913" cy="1569660"/>
          </a:xfrm>
          <a:prstGeom prst="rect">
            <a:avLst/>
          </a:prstGeom>
          <a:noFill/>
        </p:spPr>
        <p:txBody>
          <a:bodyPr wrap="square" rtlCol="0">
            <a:spAutoFit/>
          </a:bodyPr>
          <a:lstStyle/>
          <a:p>
            <a:r>
              <a:rPr lang="en-GB" sz="3600" b="1" dirty="0"/>
              <a:t>2025 (Sep 2026 update)</a:t>
            </a:r>
          </a:p>
          <a:p>
            <a:r>
              <a:rPr lang="en-GB" sz="2400" b="1" dirty="0"/>
              <a:t>Keep Britain Working</a:t>
            </a:r>
          </a:p>
          <a:p>
            <a:pPr marL="285750" indent="-285750">
              <a:buFont typeface="Arial" panose="020B0604020202020204" pitchFamily="34" charset="0"/>
              <a:buChar char="•"/>
            </a:pPr>
            <a:r>
              <a:rPr lang="en-GB" dirty="0"/>
              <a:t>Employer perspective</a:t>
            </a:r>
          </a:p>
          <a:p>
            <a:pPr marL="285750" indent="-285750">
              <a:buFont typeface="Arial" panose="020B0604020202020204" pitchFamily="34" charset="0"/>
              <a:buChar char="•"/>
            </a:pPr>
            <a:r>
              <a:rPr lang="en-GB" dirty="0"/>
              <a:t>Plan for action</a:t>
            </a:r>
          </a:p>
        </p:txBody>
      </p:sp>
      <p:sp>
        <p:nvSpPr>
          <p:cNvPr id="25" name="Arrow: Bent 24">
            <a:extLst>
              <a:ext uri="{FF2B5EF4-FFF2-40B4-BE49-F238E27FC236}">
                <a16:creationId xmlns:a16="http://schemas.microsoft.com/office/drawing/2014/main" id="{54EA780A-E915-C462-12C2-DDCB97885935}"/>
              </a:ext>
            </a:extLst>
          </p:cNvPr>
          <p:cNvSpPr/>
          <p:nvPr/>
        </p:nvSpPr>
        <p:spPr>
          <a:xfrm flipV="1">
            <a:off x="2661054" y="6645454"/>
            <a:ext cx="855407" cy="760377"/>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pic>
        <p:nvPicPr>
          <p:cNvPr id="27" name="Picture 26">
            <a:extLst>
              <a:ext uri="{FF2B5EF4-FFF2-40B4-BE49-F238E27FC236}">
                <a16:creationId xmlns:a16="http://schemas.microsoft.com/office/drawing/2014/main" id="{F691A716-7883-0167-0A63-9F88F744656B}"/>
              </a:ext>
            </a:extLst>
          </p:cNvPr>
          <p:cNvPicPr>
            <a:picLocks noChangeAspect="1"/>
          </p:cNvPicPr>
          <p:nvPr/>
        </p:nvPicPr>
        <p:blipFill>
          <a:blip r:embed="rId6"/>
          <a:stretch>
            <a:fillRect/>
          </a:stretch>
        </p:blipFill>
        <p:spPr>
          <a:xfrm>
            <a:off x="11519391" y="1511138"/>
            <a:ext cx="4016390" cy="1460505"/>
          </a:xfrm>
          <a:prstGeom prst="rect">
            <a:avLst/>
          </a:prstGeom>
        </p:spPr>
      </p:pic>
      <p:sp>
        <p:nvSpPr>
          <p:cNvPr id="28" name="TextBox 27">
            <a:extLst>
              <a:ext uri="{FF2B5EF4-FFF2-40B4-BE49-F238E27FC236}">
                <a16:creationId xmlns:a16="http://schemas.microsoft.com/office/drawing/2014/main" id="{141EC5FB-A2F0-EA74-1ACA-E30D8B9C36AC}"/>
              </a:ext>
            </a:extLst>
          </p:cNvPr>
          <p:cNvSpPr txBox="1"/>
          <p:nvPr/>
        </p:nvSpPr>
        <p:spPr>
          <a:xfrm>
            <a:off x="11341508" y="2971643"/>
            <a:ext cx="4748981" cy="892552"/>
          </a:xfrm>
          <a:prstGeom prst="rect">
            <a:avLst/>
          </a:prstGeom>
          <a:noFill/>
        </p:spPr>
        <p:txBody>
          <a:bodyPr wrap="square" rtlCol="0">
            <a:spAutoFit/>
          </a:bodyPr>
          <a:lstStyle/>
          <a:p>
            <a:r>
              <a:rPr lang="en-GB" sz="3200" b="1" dirty="0"/>
              <a:t>2024-2026 reports</a:t>
            </a:r>
          </a:p>
          <a:p>
            <a:r>
              <a:rPr lang="en-GB" sz="2000" b="1" dirty="0"/>
              <a:t>A call to action to the government</a:t>
            </a:r>
            <a:endParaRPr lang="en-GB" sz="3200" b="1" dirty="0"/>
          </a:p>
        </p:txBody>
      </p:sp>
      <p:cxnSp>
        <p:nvCxnSpPr>
          <p:cNvPr id="30" name="Straight Connector 29">
            <a:extLst>
              <a:ext uri="{FF2B5EF4-FFF2-40B4-BE49-F238E27FC236}">
                <a16:creationId xmlns:a16="http://schemas.microsoft.com/office/drawing/2014/main" id="{4C367D09-A6F0-6A19-D030-87371ADA1644}"/>
              </a:ext>
            </a:extLst>
          </p:cNvPr>
          <p:cNvCxnSpPr/>
          <p:nvPr/>
        </p:nvCxnSpPr>
        <p:spPr>
          <a:xfrm>
            <a:off x="604684" y="3864195"/>
            <a:ext cx="15274962"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1640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93F0702D-49F1-C00F-4328-04F7E2564E14}"/>
              </a:ext>
            </a:extLst>
          </p:cNvPr>
          <p:cNvSpPr/>
          <p:nvPr/>
        </p:nvSpPr>
        <p:spPr>
          <a:xfrm>
            <a:off x="1354169" y="2389239"/>
            <a:ext cx="12819032" cy="56191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itle 2">
            <a:extLst>
              <a:ext uri="{FF2B5EF4-FFF2-40B4-BE49-F238E27FC236}">
                <a16:creationId xmlns:a16="http://schemas.microsoft.com/office/drawing/2014/main" id="{5849AAAE-B722-9A1C-4C63-F1437C0A14A9}"/>
              </a:ext>
            </a:extLst>
          </p:cNvPr>
          <p:cNvSpPr>
            <a:spLocks noGrp="1"/>
          </p:cNvSpPr>
          <p:nvPr>
            <p:ph type="title"/>
          </p:nvPr>
        </p:nvSpPr>
        <p:spPr/>
        <p:txBody>
          <a:bodyPr>
            <a:normAutofit/>
          </a:bodyPr>
          <a:lstStyle/>
          <a:p>
            <a:r>
              <a:rPr lang="en-US" dirty="0">
                <a:solidFill>
                  <a:srgbClr val="3F3F3F"/>
                </a:solidFill>
                <a:latin typeface="Arial"/>
                <a:ea typeface="Arial"/>
                <a:cs typeface="Arial"/>
              </a:rPr>
              <a:t>Factors affecting absence and return</a:t>
            </a:r>
            <a:endParaRPr lang="en-GB" dirty="0"/>
          </a:p>
        </p:txBody>
      </p:sp>
      <p:sp>
        <p:nvSpPr>
          <p:cNvPr id="5" name="Footer Placeholder 4">
            <a:extLst>
              <a:ext uri="{FF2B5EF4-FFF2-40B4-BE49-F238E27FC236}">
                <a16:creationId xmlns:a16="http://schemas.microsoft.com/office/drawing/2014/main" id="{5D289BCF-0537-F93D-6167-F31C70B2E5B9}"/>
              </a:ext>
            </a:extLst>
          </p:cNvPr>
          <p:cNvSpPr>
            <a:spLocks noGrp="1"/>
          </p:cNvSpPr>
          <p:nvPr>
            <p:ph type="ftr" sz="quarter" idx="3"/>
          </p:nvPr>
        </p:nvSpPr>
        <p:spPr/>
        <p:txBody>
          <a:bodyPr/>
          <a:lstStyle/>
          <a:p>
            <a:r>
              <a:rPr lang="en-GB" dirty="0" err="1"/>
              <a:t>IFoA</a:t>
            </a:r>
            <a:r>
              <a:rPr lang="en-GB" dirty="0"/>
              <a:t> Life Conference</a:t>
            </a:r>
          </a:p>
        </p:txBody>
      </p:sp>
      <p:sp>
        <p:nvSpPr>
          <p:cNvPr id="6" name="Slide Number Placeholder 5">
            <a:extLst>
              <a:ext uri="{FF2B5EF4-FFF2-40B4-BE49-F238E27FC236}">
                <a16:creationId xmlns:a16="http://schemas.microsoft.com/office/drawing/2014/main" id="{4F5C9DEC-312B-CAC9-F6D2-F607296D9FCE}"/>
              </a:ext>
            </a:extLst>
          </p:cNvPr>
          <p:cNvSpPr>
            <a:spLocks noGrp="1"/>
          </p:cNvSpPr>
          <p:nvPr>
            <p:ph type="sldNum" sz="quarter" idx="4"/>
          </p:nvPr>
        </p:nvSpPr>
        <p:spPr/>
        <p:txBody>
          <a:bodyPr/>
          <a:lstStyle/>
          <a:p>
            <a:fld id="{40FC62D0-A2F2-4BF8-8DAC-E86C11000EC3}" type="slidenum">
              <a:rPr lang="en-GB" smtClean="0"/>
              <a:pPr/>
              <a:t>9</a:t>
            </a:fld>
            <a:endParaRPr lang="en-GB" dirty="0"/>
          </a:p>
        </p:txBody>
      </p:sp>
      <p:sp>
        <p:nvSpPr>
          <p:cNvPr id="8" name="concept">
            <a:extLst>
              <a:ext uri="{FF2B5EF4-FFF2-40B4-BE49-F238E27FC236}">
                <a16:creationId xmlns:a16="http://schemas.microsoft.com/office/drawing/2014/main" id="{E46F2BEB-358D-657B-BD91-969450A94DEC}"/>
              </a:ext>
            </a:extLst>
          </p:cNvPr>
          <p:cNvSpPr>
            <a:spLocks noGrp="1"/>
          </p:cNvSpPr>
          <p:nvPr/>
        </p:nvSpPr>
        <p:spPr>
          <a:xfrm>
            <a:off x="1209675" y="1762125"/>
            <a:ext cx="13996458" cy="627114"/>
          </a:xfrm>
          <a:prstGeom prst="rect">
            <a:avLst/>
          </a:prstGeom>
          <a:noFill/>
          <a:ln w="0">
            <a:noFill/>
            <a:prstDash val="solid"/>
          </a:ln>
        </p:spPr>
        <p:txBody>
          <a:bodyPr wrap="square" lIns="0" tIns="0" rIns="0" bIns="0">
            <a:noAutofit/>
          </a:bodyPr>
          <a:lstStyle>
            <a:defPPr>
              <a:defRPr sz="3200" b="1">
                <a:solidFill>
                  <a:srgbClr val="0097A9"/>
                </a:solidFill>
                <a:latin typeface="Arial"/>
                <a:ea typeface="Arial"/>
                <a:cs typeface="Arial"/>
              </a:defRPr>
            </a:defPPr>
          </a:lstStyle>
          <a:p>
            <a:pPr>
              <a:buNone/>
              <a:defRPr sz="3200" b="1">
                <a:solidFill>
                  <a:srgbClr val="0097A9"/>
                </a:solidFill>
                <a:latin typeface="Arial"/>
                <a:ea typeface="Arial"/>
                <a:cs typeface="Arial"/>
              </a:defRPr>
            </a:pPr>
            <a:r>
              <a:rPr sz="3200" b="1" dirty="0">
                <a:solidFill>
                  <a:srgbClr val="0097A9"/>
                </a:solidFill>
                <a:latin typeface="Arial"/>
                <a:ea typeface="Arial"/>
                <a:cs typeface="Arial"/>
              </a:rPr>
              <a:t>Capacity has to match the job and the wider demands on the person</a:t>
            </a:r>
          </a:p>
        </p:txBody>
      </p:sp>
      <p:sp>
        <p:nvSpPr>
          <p:cNvPr id="10" name="TextBox 9">
            <a:extLst>
              <a:ext uri="{FF2B5EF4-FFF2-40B4-BE49-F238E27FC236}">
                <a16:creationId xmlns:a16="http://schemas.microsoft.com/office/drawing/2014/main" id="{15AF09D6-0C79-6AA0-2099-3CB1F0138A46}"/>
              </a:ext>
            </a:extLst>
          </p:cNvPr>
          <p:cNvSpPr txBox="1"/>
          <p:nvPr/>
        </p:nvSpPr>
        <p:spPr>
          <a:xfrm>
            <a:off x="1858297" y="2389239"/>
            <a:ext cx="7403690" cy="584775"/>
          </a:xfrm>
          <a:prstGeom prst="rect">
            <a:avLst/>
          </a:prstGeom>
          <a:noFill/>
        </p:spPr>
        <p:txBody>
          <a:bodyPr wrap="square" rtlCol="0">
            <a:spAutoFit/>
          </a:bodyPr>
          <a:lstStyle/>
          <a:p>
            <a:r>
              <a:rPr lang="en-GB" sz="3200" b="1" dirty="0">
                <a:solidFill>
                  <a:schemeClr val="bg1"/>
                </a:solidFill>
              </a:rPr>
              <a:t>Socio-economic context</a:t>
            </a:r>
          </a:p>
        </p:txBody>
      </p:sp>
      <p:grpSp>
        <p:nvGrpSpPr>
          <p:cNvPr id="59" name="Group 58">
            <a:extLst>
              <a:ext uri="{FF2B5EF4-FFF2-40B4-BE49-F238E27FC236}">
                <a16:creationId xmlns:a16="http://schemas.microsoft.com/office/drawing/2014/main" id="{2AD1C910-D06D-AC78-7067-12AAFE4EDB20}"/>
              </a:ext>
            </a:extLst>
          </p:cNvPr>
          <p:cNvGrpSpPr/>
          <p:nvPr/>
        </p:nvGrpSpPr>
        <p:grpSpPr>
          <a:xfrm>
            <a:off x="2271252" y="3185652"/>
            <a:ext cx="6331818" cy="4085303"/>
            <a:chOff x="1666568" y="3185652"/>
            <a:chExt cx="6331818" cy="4085303"/>
          </a:xfrm>
        </p:grpSpPr>
        <p:grpSp>
          <p:nvGrpSpPr>
            <p:cNvPr id="55" name="Group 54">
              <a:extLst>
                <a:ext uri="{FF2B5EF4-FFF2-40B4-BE49-F238E27FC236}">
                  <a16:creationId xmlns:a16="http://schemas.microsoft.com/office/drawing/2014/main" id="{20D688E9-2819-0A95-D6EE-0FD561DC8D6F}"/>
                </a:ext>
              </a:extLst>
            </p:cNvPr>
            <p:cNvGrpSpPr/>
            <p:nvPr/>
          </p:nvGrpSpPr>
          <p:grpSpPr>
            <a:xfrm>
              <a:off x="1666568" y="3185652"/>
              <a:ext cx="6331818" cy="4085303"/>
              <a:chOff x="1666568" y="3185652"/>
              <a:chExt cx="6331818" cy="4085303"/>
            </a:xfrm>
          </p:grpSpPr>
          <p:sp>
            <p:nvSpPr>
              <p:cNvPr id="11" name="Rectangle: Rounded Corners 10">
                <a:extLst>
                  <a:ext uri="{FF2B5EF4-FFF2-40B4-BE49-F238E27FC236}">
                    <a16:creationId xmlns:a16="http://schemas.microsoft.com/office/drawing/2014/main" id="{CE37B21C-9F37-E877-B702-7AFC9506BDAB}"/>
                  </a:ext>
                </a:extLst>
              </p:cNvPr>
              <p:cNvSpPr/>
              <p:nvPr/>
            </p:nvSpPr>
            <p:spPr>
              <a:xfrm>
                <a:off x="1666568" y="3185652"/>
                <a:ext cx="4055806" cy="4085303"/>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9DF2A52C-4DD8-E742-29A8-5EE1E4446D05}"/>
                  </a:ext>
                </a:extLst>
              </p:cNvPr>
              <p:cNvSpPr txBox="1"/>
              <p:nvPr/>
            </p:nvSpPr>
            <p:spPr>
              <a:xfrm>
                <a:off x="2182761" y="3185652"/>
                <a:ext cx="3038168" cy="461665"/>
              </a:xfrm>
              <a:prstGeom prst="rect">
                <a:avLst/>
              </a:prstGeom>
              <a:noFill/>
            </p:spPr>
            <p:txBody>
              <a:bodyPr wrap="square" rtlCol="0">
                <a:spAutoFit/>
              </a:bodyPr>
              <a:lstStyle/>
              <a:p>
                <a:r>
                  <a:rPr lang="en-GB" sz="2400" b="1" dirty="0"/>
                  <a:t>Illness or disability</a:t>
                </a:r>
              </a:p>
            </p:txBody>
          </p:sp>
          <p:sp>
            <p:nvSpPr>
              <p:cNvPr id="13" name="Rectangle: Rounded Corners 12">
                <a:extLst>
                  <a:ext uri="{FF2B5EF4-FFF2-40B4-BE49-F238E27FC236}">
                    <a16:creationId xmlns:a16="http://schemas.microsoft.com/office/drawing/2014/main" id="{84A54CBB-02A2-83B3-3BBF-BC73ACCCCA93}"/>
                  </a:ext>
                </a:extLst>
              </p:cNvPr>
              <p:cNvSpPr/>
              <p:nvPr/>
            </p:nvSpPr>
            <p:spPr>
              <a:xfrm>
                <a:off x="5258473" y="3899073"/>
                <a:ext cx="2713703" cy="798464"/>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27" name="TextBox 26">
                <a:extLst>
                  <a:ext uri="{FF2B5EF4-FFF2-40B4-BE49-F238E27FC236}">
                    <a16:creationId xmlns:a16="http://schemas.microsoft.com/office/drawing/2014/main" id="{583B14A0-A5C2-213A-6EE5-45C0DE66C43D}"/>
                  </a:ext>
                </a:extLst>
              </p:cNvPr>
              <p:cNvSpPr txBox="1"/>
              <p:nvPr/>
            </p:nvSpPr>
            <p:spPr>
              <a:xfrm>
                <a:off x="5834619" y="4076448"/>
                <a:ext cx="2163767" cy="369332"/>
              </a:xfrm>
              <a:prstGeom prst="rect">
                <a:avLst/>
              </a:prstGeom>
              <a:noFill/>
            </p:spPr>
            <p:txBody>
              <a:bodyPr wrap="square" rtlCol="0">
                <a:spAutoFit/>
              </a:bodyPr>
              <a:lstStyle/>
              <a:p>
                <a:r>
                  <a:rPr lang="en-GB" b="1" dirty="0"/>
                  <a:t>Vulnerabilities</a:t>
                </a:r>
              </a:p>
            </p:txBody>
          </p:sp>
          <p:sp>
            <p:nvSpPr>
              <p:cNvPr id="29" name="TextBox 28">
                <a:extLst>
                  <a:ext uri="{FF2B5EF4-FFF2-40B4-BE49-F238E27FC236}">
                    <a16:creationId xmlns:a16="http://schemas.microsoft.com/office/drawing/2014/main" id="{63C27590-C68A-DA34-8A0F-2AACA44892A9}"/>
                  </a:ext>
                </a:extLst>
              </p:cNvPr>
              <p:cNvSpPr txBox="1"/>
              <p:nvPr/>
            </p:nvSpPr>
            <p:spPr>
              <a:xfrm>
                <a:off x="2235664" y="5870589"/>
                <a:ext cx="2163767" cy="646331"/>
              </a:xfrm>
              <a:prstGeom prst="rect">
                <a:avLst/>
              </a:prstGeom>
              <a:noFill/>
            </p:spPr>
            <p:txBody>
              <a:bodyPr wrap="square" rtlCol="0">
                <a:spAutoFit/>
              </a:bodyPr>
              <a:lstStyle/>
              <a:p>
                <a:r>
                  <a:rPr lang="en-GB" b="1" dirty="0"/>
                  <a:t>Functional impairments</a:t>
                </a:r>
              </a:p>
            </p:txBody>
          </p:sp>
        </p:grpSp>
        <p:sp>
          <p:nvSpPr>
            <p:cNvPr id="30" name="Rectangle: Rounded Corners 29">
              <a:extLst>
                <a:ext uri="{FF2B5EF4-FFF2-40B4-BE49-F238E27FC236}">
                  <a16:creationId xmlns:a16="http://schemas.microsoft.com/office/drawing/2014/main" id="{D4BA2026-4B31-6968-4525-CF28CF69DA5B}"/>
                </a:ext>
              </a:extLst>
            </p:cNvPr>
            <p:cNvSpPr/>
            <p:nvPr/>
          </p:nvSpPr>
          <p:spPr>
            <a:xfrm>
              <a:off x="4246876" y="5810595"/>
              <a:ext cx="2713703" cy="79846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0" name="Group 59">
            <a:extLst>
              <a:ext uri="{FF2B5EF4-FFF2-40B4-BE49-F238E27FC236}">
                <a16:creationId xmlns:a16="http://schemas.microsoft.com/office/drawing/2014/main" id="{1E22631E-4FD2-8C7D-0558-FF1DC8611148}"/>
              </a:ext>
            </a:extLst>
          </p:cNvPr>
          <p:cNvGrpSpPr/>
          <p:nvPr/>
        </p:nvGrpSpPr>
        <p:grpSpPr>
          <a:xfrm>
            <a:off x="5194048" y="4865127"/>
            <a:ext cx="4795086" cy="2135407"/>
            <a:chOff x="4589364" y="4865127"/>
            <a:chExt cx="4795086" cy="2135407"/>
          </a:xfrm>
        </p:grpSpPr>
        <p:sp>
          <p:nvSpPr>
            <p:cNvPr id="41" name="TextBox 40">
              <a:extLst>
                <a:ext uri="{FF2B5EF4-FFF2-40B4-BE49-F238E27FC236}">
                  <a16:creationId xmlns:a16="http://schemas.microsoft.com/office/drawing/2014/main" id="{7820A9BD-205D-BB56-68CA-190220EBDFB0}"/>
                </a:ext>
              </a:extLst>
            </p:cNvPr>
            <p:cNvSpPr txBox="1"/>
            <p:nvPr/>
          </p:nvSpPr>
          <p:spPr>
            <a:xfrm>
              <a:off x="5903399" y="4865127"/>
              <a:ext cx="3481051" cy="646331"/>
            </a:xfrm>
            <a:prstGeom prst="rect">
              <a:avLst/>
            </a:prstGeom>
            <a:noFill/>
          </p:spPr>
          <p:txBody>
            <a:bodyPr wrap="square" rtlCol="0">
              <a:spAutoFit/>
            </a:bodyPr>
            <a:lstStyle/>
            <a:p>
              <a:r>
                <a:rPr lang="en-GB" b="1" dirty="0">
                  <a:solidFill>
                    <a:schemeClr val="bg1"/>
                  </a:solidFill>
                </a:rPr>
                <a:t>Competing roles and responsibilities</a:t>
              </a:r>
            </a:p>
          </p:txBody>
        </p:sp>
        <p:sp>
          <p:nvSpPr>
            <p:cNvPr id="43" name="TextBox 42">
              <a:extLst>
                <a:ext uri="{FF2B5EF4-FFF2-40B4-BE49-F238E27FC236}">
                  <a16:creationId xmlns:a16="http://schemas.microsoft.com/office/drawing/2014/main" id="{6B3A1768-85F6-3E9C-2920-AC858C6CABE3}"/>
                </a:ext>
              </a:extLst>
            </p:cNvPr>
            <p:cNvSpPr txBox="1"/>
            <p:nvPr/>
          </p:nvSpPr>
          <p:spPr>
            <a:xfrm>
              <a:off x="4589364" y="5862807"/>
              <a:ext cx="2333245" cy="646331"/>
            </a:xfrm>
            <a:prstGeom prst="rect">
              <a:avLst/>
            </a:prstGeom>
            <a:noFill/>
          </p:spPr>
          <p:txBody>
            <a:bodyPr wrap="square" rtlCol="0">
              <a:spAutoFit/>
            </a:bodyPr>
            <a:lstStyle/>
            <a:p>
              <a:r>
                <a:rPr lang="en-GB" b="1" dirty="0">
                  <a:solidFill>
                    <a:schemeClr val="bg1"/>
                  </a:solidFill>
                </a:rPr>
                <a:t>Social norms about the sick role</a:t>
              </a:r>
            </a:p>
          </p:txBody>
        </p:sp>
        <p:sp>
          <p:nvSpPr>
            <p:cNvPr id="45" name="TextBox 44">
              <a:extLst>
                <a:ext uri="{FF2B5EF4-FFF2-40B4-BE49-F238E27FC236}">
                  <a16:creationId xmlns:a16="http://schemas.microsoft.com/office/drawing/2014/main" id="{9174C2DB-0694-D116-2E95-11C170AF7470}"/>
                </a:ext>
              </a:extLst>
            </p:cNvPr>
            <p:cNvSpPr txBox="1"/>
            <p:nvPr/>
          </p:nvSpPr>
          <p:spPr>
            <a:xfrm>
              <a:off x="5910715" y="6631202"/>
              <a:ext cx="2333245" cy="369332"/>
            </a:xfrm>
            <a:prstGeom prst="rect">
              <a:avLst/>
            </a:prstGeom>
            <a:noFill/>
          </p:spPr>
          <p:txBody>
            <a:bodyPr wrap="square" rtlCol="0">
              <a:spAutoFit/>
            </a:bodyPr>
            <a:lstStyle/>
            <a:p>
              <a:r>
                <a:rPr lang="en-GB" b="1" dirty="0">
                  <a:solidFill>
                    <a:schemeClr val="bg1"/>
                  </a:solidFill>
                </a:rPr>
                <a:t>Financial demands</a:t>
              </a:r>
            </a:p>
          </p:txBody>
        </p:sp>
      </p:grpSp>
      <p:grpSp>
        <p:nvGrpSpPr>
          <p:cNvPr id="56" name="Group 55">
            <a:extLst>
              <a:ext uri="{FF2B5EF4-FFF2-40B4-BE49-F238E27FC236}">
                <a16:creationId xmlns:a16="http://schemas.microsoft.com/office/drawing/2014/main" id="{77B13914-744D-B1C3-8AD8-5A94ADF3556E}"/>
              </a:ext>
            </a:extLst>
          </p:cNvPr>
          <p:cNvGrpSpPr/>
          <p:nvPr/>
        </p:nvGrpSpPr>
        <p:grpSpPr>
          <a:xfrm>
            <a:off x="2231482" y="3615785"/>
            <a:ext cx="2556134" cy="2262400"/>
            <a:chOff x="2043351" y="3600407"/>
            <a:chExt cx="2556134" cy="2262400"/>
          </a:xfrm>
        </p:grpSpPr>
        <p:pic>
          <p:nvPicPr>
            <p:cNvPr id="47" name="Picture 46">
              <a:extLst>
                <a:ext uri="{FF2B5EF4-FFF2-40B4-BE49-F238E27FC236}">
                  <a16:creationId xmlns:a16="http://schemas.microsoft.com/office/drawing/2014/main" id="{71141794-4A58-8B5B-6BBA-AC2B4B18668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172682" y="3600407"/>
              <a:ext cx="2426803" cy="2262400"/>
            </a:xfrm>
            <a:prstGeom prst="rect">
              <a:avLst/>
            </a:prstGeom>
          </p:spPr>
        </p:pic>
        <p:sp>
          <p:nvSpPr>
            <p:cNvPr id="48" name="TextBox 47">
              <a:extLst>
                <a:ext uri="{FF2B5EF4-FFF2-40B4-BE49-F238E27FC236}">
                  <a16:creationId xmlns:a16="http://schemas.microsoft.com/office/drawing/2014/main" id="{0A4113E9-DECA-BD19-7DEE-4FF2D05F00AA}"/>
                </a:ext>
              </a:extLst>
            </p:cNvPr>
            <p:cNvSpPr txBox="1"/>
            <p:nvPr/>
          </p:nvSpPr>
          <p:spPr>
            <a:xfrm>
              <a:off x="2043351" y="4298305"/>
              <a:ext cx="1123516" cy="369332"/>
            </a:xfrm>
            <a:prstGeom prst="rect">
              <a:avLst/>
            </a:prstGeom>
            <a:noFill/>
          </p:spPr>
          <p:txBody>
            <a:bodyPr wrap="square" rtlCol="0">
              <a:spAutoFit/>
            </a:bodyPr>
            <a:lstStyle/>
            <a:p>
              <a:r>
                <a:rPr lang="en-GB" b="1" dirty="0"/>
                <a:t>COPE</a:t>
              </a:r>
            </a:p>
          </p:txBody>
        </p:sp>
        <p:sp>
          <p:nvSpPr>
            <p:cNvPr id="50" name="TextBox 49">
              <a:extLst>
                <a:ext uri="{FF2B5EF4-FFF2-40B4-BE49-F238E27FC236}">
                  <a16:creationId xmlns:a16="http://schemas.microsoft.com/office/drawing/2014/main" id="{983F7A0E-7D67-5369-AEA7-96B7088C4F9F}"/>
                </a:ext>
              </a:extLst>
            </p:cNvPr>
            <p:cNvSpPr txBox="1"/>
            <p:nvPr/>
          </p:nvSpPr>
          <p:spPr>
            <a:xfrm>
              <a:off x="3034175" y="4524752"/>
              <a:ext cx="1010436" cy="369332"/>
            </a:xfrm>
            <a:prstGeom prst="rect">
              <a:avLst/>
            </a:prstGeom>
            <a:noFill/>
          </p:spPr>
          <p:txBody>
            <a:bodyPr wrap="square" rtlCol="0">
              <a:spAutoFit/>
            </a:bodyPr>
            <a:lstStyle/>
            <a:p>
              <a:r>
                <a:rPr lang="en-GB" b="1" dirty="0"/>
                <a:t>Work</a:t>
              </a:r>
            </a:p>
          </p:txBody>
        </p:sp>
        <p:sp>
          <p:nvSpPr>
            <p:cNvPr id="52" name="TextBox 51">
              <a:extLst>
                <a:ext uri="{FF2B5EF4-FFF2-40B4-BE49-F238E27FC236}">
                  <a16:creationId xmlns:a16="http://schemas.microsoft.com/office/drawing/2014/main" id="{B1297AE7-A129-0058-B663-C5F9E8EDA58E}"/>
                </a:ext>
              </a:extLst>
            </p:cNvPr>
            <p:cNvSpPr txBox="1"/>
            <p:nvPr/>
          </p:nvSpPr>
          <p:spPr>
            <a:xfrm>
              <a:off x="2978738" y="4865127"/>
              <a:ext cx="1010436" cy="369332"/>
            </a:xfrm>
            <a:prstGeom prst="rect">
              <a:avLst/>
            </a:prstGeom>
            <a:noFill/>
          </p:spPr>
          <p:txBody>
            <a:bodyPr wrap="square" rtlCol="0">
              <a:spAutoFit/>
            </a:bodyPr>
            <a:lstStyle/>
            <a:p>
              <a:r>
                <a:rPr lang="en-GB" b="1" dirty="0">
                  <a:solidFill>
                    <a:schemeClr val="bg1"/>
                  </a:solidFill>
                </a:rPr>
                <a:t>Family</a:t>
              </a:r>
            </a:p>
          </p:txBody>
        </p:sp>
        <p:sp>
          <p:nvSpPr>
            <p:cNvPr id="54" name="TextBox 53">
              <a:extLst>
                <a:ext uri="{FF2B5EF4-FFF2-40B4-BE49-F238E27FC236}">
                  <a16:creationId xmlns:a16="http://schemas.microsoft.com/office/drawing/2014/main" id="{1F28191B-4935-B734-1B43-59A7244E0ADF}"/>
                </a:ext>
              </a:extLst>
            </p:cNvPr>
            <p:cNvSpPr txBox="1"/>
            <p:nvPr/>
          </p:nvSpPr>
          <p:spPr>
            <a:xfrm>
              <a:off x="2998849" y="5238253"/>
              <a:ext cx="1010436" cy="369332"/>
            </a:xfrm>
            <a:prstGeom prst="rect">
              <a:avLst/>
            </a:prstGeom>
            <a:noFill/>
          </p:spPr>
          <p:txBody>
            <a:bodyPr wrap="square" rtlCol="0">
              <a:spAutoFit/>
            </a:bodyPr>
            <a:lstStyle/>
            <a:p>
              <a:r>
                <a:rPr lang="en-GB" b="1" dirty="0">
                  <a:solidFill>
                    <a:schemeClr val="bg1"/>
                  </a:solidFill>
                </a:rPr>
                <a:t>Carer</a:t>
              </a:r>
            </a:p>
          </p:txBody>
        </p:sp>
      </p:grpSp>
      <p:grpSp>
        <p:nvGrpSpPr>
          <p:cNvPr id="61" name="Group 60">
            <a:extLst>
              <a:ext uri="{FF2B5EF4-FFF2-40B4-BE49-F238E27FC236}">
                <a16:creationId xmlns:a16="http://schemas.microsoft.com/office/drawing/2014/main" id="{469CDEC5-31DB-70E5-8031-BA19CD7FC0D2}"/>
              </a:ext>
            </a:extLst>
          </p:cNvPr>
          <p:cNvGrpSpPr/>
          <p:nvPr/>
        </p:nvGrpSpPr>
        <p:grpSpPr>
          <a:xfrm>
            <a:off x="8205163" y="3185651"/>
            <a:ext cx="5067403" cy="4085303"/>
            <a:chOff x="7600479" y="3185651"/>
            <a:chExt cx="5067403" cy="4085303"/>
          </a:xfrm>
        </p:grpSpPr>
        <p:grpSp>
          <p:nvGrpSpPr>
            <p:cNvPr id="57" name="Group 56">
              <a:extLst>
                <a:ext uri="{FF2B5EF4-FFF2-40B4-BE49-F238E27FC236}">
                  <a16:creationId xmlns:a16="http://schemas.microsoft.com/office/drawing/2014/main" id="{16178F9F-00F1-CF1F-1DA4-885F6228F701}"/>
                </a:ext>
              </a:extLst>
            </p:cNvPr>
            <p:cNvGrpSpPr/>
            <p:nvPr/>
          </p:nvGrpSpPr>
          <p:grpSpPr>
            <a:xfrm>
              <a:off x="7600479" y="3185651"/>
              <a:ext cx="5067403" cy="4085303"/>
              <a:chOff x="7600479" y="3185651"/>
              <a:chExt cx="5067403" cy="4085303"/>
            </a:xfrm>
          </p:grpSpPr>
          <p:sp>
            <p:nvSpPr>
              <p:cNvPr id="40" name="Rectangle: Rounded Corners 39">
                <a:extLst>
                  <a:ext uri="{FF2B5EF4-FFF2-40B4-BE49-F238E27FC236}">
                    <a16:creationId xmlns:a16="http://schemas.microsoft.com/office/drawing/2014/main" id="{E27A1C2A-EC2E-FFEC-3D90-B2926CC07918}"/>
                  </a:ext>
                </a:extLst>
              </p:cNvPr>
              <p:cNvSpPr/>
              <p:nvPr/>
            </p:nvSpPr>
            <p:spPr>
              <a:xfrm>
                <a:off x="7600479" y="5810595"/>
                <a:ext cx="2713703" cy="798464"/>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Rounded Corners 18">
                <a:extLst>
                  <a:ext uri="{FF2B5EF4-FFF2-40B4-BE49-F238E27FC236}">
                    <a16:creationId xmlns:a16="http://schemas.microsoft.com/office/drawing/2014/main" id="{4614237B-FC75-CD52-536E-5CB078C6F97A}"/>
                  </a:ext>
                </a:extLst>
              </p:cNvPr>
              <p:cNvSpPr/>
              <p:nvPr/>
            </p:nvSpPr>
            <p:spPr>
              <a:xfrm>
                <a:off x="8612076" y="3185651"/>
                <a:ext cx="4055806" cy="4085303"/>
              </a:xfrm>
              <a:prstGeom prst="roundRect">
                <a:avLst/>
              </a:prstGeom>
              <a:solidFill>
                <a:srgbClr val="7030A0"/>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26" name="TextBox 25">
                <a:extLst>
                  <a:ext uri="{FF2B5EF4-FFF2-40B4-BE49-F238E27FC236}">
                    <a16:creationId xmlns:a16="http://schemas.microsoft.com/office/drawing/2014/main" id="{137CDED0-12A5-3445-5855-E5906C4C4883}"/>
                  </a:ext>
                </a:extLst>
              </p:cNvPr>
              <p:cNvSpPr txBox="1"/>
              <p:nvPr/>
            </p:nvSpPr>
            <p:spPr>
              <a:xfrm>
                <a:off x="9261987" y="3225063"/>
                <a:ext cx="3038168" cy="461665"/>
              </a:xfrm>
              <a:prstGeom prst="rect">
                <a:avLst/>
              </a:prstGeom>
              <a:noFill/>
              <a:effectLst>
                <a:outerShdw blurRad="50800" dist="38100" dir="2700000" algn="tl" rotWithShape="0">
                  <a:prstClr val="black">
                    <a:alpha val="40000"/>
                  </a:prstClr>
                </a:outerShdw>
              </a:effectLst>
            </p:spPr>
            <p:txBody>
              <a:bodyPr wrap="square" rtlCol="0">
                <a:spAutoFit/>
              </a:bodyPr>
              <a:lstStyle/>
              <a:p>
                <a:r>
                  <a:rPr lang="en-GB" sz="2400" b="1" dirty="0">
                    <a:solidFill>
                      <a:schemeClr val="bg1"/>
                    </a:solidFill>
                  </a:rPr>
                  <a:t>Workplace and role</a:t>
                </a:r>
              </a:p>
            </p:txBody>
          </p:sp>
          <p:sp>
            <p:nvSpPr>
              <p:cNvPr id="32" name="TextBox 31">
                <a:extLst>
                  <a:ext uri="{FF2B5EF4-FFF2-40B4-BE49-F238E27FC236}">
                    <a16:creationId xmlns:a16="http://schemas.microsoft.com/office/drawing/2014/main" id="{9CA847FB-B695-3F8A-E69F-FA8A0838E0AA}"/>
                  </a:ext>
                </a:extLst>
              </p:cNvPr>
              <p:cNvSpPr txBox="1"/>
              <p:nvPr/>
            </p:nvSpPr>
            <p:spPr>
              <a:xfrm>
                <a:off x="8451257" y="5966344"/>
                <a:ext cx="3645504" cy="369332"/>
              </a:xfrm>
              <a:prstGeom prst="rect">
                <a:avLst/>
              </a:prstGeom>
              <a:noFill/>
            </p:spPr>
            <p:txBody>
              <a:bodyPr wrap="square" rtlCol="0">
                <a:spAutoFit/>
              </a:bodyPr>
              <a:lstStyle/>
              <a:p>
                <a:r>
                  <a:rPr lang="en-GB" b="1" dirty="0">
                    <a:solidFill>
                      <a:schemeClr val="bg1"/>
                    </a:solidFill>
                  </a:rPr>
                  <a:t>Functional requirements / risks</a:t>
                </a:r>
              </a:p>
            </p:txBody>
          </p:sp>
          <p:sp>
            <p:nvSpPr>
              <p:cNvPr id="38" name="TextBox 37">
                <a:extLst>
                  <a:ext uri="{FF2B5EF4-FFF2-40B4-BE49-F238E27FC236}">
                    <a16:creationId xmlns:a16="http://schemas.microsoft.com/office/drawing/2014/main" id="{638CAEFA-2327-AD37-2B5A-CD133DE38E34}"/>
                  </a:ext>
                </a:extLst>
              </p:cNvPr>
              <p:cNvSpPr txBox="1"/>
              <p:nvPr/>
            </p:nvSpPr>
            <p:spPr>
              <a:xfrm>
                <a:off x="9771995" y="4160679"/>
                <a:ext cx="2713703" cy="369332"/>
              </a:xfrm>
              <a:prstGeom prst="rect">
                <a:avLst/>
              </a:prstGeom>
              <a:noFill/>
            </p:spPr>
            <p:txBody>
              <a:bodyPr wrap="square" rtlCol="0">
                <a:spAutoFit/>
              </a:bodyPr>
              <a:lstStyle/>
              <a:p>
                <a:r>
                  <a:rPr lang="en-GB" b="1" dirty="0">
                    <a:solidFill>
                      <a:schemeClr val="bg1"/>
                    </a:solidFill>
                  </a:rPr>
                  <a:t>Work stressors</a:t>
                </a:r>
              </a:p>
            </p:txBody>
          </p:sp>
        </p:grpSp>
        <p:sp>
          <p:nvSpPr>
            <p:cNvPr id="36" name="Rectangle: Rounded Corners 35">
              <a:extLst>
                <a:ext uri="{FF2B5EF4-FFF2-40B4-BE49-F238E27FC236}">
                  <a16:creationId xmlns:a16="http://schemas.microsoft.com/office/drawing/2014/main" id="{595BDCE8-1237-531D-2E98-3BF7605EBBBA}"/>
                </a:ext>
              </a:extLst>
            </p:cNvPr>
            <p:cNvSpPr/>
            <p:nvPr/>
          </p:nvSpPr>
          <p:spPr>
            <a:xfrm>
              <a:off x="8364612" y="3899073"/>
              <a:ext cx="1088148" cy="79846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62" name="TextBox 61">
            <a:extLst>
              <a:ext uri="{FF2B5EF4-FFF2-40B4-BE49-F238E27FC236}">
                <a16:creationId xmlns:a16="http://schemas.microsoft.com/office/drawing/2014/main" id="{6218B5E3-FD1C-2CC4-51DA-E5540B77D4C4}"/>
              </a:ext>
            </a:extLst>
          </p:cNvPr>
          <p:cNvSpPr txBox="1"/>
          <p:nvPr/>
        </p:nvSpPr>
        <p:spPr>
          <a:xfrm>
            <a:off x="4753328" y="3601150"/>
            <a:ext cx="1449232" cy="369332"/>
          </a:xfrm>
          <a:prstGeom prst="rect">
            <a:avLst/>
          </a:prstGeom>
          <a:noFill/>
        </p:spPr>
        <p:txBody>
          <a:bodyPr wrap="square" rtlCol="0">
            <a:spAutoFit/>
          </a:bodyPr>
          <a:lstStyle/>
          <a:p>
            <a:r>
              <a:rPr lang="en-GB" b="1" i="1" dirty="0"/>
              <a:t>Variability</a:t>
            </a:r>
          </a:p>
        </p:txBody>
      </p:sp>
      <p:sp>
        <p:nvSpPr>
          <p:cNvPr id="64" name="TextBox 63">
            <a:extLst>
              <a:ext uri="{FF2B5EF4-FFF2-40B4-BE49-F238E27FC236}">
                <a16:creationId xmlns:a16="http://schemas.microsoft.com/office/drawing/2014/main" id="{AD400033-8090-C8D1-9220-B298A51182F4}"/>
              </a:ext>
            </a:extLst>
          </p:cNvPr>
          <p:cNvSpPr txBox="1"/>
          <p:nvPr/>
        </p:nvSpPr>
        <p:spPr>
          <a:xfrm>
            <a:off x="11181309" y="3615785"/>
            <a:ext cx="2287246" cy="369332"/>
          </a:xfrm>
          <a:prstGeom prst="rect">
            <a:avLst/>
          </a:prstGeom>
          <a:noFill/>
        </p:spPr>
        <p:txBody>
          <a:bodyPr wrap="square" rtlCol="0">
            <a:spAutoFit/>
          </a:bodyPr>
          <a:lstStyle/>
          <a:p>
            <a:r>
              <a:rPr lang="en-GB" b="1" i="1" dirty="0">
                <a:solidFill>
                  <a:schemeClr val="bg1"/>
                </a:solidFill>
              </a:rPr>
              <a:t>Adaptability</a:t>
            </a:r>
          </a:p>
        </p:txBody>
      </p:sp>
      <p:sp>
        <p:nvSpPr>
          <p:cNvPr id="65" name="TextBox 64">
            <a:extLst>
              <a:ext uri="{FF2B5EF4-FFF2-40B4-BE49-F238E27FC236}">
                <a16:creationId xmlns:a16="http://schemas.microsoft.com/office/drawing/2014/main" id="{53519F68-91EE-008F-D566-26CD92ED9054}"/>
              </a:ext>
            </a:extLst>
          </p:cNvPr>
          <p:cNvSpPr txBox="1"/>
          <p:nvPr/>
        </p:nvSpPr>
        <p:spPr>
          <a:xfrm>
            <a:off x="10413654" y="4950053"/>
            <a:ext cx="2072044" cy="523220"/>
          </a:xfrm>
          <a:prstGeom prst="rect">
            <a:avLst/>
          </a:prstGeom>
          <a:noFill/>
        </p:spPr>
        <p:txBody>
          <a:bodyPr wrap="square" rtlCol="0">
            <a:spAutoFit/>
          </a:bodyPr>
          <a:lstStyle/>
          <a:p>
            <a:r>
              <a:rPr lang="en-GB" sz="2800" dirty="0">
                <a:solidFill>
                  <a:schemeClr val="bg1"/>
                </a:solidFill>
                <a:latin typeface="Algerian" panose="04020705040A02060702" pitchFamily="82" charset="0"/>
              </a:rPr>
              <a:t>Culture</a:t>
            </a:r>
          </a:p>
        </p:txBody>
      </p:sp>
      <p:sp>
        <p:nvSpPr>
          <p:cNvPr id="67" name="TextBox 66">
            <a:extLst>
              <a:ext uri="{FF2B5EF4-FFF2-40B4-BE49-F238E27FC236}">
                <a16:creationId xmlns:a16="http://schemas.microsoft.com/office/drawing/2014/main" id="{CC38ADBC-878C-9A8F-9953-6793A79C8C9D}"/>
              </a:ext>
            </a:extLst>
          </p:cNvPr>
          <p:cNvSpPr txBox="1"/>
          <p:nvPr/>
        </p:nvSpPr>
        <p:spPr>
          <a:xfrm>
            <a:off x="3919195" y="4073809"/>
            <a:ext cx="2792485" cy="523220"/>
          </a:xfrm>
          <a:prstGeom prst="rect">
            <a:avLst/>
          </a:prstGeom>
          <a:noFill/>
        </p:spPr>
        <p:txBody>
          <a:bodyPr wrap="square">
            <a:spAutoFit/>
          </a:bodyPr>
          <a:lstStyle/>
          <a:p>
            <a:r>
              <a:rPr lang="en-GB" sz="2800" dirty="0">
                <a:solidFill>
                  <a:schemeClr val="bg1"/>
                </a:solidFill>
                <a:latin typeface="Algerian" panose="04020705040A02060702" pitchFamily="82" charset="0"/>
              </a:rPr>
              <a:t>Personality</a:t>
            </a:r>
          </a:p>
        </p:txBody>
      </p:sp>
    </p:spTree>
    <p:extLst>
      <p:ext uri="{BB962C8B-B14F-4D97-AF65-F5344CB8AC3E}">
        <p14:creationId xmlns:p14="http://schemas.microsoft.com/office/powerpoint/2010/main" val="28526003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6F6C5742-1F6C-A710-52FA-1248F020C691}"/>
              </a:ext>
            </a:extLst>
          </p:cNvPr>
          <p:cNvSpPr>
            <a:spLocks noGrp="1"/>
          </p:cNvSpPr>
          <p:nvPr>
            <p:ph type="ftr" idx="3"/>
          </p:nvPr>
        </p:nvSpPr>
        <p:spPr>
          <a:xfrm>
            <a:off x="1117600" y="8382533"/>
            <a:ext cx="11368098" cy="486833"/>
          </a:xfrm>
          <a:prstGeom prst="rect">
            <a:avLst/>
          </a:prstGeom>
        </p:spPr>
        <p:txBody>
          <a:bodyPr vert="horz" lIns="91440" tIns="45720" rIns="91440" bIns="45720" anchor="ctr"/>
          <a:lstStyle>
            <a:lvl1pPr algn="r">
              <a:buNone/>
              <a:defRPr sz="1600">
                <a:solidFill>
                  <a:schemeClr val="tx1"/>
                </a:solidFill>
              </a:defRPr>
            </a:lvl1pPr>
          </a:lstStyle>
          <a:p>
            <a:r>
              <a:t>IFoA Life Conference</a:t>
            </a:r>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idx="4"/>
          </p:nvPr>
        </p:nvSpPr>
        <p:spPr>
          <a:xfrm>
            <a:off x="14573177" y="8382533"/>
            <a:ext cx="529680" cy="486833"/>
          </a:xfrm>
          <a:prstGeom prst="rect">
            <a:avLst/>
          </a:prstGeom>
          <a:solidFill>
            <a:schemeClr val="tx1"/>
          </a:solidFill>
        </p:spPr>
        <p:txBody>
          <a:bodyPr vert="horz" lIns="91440" tIns="45720" rIns="91440" bIns="45720" anchor="ctr"/>
          <a:lstStyle>
            <a:lvl1pPr algn="ctr">
              <a:buNone/>
              <a:defRPr sz="1200" b="1" i="0">
                <a:solidFill>
                  <a:schemeClr val="bg1"/>
                </a:solidFill>
                <a:latin typeface="Arial"/>
                <a:ea typeface="Arial"/>
                <a:cs typeface="Arial"/>
              </a:defRPr>
            </a:lvl1pPr>
          </a:lstStyle>
          <a:p>
            <a:fld id="{EFD6AB9A-5F9E-5F59-51AB-3C8734130965}" type="slidenum">
              <a:rPr/>
              <a:t>10</a:t>
            </a:fld>
            <a:endParaRPr/>
          </a:p>
        </p:txBody>
      </p:sp>
      <p:sp>
        <p:nvSpPr>
          <p:cNvPr id="9" name="TextBox 8"/>
          <p:cNvSpPr txBox="1"/>
          <p:nvPr/>
        </p:nvSpPr>
        <p:spPr>
          <a:xfrm>
            <a:off x="1209008" y="515098"/>
            <a:ext cx="14020800" cy="809720"/>
          </a:xfrm>
          <a:prstGeom prst="rect">
            <a:avLst/>
          </a:prstGeom>
          <a:noFill/>
        </p:spPr>
        <p:txBody>
          <a:bodyPr wrap="square" lIns="0" tIns="0" rIns="0" bIns="0">
            <a:spAutoFit/>
          </a:bodyPr>
          <a:lstStyle/>
          <a:p>
            <a:r>
              <a:rPr sz="4400" b="1" i="0">
                <a:solidFill>
                  <a:srgbClr val="3F3F3F"/>
                </a:solidFill>
                <a:latin typeface="Arial"/>
              </a:rPr>
              <a:t>Illness and disability factors</a:t>
            </a:r>
          </a:p>
        </p:txBody>
      </p:sp>
      <p:sp>
        <p:nvSpPr>
          <p:cNvPr id="10" name="TextBox 9"/>
          <p:cNvSpPr txBox="1"/>
          <p:nvPr/>
        </p:nvSpPr>
        <p:spPr>
          <a:xfrm>
            <a:off x="1209675" y="1714500"/>
            <a:ext cx="14020800" cy="869156"/>
          </a:xfrm>
          <a:prstGeom prst="rect">
            <a:avLst/>
          </a:prstGeom>
          <a:noFill/>
        </p:spPr>
        <p:txBody>
          <a:bodyPr wrap="square" lIns="0" tIns="0" rIns="0" bIns="0">
            <a:spAutoFit/>
          </a:bodyPr>
          <a:lstStyle/>
          <a:p>
            <a:r>
              <a:rPr sz="3400" b="1" i="0">
                <a:solidFill>
                  <a:srgbClr val="0097A9"/>
                </a:solidFill>
                <a:latin typeface="Arial"/>
              </a:rPr>
              <a:t>Same condition, different work impact</a:t>
            </a:r>
          </a:p>
        </p:txBody>
      </p:sp>
      <p:graphicFrame>
        <p:nvGraphicFramePr>
          <p:cNvPr id="11" name="Table 10"/>
          <p:cNvGraphicFramePr>
            <a:graphicFrameLocks noGrp="1"/>
          </p:cNvGraphicFramePr>
          <p:nvPr/>
        </p:nvGraphicFramePr>
        <p:xfrm>
          <a:off x="1209675" y="2700000"/>
          <a:ext cx="14020800" cy="3960000"/>
        </p:xfrm>
        <a:graphic>
          <a:graphicData uri="http://schemas.openxmlformats.org/drawingml/2006/table">
            <a:tbl>
              <a:tblPr firstRow="1">
                <a:tableStyleId>{5C22544A-7EE6-4342-B048-85BDC9FD1C3A}</a:tableStyleId>
              </a:tblPr>
              <a:tblGrid>
                <a:gridCol w="2900000">
                  <a:extLst>
                    <a:ext uri="{9D8B030D-6E8A-4147-A177-3AD203B41FA5}">
                      <a16:colId xmlns:a16="http://schemas.microsoft.com/office/drawing/2014/main" val="20000"/>
                    </a:ext>
                  </a:extLst>
                </a:gridCol>
                <a:gridCol w="4300000">
                  <a:extLst>
                    <a:ext uri="{9D8B030D-6E8A-4147-A177-3AD203B41FA5}">
                      <a16:colId xmlns:a16="http://schemas.microsoft.com/office/drawing/2014/main" val="20001"/>
                    </a:ext>
                  </a:extLst>
                </a:gridCol>
                <a:gridCol w="6820800">
                  <a:extLst>
                    <a:ext uri="{9D8B030D-6E8A-4147-A177-3AD203B41FA5}">
                      <a16:colId xmlns:a16="http://schemas.microsoft.com/office/drawing/2014/main" val="20002"/>
                    </a:ext>
                  </a:extLst>
                </a:gridCol>
              </a:tblGrid>
              <a:tr h="640000">
                <a:tc>
                  <a:txBody>
                    <a:bodyPr/>
                    <a:lstStyle/>
                    <a:p>
                      <a:r>
                        <a:rPr sz="2600" b="1" i="0">
                          <a:solidFill>
                            <a:srgbClr val="FFFFFF"/>
                          </a:solidFill>
                          <a:latin typeface="Arial"/>
                        </a:rPr>
                        <a:t>Worker</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0097A9"/>
                    </a:solidFill>
                  </a:tcPr>
                </a:tc>
                <a:tc>
                  <a:txBody>
                    <a:bodyPr/>
                    <a:lstStyle/>
                    <a:p>
                      <a:r>
                        <a:rPr sz="2600" b="1" i="0">
                          <a:solidFill>
                            <a:srgbClr val="FFFFFF"/>
                          </a:solidFill>
                          <a:latin typeface="Arial"/>
                        </a:rPr>
                        <a:t>Health issue</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0097A9"/>
                    </a:solidFill>
                  </a:tcPr>
                </a:tc>
                <a:tc>
                  <a:txBody>
                    <a:bodyPr/>
                    <a:lstStyle/>
                    <a:p>
                      <a:r>
                        <a:rPr sz="2600" b="1" i="0">
                          <a:solidFill>
                            <a:srgbClr val="FFFFFF"/>
                          </a:solidFill>
                          <a:latin typeface="Arial"/>
                        </a:rPr>
                        <a:t>Why it stops work</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0097A9"/>
                    </a:solidFill>
                  </a:tcPr>
                </a:tc>
                <a:extLst>
                  <a:ext uri="{0D108BD9-81ED-4DB2-BD59-A6C34878D82A}">
                    <a16:rowId xmlns:a16="http://schemas.microsoft.com/office/drawing/2014/main" val="10000"/>
                  </a:ext>
                </a:extLst>
              </a:tr>
              <a:tr h="830000">
                <a:tc>
                  <a:txBody>
                    <a:bodyPr/>
                    <a:lstStyle/>
                    <a:p>
                      <a:r>
                        <a:rPr sz="2400" b="1" i="0">
                          <a:solidFill>
                            <a:srgbClr val="3F3F3F"/>
                          </a:solidFill>
                          <a:latin typeface="Arial"/>
                        </a:rPr>
                        <a:t>Warehouse worker</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Knee arthritis</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Unable to do manual work until the knee operation; a desk worker might barely notice it</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extLst>
                  <a:ext uri="{0D108BD9-81ED-4DB2-BD59-A6C34878D82A}">
                    <a16:rowId xmlns:a16="http://schemas.microsoft.com/office/drawing/2014/main" val="10001"/>
                  </a:ext>
                </a:extLst>
              </a:tr>
              <a:tr h="830000">
                <a:tc>
                  <a:txBody>
                    <a:bodyPr/>
                    <a:lstStyle/>
                    <a:p>
                      <a:r>
                        <a:rPr sz="2400" b="1" i="0">
                          <a:solidFill>
                            <a:srgbClr val="3F3F3F"/>
                          </a:solidFill>
                          <a:latin typeface="Arial"/>
                        </a:rPr>
                        <a:t>Lorry driver</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Depression, on sedating antidepressants</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dirty="0">
                          <a:solidFill>
                            <a:srgbClr val="3F3F3F"/>
                          </a:solidFill>
                          <a:latin typeface="Arial"/>
                        </a:rPr>
                        <a:t>Drowsiness rules out driving; severe depression can </a:t>
                      </a:r>
                      <a:r>
                        <a:rPr lang="en-GB" sz="2400" b="0" i="0" dirty="0">
                          <a:solidFill>
                            <a:srgbClr val="3F3F3F"/>
                          </a:solidFill>
                          <a:latin typeface="Arial"/>
                        </a:rPr>
                        <a:t>mean</a:t>
                      </a:r>
                      <a:r>
                        <a:rPr sz="2400" b="0" i="0" dirty="0">
                          <a:solidFill>
                            <a:srgbClr val="3F3F3F"/>
                          </a:solidFill>
                          <a:latin typeface="Arial"/>
                        </a:rPr>
                        <a:t> a stable period before driving again</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extLst>
                  <a:ext uri="{0D108BD9-81ED-4DB2-BD59-A6C34878D82A}">
                    <a16:rowId xmlns:a16="http://schemas.microsoft.com/office/drawing/2014/main" val="10002"/>
                  </a:ext>
                </a:extLst>
              </a:tr>
              <a:tr h="830000">
                <a:tc>
                  <a:txBody>
                    <a:bodyPr/>
                    <a:lstStyle/>
                    <a:p>
                      <a:r>
                        <a:rPr sz="2400" b="1" i="0">
                          <a:solidFill>
                            <a:srgbClr val="3F3F3F"/>
                          </a:solidFill>
                          <a:latin typeface="Arial"/>
                        </a:rPr>
                        <a:t>Surgeon</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Breast cancer, successfully treated</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Left with poorer eyesight and less sensation in her fingers, so operating is harder</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extLst>
                  <a:ext uri="{0D108BD9-81ED-4DB2-BD59-A6C34878D82A}">
                    <a16:rowId xmlns:a16="http://schemas.microsoft.com/office/drawing/2014/main" val="10003"/>
                  </a:ext>
                </a:extLst>
              </a:tr>
              <a:tr h="830000">
                <a:tc>
                  <a:txBody>
                    <a:bodyPr/>
                    <a:lstStyle/>
                    <a:p>
                      <a:r>
                        <a:rPr sz="2400" b="1" i="0">
                          <a:solidFill>
                            <a:srgbClr val="3F3F3F"/>
                          </a:solidFill>
                          <a:latin typeface="Arial"/>
                        </a:rPr>
                        <a:t>Firefighter</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Asthma triggered by smoke</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dirty="0">
                          <a:solidFill>
                            <a:srgbClr val="3F3F3F"/>
                          </a:solidFill>
                          <a:latin typeface="Arial"/>
                        </a:rPr>
                        <a:t>The trigger is the job's core exposure</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12" name="TextBox 11"/>
          <p:cNvSpPr txBox="1"/>
          <p:nvPr/>
        </p:nvSpPr>
        <p:spPr>
          <a:xfrm>
            <a:off x="1282033" y="6776344"/>
            <a:ext cx="13874750" cy="430887"/>
          </a:xfrm>
          <a:prstGeom prst="rect">
            <a:avLst/>
          </a:prstGeom>
          <a:noFill/>
        </p:spPr>
        <p:txBody>
          <a:bodyPr wrap="square" lIns="0" tIns="0" rIns="0" bIns="0">
            <a:spAutoFit/>
          </a:bodyPr>
          <a:lstStyle/>
          <a:p>
            <a:r>
              <a:rPr sz="2800" b="1" i="0" dirty="0">
                <a:solidFill>
                  <a:srgbClr val="0097A9"/>
                </a:solidFill>
                <a:latin typeface="Arial"/>
              </a:rPr>
              <a:t>Treatment, not only illness, can be the barrier.</a:t>
            </a:r>
          </a:p>
        </p:txBody>
      </p:sp>
      <p:sp>
        <p:nvSpPr>
          <p:cNvPr id="13" name="TextBox 12"/>
          <p:cNvSpPr txBox="1"/>
          <p:nvPr/>
        </p:nvSpPr>
        <p:spPr>
          <a:xfrm>
            <a:off x="1209675" y="7800000"/>
            <a:ext cx="13144500" cy="300000"/>
          </a:xfrm>
          <a:prstGeom prst="rect">
            <a:avLst/>
          </a:prstGeom>
          <a:noFill/>
        </p:spPr>
        <p:txBody>
          <a:bodyPr wrap="square" lIns="0" tIns="0" rIns="0" bIns="0">
            <a:spAutoFit/>
          </a:bodyPr>
          <a:lstStyle/>
          <a:p>
            <a:r>
              <a:rPr sz="1700" b="0" i="0">
                <a:solidFill>
                  <a:srgbClr val="595959"/>
                </a:solidFill>
                <a:latin typeface="Arial"/>
              </a:rPr>
              <a:t>Presenter examples (C. Martin, occupational health and GP experience). DVLA fitness-to-drive guidance.</a:t>
            </a:r>
          </a:p>
        </p:txBody>
      </p:sp>
    </p:spTree>
    <p:extLst>
      <p:ext uri="{BB962C8B-B14F-4D97-AF65-F5344CB8AC3E}">
        <p14:creationId xmlns:p14="http://schemas.microsoft.com/office/powerpoint/2010/main" val="1163830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6F6C5742-1F6C-A710-52FA-1248F020C691}"/>
              </a:ext>
            </a:extLst>
          </p:cNvPr>
          <p:cNvSpPr>
            <a:spLocks noGrp="1"/>
          </p:cNvSpPr>
          <p:nvPr>
            <p:ph type="ftr" idx="3"/>
          </p:nvPr>
        </p:nvSpPr>
        <p:spPr>
          <a:xfrm>
            <a:off x="1117600" y="8382533"/>
            <a:ext cx="11368098" cy="486833"/>
          </a:xfrm>
          <a:prstGeom prst="rect">
            <a:avLst/>
          </a:prstGeom>
        </p:spPr>
        <p:txBody>
          <a:bodyPr vert="horz" lIns="91440" tIns="45720" rIns="91440" bIns="45720" anchor="ctr"/>
          <a:lstStyle>
            <a:lvl1pPr algn="r">
              <a:buNone/>
              <a:defRPr sz="1600">
                <a:solidFill>
                  <a:schemeClr val="tx1"/>
                </a:solidFill>
              </a:defRPr>
            </a:lvl1pPr>
          </a:lstStyle>
          <a:p>
            <a:r>
              <a:t>IFoA Life Conference</a:t>
            </a:r>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idx="4"/>
          </p:nvPr>
        </p:nvSpPr>
        <p:spPr>
          <a:xfrm>
            <a:off x="14573177" y="8382533"/>
            <a:ext cx="529680" cy="486833"/>
          </a:xfrm>
          <a:prstGeom prst="rect">
            <a:avLst/>
          </a:prstGeom>
          <a:solidFill>
            <a:schemeClr val="tx1"/>
          </a:solidFill>
        </p:spPr>
        <p:txBody>
          <a:bodyPr vert="horz" lIns="91440" tIns="45720" rIns="91440" bIns="45720" anchor="ctr"/>
          <a:lstStyle>
            <a:lvl1pPr algn="ctr">
              <a:buNone/>
              <a:defRPr sz="1200" b="1" i="0">
                <a:solidFill>
                  <a:schemeClr val="bg1"/>
                </a:solidFill>
                <a:latin typeface="Arial"/>
                <a:ea typeface="Arial"/>
                <a:cs typeface="Arial"/>
              </a:defRPr>
            </a:lvl1pPr>
          </a:lstStyle>
          <a:p>
            <a:fld id="{EFD6AB9A-5F9E-5F59-51AB-3C8734130965}" type="slidenum">
              <a:rPr/>
              <a:t>11</a:t>
            </a:fld>
            <a:endParaRPr/>
          </a:p>
        </p:txBody>
      </p:sp>
      <p:sp>
        <p:nvSpPr>
          <p:cNvPr id="9" name="TextBox 8"/>
          <p:cNvSpPr txBox="1"/>
          <p:nvPr/>
        </p:nvSpPr>
        <p:spPr>
          <a:xfrm>
            <a:off x="1209008" y="515098"/>
            <a:ext cx="14020800" cy="809720"/>
          </a:xfrm>
          <a:prstGeom prst="rect">
            <a:avLst/>
          </a:prstGeom>
          <a:noFill/>
        </p:spPr>
        <p:txBody>
          <a:bodyPr wrap="square" lIns="0" tIns="0" rIns="0" bIns="0">
            <a:spAutoFit/>
          </a:bodyPr>
          <a:lstStyle/>
          <a:p>
            <a:r>
              <a:rPr sz="4400" b="1" i="0">
                <a:solidFill>
                  <a:srgbClr val="3F3F3F"/>
                </a:solidFill>
                <a:latin typeface="Arial"/>
              </a:rPr>
              <a:t>Proposed changes</a:t>
            </a:r>
          </a:p>
        </p:txBody>
      </p:sp>
      <p:sp>
        <p:nvSpPr>
          <p:cNvPr id="10" name="TextBox 9"/>
          <p:cNvSpPr txBox="1"/>
          <p:nvPr/>
        </p:nvSpPr>
        <p:spPr>
          <a:xfrm>
            <a:off x="1209675" y="1714500"/>
            <a:ext cx="14020800" cy="869156"/>
          </a:xfrm>
          <a:prstGeom prst="rect">
            <a:avLst/>
          </a:prstGeom>
          <a:noFill/>
        </p:spPr>
        <p:txBody>
          <a:bodyPr wrap="square" lIns="0" tIns="0" rIns="0" bIns="0">
            <a:spAutoFit/>
          </a:bodyPr>
          <a:lstStyle/>
          <a:p>
            <a:r>
              <a:rPr sz="3400" b="1" i="0">
                <a:solidFill>
                  <a:srgbClr val="0097A9"/>
                </a:solidFill>
                <a:latin typeface="Arial"/>
              </a:rPr>
              <a:t>Promising proposals, with caveats</a:t>
            </a:r>
          </a:p>
        </p:txBody>
      </p:sp>
      <p:graphicFrame>
        <p:nvGraphicFramePr>
          <p:cNvPr id="11" name="Table 10"/>
          <p:cNvGraphicFramePr>
            <a:graphicFrameLocks noGrp="1"/>
          </p:cNvGraphicFramePr>
          <p:nvPr/>
        </p:nvGraphicFramePr>
        <p:xfrm>
          <a:off x="1209675" y="2700000"/>
          <a:ext cx="14020800" cy="3130000"/>
        </p:xfrm>
        <a:graphic>
          <a:graphicData uri="http://schemas.openxmlformats.org/drawingml/2006/table">
            <a:tbl>
              <a:tblPr firstRow="1">
                <a:tableStyleId>{5C22544A-7EE6-4342-B048-85BDC9FD1C3A}</a:tableStyleId>
              </a:tblPr>
              <a:tblGrid>
                <a:gridCol w="3600000">
                  <a:extLst>
                    <a:ext uri="{9D8B030D-6E8A-4147-A177-3AD203B41FA5}">
                      <a16:colId xmlns:a16="http://schemas.microsoft.com/office/drawing/2014/main" val="20000"/>
                    </a:ext>
                  </a:extLst>
                </a:gridCol>
                <a:gridCol w="4800000">
                  <a:extLst>
                    <a:ext uri="{9D8B030D-6E8A-4147-A177-3AD203B41FA5}">
                      <a16:colId xmlns:a16="http://schemas.microsoft.com/office/drawing/2014/main" val="20001"/>
                    </a:ext>
                  </a:extLst>
                </a:gridCol>
                <a:gridCol w="5620800">
                  <a:extLst>
                    <a:ext uri="{9D8B030D-6E8A-4147-A177-3AD203B41FA5}">
                      <a16:colId xmlns:a16="http://schemas.microsoft.com/office/drawing/2014/main" val="20002"/>
                    </a:ext>
                  </a:extLst>
                </a:gridCol>
              </a:tblGrid>
              <a:tr h="640000">
                <a:tc>
                  <a:txBody>
                    <a:bodyPr/>
                    <a:lstStyle/>
                    <a:p>
                      <a:r>
                        <a:rPr sz="2600" b="1" i="0">
                          <a:solidFill>
                            <a:srgbClr val="FFFFFF"/>
                          </a:solidFill>
                          <a:latin typeface="Arial"/>
                        </a:rPr>
                        <a:t>Proposal</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0097A9"/>
                    </a:solidFill>
                  </a:tcPr>
                </a:tc>
                <a:tc>
                  <a:txBody>
                    <a:bodyPr/>
                    <a:lstStyle/>
                    <a:p>
                      <a:r>
                        <a:rPr sz="2600" b="1" i="0">
                          <a:solidFill>
                            <a:srgbClr val="FFFFFF"/>
                          </a:solidFill>
                          <a:latin typeface="Arial"/>
                        </a:rPr>
                        <a:t>What it could do</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0097A9"/>
                    </a:solidFill>
                  </a:tcPr>
                </a:tc>
                <a:tc>
                  <a:txBody>
                    <a:bodyPr/>
                    <a:lstStyle/>
                    <a:p>
                      <a:r>
                        <a:rPr sz="2600" b="1" i="0">
                          <a:solidFill>
                            <a:srgbClr val="FFFFFF"/>
                          </a:solidFill>
                          <a:latin typeface="Arial"/>
                        </a:rPr>
                        <a:t>Clinical caveat</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0097A9"/>
                    </a:solidFill>
                  </a:tcPr>
                </a:tc>
                <a:extLst>
                  <a:ext uri="{0D108BD9-81ED-4DB2-BD59-A6C34878D82A}">
                    <a16:rowId xmlns:a16="http://schemas.microsoft.com/office/drawing/2014/main" val="10000"/>
                  </a:ext>
                </a:extLst>
              </a:tr>
              <a:tr h="830000">
                <a:tc>
                  <a:txBody>
                    <a:bodyPr/>
                    <a:lstStyle/>
                    <a:p>
                      <a:r>
                        <a:rPr sz="2400" b="1" i="0">
                          <a:solidFill>
                            <a:srgbClr val="3F3F3F"/>
                          </a:solidFill>
                          <a:latin typeface="Arial"/>
                        </a:rPr>
                        <a:t>Workplace health provision</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Help employers adapt roles and phase returns</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Still relies on NHS services for anything beyond minor episodes</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extLst>
                  <a:ext uri="{0D108BD9-81ED-4DB2-BD59-A6C34878D82A}">
                    <a16:rowId xmlns:a16="http://schemas.microsoft.com/office/drawing/2014/main" val="10001"/>
                  </a:ext>
                </a:extLst>
              </a:tr>
              <a:tr h="830000">
                <a:tc>
                  <a:txBody>
                    <a:bodyPr/>
                    <a:lstStyle/>
                    <a:p>
                      <a:r>
                        <a:rPr sz="2400" b="1" i="0">
                          <a:solidFill>
                            <a:srgbClr val="3F3F3F"/>
                          </a:solidFill>
                          <a:latin typeface="Arial"/>
                        </a:rPr>
                        <a:t>Early contact during absence</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Keep people connected to their job</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Can feel like harassment when stress is work-related; making it routine may help</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extLst>
                  <a:ext uri="{0D108BD9-81ED-4DB2-BD59-A6C34878D82A}">
                    <a16:rowId xmlns:a16="http://schemas.microsoft.com/office/drawing/2014/main" val="10002"/>
                  </a:ext>
                </a:extLst>
              </a:tr>
              <a:tr h="830000">
                <a:tc>
                  <a:txBody>
                    <a:bodyPr/>
                    <a:lstStyle/>
                    <a:p>
                      <a:r>
                        <a:rPr sz="2400" b="1" i="0">
                          <a:solidFill>
                            <a:srgbClr val="3F3F3F"/>
                          </a:solidFill>
                          <a:latin typeface="Arial"/>
                        </a:rPr>
                        <a:t>Healthy Working Lifecycle</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A conceptual basis for building workplace health provision</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Its value is at system level, more than for keeping individual cases in work</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12" name="Rounded Rectangle 11"/>
          <p:cNvSpPr/>
          <p:nvPr/>
        </p:nvSpPr>
        <p:spPr>
          <a:xfrm>
            <a:off x="1209675" y="6250000"/>
            <a:ext cx="14020800" cy="1150000"/>
          </a:xfrm>
          <a:prstGeom prst="roundRect">
            <a:avLst/>
          </a:prstGeom>
          <a:solidFill>
            <a:srgbClr val="0097A9"/>
          </a:solidFill>
          <a:ln>
            <a:noFill/>
          </a:ln>
          <a:effectLst/>
        </p:spPr>
        <p:style>
          <a:lnRef idx="1">
            <a:schemeClr val="accent1"/>
          </a:lnRef>
          <a:fillRef idx="3">
            <a:schemeClr val="accent1"/>
          </a:fillRef>
          <a:effectRef idx="2">
            <a:schemeClr val="accent1"/>
          </a:effectRef>
          <a:fontRef idx="minor">
            <a:schemeClr val="lt1"/>
          </a:fontRef>
        </p:style>
        <p:txBody>
          <a:bodyPr wrap="square" lIns="300000" rIns="300000" rtlCol="0" anchor="ctr"/>
          <a:lstStyle/>
          <a:p>
            <a:pPr algn="ctr"/>
            <a:r>
              <a:rPr sz="2600" b="1" i="0">
                <a:solidFill>
                  <a:srgbClr val="FFFFFF"/>
                </a:solidFill>
                <a:latin typeface="Arial"/>
              </a:rPr>
              <a:t>The measurement gap: </a:t>
            </a:r>
            <a:r>
              <a:rPr sz="2600" b="0" i="0">
                <a:solidFill>
                  <a:srgbClr val="FFFFFF"/>
                </a:solidFill>
                <a:latin typeface="Arial"/>
              </a:rPr>
              <a:t>sustained return to work is seldom measured consistently. Modelling onset, recovery and recurrence can help fill it.</a:t>
            </a:r>
          </a:p>
        </p:txBody>
      </p:sp>
      <p:sp>
        <p:nvSpPr>
          <p:cNvPr id="13" name="TextBox 12"/>
          <p:cNvSpPr txBox="1"/>
          <p:nvPr/>
        </p:nvSpPr>
        <p:spPr>
          <a:xfrm>
            <a:off x="1209675" y="7800000"/>
            <a:ext cx="13144500" cy="300000"/>
          </a:xfrm>
          <a:prstGeom prst="rect">
            <a:avLst/>
          </a:prstGeom>
          <a:noFill/>
        </p:spPr>
        <p:txBody>
          <a:bodyPr wrap="square" lIns="0" tIns="0" rIns="0" bIns="0">
            <a:spAutoFit/>
          </a:bodyPr>
          <a:lstStyle/>
          <a:p>
            <a:r>
              <a:rPr sz="1700" b="0" i="0">
                <a:solidFill>
                  <a:srgbClr val="595959"/>
                </a:solidFill>
                <a:latin typeface="Arial"/>
              </a:rPr>
              <a:t>Mayfield, Keep Britain Working (Nov 2025) and September 2026 update. Caveats: C. Martin.</a:t>
            </a:r>
          </a:p>
        </p:txBody>
      </p:sp>
    </p:spTree>
    <p:extLst>
      <p:ext uri="{BB962C8B-B14F-4D97-AF65-F5344CB8AC3E}">
        <p14:creationId xmlns:p14="http://schemas.microsoft.com/office/powerpoint/2010/main" val="3409496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500000" y="3400000"/>
            <a:ext cx="13256000" cy="2200000"/>
          </a:xfrm>
        </p:spPr>
        <p:txBody>
          <a:bodyPr/>
          <a:lstStyle/>
          <a:p>
            <a:pPr marL="0" lvl="0" indent="0">
              <a:buNone/>
            </a:pPr>
            <a:r>
              <a:rPr dirty="0">
                <a:solidFill>
                  <a:schemeClr val="bg1"/>
                </a:solidFill>
              </a:rPr>
              <a:t>From survey data to administrative data</a:t>
            </a:r>
          </a:p>
        </p:txBody>
      </p:sp>
      <p:sp>
        <p:nvSpPr>
          <p:cNvPr id="8" name="Footer Placeholder 4">
            <a:extLst>
              <a:ext uri="{FF2B5EF4-FFF2-40B4-BE49-F238E27FC236}">
                <a16:creationId xmlns:a16="http://schemas.microsoft.com/office/drawing/2014/main" id="{15C406F6-FE38-14E0-8BF8-B9AC42B3EF15}"/>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bg1"/>
                </a:solidFill>
              </a:defRPr>
            </a:lvl1pPr>
          </a:lstStyle>
          <a:p>
            <a:r>
              <a:rPr lang="en-GB"/>
              <a:t>IFoA Life Conference</a:t>
            </a:r>
            <a:endParaRPr lang="en-GB" dirty="0"/>
          </a:p>
        </p:txBody>
      </p:sp>
      <p:sp>
        <p:nvSpPr>
          <p:cNvPr id="9" name="Slide Number Placeholder 5">
            <a:extLst>
              <a:ext uri="{FF2B5EF4-FFF2-40B4-BE49-F238E27FC236}">
                <a16:creationId xmlns:a16="http://schemas.microsoft.com/office/drawing/2014/main" id="{C18B60AF-E1FE-C3E6-C9A3-0721F1D08E6F}"/>
              </a:ext>
            </a:extLst>
          </p:cNvPr>
          <p:cNvSpPr>
            <a:spLocks noGrp="1"/>
          </p:cNvSpPr>
          <p:nvPr>
            <p:ph type="sldNum" sz="quarter" idx="4"/>
          </p:nvPr>
        </p:nvSpPr>
        <p:spPr>
          <a:xfrm>
            <a:off x="14573177" y="8382533"/>
            <a:ext cx="529680" cy="486833"/>
          </a:xfrm>
          <a:prstGeom prst="rect">
            <a:avLst/>
          </a:prstGeom>
          <a:solidFill>
            <a:schemeClr val="bg1"/>
          </a:solidFill>
        </p:spPr>
        <p:txBody>
          <a:bodyPr vert="horz" lIns="91440" tIns="45720" rIns="91440" bIns="45720" rtlCol="0" anchor="ctr"/>
          <a:lstStyle>
            <a:lvl1pPr algn="ctr">
              <a:defRPr sz="1200" b="1" i="0">
                <a:solidFill>
                  <a:schemeClr val="tx1"/>
                </a:solidFill>
                <a:latin typeface="Arial" panose="020B0604020202020204" pitchFamily="34" charset="0"/>
                <a:cs typeface="Arial" panose="020B0604020202020204" pitchFamily="34" charset="0"/>
              </a:defRPr>
            </a:lvl1pPr>
          </a:lstStyle>
          <a:p>
            <a:fld id="{40FC62D0-A2F2-4BF8-8DAC-E86C11000EC3}" type="slidenum">
              <a:rPr lang="en-GB" smtClean="0"/>
              <a:pPr/>
              <a:t>12</a:t>
            </a:fld>
            <a:endParaRPr lang="en-GB"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09696"/>
          </a:xfrm>
        </p:spPr>
        <p:txBody>
          <a:bodyPr/>
          <a:lstStyle/>
          <a:p>
            <a:pPr marL="0" lvl="0" indent="0">
              <a:buNone/>
            </a:pPr>
            <a:r>
              <a:t>Multi-state models: a reminder</a:t>
            </a:r>
          </a:p>
        </p:txBody>
      </p:sp>
      <p:pic>
        <p:nvPicPr>
          <p:cNvPr id="2" name="Picture 1" descr="media/bridge_states_stacked.png"/>
          <p:cNvPicPr>
            <a:picLocks noGrp="1" noChangeAspect="1"/>
          </p:cNvPicPr>
          <p:nvPr/>
        </p:nvPicPr>
        <p:blipFill>
          <a:blip r:embed="rId3"/>
          <a:stretch>
            <a:fillRect/>
          </a:stretch>
        </p:blipFill>
        <p:spPr bwMode="auto">
          <a:xfrm>
            <a:off x="1349721" y="1868685"/>
            <a:ext cx="6676679" cy="6495000"/>
          </a:xfrm>
          <a:prstGeom prst="rect">
            <a:avLst/>
          </a:prstGeom>
          <a:noFill/>
          <a:ln w="9525">
            <a:noFill/>
            <a:headEnd/>
            <a:tailEnd/>
          </a:ln>
        </p:spPr>
      </p:pic>
      <p:sp>
        <p:nvSpPr>
          <p:cNvPr id="9" name="Content Placeholder 9">
            <a:extLst>
              <a:ext uri="{FF2B5EF4-FFF2-40B4-BE49-F238E27FC236}">
                <a16:creationId xmlns:a16="http://schemas.microsoft.com/office/drawing/2014/main" id="{8BE77E02-92D4-079E-ADD9-4455ABC3C3FA}"/>
              </a:ext>
            </a:extLst>
          </p:cNvPr>
          <p:cNvSpPr>
            <a:spLocks noGrp="1"/>
          </p:cNvSpPr>
          <p:nvPr>
            <p:ph sz="quarter" idx="25" hasCustomPrompt="1"/>
          </p:nvPr>
        </p:nvSpPr>
        <p:spPr>
          <a:xfrm>
            <a:off x="8229600" y="2269322"/>
            <a:ext cx="6896104" cy="5459309"/>
          </a:xfrm>
        </p:spPr>
        <p:txBody>
          <a:bodyPr wrap="square" rtlCol="0">
            <a:normAutofit/>
          </a:bodyPr>
          <a:lstStyle/>
          <a:p>
            <a:pPr lvl="0"/>
            <a:r>
              <a:t>A life table is a two-state model. Add states, and the same machinery gives </a:t>
            </a:r>
            <a:r>
              <a:rPr b="1"/>
              <a:t>expected time in each state</a:t>
            </a:r>
            <a:r>
              <a:t>: HWLE is expected years </a:t>
            </a:r>
            <a:r>
              <a:rPr i="1"/>
              <a:t>working</a:t>
            </a:r>
            <a:r>
              <a:t>.</a:t>
            </a:r>
          </a:p>
          <a:p>
            <a:pPr lvl="0"/>
            <a:r>
              <a:rPr b="1"/>
              <a:t>Absorbing</a:t>
            </a:r>
            <a:r>
              <a:t> states can’t be left (death, double border). </a:t>
            </a:r>
            <a:r>
              <a:rPr b="1"/>
              <a:t>Non-absorbing</a:t>
            </a:r>
            <a:r>
              <a:t> states can: sickness allows recovery.</a:t>
            </a:r>
          </a:p>
          <a:p>
            <a:pPr lvl="0"/>
            <a:r>
              <a:t>Retirement is usually modelled as one-way, but in life it isn’t quite absorbing.</a:t>
            </a:r>
          </a:p>
        </p:txBody>
      </p:sp>
      <p:sp>
        <p:nvSpPr>
          <p:cNvPr id="7" name="Footer Placeholder 4">
            <a:extLst>
              <a:ext uri="{FF2B5EF4-FFF2-40B4-BE49-F238E27FC236}">
                <a16:creationId xmlns:a16="http://schemas.microsoft.com/office/drawing/2014/main" id="{6F6C5742-1F6C-A710-52FA-1248F020C691}"/>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13</a:t>
            </a:fld>
            <a:endParaRPr lang="en-GB"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09696"/>
          </a:xfrm>
        </p:spPr>
        <p:txBody>
          <a:bodyPr/>
          <a:lstStyle/>
          <a:p>
            <a:pPr marL="0" lvl="0" indent="0">
              <a:buNone/>
            </a:pPr>
            <a:r>
              <a:rPr dirty="0"/>
              <a:t>Same machinery, two traditions</a:t>
            </a:r>
          </a:p>
        </p:txBody>
      </p:sp>
      <p:sp>
        <p:nvSpPr>
          <p:cNvPr id="23" name="Content Placeholder 9">
            <a:extLst>
              <a:ext uri="{FF2B5EF4-FFF2-40B4-BE49-F238E27FC236}">
                <a16:creationId xmlns:a16="http://schemas.microsoft.com/office/drawing/2014/main" id="{0C532851-4697-4B02-B344-E4852AF78CBF}"/>
              </a:ext>
            </a:extLst>
          </p:cNvPr>
          <p:cNvSpPr>
            <a:spLocks noGrp="1"/>
          </p:cNvSpPr>
          <p:nvPr>
            <p:ph sz="quarter" idx="13" hasCustomPrompt="1"/>
          </p:nvPr>
        </p:nvSpPr>
        <p:spPr>
          <a:xfrm>
            <a:off x="1104904" y="2269323"/>
            <a:ext cx="6896104" cy="5459310"/>
          </a:xfrm>
        </p:spPr>
        <p:txBody>
          <a:bodyPr wrap="square" rtlCol="0">
            <a:normAutofit/>
          </a:bodyPr>
          <a:lstStyle/>
          <a:p>
            <a:pPr marL="0" lvl="0" indent="0">
              <a:buNone/>
            </a:pPr>
            <a:r>
              <a:rPr b="1"/>
              <a:t>Health economics</a:t>
            </a:r>
          </a:p>
          <a:p>
            <a:pPr lvl="0"/>
            <a:r>
              <a:t>Markov </a:t>
            </a:r>
            <a:r>
              <a:rPr i="1"/>
              <a:t>cohort</a:t>
            </a:r>
            <a:r>
              <a:t> models with many states, recovery included</a:t>
            </a:r>
          </a:p>
          <a:p>
            <a:pPr lvl="0"/>
            <a:r>
              <a:t>Each state carries a </a:t>
            </a:r>
            <a:r>
              <a:rPr b="1"/>
              <a:t>cost</a:t>
            </a:r>
            <a:r>
              <a:t> and a </a:t>
            </a:r>
            <a:r>
              <a:rPr b="1"/>
              <a:t>utility</a:t>
            </a:r>
            <a:r>
              <a:t> (quality of life)</a:t>
            </a:r>
          </a:p>
          <a:p>
            <a:pPr lvl="0"/>
            <a:r>
              <a:t>Question: </a:t>
            </a:r>
            <a:r>
              <a:rPr i="1"/>
              <a:t>is this intervention worth paying for?</a:t>
            </a:r>
            <a:r>
              <a:t> (cost per QALY)</a:t>
            </a:r>
          </a:p>
          <a:p>
            <a:pPr lvl="0"/>
            <a:r>
              <a:t>Usually parameterised from trials and </a:t>
            </a:r>
            <a:r>
              <a:rPr b="1"/>
              <a:t>surveys</a:t>
            </a:r>
          </a:p>
        </p:txBody>
      </p:sp>
      <p:sp>
        <p:nvSpPr>
          <p:cNvPr id="9" name="Content Placeholder 9">
            <a:extLst>
              <a:ext uri="{FF2B5EF4-FFF2-40B4-BE49-F238E27FC236}">
                <a16:creationId xmlns:a16="http://schemas.microsoft.com/office/drawing/2014/main" id="{8BE77E02-92D4-079E-ADD9-4455ABC3C3FA}"/>
              </a:ext>
            </a:extLst>
          </p:cNvPr>
          <p:cNvSpPr>
            <a:spLocks noGrp="1"/>
          </p:cNvSpPr>
          <p:nvPr>
            <p:ph sz="quarter" idx="25" hasCustomPrompt="1"/>
          </p:nvPr>
        </p:nvSpPr>
        <p:spPr>
          <a:xfrm>
            <a:off x="8229600" y="2269322"/>
            <a:ext cx="6896104" cy="5459309"/>
          </a:xfrm>
        </p:spPr>
        <p:txBody>
          <a:bodyPr wrap="square" rtlCol="0">
            <a:normAutofit/>
          </a:bodyPr>
          <a:lstStyle/>
          <a:p>
            <a:pPr marL="0" lvl="0" indent="0">
              <a:buNone/>
            </a:pPr>
            <a:r>
              <a:rPr b="1" dirty="0"/>
              <a:t>Actuarial</a:t>
            </a:r>
          </a:p>
          <a:p>
            <a:pPr lvl="0"/>
            <a:r>
              <a:rPr dirty="0"/>
              <a:t>Multi-state models from </a:t>
            </a:r>
            <a:r>
              <a:rPr b="1" dirty="0"/>
              <a:t>dated events</a:t>
            </a:r>
            <a:r>
              <a:rPr dirty="0"/>
              <a:t> (time-to-event)</a:t>
            </a:r>
          </a:p>
          <a:p>
            <a:pPr lvl="0"/>
            <a:r>
              <a:rPr dirty="0"/>
              <a:t>Rates can depend on </a:t>
            </a:r>
            <a:r>
              <a:rPr b="1" dirty="0"/>
              <a:t>duration</a:t>
            </a:r>
            <a:r>
              <a:rPr dirty="0"/>
              <a:t> in a state</a:t>
            </a:r>
          </a:p>
          <a:p>
            <a:pPr lvl="0"/>
            <a:r>
              <a:rPr dirty="0"/>
              <a:t>Question: </a:t>
            </a:r>
            <a:r>
              <a:rPr i="1" dirty="0"/>
              <a:t>how long, and at what cost, in each state?</a:t>
            </a:r>
          </a:p>
          <a:p>
            <a:pPr lvl="0"/>
            <a:r>
              <a:rPr dirty="0"/>
              <a:t>Usually </a:t>
            </a:r>
            <a:r>
              <a:rPr dirty="0" err="1"/>
              <a:t>parameterised</a:t>
            </a:r>
            <a:r>
              <a:rPr dirty="0"/>
              <a:t> from </a:t>
            </a:r>
            <a:r>
              <a:rPr b="1" dirty="0"/>
              <a:t>experience data</a:t>
            </a:r>
          </a:p>
        </p:txBody>
      </p:sp>
      <p:sp>
        <p:nvSpPr>
          <p:cNvPr id="7" name="Footer Placeholder 4">
            <a:extLst>
              <a:ext uri="{FF2B5EF4-FFF2-40B4-BE49-F238E27FC236}">
                <a16:creationId xmlns:a16="http://schemas.microsoft.com/office/drawing/2014/main" id="{6F6C5742-1F6C-A710-52FA-1248F020C691}"/>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14</a:t>
            </a:fld>
            <a:endParaRPr lang="en-GB" dirty="0"/>
          </a:p>
        </p:txBody>
      </p:sp>
      <p:sp>
        <p:nvSpPr>
          <p:cNvPr id="3" name="Shape 87">
            <a:extLst>
              <a:ext uri="{FF2B5EF4-FFF2-40B4-BE49-F238E27FC236}">
                <a16:creationId xmlns:a16="http://schemas.microsoft.com/office/drawing/2014/main" id="{E7D63EF0-FEC0-5CE6-F32B-FF34C1D2EB33}"/>
              </a:ext>
            </a:extLst>
          </p:cNvPr>
          <p:cNvSpPr/>
          <p:nvPr/>
        </p:nvSpPr>
        <p:spPr>
          <a:xfrm>
            <a:off x="1104904" y="7241493"/>
            <a:ext cx="13896984" cy="563685"/>
          </a:xfrm>
          <a:prstGeom prst="roundRect">
            <a:avLst>
              <a:gd name="adj" fmla="val 6897"/>
            </a:avLst>
          </a:prstGeom>
          <a:solidFill>
            <a:schemeClr val="accent3">
              <a:lumMod val="20000"/>
              <a:lumOff val="80000"/>
            </a:schemeClr>
          </a:solidFill>
          <a:ln w="12700">
            <a:solidFill>
              <a:srgbClr val="EEF2F6"/>
            </a:solidFill>
            <a:prstDash val="solid"/>
          </a:ln>
        </p:spPr>
        <p:txBody>
          <a:bodyPr/>
          <a:lstStyle/>
          <a:p>
            <a:r>
              <a:rPr lang="en-GB" sz="2800" dirty="0">
                <a:latin typeface="ARIAL-MDM" pitchFamily="2" charset="77"/>
                <a:cs typeface="Arial" panose="020B0604020202020204" pitchFamily="34" charset="0"/>
                <a:sym typeface="Wingdings" panose="05000000000000000000" pitchFamily="2" charset="2"/>
              </a:rPr>
              <a:t> </a:t>
            </a:r>
            <a:r>
              <a:rPr lang="en-US" sz="2800" dirty="0">
                <a:latin typeface="ARIAL-MDM" pitchFamily="2" charset="77"/>
                <a:cs typeface="Arial" panose="020B0604020202020204" pitchFamily="34" charset="0"/>
              </a:rPr>
              <a:t>HWLE sits between them: a public-health question answered with actuarial tools.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09696"/>
          </a:xfrm>
        </p:spPr>
        <p:txBody>
          <a:bodyPr/>
          <a:lstStyle/>
          <a:p>
            <a:pPr marL="0" lvl="0" indent="0">
              <a:buNone/>
            </a:pPr>
            <a:r>
              <a:rPr dirty="0"/>
              <a:t>What survey data give us, and what they force on us</a:t>
            </a:r>
          </a:p>
        </p:txBody>
      </p:sp>
      <p:sp>
        <p:nvSpPr>
          <p:cNvPr id="23" name="Content Placeholder 9">
            <a:extLst>
              <a:ext uri="{FF2B5EF4-FFF2-40B4-BE49-F238E27FC236}">
                <a16:creationId xmlns:a16="http://schemas.microsoft.com/office/drawing/2014/main" id="{0C532851-4697-4B02-B344-E4852AF78CBF}"/>
              </a:ext>
            </a:extLst>
          </p:cNvPr>
          <p:cNvSpPr>
            <a:spLocks noGrp="1"/>
          </p:cNvSpPr>
          <p:nvPr>
            <p:ph sz="quarter" idx="13" hasCustomPrompt="1"/>
          </p:nvPr>
        </p:nvSpPr>
        <p:spPr>
          <a:xfrm>
            <a:off x="1104904" y="2269323"/>
            <a:ext cx="6896104" cy="4394815"/>
          </a:xfrm>
        </p:spPr>
        <p:txBody>
          <a:bodyPr wrap="square" rtlCol="0">
            <a:normAutofit/>
          </a:bodyPr>
          <a:lstStyle/>
          <a:p>
            <a:pPr marL="0" lvl="0" indent="0">
              <a:buNone/>
            </a:pPr>
            <a:r>
              <a:rPr b="1" dirty="0"/>
              <a:t>Surveys give us</a:t>
            </a:r>
            <a:r>
              <a:rPr dirty="0"/>
              <a:t> (ELSA, Understanding Society)</a:t>
            </a:r>
          </a:p>
          <a:p>
            <a:pPr lvl="0"/>
            <a:r>
              <a:rPr dirty="0"/>
              <a:t>The whole population, including people </a:t>
            </a:r>
            <a:r>
              <a:rPr i="1" dirty="0"/>
              <a:t>not</a:t>
            </a:r>
            <a:r>
              <a:rPr dirty="0"/>
              <a:t> working or insured</a:t>
            </a:r>
          </a:p>
          <a:p>
            <a:pPr lvl="0"/>
            <a:r>
              <a:rPr dirty="0"/>
              <a:t>Health </a:t>
            </a:r>
            <a:r>
              <a:rPr i="1" dirty="0"/>
              <a:t>and</a:t>
            </a:r>
            <a:r>
              <a:rPr dirty="0"/>
              <a:t> work status, observed together</a:t>
            </a:r>
          </a:p>
          <a:p>
            <a:pPr lvl="0"/>
            <a:r>
              <a:rPr dirty="0"/>
              <a:t>Accessible, well understood, long-running</a:t>
            </a:r>
          </a:p>
        </p:txBody>
      </p:sp>
      <p:sp>
        <p:nvSpPr>
          <p:cNvPr id="9" name="Content Placeholder 9">
            <a:extLst>
              <a:ext uri="{FF2B5EF4-FFF2-40B4-BE49-F238E27FC236}">
                <a16:creationId xmlns:a16="http://schemas.microsoft.com/office/drawing/2014/main" id="{8BE77E02-92D4-079E-ADD9-4455ABC3C3FA}"/>
              </a:ext>
            </a:extLst>
          </p:cNvPr>
          <p:cNvSpPr>
            <a:spLocks noGrp="1"/>
          </p:cNvSpPr>
          <p:nvPr>
            <p:ph sz="quarter" idx="25" hasCustomPrompt="1"/>
          </p:nvPr>
        </p:nvSpPr>
        <p:spPr>
          <a:xfrm>
            <a:off x="8229600" y="2269323"/>
            <a:ext cx="6896104" cy="4394816"/>
          </a:xfrm>
        </p:spPr>
        <p:txBody>
          <a:bodyPr wrap="square" rtlCol="0">
            <a:normAutofit/>
          </a:bodyPr>
          <a:lstStyle/>
          <a:p>
            <a:pPr marL="0" lvl="0" indent="0">
              <a:buNone/>
            </a:pPr>
            <a:r>
              <a:rPr b="1" dirty="0"/>
              <a:t>Surveys force on us</a:t>
            </a:r>
          </a:p>
          <a:p>
            <a:pPr lvl="0"/>
            <a:r>
              <a:rPr dirty="0"/>
              <a:t>Roughly </a:t>
            </a:r>
            <a:r>
              <a:rPr b="1" dirty="0"/>
              <a:t>annual waves</a:t>
            </a:r>
            <a:r>
              <a:rPr dirty="0"/>
              <a:t>: status at snapshots, not dated events</a:t>
            </a:r>
          </a:p>
          <a:p>
            <a:pPr lvl="0"/>
            <a:r>
              <a:rPr dirty="0"/>
              <a:t>So: </a:t>
            </a:r>
            <a:r>
              <a:rPr b="1" dirty="0"/>
              <a:t>one-year Markov steps</a:t>
            </a:r>
            <a:r>
              <a:rPr dirty="0"/>
              <a:t>; moves between waves are unseen</a:t>
            </a:r>
          </a:p>
          <a:p>
            <a:pPr lvl="0"/>
            <a:r>
              <a:rPr dirty="0"/>
              <a:t>No </a:t>
            </a:r>
            <a:r>
              <a:rPr b="1" dirty="0"/>
              <a:t>duration</a:t>
            </a:r>
            <a:r>
              <a:rPr dirty="0"/>
              <a:t> since onset, so recovery can’t depend on it</a:t>
            </a:r>
          </a:p>
          <a:p>
            <a:pPr lvl="0"/>
            <a:r>
              <a:rPr dirty="0"/>
              <a:t>Self-reported states; tens of thousands of people at best</a:t>
            </a:r>
          </a:p>
        </p:txBody>
      </p:sp>
      <p:sp>
        <p:nvSpPr>
          <p:cNvPr id="7" name="Footer Placeholder 4">
            <a:extLst>
              <a:ext uri="{FF2B5EF4-FFF2-40B4-BE49-F238E27FC236}">
                <a16:creationId xmlns:a16="http://schemas.microsoft.com/office/drawing/2014/main" id="{6F6C5742-1F6C-A710-52FA-1248F020C691}"/>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15</a:t>
            </a:fld>
            <a:endParaRPr lang="en-GB" dirty="0"/>
          </a:p>
        </p:txBody>
      </p:sp>
      <p:sp>
        <p:nvSpPr>
          <p:cNvPr id="3" name="Shape 87">
            <a:extLst>
              <a:ext uri="{FF2B5EF4-FFF2-40B4-BE49-F238E27FC236}">
                <a16:creationId xmlns:a16="http://schemas.microsoft.com/office/drawing/2014/main" id="{C60983AA-0837-902A-F67F-B819C697A26F}"/>
              </a:ext>
            </a:extLst>
          </p:cNvPr>
          <p:cNvSpPr/>
          <p:nvPr/>
        </p:nvSpPr>
        <p:spPr>
          <a:xfrm>
            <a:off x="7555832" y="6874677"/>
            <a:ext cx="7446056" cy="930501"/>
          </a:xfrm>
          <a:prstGeom prst="roundRect">
            <a:avLst>
              <a:gd name="adj" fmla="val 6897"/>
            </a:avLst>
          </a:prstGeom>
          <a:solidFill>
            <a:schemeClr val="accent3">
              <a:lumMod val="20000"/>
              <a:lumOff val="80000"/>
            </a:schemeClr>
          </a:solidFill>
          <a:ln w="12700">
            <a:solidFill>
              <a:srgbClr val="EEF2F6"/>
            </a:solidFill>
            <a:prstDash val="solid"/>
          </a:ln>
        </p:spPr>
        <p:txBody>
          <a:bodyPr/>
          <a:lstStyle/>
          <a:p>
            <a:r>
              <a:rPr lang="en-GB" sz="2800" dirty="0">
                <a:latin typeface="ARIAL-MDM" pitchFamily="2" charset="77"/>
                <a:cs typeface="Arial" panose="020B0604020202020204" pitchFamily="34" charset="0"/>
                <a:sym typeface="Wingdings" panose="05000000000000000000" pitchFamily="2" charset="2"/>
              </a:rPr>
              <a:t> </a:t>
            </a:r>
            <a:r>
              <a:rPr lang="en-US" sz="2800" dirty="0">
                <a:latin typeface="ARIAL-MDM" pitchFamily="2" charset="77"/>
                <a:cs typeface="Arial" panose="020B0604020202020204" pitchFamily="34" charset="0"/>
              </a:rPr>
              <a:t>Administrative data relax these limitations. </a:t>
            </a:r>
            <a:r>
              <a:rPr lang="en-GB" sz="2800" dirty="0">
                <a:latin typeface="ARIAL-MDM" pitchFamily="2" charset="77"/>
                <a:cs typeface="Arial" panose="020B0604020202020204" pitchFamily="34" charset="0"/>
                <a:sym typeface="Wingdings" panose="05000000000000000000" pitchFamily="2" charset="2"/>
              </a:rPr>
              <a:t> </a:t>
            </a:r>
            <a:r>
              <a:rPr lang="en-US" sz="2800" dirty="0">
                <a:latin typeface="ARIAL-MDM" pitchFamily="2" charset="77"/>
                <a:cs typeface="Arial" panose="020B0604020202020204" pitchFamily="34" charset="0"/>
              </a:rPr>
              <a:t>Next: HWLE from insurers’ claims data.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500000" y="3400000"/>
            <a:ext cx="13256000" cy="2200000"/>
          </a:xfrm>
        </p:spPr>
        <p:txBody>
          <a:bodyPr/>
          <a:lstStyle/>
          <a:p>
            <a:pPr marL="0" lvl="0" indent="0">
              <a:buNone/>
            </a:pPr>
            <a:r>
              <a:rPr dirty="0">
                <a:solidFill>
                  <a:schemeClr val="bg1"/>
                </a:solidFill>
              </a:rPr>
              <a:t>H</a:t>
            </a:r>
            <a:r>
              <a:rPr lang="de-CH" dirty="0" err="1">
                <a:solidFill>
                  <a:schemeClr val="bg1"/>
                </a:solidFill>
              </a:rPr>
              <a:t>ealthy</a:t>
            </a:r>
            <a:r>
              <a:rPr lang="de-CH" dirty="0">
                <a:solidFill>
                  <a:schemeClr val="bg1"/>
                </a:solidFill>
              </a:rPr>
              <a:t> </a:t>
            </a:r>
            <a:r>
              <a:rPr dirty="0">
                <a:solidFill>
                  <a:schemeClr val="bg1"/>
                </a:solidFill>
              </a:rPr>
              <a:t>W</a:t>
            </a:r>
            <a:r>
              <a:rPr lang="de-CH" dirty="0" err="1">
                <a:solidFill>
                  <a:schemeClr val="bg1"/>
                </a:solidFill>
              </a:rPr>
              <a:t>orking</a:t>
            </a:r>
            <a:r>
              <a:rPr lang="de-CH" dirty="0">
                <a:solidFill>
                  <a:schemeClr val="bg1"/>
                </a:solidFill>
              </a:rPr>
              <a:t> </a:t>
            </a:r>
            <a:r>
              <a:rPr dirty="0">
                <a:solidFill>
                  <a:schemeClr val="bg1"/>
                </a:solidFill>
              </a:rPr>
              <a:t>L</a:t>
            </a:r>
            <a:r>
              <a:rPr lang="de-CH" dirty="0" err="1">
                <a:solidFill>
                  <a:schemeClr val="bg1"/>
                </a:solidFill>
              </a:rPr>
              <a:t>ife</a:t>
            </a:r>
            <a:r>
              <a:rPr lang="de-CH" dirty="0">
                <a:solidFill>
                  <a:schemeClr val="bg1"/>
                </a:solidFill>
              </a:rPr>
              <a:t> </a:t>
            </a:r>
            <a:r>
              <a:rPr dirty="0">
                <a:solidFill>
                  <a:schemeClr val="bg1"/>
                </a:solidFill>
              </a:rPr>
              <a:t>E</a:t>
            </a:r>
            <a:r>
              <a:rPr lang="de-CH" dirty="0" err="1">
                <a:solidFill>
                  <a:schemeClr val="bg1"/>
                </a:solidFill>
              </a:rPr>
              <a:t>xpectancy</a:t>
            </a:r>
            <a:endParaRPr dirty="0">
              <a:solidFill>
                <a:schemeClr val="bg1"/>
              </a:solidFill>
            </a:endParaRPr>
          </a:p>
        </p:txBody>
      </p:sp>
      <p:sp>
        <p:nvSpPr>
          <p:cNvPr id="8" name="Footer Placeholder 4">
            <a:extLst>
              <a:ext uri="{FF2B5EF4-FFF2-40B4-BE49-F238E27FC236}">
                <a16:creationId xmlns:a16="http://schemas.microsoft.com/office/drawing/2014/main" id="{15C406F6-FE38-14E0-8BF8-B9AC42B3EF15}"/>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bg1"/>
                </a:solidFill>
              </a:defRPr>
            </a:lvl1pPr>
          </a:lstStyle>
          <a:p>
            <a:r>
              <a:rPr lang="en-GB"/>
              <a:t>IFoA Life Conference</a:t>
            </a:r>
            <a:endParaRPr lang="en-GB" dirty="0"/>
          </a:p>
        </p:txBody>
      </p:sp>
      <p:sp>
        <p:nvSpPr>
          <p:cNvPr id="9" name="Slide Number Placeholder 5">
            <a:extLst>
              <a:ext uri="{FF2B5EF4-FFF2-40B4-BE49-F238E27FC236}">
                <a16:creationId xmlns:a16="http://schemas.microsoft.com/office/drawing/2014/main" id="{C18B60AF-E1FE-C3E6-C9A3-0721F1D08E6F}"/>
              </a:ext>
            </a:extLst>
          </p:cNvPr>
          <p:cNvSpPr>
            <a:spLocks noGrp="1"/>
          </p:cNvSpPr>
          <p:nvPr>
            <p:ph type="sldNum" sz="quarter" idx="4"/>
          </p:nvPr>
        </p:nvSpPr>
        <p:spPr>
          <a:xfrm>
            <a:off x="14573177" y="8382533"/>
            <a:ext cx="529680" cy="486833"/>
          </a:xfrm>
          <a:prstGeom prst="rect">
            <a:avLst/>
          </a:prstGeom>
          <a:solidFill>
            <a:schemeClr val="bg1"/>
          </a:solidFill>
        </p:spPr>
        <p:txBody>
          <a:bodyPr vert="horz" lIns="91440" tIns="45720" rIns="91440" bIns="45720" rtlCol="0" anchor="ctr"/>
          <a:lstStyle>
            <a:lvl1pPr algn="ctr">
              <a:defRPr sz="1200" b="1" i="0">
                <a:solidFill>
                  <a:schemeClr val="tx1"/>
                </a:solidFill>
                <a:latin typeface="Arial" panose="020B0604020202020204" pitchFamily="34" charset="0"/>
                <a:cs typeface="Arial" panose="020B0604020202020204" pitchFamily="34" charset="0"/>
              </a:defRPr>
            </a:lvl1pPr>
          </a:lstStyle>
          <a:p>
            <a:fld id="{40FC62D0-A2F2-4BF8-8DAC-E86C11000EC3}" type="slidenum">
              <a:rPr lang="en-GB" smtClean="0"/>
              <a:pPr/>
              <a:t>16</a:t>
            </a:fld>
            <a:endParaRPr lang="en-GB"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BB742-DF12-751F-52A6-CFB883A40D8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BAEEB81-2427-C299-BA87-A316B7DC9725}"/>
              </a:ext>
            </a:extLst>
          </p:cNvPr>
          <p:cNvSpPr>
            <a:spLocks noGrp="1"/>
          </p:cNvSpPr>
          <p:nvPr>
            <p:ph type="title"/>
          </p:nvPr>
        </p:nvSpPr>
        <p:spPr/>
        <p:txBody>
          <a:bodyPr/>
          <a:lstStyle/>
          <a:p>
            <a:r>
              <a:rPr lang="en-GB" dirty="0"/>
              <a:t>Healthy Working Life Expectancy as a metric</a:t>
            </a:r>
          </a:p>
        </p:txBody>
      </p:sp>
      <p:sp>
        <p:nvSpPr>
          <p:cNvPr id="5" name="Footer Placeholder 4">
            <a:extLst>
              <a:ext uri="{FF2B5EF4-FFF2-40B4-BE49-F238E27FC236}">
                <a16:creationId xmlns:a16="http://schemas.microsoft.com/office/drawing/2014/main" id="{6698594F-C14A-3E01-98F4-4185AE54EFE0}"/>
              </a:ext>
            </a:extLst>
          </p:cNvPr>
          <p:cNvSpPr>
            <a:spLocks noGrp="1"/>
          </p:cNvSpPr>
          <p:nvPr>
            <p:ph type="ftr" sz="quarter" idx="3"/>
          </p:nvPr>
        </p:nvSpPr>
        <p:spPr/>
        <p:txBody>
          <a:bodyPr/>
          <a:lstStyle/>
          <a:p>
            <a:r>
              <a:rPr lang="en-GB" dirty="0" err="1"/>
              <a:t>IFoA</a:t>
            </a:r>
            <a:r>
              <a:rPr lang="en-GB" dirty="0"/>
              <a:t> Life Conference</a:t>
            </a:r>
          </a:p>
        </p:txBody>
      </p:sp>
      <p:sp>
        <p:nvSpPr>
          <p:cNvPr id="6" name="Slide Number Placeholder 5">
            <a:extLst>
              <a:ext uri="{FF2B5EF4-FFF2-40B4-BE49-F238E27FC236}">
                <a16:creationId xmlns:a16="http://schemas.microsoft.com/office/drawing/2014/main" id="{8861ED87-BBD4-BA6F-5D51-7077C5626923}"/>
              </a:ext>
            </a:extLst>
          </p:cNvPr>
          <p:cNvSpPr>
            <a:spLocks noGrp="1"/>
          </p:cNvSpPr>
          <p:nvPr>
            <p:ph type="sldNum" sz="quarter" idx="4"/>
          </p:nvPr>
        </p:nvSpPr>
        <p:spPr/>
        <p:txBody>
          <a:bodyPr/>
          <a:lstStyle/>
          <a:p>
            <a:fld id="{40FC62D0-A2F2-4BF8-8DAC-E86C11000EC3}" type="slidenum">
              <a:rPr lang="en-GB" smtClean="0"/>
              <a:pPr/>
              <a:t>17</a:t>
            </a:fld>
            <a:endParaRPr lang="en-GB" dirty="0"/>
          </a:p>
        </p:txBody>
      </p:sp>
      <p:sp>
        <p:nvSpPr>
          <p:cNvPr id="7" name="Text Placeholder 6">
            <a:extLst>
              <a:ext uri="{FF2B5EF4-FFF2-40B4-BE49-F238E27FC236}">
                <a16:creationId xmlns:a16="http://schemas.microsoft.com/office/drawing/2014/main" id="{4DBB1CD6-CC07-8266-79AB-319FE50FCB32}"/>
              </a:ext>
            </a:extLst>
          </p:cNvPr>
          <p:cNvSpPr>
            <a:spLocks noGrp="1"/>
          </p:cNvSpPr>
          <p:nvPr>
            <p:ph type="body" sz="quarter" idx="24"/>
          </p:nvPr>
        </p:nvSpPr>
        <p:spPr/>
        <p:txBody>
          <a:bodyPr/>
          <a:lstStyle/>
          <a:p>
            <a:r>
              <a:rPr lang="en-US" sz="2400" dirty="0">
                <a:latin typeface="+mn-lt"/>
              </a:rPr>
              <a:t>Concepts similar to HWLE presented in the actuarial journals: tracing the move from working-life tables to multi-state models and healthy working life expectancy</a:t>
            </a:r>
          </a:p>
        </p:txBody>
      </p:sp>
      <p:sp>
        <p:nvSpPr>
          <p:cNvPr id="12" name="Shape 2">
            <a:extLst>
              <a:ext uri="{FF2B5EF4-FFF2-40B4-BE49-F238E27FC236}">
                <a16:creationId xmlns:a16="http://schemas.microsoft.com/office/drawing/2014/main" id="{D3C2247F-7426-3F7A-FC7D-E2A67CAE0D8E}"/>
              </a:ext>
            </a:extLst>
          </p:cNvPr>
          <p:cNvSpPr/>
          <p:nvPr/>
        </p:nvSpPr>
        <p:spPr>
          <a:xfrm>
            <a:off x="2827112" y="2850848"/>
            <a:ext cx="0" cy="5166360"/>
          </a:xfrm>
          <a:prstGeom prst="line">
            <a:avLst/>
          </a:prstGeom>
          <a:noFill/>
          <a:ln w="8255">
            <a:solidFill>
              <a:srgbClr val="DFE6EE"/>
            </a:solidFill>
            <a:prstDash val="solid"/>
          </a:ln>
        </p:spPr>
        <p:txBody>
          <a:bodyPr/>
          <a:lstStyle/>
          <a:p>
            <a:endParaRPr lang="en-GB" sz="1200"/>
          </a:p>
        </p:txBody>
      </p:sp>
      <p:sp>
        <p:nvSpPr>
          <p:cNvPr id="15" name="Text 3">
            <a:extLst>
              <a:ext uri="{FF2B5EF4-FFF2-40B4-BE49-F238E27FC236}">
                <a16:creationId xmlns:a16="http://schemas.microsoft.com/office/drawing/2014/main" id="{F6EDFE26-F6F2-2851-7514-E5CAEC179C3D}"/>
              </a:ext>
            </a:extLst>
          </p:cNvPr>
          <p:cNvSpPr/>
          <p:nvPr/>
        </p:nvSpPr>
        <p:spPr>
          <a:xfrm>
            <a:off x="2671664"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1970</a:t>
            </a:r>
            <a:endParaRPr lang="en-US" sz="1400" dirty="0"/>
          </a:p>
        </p:txBody>
      </p:sp>
      <p:sp>
        <p:nvSpPr>
          <p:cNvPr id="17" name="Shape 4">
            <a:extLst>
              <a:ext uri="{FF2B5EF4-FFF2-40B4-BE49-F238E27FC236}">
                <a16:creationId xmlns:a16="http://schemas.microsoft.com/office/drawing/2014/main" id="{545D24F5-FAD4-5699-FA3F-42821C78CB8A}"/>
              </a:ext>
            </a:extLst>
          </p:cNvPr>
          <p:cNvSpPr/>
          <p:nvPr/>
        </p:nvSpPr>
        <p:spPr>
          <a:xfrm>
            <a:off x="3704105" y="2850848"/>
            <a:ext cx="0" cy="5166360"/>
          </a:xfrm>
          <a:prstGeom prst="line">
            <a:avLst/>
          </a:prstGeom>
          <a:noFill/>
          <a:ln w="8255">
            <a:solidFill>
              <a:srgbClr val="DFE6EE"/>
            </a:solidFill>
            <a:prstDash val="solid"/>
          </a:ln>
        </p:spPr>
        <p:txBody>
          <a:bodyPr/>
          <a:lstStyle/>
          <a:p>
            <a:endParaRPr lang="en-GB" sz="1200"/>
          </a:p>
        </p:txBody>
      </p:sp>
      <p:sp>
        <p:nvSpPr>
          <p:cNvPr id="19" name="Text 5">
            <a:extLst>
              <a:ext uri="{FF2B5EF4-FFF2-40B4-BE49-F238E27FC236}">
                <a16:creationId xmlns:a16="http://schemas.microsoft.com/office/drawing/2014/main" id="{E41A037D-2F03-8E02-21A0-98F7F1F3B03A}"/>
              </a:ext>
            </a:extLst>
          </p:cNvPr>
          <p:cNvSpPr/>
          <p:nvPr/>
        </p:nvSpPr>
        <p:spPr>
          <a:xfrm>
            <a:off x="3548657"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1975</a:t>
            </a:r>
            <a:endParaRPr lang="en-US" sz="1400" dirty="0"/>
          </a:p>
        </p:txBody>
      </p:sp>
      <p:sp>
        <p:nvSpPr>
          <p:cNvPr id="21" name="Shape 6">
            <a:extLst>
              <a:ext uri="{FF2B5EF4-FFF2-40B4-BE49-F238E27FC236}">
                <a16:creationId xmlns:a16="http://schemas.microsoft.com/office/drawing/2014/main" id="{4BDC0F46-A8A1-41A0-2567-D59F648D80B2}"/>
              </a:ext>
            </a:extLst>
          </p:cNvPr>
          <p:cNvSpPr/>
          <p:nvPr/>
        </p:nvSpPr>
        <p:spPr>
          <a:xfrm>
            <a:off x="4581097" y="2850848"/>
            <a:ext cx="0" cy="5166360"/>
          </a:xfrm>
          <a:prstGeom prst="line">
            <a:avLst/>
          </a:prstGeom>
          <a:noFill/>
          <a:ln w="8255">
            <a:solidFill>
              <a:srgbClr val="DFE6EE"/>
            </a:solidFill>
            <a:prstDash val="solid"/>
          </a:ln>
        </p:spPr>
        <p:txBody>
          <a:bodyPr/>
          <a:lstStyle/>
          <a:p>
            <a:endParaRPr lang="en-GB" sz="1200"/>
          </a:p>
        </p:txBody>
      </p:sp>
      <p:sp>
        <p:nvSpPr>
          <p:cNvPr id="23" name="Text 7">
            <a:extLst>
              <a:ext uri="{FF2B5EF4-FFF2-40B4-BE49-F238E27FC236}">
                <a16:creationId xmlns:a16="http://schemas.microsoft.com/office/drawing/2014/main" id="{0515913A-EB75-E938-FA2F-96E5C4ABD6EB}"/>
              </a:ext>
            </a:extLst>
          </p:cNvPr>
          <p:cNvSpPr/>
          <p:nvPr/>
        </p:nvSpPr>
        <p:spPr>
          <a:xfrm>
            <a:off x="4425649"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1980</a:t>
            </a:r>
            <a:endParaRPr lang="en-US" sz="1400" dirty="0"/>
          </a:p>
        </p:txBody>
      </p:sp>
      <p:sp>
        <p:nvSpPr>
          <p:cNvPr id="25" name="Shape 8">
            <a:extLst>
              <a:ext uri="{FF2B5EF4-FFF2-40B4-BE49-F238E27FC236}">
                <a16:creationId xmlns:a16="http://schemas.microsoft.com/office/drawing/2014/main" id="{8D712B99-2AE6-2086-1310-99A1B938EF1E}"/>
              </a:ext>
            </a:extLst>
          </p:cNvPr>
          <p:cNvSpPr/>
          <p:nvPr/>
        </p:nvSpPr>
        <p:spPr>
          <a:xfrm>
            <a:off x="5458090" y="2850848"/>
            <a:ext cx="0" cy="5166360"/>
          </a:xfrm>
          <a:prstGeom prst="line">
            <a:avLst/>
          </a:prstGeom>
          <a:noFill/>
          <a:ln w="8255">
            <a:solidFill>
              <a:srgbClr val="DFE6EE"/>
            </a:solidFill>
            <a:prstDash val="solid"/>
          </a:ln>
        </p:spPr>
        <p:txBody>
          <a:bodyPr/>
          <a:lstStyle/>
          <a:p>
            <a:endParaRPr lang="en-GB" sz="1200"/>
          </a:p>
        </p:txBody>
      </p:sp>
      <p:sp>
        <p:nvSpPr>
          <p:cNvPr id="27" name="Text 9">
            <a:extLst>
              <a:ext uri="{FF2B5EF4-FFF2-40B4-BE49-F238E27FC236}">
                <a16:creationId xmlns:a16="http://schemas.microsoft.com/office/drawing/2014/main" id="{52E177AF-51C3-EEE4-6B6A-47849423BB92}"/>
              </a:ext>
            </a:extLst>
          </p:cNvPr>
          <p:cNvSpPr/>
          <p:nvPr/>
        </p:nvSpPr>
        <p:spPr>
          <a:xfrm>
            <a:off x="5302642"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1985</a:t>
            </a:r>
            <a:endParaRPr lang="en-US" sz="1400" dirty="0"/>
          </a:p>
        </p:txBody>
      </p:sp>
      <p:sp>
        <p:nvSpPr>
          <p:cNvPr id="29" name="Shape 10">
            <a:extLst>
              <a:ext uri="{FF2B5EF4-FFF2-40B4-BE49-F238E27FC236}">
                <a16:creationId xmlns:a16="http://schemas.microsoft.com/office/drawing/2014/main" id="{D3127C59-4E1D-7CDF-68CC-2131B68AD3C3}"/>
              </a:ext>
            </a:extLst>
          </p:cNvPr>
          <p:cNvSpPr/>
          <p:nvPr/>
        </p:nvSpPr>
        <p:spPr>
          <a:xfrm>
            <a:off x="6335083" y="2850848"/>
            <a:ext cx="0" cy="5166360"/>
          </a:xfrm>
          <a:prstGeom prst="line">
            <a:avLst/>
          </a:prstGeom>
          <a:noFill/>
          <a:ln w="8255">
            <a:solidFill>
              <a:srgbClr val="DFE6EE"/>
            </a:solidFill>
            <a:prstDash val="solid"/>
          </a:ln>
        </p:spPr>
        <p:txBody>
          <a:bodyPr/>
          <a:lstStyle/>
          <a:p>
            <a:endParaRPr lang="en-GB" sz="1200"/>
          </a:p>
        </p:txBody>
      </p:sp>
      <p:sp>
        <p:nvSpPr>
          <p:cNvPr id="31" name="Text 11">
            <a:extLst>
              <a:ext uri="{FF2B5EF4-FFF2-40B4-BE49-F238E27FC236}">
                <a16:creationId xmlns:a16="http://schemas.microsoft.com/office/drawing/2014/main" id="{90C1048C-F5A1-B358-8877-3847A0C5AC57}"/>
              </a:ext>
            </a:extLst>
          </p:cNvPr>
          <p:cNvSpPr/>
          <p:nvPr/>
        </p:nvSpPr>
        <p:spPr>
          <a:xfrm>
            <a:off x="6179635"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1990</a:t>
            </a:r>
            <a:endParaRPr lang="en-US" sz="1400" dirty="0"/>
          </a:p>
        </p:txBody>
      </p:sp>
      <p:sp>
        <p:nvSpPr>
          <p:cNvPr id="33" name="Shape 12">
            <a:extLst>
              <a:ext uri="{FF2B5EF4-FFF2-40B4-BE49-F238E27FC236}">
                <a16:creationId xmlns:a16="http://schemas.microsoft.com/office/drawing/2014/main" id="{03A783A6-EAC6-81F6-8E3C-B346D5B7B51D}"/>
              </a:ext>
            </a:extLst>
          </p:cNvPr>
          <p:cNvSpPr/>
          <p:nvPr/>
        </p:nvSpPr>
        <p:spPr>
          <a:xfrm>
            <a:off x="7212076" y="2850848"/>
            <a:ext cx="0" cy="5166360"/>
          </a:xfrm>
          <a:prstGeom prst="line">
            <a:avLst/>
          </a:prstGeom>
          <a:noFill/>
          <a:ln w="8255">
            <a:solidFill>
              <a:srgbClr val="DFE6EE"/>
            </a:solidFill>
            <a:prstDash val="solid"/>
          </a:ln>
        </p:spPr>
        <p:txBody>
          <a:bodyPr/>
          <a:lstStyle/>
          <a:p>
            <a:endParaRPr lang="en-GB" sz="1200"/>
          </a:p>
        </p:txBody>
      </p:sp>
      <p:sp>
        <p:nvSpPr>
          <p:cNvPr id="35" name="Text 13">
            <a:extLst>
              <a:ext uri="{FF2B5EF4-FFF2-40B4-BE49-F238E27FC236}">
                <a16:creationId xmlns:a16="http://schemas.microsoft.com/office/drawing/2014/main" id="{D07904E4-FCB5-558B-09C0-65847470E109}"/>
              </a:ext>
            </a:extLst>
          </p:cNvPr>
          <p:cNvSpPr/>
          <p:nvPr/>
        </p:nvSpPr>
        <p:spPr>
          <a:xfrm>
            <a:off x="7056628"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1995</a:t>
            </a:r>
            <a:endParaRPr lang="en-US" sz="1400" dirty="0"/>
          </a:p>
        </p:txBody>
      </p:sp>
      <p:sp>
        <p:nvSpPr>
          <p:cNvPr id="37" name="Shape 14">
            <a:extLst>
              <a:ext uri="{FF2B5EF4-FFF2-40B4-BE49-F238E27FC236}">
                <a16:creationId xmlns:a16="http://schemas.microsoft.com/office/drawing/2014/main" id="{6FA20317-2EAB-FD96-F68D-FBDBD67CDF62}"/>
              </a:ext>
            </a:extLst>
          </p:cNvPr>
          <p:cNvSpPr/>
          <p:nvPr/>
        </p:nvSpPr>
        <p:spPr>
          <a:xfrm>
            <a:off x="8089068" y="2850848"/>
            <a:ext cx="0" cy="5166360"/>
          </a:xfrm>
          <a:prstGeom prst="line">
            <a:avLst/>
          </a:prstGeom>
          <a:noFill/>
          <a:ln w="8255">
            <a:solidFill>
              <a:srgbClr val="DFE6EE"/>
            </a:solidFill>
            <a:prstDash val="solid"/>
          </a:ln>
        </p:spPr>
        <p:txBody>
          <a:bodyPr/>
          <a:lstStyle/>
          <a:p>
            <a:endParaRPr lang="en-GB" sz="1200"/>
          </a:p>
        </p:txBody>
      </p:sp>
      <p:sp>
        <p:nvSpPr>
          <p:cNvPr id="39" name="Text 15">
            <a:extLst>
              <a:ext uri="{FF2B5EF4-FFF2-40B4-BE49-F238E27FC236}">
                <a16:creationId xmlns:a16="http://schemas.microsoft.com/office/drawing/2014/main" id="{D161402E-00F7-3C28-D48B-46CDEE169BB0}"/>
              </a:ext>
            </a:extLst>
          </p:cNvPr>
          <p:cNvSpPr/>
          <p:nvPr/>
        </p:nvSpPr>
        <p:spPr>
          <a:xfrm>
            <a:off x="7933620"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2000</a:t>
            </a:r>
            <a:endParaRPr lang="en-US" sz="1400" dirty="0"/>
          </a:p>
        </p:txBody>
      </p:sp>
      <p:sp>
        <p:nvSpPr>
          <p:cNvPr id="41" name="Shape 16">
            <a:extLst>
              <a:ext uri="{FF2B5EF4-FFF2-40B4-BE49-F238E27FC236}">
                <a16:creationId xmlns:a16="http://schemas.microsoft.com/office/drawing/2014/main" id="{9F2059F7-1F9C-40DA-048F-EBB211D8484D}"/>
              </a:ext>
            </a:extLst>
          </p:cNvPr>
          <p:cNvSpPr/>
          <p:nvPr/>
        </p:nvSpPr>
        <p:spPr>
          <a:xfrm>
            <a:off x="8966061" y="2850848"/>
            <a:ext cx="0" cy="5166360"/>
          </a:xfrm>
          <a:prstGeom prst="line">
            <a:avLst/>
          </a:prstGeom>
          <a:noFill/>
          <a:ln w="8255">
            <a:solidFill>
              <a:srgbClr val="DFE6EE"/>
            </a:solidFill>
            <a:prstDash val="solid"/>
          </a:ln>
        </p:spPr>
        <p:txBody>
          <a:bodyPr/>
          <a:lstStyle/>
          <a:p>
            <a:endParaRPr lang="en-GB" sz="1200"/>
          </a:p>
        </p:txBody>
      </p:sp>
      <p:sp>
        <p:nvSpPr>
          <p:cNvPr id="43" name="Text 17">
            <a:extLst>
              <a:ext uri="{FF2B5EF4-FFF2-40B4-BE49-F238E27FC236}">
                <a16:creationId xmlns:a16="http://schemas.microsoft.com/office/drawing/2014/main" id="{166B1581-6ABE-5E9E-3C4A-42BA5A292E53}"/>
              </a:ext>
            </a:extLst>
          </p:cNvPr>
          <p:cNvSpPr/>
          <p:nvPr/>
        </p:nvSpPr>
        <p:spPr>
          <a:xfrm>
            <a:off x="8810613"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2005</a:t>
            </a:r>
            <a:endParaRPr lang="en-US" sz="1400" dirty="0"/>
          </a:p>
        </p:txBody>
      </p:sp>
      <p:sp>
        <p:nvSpPr>
          <p:cNvPr id="45" name="Shape 18">
            <a:extLst>
              <a:ext uri="{FF2B5EF4-FFF2-40B4-BE49-F238E27FC236}">
                <a16:creationId xmlns:a16="http://schemas.microsoft.com/office/drawing/2014/main" id="{FE79F3D5-2A44-F5E2-2F89-F4D9561CA7D1}"/>
              </a:ext>
            </a:extLst>
          </p:cNvPr>
          <p:cNvSpPr/>
          <p:nvPr/>
        </p:nvSpPr>
        <p:spPr>
          <a:xfrm>
            <a:off x="9843054" y="2850848"/>
            <a:ext cx="0" cy="5166360"/>
          </a:xfrm>
          <a:prstGeom prst="line">
            <a:avLst/>
          </a:prstGeom>
          <a:noFill/>
          <a:ln w="8255">
            <a:solidFill>
              <a:srgbClr val="DFE6EE"/>
            </a:solidFill>
            <a:prstDash val="solid"/>
          </a:ln>
        </p:spPr>
        <p:txBody>
          <a:bodyPr/>
          <a:lstStyle/>
          <a:p>
            <a:endParaRPr lang="en-GB" sz="1200"/>
          </a:p>
        </p:txBody>
      </p:sp>
      <p:sp>
        <p:nvSpPr>
          <p:cNvPr id="47" name="Text 19">
            <a:extLst>
              <a:ext uri="{FF2B5EF4-FFF2-40B4-BE49-F238E27FC236}">
                <a16:creationId xmlns:a16="http://schemas.microsoft.com/office/drawing/2014/main" id="{B5AF8F3D-3C41-3D83-506B-47A8009B20AC}"/>
              </a:ext>
            </a:extLst>
          </p:cNvPr>
          <p:cNvSpPr/>
          <p:nvPr/>
        </p:nvSpPr>
        <p:spPr>
          <a:xfrm>
            <a:off x="9687606"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2010</a:t>
            </a:r>
            <a:endParaRPr lang="en-US" sz="1400" dirty="0"/>
          </a:p>
        </p:txBody>
      </p:sp>
      <p:sp>
        <p:nvSpPr>
          <p:cNvPr id="49" name="Shape 20">
            <a:extLst>
              <a:ext uri="{FF2B5EF4-FFF2-40B4-BE49-F238E27FC236}">
                <a16:creationId xmlns:a16="http://schemas.microsoft.com/office/drawing/2014/main" id="{5599DEE0-1076-ED61-47FE-FB5E492E342B}"/>
              </a:ext>
            </a:extLst>
          </p:cNvPr>
          <p:cNvSpPr/>
          <p:nvPr/>
        </p:nvSpPr>
        <p:spPr>
          <a:xfrm>
            <a:off x="10720047" y="2850848"/>
            <a:ext cx="0" cy="5166360"/>
          </a:xfrm>
          <a:prstGeom prst="line">
            <a:avLst/>
          </a:prstGeom>
          <a:noFill/>
          <a:ln w="8255">
            <a:solidFill>
              <a:srgbClr val="DFE6EE"/>
            </a:solidFill>
            <a:prstDash val="solid"/>
          </a:ln>
        </p:spPr>
        <p:txBody>
          <a:bodyPr/>
          <a:lstStyle/>
          <a:p>
            <a:endParaRPr lang="en-GB" sz="1200"/>
          </a:p>
        </p:txBody>
      </p:sp>
      <p:sp>
        <p:nvSpPr>
          <p:cNvPr id="51" name="Text 21">
            <a:extLst>
              <a:ext uri="{FF2B5EF4-FFF2-40B4-BE49-F238E27FC236}">
                <a16:creationId xmlns:a16="http://schemas.microsoft.com/office/drawing/2014/main" id="{D7358510-8197-2211-B8FE-7AF97CF169C7}"/>
              </a:ext>
            </a:extLst>
          </p:cNvPr>
          <p:cNvSpPr/>
          <p:nvPr/>
        </p:nvSpPr>
        <p:spPr>
          <a:xfrm>
            <a:off x="10564599"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2015</a:t>
            </a:r>
            <a:endParaRPr lang="en-US" sz="1400" dirty="0"/>
          </a:p>
        </p:txBody>
      </p:sp>
      <p:sp>
        <p:nvSpPr>
          <p:cNvPr id="53" name="Shape 22">
            <a:extLst>
              <a:ext uri="{FF2B5EF4-FFF2-40B4-BE49-F238E27FC236}">
                <a16:creationId xmlns:a16="http://schemas.microsoft.com/office/drawing/2014/main" id="{1C1F1CA0-0694-5BA7-01C2-67B6C7FEB496}"/>
              </a:ext>
            </a:extLst>
          </p:cNvPr>
          <p:cNvSpPr/>
          <p:nvPr/>
        </p:nvSpPr>
        <p:spPr>
          <a:xfrm>
            <a:off x="11597039" y="2850848"/>
            <a:ext cx="0" cy="5166360"/>
          </a:xfrm>
          <a:prstGeom prst="line">
            <a:avLst/>
          </a:prstGeom>
          <a:noFill/>
          <a:ln w="8255">
            <a:solidFill>
              <a:srgbClr val="DFE6EE"/>
            </a:solidFill>
            <a:prstDash val="solid"/>
          </a:ln>
        </p:spPr>
        <p:txBody>
          <a:bodyPr/>
          <a:lstStyle/>
          <a:p>
            <a:endParaRPr lang="en-GB" sz="1200"/>
          </a:p>
        </p:txBody>
      </p:sp>
      <p:sp>
        <p:nvSpPr>
          <p:cNvPr id="55" name="Text 23">
            <a:extLst>
              <a:ext uri="{FF2B5EF4-FFF2-40B4-BE49-F238E27FC236}">
                <a16:creationId xmlns:a16="http://schemas.microsoft.com/office/drawing/2014/main" id="{F3E7B327-6014-CCF1-AC37-1F2C8805705F}"/>
              </a:ext>
            </a:extLst>
          </p:cNvPr>
          <p:cNvSpPr/>
          <p:nvPr/>
        </p:nvSpPr>
        <p:spPr>
          <a:xfrm>
            <a:off x="11441591"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2020</a:t>
            </a:r>
            <a:endParaRPr lang="en-US" sz="1400" dirty="0"/>
          </a:p>
        </p:txBody>
      </p:sp>
      <p:sp>
        <p:nvSpPr>
          <p:cNvPr id="57" name="Shape 24">
            <a:extLst>
              <a:ext uri="{FF2B5EF4-FFF2-40B4-BE49-F238E27FC236}">
                <a16:creationId xmlns:a16="http://schemas.microsoft.com/office/drawing/2014/main" id="{895351A4-F28A-0A1E-01F3-78246D1FD641}"/>
              </a:ext>
            </a:extLst>
          </p:cNvPr>
          <p:cNvSpPr/>
          <p:nvPr/>
        </p:nvSpPr>
        <p:spPr>
          <a:xfrm>
            <a:off x="12474032" y="2850848"/>
            <a:ext cx="0" cy="5166360"/>
          </a:xfrm>
          <a:prstGeom prst="line">
            <a:avLst/>
          </a:prstGeom>
          <a:noFill/>
          <a:ln w="8255">
            <a:solidFill>
              <a:srgbClr val="DFE6EE"/>
            </a:solidFill>
            <a:prstDash val="solid"/>
          </a:ln>
        </p:spPr>
        <p:txBody>
          <a:bodyPr/>
          <a:lstStyle/>
          <a:p>
            <a:endParaRPr lang="en-GB" sz="1200"/>
          </a:p>
        </p:txBody>
      </p:sp>
      <p:sp>
        <p:nvSpPr>
          <p:cNvPr id="59" name="Text 25">
            <a:extLst>
              <a:ext uri="{FF2B5EF4-FFF2-40B4-BE49-F238E27FC236}">
                <a16:creationId xmlns:a16="http://schemas.microsoft.com/office/drawing/2014/main" id="{ABA23DD9-2F7B-0AE5-2908-C6D0AE5E6393}"/>
              </a:ext>
            </a:extLst>
          </p:cNvPr>
          <p:cNvSpPr/>
          <p:nvPr/>
        </p:nvSpPr>
        <p:spPr>
          <a:xfrm>
            <a:off x="12318584"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2025</a:t>
            </a:r>
            <a:endParaRPr lang="en-US" sz="1400" dirty="0"/>
          </a:p>
        </p:txBody>
      </p:sp>
      <p:sp>
        <p:nvSpPr>
          <p:cNvPr id="61" name="Text 26">
            <a:extLst>
              <a:ext uri="{FF2B5EF4-FFF2-40B4-BE49-F238E27FC236}">
                <a16:creationId xmlns:a16="http://schemas.microsoft.com/office/drawing/2014/main" id="{AFE2978C-F161-B46B-1BD8-6E110DBC00CE}"/>
              </a:ext>
            </a:extLst>
          </p:cNvPr>
          <p:cNvSpPr/>
          <p:nvPr/>
        </p:nvSpPr>
        <p:spPr>
          <a:xfrm>
            <a:off x="1135472" y="3335480"/>
            <a:ext cx="1508760" cy="457200"/>
          </a:xfrm>
          <a:prstGeom prst="rect">
            <a:avLst/>
          </a:prstGeom>
          <a:noFill/>
          <a:ln/>
        </p:spPr>
        <p:txBody>
          <a:bodyPr wrap="square" lIns="0" tIns="0" rIns="0" bIns="0" rtlCol="0" anchor="ctr">
            <a:noAutofit/>
          </a:bodyPr>
          <a:lstStyle/>
          <a:p>
            <a:pPr marL="0" indent="0">
              <a:buNone/>
            </a:pPr>
            <a:r>
              <a:rPr lang="en-US" sz="1600" b="1" dirty="0">
                <a:solidFill>
                  <a:srgbClr val="2675A6"/>
                </a:solidFill>
                <a:ea typeface="Aptos" pitchFamily="34" charset="-122"/>
                <a:cs typeface="Aptos" pitchFamily="34" charset="-120"/>
              </a:rPr>
              <a:t>Methods &amp; HWLE introduction</a:t>
            </a:r>
            <a:endParaRPr lang="en-US" sz="1600" dirty="0"/>
          </a:p>
        </p:txBody>
      </p:sp>
      <p:sp>
        <p:nvSpPr>
          <p:cNvPr id="63" name="Shape 27">
            <a:extLst>
              <a:ext uri="{FF2B5EF4-FFF2-40B4-BE49-F238E27FC236}">
                <a16:creationId xmlns:a16="http://schemas.microsoft.com/office/drawing/2014/main" id="{DCB1D67D-6DBA-70F0-8262-9E967E5D8564}"/>
              </a:ext>
            </a:extLst>
          </p:cNvPr>
          <p:cNvSpPr/>
          <p:nvPr/>
        </p:nvSpPr>
        <p:spPr>
          <a:xfrm>
            <a:off x="2827112" y="3545792"/>
            <a:ext cx="9646920" cy="0"/>
          </a:xfrm>
          <a:prstGeom prst="line">
            <a:avLst/>
          </a:prstGeom>
          <a:noFill/>
          <a:ln w="29210">
            <a:solidFill>
              <a:srgbClr val="2675A6">
                <a:alpha val="75000"/>
              </a:srgbClr>
            </a:solidFill>
            <a:prstDash val="solid"/>
          </a:ln>
        </p:spPr>
        <p:txBody>
          <a:bodyPr/>
          <a:lstStyle/>
          <a:p>
            <a:endParaRPr lang="en-GB" sz="1200"/>
          </a:p>
        </p:txBody>
      </p:sp>
      <p:sp>
        <p:nvSpPr>
          <p:cNvPr id="193" name="Shape 28">
            <a:extLst>
              <a:ext uri="{FF2B5EF4-FFF2-40B4-BE49-F238E27FC236}">
                <a16:creationId xmlns:a16="http://schemas.microsoft.com/office/drawing/2014/main" id="{DB8E24A7-F5B2-BEF3-9E26-BDF33F217045}"/>
              </a:ext>
            </a:extLst>
          </p:cNvPr>
          <p:cNvSpPr/>
          <p:nvPr/>
        </p:nvSpPr>
        <p:spPr>
          <a:xfrm>
            <a:off x="2947647" y="3490928"/>
            <a:ext cx="109728" cy="109728"/>
          </a:xfrm>
          <a:prstGeom prst="ellipse">
            <a:avLst/>
          </a:prstGeom>
          <a:solidFill>
            <a:srgbClr val="2675A6"/>
          </a:solidFill>
          <a:ln w="12700">
            <a:solidFill>
              <a:srgbClr val="2675A6"/>
            </a:solidFill>
            <a:prstDash val="solid"/>
          </a:ln>
        </p:spPr>
        <p:txBody>
          <a:bodyPr/>
          <a:lstStyle/>
          <a:p>
            <a:endParaRPr lang="en-GB" sz="1600"/>
          </a:p>
        </p:txBody>
      </p:sp>
      <p:sp>
        <p:nvSpPr>
          <p:cNvPr id="195" name="Text 29">
            <a:extLst>
              <a:ext uri="{FF2B5EF4-FFF2-40B4-BE49-F238E27FC236}">
                <a16:creationId xmlns:a16="http://schemas.microsoft.com/office/drawing/2014/main" id="{89FEDB85-39AB-D369-4595-B6240F15AB99}"/>
              </a:ext>
            </a:extLst>
          </p:cNvPr>
          <p:cNvSpPr/>
          <p:nvPr/>
        </p:nvSpPr>
        <p:spPr>
          <a:xfrm>
            <a:off x="2898601" y="3545357"/>
            <a:ext cx="799685" cy="923543"/>
          </a:xfrm>
          <a:prstGeom prst="rect">
            <a:avLst/>
          </a:prstGeom>
          <a:noFill/>
          <a:ln/>
        </p:spPr>
        <p:txBody>
          <a:bodyPr wrap="square" lIns="0" tIns="0" rIns="0" bIns="0" rtlCol="0" anchor="ctr">
            <a:noAutofit/>
          </a:bodyPr>
          <a:lstStyle/>
          <a:p>
            <a:pPr marL="0" indent="0">
              <a:buNone/>
            </a:pPr>
            <a:r>
              <a:rPr lang="en-US" sz="1200" dirty="0">
                <a:solidFill>
                  <a:schemeClr val="tx2"/>
                </a:solidFill>
                <a:ea typeface="Aptos" pitchFamily="34" charset="-122"/>
                <a:cs typeface="Aptos" pitchFamily="34" charset="-120"/>
              </a:rPr>
              <a:t>Sullivan</a:t>
            </a:r>
            <a:endParaRPr lang="en-US" sz="1200" dirty="0">
              <a:solidFill>
                <a:schemeClr val="tx2"/>
              </a:solidFill>
            </a:endParaRPr>
          </a:p>
          <a:p>
            <a:pPr marL="0" indent="0">
              <a:buNone/>
            </a:pPr>
            <a:r>
              <a:rPr lang="en-US" sz="1200" dirty="0">
                <a:solidFill>
                  <a:schemeClr val="tx2"/>
                </a:solidFill>
                <a:ea typeface="Aptos" pitchFamily="34" charset="-122"/>
                <a:cs typeface="Aptos" pitchFamily="34" charset="-120"/>
              </a:rPr>
              <a:t>Health expectancy method</a:t>
            </a:r>
            <a:endParaRPr lang="en-US" sz="1200" dirty="0">
              <a:solidFill>
                <a:schemeClr val="tx2"/>
              </a:solidFill>
            </a:endParaRPr>
          </a:p>
        </p:txBody>
      </p:sp>
      <p:sp>
        <p:nvSpPr>
          <p:cNvPr id="197" name="Shape 30">
            <a:extLst>
              <a:ext uri="{FF2B5EF4-FFF2-40B4-BE49-F238E27FC236}">
                <a16:creationId xmlns:a16="http://schemas.microsoft.com/office/drawing/2014/main" id="{972488C1-455A-50F6-C162-C2B9392E5226}"/>
              </a:ext>
            </a:extLst>
          </p:cNvPr>
          <p:cNvSpPr/>
          <p:nvPr/>
        </p:nvSpPr>
        <p:spPr>
          <a:xfrm>
            <a:off x="7508009" y="3490928"/>
            <a:ext cx="109728" cy="109728"/>
          </a:xfrm>
          <a:prstGeom prst="ellipse">
            <a:avLst/>
          </a:prstGeom>
          <a:solidFill>
            <a:srgbClr val="2675A6"/>
          </a:solidFill>
          <a:ln w="12700">
            <a:solidFill>
              <a:srgbClr val="2675A6"/>
            </a:solidFill>
            <a:prstDash val="solid"/>
          </a:ln>
        </p:spPr>
        <p:txBody>
          <a:bodyPr/>
          <a:lstStyle/>
          <a:p>
            <a:endParaRPr lang="en-GB" sz="1200"/>
          </a:p>
        </p:txBody>
      </p:sp>
      <p:sp>
        <p:nvSpPr>
          <p:cNvPr id="201" name="Text 31">
            <a:extLst>
              <a:ext uri="{FF2B5EF4-FFF2-40B4-BE49-F238E27FC236}">
                <a16:creationId xmlns:a16="http://schemas.microsoft.com/office/drawing/2014/main" id="{2831ADC7-192C-DF28-A076-D4D7100CDE3D}"/>
              </a:ext>
            </a:extLst>
          </p:cNvPr>
          <p:cNvSpPr/>
          <p:nvPr/>
        </p:nvSpPr>
        <p:spPr>
          <a:xfrm>
            <a:off x="6959369" y="3673808"/>
            <a:ext cx="1207008" cy="429768"/>
          </a:xfrm>
          <a:prstGeom prst="rect">
            <a:avLst/>
          </a:prstGeom>
          <a:noFill/>
          <a:ln/>
        </p:spPr>
        <p:txBody>
          <a:bodyPr wrap="square" lIns="0" tIns="0" rIns="0" bIns="0" rtlCol="0" anchor="ctr">
            <a:noAutofit/>
          </a:bodyPr>
          <a:lstStyle/>
          <a:p>
            <a:pPr marL="0" indent="0">
              <a:buNone/>
            </a:pPr>
            <a:r>
              <a:rPr lang="en-US" sz="1200" dirty="0">
                <a:solidFill>
                  <a:schemeClr val="tx2"/>
                </a:solidFill>
                <a:ea typeface="Aptos" pitchFamily="34" charset="-122"/>
                <a:cs typeface="Aptos" pitchFamily="34" charset="-120"/>
              </a:rPr>
              <a:t>Mathers et al.</a:t>
            </a:r>
            <a:endParaRPr lang="en-US" sz="1200" dirty="0">
              <a:solidFill>
                <a:schemeClr val="tx2"/>
              </a:solidFill>
            </a:endParaRPr>
          </a:p>
          <a:p>
            <a:pPr marL="0" indent="0">
              <a:buNone/>
            </a:pPr>
            <a:r>
              <a:rPr lang="en-US" sz="1200" dirty="0">
                <a:solidFill>
                  <a:schemeClr val="tx2"/>
                </a:solidFill>
                <a:ea typeface="Aptos" pitchFamily="34" charset="-122"/>
                <a:cs typeface="Aptos" pitchFamily="34" charset="-120"/>
              </a:rPr>
              <a:t>Sullivan method validation</a:t>
            </a:r>
            <a:endParaRPr lang="en-US" sz="1200" dirty="0">
              <a:solidFill>
                <a:schemeClr val="tx2"/>
              </a:solidFill>
            </a:endParaRPr>
          </a:p>
        </p:txBody>
      </p:sp>
      <p:sp>
        <p:nvSpPr>
          <p:cNvPr id="205" name="Shape 32">
            <a:extLst>
              <a:ext uri="{FF2B5EF4-FFF2-40B4-BE49-F238E27FC236}">
                <a16:creationId xmlns:a16="http://schemas.microsoft.com/office/drawing/2014/main" id="{A70A9FCD-0238-9B57-E058-5CED71A9FE73}"/>
              </a:ext>
            </a:extLst>
          </p:cNvPr>
          <p:cNvSpPr/>
          <p:nvPr/>
        </p:nvSpPr>
        <p:spPr>
          <a:xfrm>
            <a:off x="9261994" y="3490928"/>
            <a:ext cx="109728" cy="109728"/>
          </a:xfrm>
          <a:prstGeom prst="ellipse">
            <a:avLst/>
          </a:prstGeom>
          <a:solidFill>
            <a:srgbClr val="2675A6"/>
          </a:solidFill>
          <a:ln w="12700">
            <a:solidFill>
              <a:srgbClr val="2675A6"/>
            </a:solidFill>
            <a:prstDash val="solid"/>
          </a:ln>
        </p:spPr>
        <p:txBody>
          <a:bodyPr/>
          <a:lstStyle/>
          <a:p>
            <a:endParaRPr lang="en-GB" sz="1200"/>
          </a:p>
        </p:txBody>
      </p:sp>
      <p:sp>
        <p:nvSpPr>
          <p:cNvPr id="209" name="Text 33">
            <a:extLst>
              <a:ext uri="{FF2B5EF4-FFF2-40B4-BE49-F238E27FC236}">
                <a16:creationId xmlns:a16="http://schemas.microsoft.com/office/drawing/2014/main" id="{A422EDCD-30F6-BC2D-BEA2-40354100F936}"/>
              </a:ext>
            </a:extLst>
          </p:cNvPr>
          <p:cNvSpPr/>
          <p:nvPr/>
        </p:nvSpPr>
        <p:spPr>
          <a:xfrm>
            <a:off x="8713354" y="3033728"/>
            <a:ext cx="1359964" cy="429768"/>
          </a:xfrm>
          <a:prstGeom prst="rect">
            <a:avLst/>
          </a:prstGeom>
          <a:noFill/>
          <a:ln/>
        </p:spPr>
        <p:txBody>
          <a:bodyPr wrap="square" lIns="0" tIns="0" rIns="0" bIns="0" rtlCol="0" anchor="ctr">
            <a:noAutofit/>
          </a:bodyPr>
          <a:lstStyle/>
          <a:p>
            <a:pPr marL="0" indent="0">
              <a:buNone/>
            </a:pPr>
            <a:r>
              <a:rPr lang="en-US" sz="1200" b="1" dirty="0">
                <a:solidFill>
                  <a:schemeClr val="tx2"/>
                </a:solidFill>
                <a:ea typeface="Aptos" pitchFamily="34" charset="-122"/>
                <a:cs typeface="Aptos" pitchFamily="34" charset="-120"/>
              </a:rPr>
              <a:t>Lièvre et al.</a:t>
            </a:r>
            <a:endParaRPr lang="en-US" sz="1200" b="1" dirty="0">
              <a:solidFill>
                <a:schemeClr val="tx2"/>
              </a:solidFill>
            </a:endParaRPr>
          </a:p>
          <a:p>
            <a:pPr marL="0" indent="0">
              <a:buNone/>
            </a:pPr>
            <a:r>
              <a:rPr lang="en-US" sz="1200" b="1" dirty="0">
                <a:solidFill>
                  <a:schemeClr val="tx2"/>
                </a:solidFill>
                <a:ea typeface="Aptos" pitchFamily="34" charset="-122"/>
                <a:cs typeface="Aptos" pitchFamily="34" charset="-120"/>
              </a:rPr>
              <a:t>Healthy working life at 50 · Europe</a:t>
            </a:r>
            <a:endParaRPr lang="en-US" sz="1200" b="1" dirty="0">
              <a:solidFill>
                <a:schemeClr val="tx2"/>
              </a:solidFill>
            </a:endParaRPr>
          </a:p>
        </p:txBody>
      </p:sp>
      <p:sp>
        <p:nvSpPr>
          <p:cNvPr id="213" name="Shape 35">
            <a:extLst>
              <a:ext uri="{FF2B5EF4-FFF2-40B4-BE49-F238E27FC236}">
                <a16:creationId xmlns:a16="http://schemas.microsoft.com/office/drawing/2014/main" id="{5423DE8F-8779-EAC3-6122-7F6C9433BFE3}"/>
              </a:ext>
            </a:extLst>
          </p:cNvPr>
          <p:cNvSpPr/>
          <p:nvPr/>
        </p:nvSpPr>
        <p:spPr>
          <a:xfrm>
            <a:off x="2827112" y="6188408"/>
            <a:ext cx="9646920" cy="0"/>
          </a:xfrm>
          <a:prstGeom prst="line">
            <a:avLst/>
          </a:prstGeom>
          <a:noFill/>
          <a:ln w="29210">
            <a:solidFill>
              <a:srgbClr val="7354A5">
                <a:alpha val="75000"/>
              </a:srgbClr>
            </a:solidFill>
            <a:prstDash val="solid"/>
          </a:ln>
        </p:spPr>
        <p:txBody>
          <a:bodyPr/>
          <a:lstStyle/>
          <a:p>
            <a:endParaRPr lang="en-GB" sz="1200"/>
          </a:p>
        </p:txBody>
      </p:sp>
      <p:sp>
        <p:nvSpPr>
          <p:cNvPr id="217" name="Shape 36">
            <a:extLst>
              <a:ext uri="{FF2B5EF4-FFF2-40B4-BE49-F238E27FC236}">
                <a16:creationId xmlns:a16="http://schemas.microsoft.com/office/drawing/2014/main" id="{AA23617E-20DC-B25A-5B31-C0F631247A67}"/>
              </a:ext>
            </a:extLst>
          </p:cNvPr>
          <p:cNvSpPr/>
          <p:nvPr/>
        </p:nvSpPr>
        <p:spPr>
          <a:xfrm>
            <a:off x="4526233" y="6133544"/>
            <a:ext cx="109728" cy="109728"/>
          </a:xfrm>
          <a:prstGeom prst="ellipse">
            <a:avLst/>
          </a:prstGeom>
          <a:solidFill>
            <a:srgbClr val="7354A5"/>
          </a:solidFill>
          <a:ln w="12700">
            <a:solidFill>
              <a:srgbClr val="7354A5"/>
            </a:solidFill>
            <a:prstDash val="solid"/>
          </a:ln>
        </p:spPr>
        <p:txBody>
          <a:bodyPr/>
          <a:lstStyle/>
          <a:p>
            <a:endParaRPr lang="en-GB" sz="1200"/>
          </a:p>
        </p:txBody>
      </p:sp>
      <p:sp>
        <p:nvSpPr>
          <p:cNvPr id="221" name="Text 37">
            <a:extLst>
              <a:ext uri="{FF2B5EF4-FFF2-40B4-BE49-F238E27FC236}">
                <a16:creationId xmlns:a16="http://schemas.microsoft.com/office/drawing/2014/main" id="{14B7FC6C-2CAF-5761-FB24-66B9BC77CA9C}"/>
              </a:ext>
            </a:extLst>
          </p:cNvPr>
          <p:cNvSpPr/>
          <p:nvPr/>
        </p:nvSpPr>
        <p:spPr>
          <a:xfrm>
            <a:off x="3884501" y="5306448"/>
            <a:ext cx="734836" cy="840812"/>
          </a:xfrm>
          <a:prstGeom prst="rect">
            <a:avLst/>
          </a:prstGeom>
          <a:noFill/>
          <a:ln/>
        </p:spPr>
        <p:txBody>
          <a:bodyPr wrap="square" lIns="0" tIns="0" rIns="0" bIns="0" rtlCol="0" anchor="ctr">
            <a:noAutofit/>
          </a:bodyPr>
          <a:lstStyle/>
          <a:p>
            <a:pPr marL="0" indent="0">
              <a:buNone/>
            </a:pPr>
            <a:r>
              <a:rPr lang="en-US" sz="1200" dirty="0">
                <a:solidFill>
                  <a:srgbClr val="7030A0"/>
                </a:solidFill>
                <a:ea typeface="Aptos" pitchFamily="34" charset="-122"/>
                <a:cs typeface="Aptos" pitchFamily="34" charset="-120"/>
              </a:rPr>
              <a:t>Pollard</a:t>
            </a:r>
            <a:endParaRPr lang="en-US" sz="1200" dirty="0">
              <a:solidFill>
                <a:srgbClr val="7030A0"/>
              </a:solidFill>
            </a:endParaRPr>
          </a:p>
          <a:p>
            <a:pPr marL="0" indent="0">
              <a:buNone/>
            </a:pPr>
            <a:r>
              <a:rPr lang="en-US" sz="1200" dirty="0">
                <a:solidFill>
                  <a:srgbClr val="7030A0"/>
                </a:solidFill>
                <a:ea typeface="Aptos" pitchFamily="34" charset="-122"/>
                <a:cs typeface="Aptos" pitchFamily="34" charset="-120"/>
              </a:rPr>
              <a:t>Morbidity–mortality interaction</a:t>
            </a:r>
            <a:endParaRPr lang="en-US" sz="1200" dirty="0">
              <a:solidFill>
                <a:srgbClr val="7030A0"/>
              </a:solidFill>
            </a:endParaRPr>
          </a:p>
        </p:txBody>
      </p:sp>
      <p:sp>
        <p:nvSpPr>
          <p:cNvPr id="225" name="Shape 38">
            <a:extLst>
              <a:ext uri="{FF2B5EF4-FFF2-40B4-BE49-F238E27FC236}">
                <a16:creationId xmlns:a16="http://schemas.microsoft.com/office/drawing/2014/main" id="{12BE1A6C-D919-4D36-73EF-A363EEB4043C}"/>
              </a:ext>
            </a:extLst>
          </p:cNvPr>
          <p:cNvSpPr/>
          <p:nvPr/>
        </p:nvSpPr>
        <p:spPr>
          <a:xfrm>
            <a:off x="5052429" y="6133544"/>
            <a:ext cx="109728" cy="109728"/>
          </a:xfrm>
          <a:prstGeom prst="ellipse">
            <a:avLst/>
          </a:prstGeom>
          <a:solidFill>
            <a:srgbClr val="7354A5"/>
          </a:solidFill>
          <a:ln w="12700">
            <a:solidFill>
              <a:srgbClr val="7354A5"/>
            </a:solidFill>
            <a:prstDash val="solid"/>
          </a:ln>
        </p:spPr>
        <p:txBody>
          <a:bodyPr/>
          <a:lstStyle/>
          <a:p>
            <a:endParaRPr lang="en-GB" sz="1200"/>
          </a:p>
        </p:txBody>
      </p:sp>
      <p:sp>
        <p:nvSpPr>
          <p:cNvPr id="229" name="Text 39">
            <a:extLst>
              <a:ext uri="{FF2B5EF4-FFF2-40B4-BE49-F238E27FC236}">
                <a16:creationId xmlns:a16="http://schemas.microsoft.com/office/drawing/2014/main" id="{D42D7042-F2C3-0925-AEE1-31C7E73428EB}"/>
              </a:ext>
            </a:extLst>
          </p:cNvPr>
          <p:cNvSpPr/>
          <p:nvPr/>
        </p:nvSpPr>
        <p:spPr>
          <a:xfrm>
            <a:off x="4668380" y="6316423"/>
            <a:ext cx="1042417" cy="832527"/>
          </a:xfrm>
          <a:prstGeom prst="rect">
            <a:avLst/>
          </a:prstGeom>
          <a:noFill/>
          <a:ln/>
        </p:spPr>
        <p:txBody>
          <a:bodyPr wrap="square" lIns="0" tIns="0" rIns="0" bIns="0" rtlCol="0" anchor="ctr">
            <a:noAutofit/>
          </a:bodyPr>
          <a:lstStyle/>
          <a:p>
            <a:pPr marL="0" indent="0">
              <a:buNone/>
            </a:pPr>
            <a:r>
              <a:rPr lang="en-US" sz="1200" dirty="0">
                <a:solidFill>
                  <a:srgbClr val="7030A0"/>
                </a:solidFill>
                <a:ea typeface="Aptos" pitchFamily="34" charset="-122"/>
                <a:cs typeface="Aptos" pitchFamily="34" charset="-120"/>
              </a:rPr>
              <a:t>Haberman I</a:t>
            </a:r>
            <a:endParaRPr lang="en-US" sz="1200" dirty="0">
              <a:solidFill>
                <a:srgbClr val="7030A0"/>
              </a:solidFill>
            </a:endParaRPr>
          </a:p>
          <a:p>
            <a:pPr marL="0" indent="0">
              <a:buNone/>
            </a:pPr>
            <a:r>
              <a:rPr lang="en-US" sz="1200" dirty="0">
                <a:solidFill>
                  <a:srgbClr val="7030A0"/>
                </a:solidFill>
                <a:ea typeface="Aptos" pitchFamily="34" charset="-122"/>
                <a:cs typeface="Aptos" pitchFamily="34" charset="-120"/>
              </a:rPr>
              <a:t>Decrement tables / morbidity</a:t>
            </a:r>
            <a:endParaRPr lang="en-US" sz="1200" dirty="0">
              <a:solidFill>
                <a:srgbClr val="7030A0"/>
              </a:solidFill>
            </a:endParaRPr>
          </a:p>
        </p:txBody>
      </p:sp>
      <p:sp>
        <p:nvSpPr>
          <p:cNvPr id="233" name="Shape 40">
            <a:extLst>
              <a:ext uri="{FF2B5EF4-FFF2-40B4-BE49-F238E27FC236}">
                <a16:creationId xmlns:a16="http://schemas.microsoft.com/office/drawing/2014/main" id="{15C5325B-04A6-3854-9340-5FBB8C8D868C}"/>
              </a:ext>
            </a:extLst>
          </p:cNvPr>
          <p:cNvSpPr/>
          <p:nvPr/>
        </p:nvSpPr>
        <p:spPr>
          <a:xfrm>
            <a:off x="5227828" y="6133544"/>
            <a:ext cx="109728" cy="109728"/>
          </a:xfrm>
          <a:prstGeom prst="ellipse">
            <a:avLst/>
          </a:prstGeom>
          <a:solidFill>
            <a:srgbClr val="7354A5"/>
          </a:solidFill>
          <a:ln w="12700">
            <a:solidFill>
              <a:srgbClr val="7354A5"/>
            </a:solidFill>
            <a:prstDash val="solid"/>
          </a:ln>
        </p:spPr>
        <p:txBody>
          <a:bodyPr/>
          <a:lstStyle/>
          <a:p>
            <a:endParaRPr lang="en-GB" sz="1200"/>
          </a:p>
        </p:txBody>
      </p:sp>
      <p:sp>
        <p:nvSpPr>
          <p:cNvPr id="237" name="Text 41">
            <a:extLst>
              <a:ext uri="{FF2B5EF4-FFF2-40B4-BE49-F238E27FC236}">
                <a16:creationId xmlns:a16="http://schemas.microsoft.com/office/drawing/2014/main" id="{B5FF6CB5-E0CC-F114-4162-F2298A923B14}"/>
              </a:ext>
            </a:extLst>
          </p:cNvPr>
          <p:cNvSpPr/>
          <p:nvPr/>
        </p:nvSpPr>
        <p:spPr>
          <a:xfrm>
            <a:off x="4843780" y="4880816"/>
            <a:ext cx="844570" cy="1225296"/>
          </a:xfrm>
          <a:prstGeom prst="rect">
            <a:avLst/>
          </a:prstGeom>
          <a:noFill/>
          <a:ln/>
        </p:spPr>
        <p:txBody>
          <a:bodyPr wrap="square" lIns="0" tIns="0" rIns="0" bIns="0" rtlCol="0" anchor="ctr">
            <a:noAutofit/>
          </a:bodyPr>
          <a:lstStyle/>
          <a:p>
            <a:pPr marL="0" indent="0">
              <a:buNone/>
            </a:pPr>
            <a:r>
              <a:rPr lang="en-US" sz="1200" dirty="0">
                <a:solidFill>
                  <a:srgbClr val="7030A0"/>
                </a:solidFill>
                <a:ea typeface="Aptos" pitchFamily="34" charset="-122"/>
                <a:cs typeface="Aptos" pitchFamily="34" charset="-120"/>
              </a:rPr>
              <a:t>Haberman II; Waters</a:t>
            </a:r>
            <a:endParaRPr lang="en-US" sz="1200" dirty="0">
              <a:solidFill>
                <a:srgbClr val="7030A0"/>
              </a:solidFill>
            </a:endParaRPr>
          </a:p>
          <a:p>
            <a:pPr marL="0" indent="0">
              <a:buNone/>
            </a:pPr>
            <a:r>
              <a:rPr lang="en-US" sz="1200" dirty="0">
                <a:solidFill>
                  <a:srgbClr val="7030A0"/>
                </a:solidFill>
                <a:ea typeface="Aptos" pitchFamily="34" charset="-122"/>
                <a:cs typeface="Aptos" pitchFamily="34" charset="-120"/>
              </a:rPr>
              <a:t>Decrement tables; multi-state models</a:t>
            </a:r>
            <a:endParaRPr lang="en-US" sz="1200" dirty="0">
              <a:solidFill>
                <a:srgbClr val="7030A0"/>
              </a:solidFill>
            </a:endParaRPr>
          </a:p>
        </p:txBody>
      </p:sp>
      <p:sp>
        <p:nvSpPr>
          <p:cNvPr id="241" name="Shape 42">
            <a:extLst>
              <a:ext uri="{FF2B5EF4-FFF2-40B4-BE49-F238E27FC236}">
                <a16:creationId xmlns:a16="http://schemas.microsoft.com/office/drawing/2014/main" id="{CCE78608-E66F-1B4E-9437-4BB193726FCC}"/>
              </a:ext>
            </a:extLst>
          </p:cNvPr>
          <p:cNvSpPr/>
          <p:nvPr/>
        </p:nvSpPr>
        <p:spPr>
          <a:xfrm>
            <a:off x="5754023" y="6133544"/>
            <a:ext cx="109728" cy="109728"/>
          </a:xfrm>
          <a:prstGeom prst="ellipse">
            <a:avLst/>
          </a:prstGeom>
          <a:solidFill>
            <a:srgbClr val="7354A5"/>
          </a:solidFill>
          <a:ln w="12700">
            <a:solidFill>
              <a:srgbClr val="7354A5"/>
            </a:solidFill>
            <a:prstDash val="solid"/>
          </a:ln>
        </p:spPr>
        <p:txBody>
          <a:bodyPr/>
          <a:lstStyle/>
          <a:p>
            <a:endParaRPr lang="en-GB" sz="1200"/>
          </a:p>
        </p:txBody>
      </p:sp>
      <p:sp>
        <p:nvSpPr>
          <p:cNvPr id="245" name="Text 43">
            <a:extLst>
              <a:ext uri="{FF2B5EF4-FFF2-40B4-BE49-F238E27FC236}">
                <a16:creationId xmlns:a16="http://schemas.microsoft.com/office/drawing/2014/main" id="{92DC419A-4C28-8D2E-DDC1-00B4ABFB5562}"/>
              </a:ext>
            </a:extLst>
          </p:cNvPr>
          <p:cNvSpPr/>
          <p:nvPr/>
        </p:nvSpPr>
        <p:spPr>
          <a:xfrm>
            <a:off x="5586060" y="6289545"/>
            <a:ext cx="867018" cy="731085"/>
          </a:xfrm>
          <a:prstGeom prst="rect">
            <a:avLst/>
          </a:prstGeom>
          <a:noFill/>
          <a:ln/>
        </p:spPr>
        <p:txBody>
          <a:bodyPr wrap="square" lIns="0" tIns="0" rIns="0" bIns="0" rtlCol="0" anchor="ctr">
            <a:noAutofit/>
          </a:bodyPr>
          <a:lstStyle/>
          <a:p>
            <a:pPr marL="0" indent="0">
              <a:buNone/>
            </a:pPr>
            <a:r>
              <a:rPr lang="en-US" sz="1200" dirty="0">
                <a:solidFill>
                  <a:srgbClr val="7030A0"/>
                </a:solidFill>
                <a:ea typeface="Aptos" pitchFamily="34" charset="-122"/>
                <a:cs typeface="Aptos" pitchFamily="34" charset="-120"/>
              </a:rPr>
              <a:t>Haberman</a:t>
            </a:r>
            <a:endParaRPr lang="en-US" sz="1200" dirty="0">
              <a:solidFill>
                <a:srgbClr val="7030A0"/>
              </a:solidFill>
            </a:endParaRPr>
          </a:p>
          <a:p>
            <a:pPr marL="0" indent="0">
              <a:buNone/>
            </a:pPr>
            <a:r>
              <a:rPr lang="en-US" sz="1200" dirty="0">
                <a:solidFill>
                  <a:srgbClr val="7030A0"/>
                </a:solidFill>
                <a:ea typeface="Aptos" pitchFamily="34" charset="-122"/>
                <a:cs typeface="Aptos" pitchFamily="34" charset="-120"/>
              </a:rPr>
              <a:t>Long-term sickness &amp; invalidity</a:t>
            </a:r>
            <a:endParaRPr lang="en-US" sz="1200" dirty="0">
              <a:solidFill>
                <a:srgbClr val="7030A0"/>
              </a:solidFill>
            </a:endParaRPr>
          </a:p>
        </p:txBody>
      </p:sp>
      <p:sp>
        <p:nvSpPr>
          <p:cNvPr id="249" name="Shape 44">
            <a:extLst>
              <a:ext uri="{FF2B5EF4-FFF2-40B4-BE49-F238E27FC236}">
                <a16:creationId xmlns:a16="http://schemas.microsoft.com/office/drawing/2014/main" id="{2123BFFA-4513-61FE-631B-ED0B720D677D}"/>
              </a:ext>
            </a:extLst>
          </p:cNvPr>
          <p:cNvSpPr/>
          <p:nvPr/>
        </p:nvSpPr>
        <p:spPr>
          <a:xfrm>
            <a:off x="6280219" y="6133544"/>
            <a:ext cx="109728" cy="109728"/>
          </a:xfrm>
          <a:prstGeom prst="ellipse">
            <a:avLst/>
          </a:prstGeom>
          <a:solidFill>
            <a:srgbClr val="7354A5"/>
          </a:solidFill>
          <a:ln w="12700">
            <a:solidFill>
              <a:srgbClr val="7354A5"/>
            </a:solidFill>
            <a:prstDash val="solid"/>
          </a:ln>
        </p:spPr>
        <p:txBody>
          <a:bodyPr/>
          <a:lstStyle/>
          <a:p>
            <a:endParaRPr lang="en-GB" sz="1200"/>
          </a:p>
        </p:txBody>
      </p:sp>
      <p:sp>
        <p:nvSpPr>
          <p:cNvPr id="253" name="Text 45">
            <a:extLst>
              <a:ext uri="{FF2B5EF4-FFF2-40B4-BE49-F238E27FC236}">
                <a16:creationId xmlns:a16="http://schemas.microsoft.com/office/drawing/2014/main" id="{8A7CE7C0-1248-D70F-9700-2F4D650A3934}"/>
              </a:ext>
            </a:extLst>
          </p:cNvPr>
          <p:cNvSpPr/>
          <p:nvPr/>
        </p:nvSpPr>
        <p:spPr>
          <a:xfrm>
            <a:off x="5896170" y="5072404"/>
            <a:ext cx="1069017" cy="1033708"/>
          </a:xfrm>
          <a:prstGeom prst="rect">
            <a:avLst/>
          </a:prstGeom>
          <a:noFill/>
          <a:ln/>
        </p:spPr>
        <p:txBody>
          <a:bodyPr wrap="square" lIns="0" tIns="0" rIns="0" bIns="0" rtlCol="0" anchor="ctr">
            <a:noAutofit/>
          </a:bodyPr>
          <a:lstStyle/>
          <a:p>
            <a:pPr marL="0" indent="0">
              <a:buNone/>
            </a:pPr>
            <a:r>
              <a:rPr lang="en-US" sz="1200" dirty="0">
                <a:solidFill>
                  <a:srgbClr val="7030A0"/>
                </a:solidFill>
                <a:ea typeface="Aptos" pitchFamily="34" charset="-122"/>
                <a:cs typeface="Aptos" pitchFamily="34" charset="-120"/>
              </a:rPr>
              <a:t>Haberman &amp; Bloomfield</a:t>
            </a:r>
            <a:endParaRPr lang="en-US" sz="1200" dirty="0">
              <a:solidFill>
                <a:srgbClr val="7030A0"/>
              </a:solidFill>
            </a:endParaRPr>
          </a:p>
          <a:p>
            <a:pPr marL="0" indent="0">
              <a:buNone/>
            </a:pPr>
            <a:r>
              <a:rPr lang="en-US" sz="1200" dirty="0">
                <a:solidFill>
                  <a:srgbClr val="7030A0"/>
                </a:solidFill>
                <a:ea typeface="Aptos" pitchFamily="34" charset="-122"/>
                <a:cs typeface="Aptos" pitchFamily="34" charset="-120"/>
              </a:rPr>
              <a:t>Work time lost to sickness</a:t>
            </a:r>
            <a:endParaRPr lang="en-US" sz="1200" dirty="0">
              <a:solidFill>
                <a:srgbClr val="7030A0"/>
              </a:solidFill>
            </a:endParaRPr>
          </a:p>
        </p:txBody>
      </p:sp>
      <p:sp>
        <p:nvSpPr>
          <p:cNvPr id="257" name="Shape 47">
            <a:extLst>
              <a:ext uri="{FF2B5EF4-FFF2-40B4-BE49-F238E27FC236}">
                <a16:creationId xmlns:a16="http://schemas.microsoft.com/office/drawing/2014/main" id="{F6C05882-3F9B-0066-B38B-409057AC5E6F}"/>
              </a:ext>
            </a:extLst>
          </p:cNvPr>
          <p:cNvSpPr/>
          <p:nvPr/>
        </p:nvSpPr>
        <p:spPr>
          <a:xfrm>
            <a:off x="2827112" y="7514288"/>
            <a:ext cx="9646920" cy="0"/>
          </a:xfrm>
          <a:prstGeom prst="line">
            <a:avLst/>
          </a:prstGeom>
          <a:noFill/>
          <a:ln w="29210">
            <a:solidFill>
              <a:srgbClr val="C77835">
                <a:alpha val="75000"/>
              </a:srgbClr>
            </a:solidFill>
            <a:prstDash val="solid"/>
          </a:ln>
        </p:spPr>
        <p:txBody>
          <a:bodyPr/>
          <a:lstStyle/>
          <a:p>
            <a:endParaRPr lang="en-GB" sz="1200"/>
          </a:p>
        </p:txBody>
      </p:sp>
      <p:sp>
        <p:nvSpPr>
          <p:cNvPr id="261" name="Shape 48">
            <a:extLst>
              <a:ext uri="{FF2B5EF4-FFF2-40B4-BE49-F238E27FC236}">
                <a16:creationId xmlns:a16="http://schemas.microsoft.com/office/drawing/2014/main" id="{7F0CBB3A-C029-056E-F7AB-84C1C24571C5}"/>
              </a:ext>
            </a:extLst>
          </p:cNvPr>
          <p:cNvSpPr/>
          <p:nvPr/>
        </p:nvSpPr>
        <p:spPr>
          <a:xfrm>
            <a:off x="6455617" y="7459424"/>
            <a:ext cx="109728" cy="109728"/>
          </a:xfrm>
          <a:prstGeom prst="ellipse">
            <a:avLst/>
          </a:prstGeom>
          <a:solidFill>
            <a:srgbClr val="C77835"/>
          </a:solidFill>
          <a:ln w="12700">
            <a:solidFill>
              <a:srgbClr val="C77835"/>
            </a:solidFill>
            <a:prstDash val="solid"/>
          </a:ln>
        </p:spPr>
        <p:txBody>
          <a:bodyPr/>
          <a:lstStyle/>
          <a:p>
            <a:endParaRPr lang="en-GB" sz="1200"/>
          </a:p>
        </p:txBody>
      </p:sp>
      <p:sp>
        <p:nvSpPr>
          <p:cNvPr id="265" name="Text 49">
            <a:extLst>
              <a:ext uri="{FF2B5EF4-FFF2-40B4-BE49-F238E27FC236}">
                <a16:creationId xmlns:a16="http://schemas.microsoft.com/office/drawing/2014/main" id="{70EF702B-7BB6-7043-FE8C-42835D41CB41}"/>
              </a:ext>
            </a:extLst>
          </p:cNvPr>
          <p:cNvSpPr/>
          <p:nvPr/>
        </p:nvSpPr>
        <p:spPr>
          <a:xfrm>
            <a:off x="5890360" y="7548361"/>
            <a:ext cx="1256045" cy="617653"/>
          </a:xfrm>
          <a:prstGeom prst="rect">
            <a:avLst/>
          </a:prstGeom>
          <a:noFill/>
          <a:ln/>
        </p:spPr>
        <p:txBody>
          <a:bodyPr wrap="square" lIns="0" tIns="0" rIns="0" bIns="0" rtlCol="0" anchor="ctr">
            <a:noAutofit/>
          </a:bodyPr>
          <a:lstStyle/>
          <a:p>
            <a:pPr marL="0" indent="0">
              <a:buNone/>
            </a:pPr>
            <a:r>
              <a:rPr lang="en-US" sz="1200" dirty="0">
                <a:solidFill>
                  <a:schemeClr val="accent3">
                    <a:lumMod val="75000"/>
                  </a:schemeClr>
                </a:solidFill>
                <a:ea typeface="Aptos" pitchFamily="34" charset="-122"/>
                <a:cs typeface="Aptos" pitchFamily="34" charset="-120"/>
              </a:rPr>
              <a:t>CMIR 12</a:t>
            </a:r>
            <a:endParaRPr lang="en-US" sz="1200" dirty="0">
              <a:solidFill>
                <a:schemeClr val="accent3">
                  <a:lumMod val="75000"/>
                </a:schemeClr>
              </a:solidFill>
            </a:endParaRPr>
          </a:p>
          <a:p>
            <a:pPr marL="0" indent="0">
              <a:buNone/>
            </a:pPr>
            <a:r>
              <a:rPr lang="en-US" sz="1200" dirty="0">
                <a:solidFill>
                  <a:schemeClr val="accent3">
                    <a:lumMod val="75000"/>
                  </a:schemeClr>
                </a:solidFill>
                <a:ea typeface="Aptos" pitchFamily="34" charset="-122"/>
                <a:cs typeface="Aptos" pitchFamily="34" charset="-120"/>
              </a:rPr>
              <a:t>Permanent health insurance data</a:t>
            </a:r>
            <a:endParaRPr lang="en-US" sz="1200" dirty="0">
              <a:solidFill>
                <a:schemeClr val="accent3">
                  <a:lumMod val="75000"/>
                </a:schemeClr>
              </a:solidFill>
            </a:endParaRPr>
          </a:p>
        </p:txBody>
      </p:sp>
      <p:sp>
        <p:nvSpPr>
          <p:cNvPr id="269" name="Shape 50">
            <a:extLst>
              <a:ext uri="{FF2B5EF4-FFF2-40B4-BE49-F238E27FC236}">
                <a16:creationId xmlns:a16="http://schemas.microsoft.com/office/drawing/2014/main" id="{B17015BA-A6FA-609C-36D2-91CC3C6CBC72}"/>
              </a:ext>
            </a:extLst>
          </p:cNvPr>
          <p:cNvSpPr/>
          <p:nvPr/>
        </p:nvSpPr>
        <p:spPr>
          <a:xfrm>
            <a:off x="10138987" y="7459424"/>
            <a:ext cx="109728" cy="109728"/>
          </a:xfrm>
          <a:prstGeom prst="ellipse">
            <a:avLst/>
          </a:prstGeom>
          <a:solidFill>
            <a:srgbClr val="C77835"/>
          </a:solidFill>
          <a:ln w="12700">
            <a:solidFill>
              <a:srgbClr val="C77835"/>
            </a:solidFill>
            <a:prstDash val="solid"/>
          </a:ln>
        </p:spPr>
        <p:txBody>
          <a:bodyPr/>
          <a:lstStyle/>
          <a:p>
            <a:endParaRPr lang="en-GB" sz="1200"/>
          </a:p>
        </p:txBody>
      </p:sp>
      <p:sp>
        <p:nvSpPr>
          <p:cNvPr id="273" name="Text 51">
            <a:extLst>
              <a:ext uri="{FF2B5EF4-FFF2-40B4-BE49-F238E27FC236}">
                <a16:creationId xmlns:a16="http://schemas.microsoft.com/office/drawing/2014/main" id="{4D453263-CDDA-C5A3-0057-C1579D53E092}"/>
              </a:ext>
            </a:extLst>
          </p:cNvPr>
          <p:cNvSpPr/>
          <p:nvPr/>
        </p:nvSpPr>
        <p:spPr>
          <a:xfrm>
            <a:off x="9345497" y="7475987"/>
            <a:ext cx="1282654" cy="740229"/>
          </a:xfrm>
          <a:prstGeom prst="rect">
            <a:avLst/>
          </a:prstGeom>
          <a:noFill/>
          <a:ln/>
        </p:spPr>
        <p:txBody>
          <a:bodyPr wrap="square" lIns="0" tIns="0" rIns="0" bIns="0" rtlCol="0" anchor="ctr">
            <a:noAutofit/>
          </a:bodyPr>
          <a:lstStyle/>
          <a:p>
            <a:pPr marL="0" indent="0">
              <a:buNone/>
            </a:pPr>
            <a:r>
              <a:rPr lang="en-US" sz="1200" dirty="0">
                <a:solidFill>
                  <a:schemeClr val="accent3">
                    <a:lumMod val="75000"/>
                  </a:schemeClr>
                </a:solidFill>
                <a:ea typeface="Aptos" pitchFamily="34" charset="-122"/>
                <a:cs typeface="Aptos" pitchFamily="34" charset="-120"/>
              </a:rPr>
              <a:t>CMI WP 59</a:t>
            </a:r>
            <a:endParaRPr lang="en-US" sz="1200" dirty="0">
              <a:solidFill>
                <a:schemeClr val="accent3">
                  <a:lumMod val="75000"/>
                </a:schemeClr>
              </a:solidFill>
            </a:endParaRPr>
          </a:p>
          <a:p>
            <a:pPr marL="0" indent="0">
              <a:buNone/>
            </a:pPr>
            <a:r>
              <a:rPr lang="en-US" sz="1200" dirty="0">
                <a:solidFill>
                  <a:schemeClr val="accent3">
                    <a:lumMod val="75000"/>
                  </a:schemeClr>
                </a:solidFill>
                <a:ea typeface="Aptos" pitchFamily="34" charset="-122"/>
                <a:cs typeface="Aptos" pitchFamily="34" charset="-120"/>
              </a:rPr>
              <a:t>Income protection investigation</a:t>
            </a:r>
            <a:endParaRPr lang="en-US" sz="1200" dirty="0">
              <a:solidFill>
                <a:schemeClr val="accent3">
                  <a:lumMod val="75000"/>
                </a:schemeClr>
              </a:solidFill>
            </a:endParaRPr>
          </a:p>
        </p:txBody>
      </p:sp>
      <p:sp>
        <p:nvSpPr>
          <p:cNvPr id="277" name="Shape 52">
            <a:extLst>
              <a:ext uri="{FF2B5EF4-FFF2-40B4-BE49-F238E27FC236}">
                <a16:creationId xmlns:a16="http://schemas.microsoft.com/office/drawing/2014/main" id="{26D9A592-19D1-764E-2C08-4C30F6F94998}"/>
              </a:ext>
            </a:extLst>
          </p:cNvPr>
          <p:cNvSpPr/>
          <p:nvPr/>
        </p:nvSpPr>
        <p:spPr>
          <a:xfrm>
            <a:off x="11191378" y="7459424"/>
            <a:ext cx="109728" cy="109728"/>
          </a:xfrm>
          <a:prstGeom prst="ellipse">
            <a:avLst/>
          </a:prstGeom>
          <a:solidFill>
            <a:srgbClr val="C77835"/>
          </a:solidFill>
          <a:ln w="12700">
            <a:solidFill>
              <a:srgbClr val="C77835"/>
            </a:solidFill>
            <a:prstDash val="solid"/>
          </a:ln>
        </p:spPr>
        <p:txBody>
          <a:bodyPr/>
          <a:lstStyle/>
          <a:p>
            <a:endParaRPr lang="en-GB" sz="1200"/>
          </a:p>
        </p:txBody>
      </p:sp>
      <p:sp>
        <p:nvSpPr>
          <p:cNvPr id="281" name="Text 53">
            <a:extLst>
              <a:ext uri="{FF2B5EF4-FFF2-40B4-BE49-F238E27FC236}">
                <a16:creationId xmlns:a16="http://schemas.microsoft.com/office/drawing/2014/main" id="{0A922D98-8CDC-D14E-1B72-72B235D861E4}"/>
              </a:ext>
            </a:extLst>
          </p:cNvPr>
          <p:cNvSpPr/>
          <p:nvPr/>
        </p:nvSpPr>
        <p:spPr>
          <a:xfrm>
            <a:off x="10642738" y="6652876"/>
            <a:ext cx="881558" cy="779115"/>
          </a:xfrm>
          <a:prstGeom prst="rect">
            <a:avLst/>
          </a:prstGeom>
          <a:noFill/>
          <a:ln/>
        </p:spPr>
        <p:txBody>
          <a:bodyPr wrap="square" lIns="0" tIns="0" rIns="0" bIns="0" rtlCol="0" anchor="ctr">
            <a:noAutofit/>
          </a:bodyPr>
          <a:lstStyle/>
          <a:p>
            <a:pPr marL="0" indent="0">
              <a:buNone/>
            </a:pPr>
            <a:r>
              <a:rPr lang="en-US" sz="1200" dirty="0">
                <a:solidFill>
                  <a:schemeClr val="accent3">
                    <a:lumMod val="75000"/>
                  </a:schemeClr>
                </a:solidFill>
                <a:ea typeface="Aptos" pitchFamily="34" charset="-122"/>
                <a:cs typeface="Aptos" pitchFamily="34" charset="-120"/>
              </a:rPr>
              <a:t>CMI WP 109</a:t>
            </a:r>
            <a:endParaRPr lang="en-US" sz="1200" dirty="0">
              <a:solidFill>
                <a:schemeClr val="accent3">
                  <a:lumMod val="75000"/>
                </a:schemeClr>
              </a:solidFill>
            </a:endParaRPr>
          </a:p>
          <a:p>
            <a:pPr marL="0" indent="0">
              <a:buNone/>
            </a:pPr>
            <a:r>
              <a:rPr lang="en-US" sz="1200" dirty="0">
                <a:solidFill>
                  <a:schemeClr val="accent3">
                    <a:lumMod val="75000"/>
                  </a:schemeClr>
                </a:solidFill>
                <a:ea typeface="Aptos" pitchFamily="34" charset="-122"/>
                <a:cs typeface="Aptos" pitchFamily="34" charset="-120"/>
              </a:rPr>
              <a:t>Proposed IP06 claim inception</a:t>
            </a:r>
            <a:endParaRPr lang="en-US" sz="1200" dirty="0">
              <a:solidFill>
                <a:schemeClr val="accent3">
                  <a:lumMod val="75000"/>
                </a:schemeClr>
              </a:solidFill>
            </a:endParaRPr>
          </a:p>
        </p:txBody>
      </p:sp>
      <p:sp>
        <p:nvSpPr>
          <p:cNvPr id="285" name="Shape 54">
            <a:extLst>
              <a:ext uri="{FF2B5EF4-FFF2-40B4-BE49-F238E27FC236}">
                <a16:creationId xmlns:a16="http://schemas.microsoft.com/office/drawing/2014/main" id="{3D37E423-6D67-0922-418F-F1C76EA47826}"/>
              </a:ext>
            </a:extLst>
          </p:cNvPr>
          <p:cNvSpPr/>
          <p:nvPr/>
        </p:nvSpPr>
        <p:spPr>
          <a:xfrm>
            <a:off x="11542175" y="7459424"/>
            <a:ext cx="109728" cy="109728"/>
          </a:xfrm>
          <a:prstGeom prst="ellipse">
            <a:avLst/>
          </a:prstGeom>
          <a:solidFill>
            <a:srgbClr val="C77835"/>
          </a:solidFill>
          <a:ln w="12700">
            <a:solidFill>
              <a:srgbClr val="C77835"/>
            </a:solidFill>
            <a:prstDash val="solid"/>
          </a:ln>
        </p:spPr>
        <p:txBody>
          <a:bodyPr/>
          <a:lstStyle/>
          <a:p>
            <a:endParaRPr lang="en-GB" sz="1200"/>
          </a:p>
        </p:txBody>
      </p:sp>
      <p:sp>
        <p:nvSpPr>
          <p:cNvPr id="289" name="Text 55">
            <a:extLst>
              <a:ext uri="{FF2B5EF4-FFF2-40B4-BE49-F238E27FC236}">
                <a16:creationId xmlns:a16="http://schemas.microsoft.com/office/drawing/2014/main" id="{71A8C29B-17CD-F69C-2BAA-AEEC8BF5D55A}"/>
              </a:ext>
            </a:extLst>
          </p:cNvPr>
          <p:cNvSpPr/>
          <p:nvPr/>
        </p:nvSpPr>
        <p:spPr>
          <a:xfrm>
            <a:off x="10993535" y="7596585"/>
            <a:ext cx="1114738" cy="703646"/>
          </a:xfrm>
          <a:prstGeom prst="rect">
            <a:avLst/>
          </a:prstGeom>
          <a:noFill/>
          <a:ln/>
        </p:spPr>
        <p:txBody>
          <a:bodyPr wrap="square" lIns="0" tIns="0" rIns="0" bIns="0" rtlCol="0" anchor="ctr">
            <a:noAutofit/>
          </a:bodyPr>
          <a:lstStyle/>
          <a:p>
            <a:pPr marL="0" indent="0">
              <a:buNone/>
            </a:pPr>
            <a:r>
              <a:rPr lang="en-US" sz="1200" dirty="0">
                <a:solidFill>
                  <a:schemeClr val="accent3">
                    <a:lumMod val="75000"/>
                  </a:schemeClr>
                </a:solidFill>
                <a:ea typeface="Aptos" pitchFamily="34" charset="-122"/>
                <a:cs typeface="Aptos" pitchFamily="34" charset="-120"/>
              </a:rPr>
              <a:t>CMI WP 131 / IP11 Claim inception &amp; termination</a:t>
            </a:r>
            <a:endParaRPr lang="en-US" sz="1200" dirty="0">
              <a:solidFill>
                <a:schemeClr val="accent3">
                  <a:lumMod val="75000"/>
                </a:schemeClr>
              </a:solidFill>
            </a:endParaRPr>
          </a:p>
        </p:txBody>
      </p:sp>
      <p:sp>
        <p:nvSpPr>
          <p:cNvPr id="292" name="Shape 56">
            <a:extLst>
              <a:ext uri="{FF2B5EF4-FFF2-40B4-BE49-F238E27FC236}">
                <a16:creationId xmlns:a16="http://schemas.microsoft.com/office/drawing/2014/main" id="{ADA4C24C-340C-1F88-3319-28EB18CC0656}"/>
              </a:ext>
            </a:extLst>
          </p:cNvPr>
          <p:cNvSpPr/>
          <p:nvPr/>
        </p:nvSpPr>
        <p:spPr>
          <a:xfrm>
            <a:off x="11717574" y="7459424"/>
            <a:ext cx="109728" cy="109728"/>
          </a:xfrm>
          <a:prstGeom prst="ellipse">
            <a:avLst/>
          </a:prstGeom>
          <a:solidFill>
            <a:srgbClr val="C77835"/>
          </a:solidFill>
          <a:ln w="12700">
            <a:solidFill>
              <a:srgbClr val="C77835"/>
            </a:solidFill>
            <a:prstDash val="solid"/>
          </a:ln>
        </p:spPr>
        <p:txBody>
          <a:bodyPr/>
          <a:lstStyle/>
          <a:p>
            <a:endParaRPr lang="en-GB" sz="1200"/>
          </a:p>
        </p:txBody>
      </p:sp>
      <p:sp>
        <p:nvSpPr>
          <p:cNvPr id="294" name="Text 57">
            <a:extLst>
              <a:ext uri="{FF2B5EF4-FFF2-40B4-BE49-F238E27FC236}">
                <a16:creationId xmlns:a16="http://schemas.microsoft.com/office/drawing/2014/main" id="{66E7E74C-A259-578D-E088-378D6F7D0779}"/>
              </a:ext>
            </a:extLst>
          </p:cNvPr>
          <p:cNvSpPr/>
          <p:nvPr/>
        </p:nvSpPr>
        <p:spPr>
          <a:xfrm>
            <a:off x="11616191" y="6599960"/>
            <a:ext cx="1113851" cy="832032"/>
          </a:xfrm>
          <a:prstGeom prst="rect">
            <a:avLst/>
          </a:prstGeom>
          <a:noFill/>
          <a:ln/>
        </p:spPr>
        <p:txBody>
          <a:bodyPr wrap="square" lIns="0" tIns="0" rIns="0" bIns="0" rtlCol="0" anchor="ctr">
            <a:noAutofit/>
          </a:bodyPr>
          <a:lstStyle/>
          <a:p>
            <a:pPr marL="0" indent="0">
              <a:buNone/>
            </a:pPr>
            <a:r>
              <a:rPr lang="en-US" sz="1200" dirty="0">
                <a:solidFill>
                  <a:schemeClr val="accent3">
                    <a:lumMod val="75000"/>
                  </a:schemeClr>
                </a:solidFill>
                <a:ea typeface="Aptos" pitchFamily="34" charset="-122"/>
                <a:cs typeface="Aptos" pitchFamily="34" charset="-120"/>
              </a:rPr>
              <a:t>CMI IP Tool v1.2</a:t>
            </a:r>
            <a:endParaRPr lang="en-US" sz="1200" dirty="0">
              <a:solidFill>
                <a:schemeClr val="accent3">
                  <a:lumMod val="75000"/>
                </a:schemeClr>
              </a:solidFill>
            </a:endParaRPr>
          </a:p>
          <a:p>
            <a:pPr marL="0" indent="0">
              <a:buNone/>
            </a:pPr>
            <a:r>
              <a:rPr lang="en-US" sz="1200" dirty="0">
                <a:solidFill>
                  <a:schemeClr val="accent3">
                    <a:lumMod val="75000"/>
                  </a:schemeClr>
                </a:solidFill>
                <a:ea typeface="Aptos" pitchFamily="34" charset="-122"/>
                <a:cs typeface="Aptos" pitchFamily="34" charset="-120"/>
              </a:rPr>
              <a:t>Income protection modelling tool</a:t>
            </a:r>
            <a:endParaRPr lang="en-US" sz="1200" dirty="0">
              <a:solidFill>
                <a:schemeClr val="accent3">
                  <a:lumMod val="75000"/>
                </a:schemeClr>
              </a:solidFill>
            </a:endParaRPr>
          </a:p>
        </p:txBody>
      </p:sp>
      <p:sp>
        <p:nvSpPr>
          <p:cNvPr id="296" name="Shape 59">
            <a:extLst>
              <a:ext uri="{FF2B5EF4-FFF2-40B4-BE49-F238E27FC236}">
                <a16:creationId xmlns:a16="http://schemas.microsoft.com/office/drawing/2014/main" id="{B4C95AA1-17BA-5C53-3653-7EB5EF856DE2}"/>
              </a:ext>
            </a:extLst>
          </p:cNvPr>
          <p:cNvSpPr/>
          <p:nvPr/>
        </p:nvSpPr>
        <p:spPr>
          <a:xfrm>
            <a:off x="2827112" y="4880816"/>
            <a:ext cx="9646920" cy="0"/>
          </a:xfrm>
          <a:prstGeom prst="line">
            <a:avLst/>
          </a:prstGeom>
          <a:noFill/>
          <a:ln w="29210">
            <a:solidFill>
              <a:srgbClr val="168A80">
                <a:alpha val="75000"/>
              </a:srgbClr>
            </a:solidFill>
            <a:prstDash val="solid"/>
          </a:ln>
        </p:spPr>
        <p:txBody>
          <a:bodyPr/>
          <a:lstStyle/>
          <a:p>
            <a:endParaRPr lang="en-GB" sz="1200"/>
          </a:p>
        </p:txBody>
      </p:sp>
      <p:sp>
        <p:nvSpPr>
          <p:cNvPr id="298" name="Shape 60">
            <a:extLst>
              <a:ext uri="{FF2B5EF4-FFF2-40B4-BE49-F238E27FC236}">
                <a16:creationId xmlns:a16="http://schemas.microsoft.com/office/drawing/2014/main" id="{FA281C8D-54FA-45DA-AA90-7DBE85699C0D}"/>
              </a:ext>
            </a:extLst>
          </p:cNvPr>
          <p:cNvSpPr/>
          <p:nvPr/>
        </p:nvSpPr>
        <p:spPr>
          <a:xfrm>
            <a:off x="11542175" y="4825952"/>
            <a:ext cx="109728" cy="109728"/>
          </a:xfrm>
          <a:prstGeom prst="ellipse">
            <a:avLst/>
          </a:prstGeom>
          <a:solidFill>
            <a:srgbClr val="168A80"/>
          </a:solidFill>
          <a:ln w="12700">
            <a:solidFill>
              <a:srgbClr val="168A80"/>
            </a:solidFill>
            <a:prstDash val="solid"/>
          </a:ln>
        </p:spPr>
        <p:txBody>
          <a:bodyPr/>
          <a:lstStyle/>
          <a:p>
            <a:endParaRPr lang="en-GB" sz="1200"/>
          </a:p>
        </p:txBody>
      </p:sp>
      <p:sp>
        <p:nvSpPr>
          <p:cNvPr id="300" name="Text 61">
            <a:extLst>
              <a:ext uri="{FF2B5EF4-FFF2-40B4-BE49-F238E27FC236}">
                <a16:creationId xmlns:a16="http://schemas.microsoft.com/office/drawing/2014/main" id="{887AB605-B036-9B51-07AD-74CEC16F02BD}"/>
              </a:ext>
            </a:extLst>
          </p:cNvPr>
          <p:cNvSpPr/>
          <p:nvPr/>
        </p:nvSpPr>
        <p:spPr>
          <a:xfrm>
            <a:off x="10770339" y="3924834"/>
            <a:ext cx="899434" cy="887402"/>
          </a:xfrm>
          <a:prstGeom prst="rect">
            <a:avLst/>
          </a:prstGeom>
          <a:noFill/>
          <a:ln/>
        </p:spPr>
        <p:txBody>
          <a:bodyPr wrap="square" lIns="0" tIns="0" rIns="0" bIns="0" rtlCol="0" anchor="ctr">
            <a:noAutofit/>
          </a:bodyPr>
          <a:lstStyle/>
          <a:p>
            <a:pPr marL="0" indent="0">
              <a:buNone/>
            </a:pPr>
            <a:r>
              <a:rPr lang="en-US" sz="1200" dirty="0">
                <a:solidFill>
                  <a:schemeClr val="accent4">
                    <a:lumMod val="50000"/>
                  </a:schemeClr>
                </a:solidFill>
                <a:ea typeface="Aptos" pitchFamily="34" charset="-122"/>
                <a:cs typeface="Aptos" pitchFamily="34" charset="-120"/>
              </a:rPr>
              <a:t>Parker et al.</a:t>
            </a:r>
            <a:endParaRPr lang="en-US" sz="1200" dirty="0">
              <a:solidFill>
                <a:schemeClr val="accent4">
                  <a:lumMod val="50000"/>
                </a:schemeClr>
              </a:solidFill>
            </a:endParaRPr>
          </a:p>
          <a:p>
            <a:pPr marL="0" indent="0">
              <a:buNone/>
            </a:pPr>
            <a:r>
              <a:rPr lang="en-US" sz="1200" dirty="0">
                <a:solidFill>
                  <a:schemeClr val="accent4">
                    <a:lumMod val="50000"/>
                  </a:schemeClr>
                </a:solidFill>
                <a:ea typeface="Aptos" pitchFamily="34" charset="-122"/>
                <a:cs typeface="Aptos" pitchFamily="34" charset="-120"/>
              </a:rPr>
              <a:t>Review + England estimates</a:t>
            </a:r>
            <a:endParaRPr lang="en-US" sz="1200" dirty="0">
              <a:solidFill>
                <a:schemeClr val="accent4">
                  <a:lumMod val="50000"/>
                </a:schemeClr>
              </a:solidFill>
            </a:endParaRPr>
          </a:p>
        </p:txBody>
      </p:sp>
      <p:sp>
        <p:nvSpPr>
          <p:cNvPr id="302" name="Shape 62">
            <a:extLst>
              <a:ext uri="{FF2B5EF4-FFF2-40B4-BE49-F238E27FC236}">
                <a16:creationId xmlns:a16="http://schemas.microsoft.com/office/drawing/2014/main" id="{2CB60452-56C3-335F-D4D1-2785F1508C4F}"/>
              </a:ext>
            </a:extLst>
          </p:cNvPr>
          <p:cNvSpPr/>
          <p:nvPr/>
        </p:nvSpPr>
        <p:spPr>
          <a:xfrm>
            <a:off x="11717574" y="4825952"/>
            <a:ext cx="109728" cy="109728"/>
          </a:xfrm>
          <a:prstGeom prst="ellipse">
            <a:avLst/>
          </a:prstGeom>
          <a:solidFill>
            <a:srgbClr val="168A80"/>
          </a:solidFill>
          <a:ln w="12700">
            <a:solidFill>
              <a:srgbClr val="168A80"/>
            </a:solidFill>
            <a:prstDash val="solid"/>
          </a:ln>
        </p:spPr>
        <p:txBody>
          <a:bodyPr/>
          <a:lstStyle/>
          <a:p>
            <a:endParaRPr lang="en-GB" sz="1200"/>
          </a:p>
        </p:txBody>
      </p:sp>
      <p:sp>
        <p:nvSpPr>
          <p:cNvPr id="304" name="Text 63">
            <a:extLst>
              <a:ext uri="{FF2B5EF4-FFF2-40B4-BE49-F238E27FC236}">
                <a16:creationId xmlns:a16="http://schemas.microsoft.com/office/drawing/2014/main" id="{2F499B15-7A81-9C3C-837F-3A2FAAAC3B5A}"/>
              </a:ext>
            </a:extLst>
          </p:cNvPr>
          <p:cNvSpPr/>
          <p:nvPr/>
        </p:nvSpPr>
        <p:spPr>
          <a:xfrm>
            <a:off x="11114178" y="5008832"/>
            <a:ext cx="713124" cy="768026"/>
          </a:xfrm>
          <a:prstGeom prst="rect">
            <a:avLst/>
          </a:prstGeom>
          <a:noFill/>
          <a:ln/>
        </p:spPr>
        <p:txBody>
          <a:bodyPr wrap="square" lIns="0" tIns="0" rIns="0" bIns="0" rtlCol="0" anchor="ctr">
            <a:noAutofit/>
          </a:bodyPr>
          <a:lstStyle/>
          <a:p>
            <a:pPr marL="0" indent="0">
              <a:buNone/>
            </a:pPr>
            <a:r>
              <a:rPr lang="en-US" sz="1200" dirty="0">
                <a:solidFill>
                  <a:schemeClr val="accent4">
                    <a:lumMod val="50000"/>
                  </a:schemeClr>
                </a:solidFill>
                <a:ea typeface="Aptos" pitchFamily="34" charset="-122"/>
                <a:cs typeface="Aptos" pitchFamily="34" charset="-120"/>
              </a:rPr>
              <a:t>Dudel</a:t>
            </a:r>
            <a:endParaRPr lang="en-US" sz="1200" dirty="0">
              <a:solidFill>
                <a:schemeClr val="accent4">
                  <a:lumMod val="50000"/>
                </a:schemeClr>
              </a:solidFill>
            </a:endParaRPr>
          </a:p>
          <a:p>
            <a:pPr marL="0" indent="0">
              <a:buNone/>
            </a:pPr>
            <a:r>
              <a:rPr lang="en-US" sz="1200" dirty="0">
                <a:solidFill>
                  <a:schemeClr val="accent4">
                    <a:lumMod val="50000"/>
                  </a:schemeClr>
                </a:solidFill>
                <a:ea typeface="Aptos" pitchFamily="34" charset="-122"/>
                <a:cs typeface="Aptos" pitchFamily="34" charset="-120"/>
              </a:rPr>
              <a:t>Healthy / unhealthy WLE</a:t>
            </a:r>
            <a:endParaRPr lang="en-US" sz="1200" dirty="0">
              <a:solidFill>
                <a:schemeClr val="accent4">
                  <a:lumMod val="50000"/>
                </a:schemeClr>
              </a:solidFill>
            </a:endParaRPr>
          </a:p>
        </p:txBody>
      </p:sp>
      <p:sp>
        <p:nvSpPr>
          <p:cNvPr id="306" name="Shape 64">
            <a:extLst>
              <a:ext uri="{FF2B5EF4-FFF2-40B4-BE49-F238E27FC236}">
                <a16:creationId xmlns:a16="http://schemas.microsoft.com/office/drawing/2014/main" id="{F15039F4-F2A9-A96C-6A0B-DA997AA59F72}"/>
              </a:ext>
            </a:extLst>
          </p:cNvPr>
          <p:cNvSpPr/>
          <p:nvPr/>
        </p:nvSpPr>
        <p:spPr>
          <a:xfrm>
            <a:off x="11892972" y="4825952"/>
            <a:ext cx="109728" cy="109728"/>
          </a:xfrm>
          <a:prstGeom prst="ellipse">
            <a:avLst/>
          </a:prstGeom>
          <a:solidFill>
            <a:srgbClr val="168A80"/>
          </a:solidFill>
          <a:ln w="12700">
            <a:solidFill>
              <a:srgbClr val="168A80"/>
            </a:solidFill>
            <a:prstDash val="solid"/>
          </a:ln>
        </p:spPr>
        <p:txBody>
          <a:bodyPr/>
          <a:lstStyle/>
          <a:p>
            <a:endParaRPr lang="en-GB" sz="1200"/>
          </a:p>
        </p:txBody>
      </p:sp>
      <p:sp>
        <p:nvSpPr>
          <p:cNvPr id="308" name="Text 65">
            <a:extLst>
              <a:ext uri="{FF2B5EF4-FFF2-40B4-BE49-F238E27FC236}">
                <a16:creationId xmlns:a16="http://schemas.microsoft.com/office/drawing/2014/main" id="{011D4DB8-511F-3B45-2F9D-9B827CFADE62}"/>
              </a:ext>
            </a:extLst>
          </p:cNvPr>
          <p:cNvSpPr/>
          <p:nvPr/>
        </p:nvSpPr>
        <p:spPr>
          <a:xfrm>
            <a:off x="11717574" y="3746524"/>
            <a:ext cx="1052386" cy="1051996"/>
          </a:xfrm>
          <a:prstGeom prst="rect">
            <a:avLst/>
          </a:prstGeom>
          <a:noFill/>
          <a:ln/>
        </p:spPr>
        <p:txBody>
          <a:bodyPr wrap="square" lIns="0" tIns="0" rIns="0" bIns="0" rtlCol="0" anchor="ctr">
            <a:noAutofit/>
          </a:bodyPr>
          <a:lstStyle/>
          <a:p>
            <a:pPr marL="0" indent="0">
              <a:buNone/>
            </a:pPr>
            <a:r>
              <a:rPr lang="en-US" sz="1200" dirty="0">
                <a:solidFill>
                  <a:schemeClr val="accent4">
                    <a:lumMod val="50000"/>
                  </a:schemeClr>
                </a:solidFill>
                <a:ea typeface="Aptos" pitchFamily="34" charset="-122"/>
                <a:cs typeface="Aptos" pitchFamily="34" charset="-120"/>
              </a:rPr>
              <a:t>Lynch; Heller; Weber</a:t>
            </a:r>
            <a:endParaRPr lang="en-US" sz="1200" dirty="0">
              <a:solidFill>
                <a:schemeClr val="accent4">
                  <a:lumMod val="50000"/>
                </a:schemeClr>
              </a:solidFill>
            </a:endParaRPr>
          </a:p>
          <a:p>
            <a:pPr marL="0" indent="0">
              <a:buNone/>
            </a:pPr>
            <a:r>
              <a:rPr lang="en-US" sz="1200" dirty="0">
                <a:solidFill>
                  <a:schemeClr val="accent4">
                    <a:lumMod val="50000"/>
                  </a:schemeClr>
                </a:solidFill>
                <a:ea typeface="Aptos" pitchFamily="34" charset="-122"/>
                <a:cs typeface="Aptos" pitchFamily="34" charset="-120"/>
              </a:rPr>
              <a:t>England / Germany / Europe</a:t>
            </a:r>
            <a:endParaRPr lang="en-US" sz="1200" dirty="0">
              <a:solidFill>
                <a:schemeClr val="accent4">
                  <a:lumMod val="50000"/>
                </a:schemeClr>
              </a:solidFill>
            </a:endParaRPr>
          </a:p>
        </p:txBody>
      </p:sp>
      <p:sp>
        <p:nvSpPr>
          <p:cNvPr id="310" name="Shape 66">
            <a:extLst>
              <a:ext uri="{FF2B5EF4-FFF2-40B4-BE49-F238E27FC236}">
                <a16:creationId xmlns:a16="http://schemas.microsoft.com/office/drawing/2014/main" id="{2D8B534C-7693-0077-5630-CCF8C766151E}"/>
              </a:ext>
            </a:extLst>
          </p:cNvPr>
          <p:cNvSpPr/>
          <p:nvPr/>
        </p:nvSpPr>
        <p:spPr>
          <a:xfrm>
            <a:off x="12243769" y="4825952"/>
            <a:ext cx="109728" cy="109728"/>
          </a:xfrm>
          <a:prstGeom prst="ellipse">
            <a:avLst/>
          </a:prstGeom>
          <a:solidFill>
            <a:srgbClr val="168A80"/>
          </a:solidFill>
          <a:ln w="12700">
            <a:solidFill>
              <a:srgbClr val="168A80"/>
            </a:solidFill>
            <a:prstDash val="solid"/>
          </a:ln>
        </p:spPr>
        <p:txBody>
          <a:bodyPr/>
          <a:lstStyle/>
          <a:p>
            <a:endParaRPr lang="en-GB" sz="1200"/>
          </a:p>
        </p:txBody>
      </p:sp>
      <p:sp>
        <p:nvSpPr>
          <p:cNvPr id="312" name="Text 67">
            <a:extLst>
              <a:ext uri="{FF2B5EF4-FFF2-40B4-BE49-F238E27FC236}">
                <a16:creationId xmlns:a16="http://schemas.microsoft.com/office/drawing/2014/main" id="{C9D52531-7646-E4C1-DF86-04B41944CD7B}"/>
              </a:ext>
            </a:extLst>
          </p:cNvPr>
          <p:cNvSpPr/>
          <p:nvPr/>
        </p:nvSpPr>
        <p:spPr>
          <a:xfrm>
            <a:off x="11947836" y="4922850"/>
            <a:ext cx="987552" cy="990009"/>
          </a:xfrm>
          <a:prstGeom prst="rect">
            <a:avLst/>
          </a:prstGeom>
          <a:noFill/>
          <a:ln/>
        </p:spPr>
        <p:txBody>
          <a:bodyPr wrap="square" lIns="0" tIns="0" rIns="0" bIns="0" rtlCol="0" anchor="ctr">
            <a:noAutofit/>
          </a:bodyPr>
          <a:lstStyle/>
          <a:p>
            <a:pPr marL="0" indent="0">
              <a:buNone/>
            </a:pPr>
            <a:r>
              <a:rPr lang="en-US" sz="1200" dirty="0">
                <a:solidFill>
                  <a:schemeClr val="accent4">
                    <a:lumMod val="50000"/>
                  </a:schemeClr>
                </a:solidFill>
                <a:ea typeface="Aptos" pitchFamily="34" charset="-122"/>
                <a:cs typeface="Aptos" pitchFamily="34" charset="-120"/>
              </a:rPr>
              <a:t>Lynch et al.</a:t>
            </a:r>
            <a:endParaRPr lang="en-US" sz="1200" dirty="0">
              <a:solidFill>
                <a:schemeClr val="accent4">
                  <a:lumMod val="50000"/>
                </a:schemeClr>
              </a:solidFill>
            </a:endParaRPr>
          </a:p>
          <a:p>
            <a:pPr marL="0" indent="0">
              <a:buNone/>
            </a:pPr>
            <a:r>
              <a:rPr lang="en-US" sz="1200" dirty="0">
                <a:solidFill>
                  <a:schemeClr val="accent4">
                    <a:lumMod val="50000"/>
                  </a:schemeClr>
                </a:solidFill>
                <a:ea typeface="Aptos" pitchFamily="34" charset="-122"/>
                <a:cs typeface="Aptos" pitchFamily="34" charset="-120"/>
              </a:rPr>
              <a:t>HWLE determinants at age 50</a:t>
            </a:r>
            <a:endParaRPr lang="en-US" sz="1200" dirty="0">
              <a:solidFill>
                <a:schemeClr val="accent4">
                  <a:lumMod val="50000"/>
                </a:schemeClr>
              </a:solidFill>
            </a:endParaRPr>
          </a:p>
        </p:txBody>
      </p:sp>
      <p:sp>
        <p:nvSpPr>
          <p:cNvPr id="314" name="Text 58">
            <a:extLst>
              <a:ext uri="{FF2B5EF4-FFF2-40B4-BE49-F238E27FC236}">
                <a16:creationId xmlns:a16="http://schemas.microsoft.com/office/drawing/2014/main" id="{A6896A0C-53C6-6DCF-0CD4-4CBBBD6BB842}"/>
              </a:ext>
            </a:extLst>
          </p:cNvPr>
          <p:cNvSpPr/>
          <p:nvPr/>
        </p:nvSpPr>
        <p:spPr>
          <a:xfrm>
            <a:off x="1181608" y="4665691"/>
            <a:ext cx="1508760" cy="457200"/>
          </a:xfrm>
          <a:prstGeom prst="rect">
            <a:avLst/>
          </a:prstGeom>
          <a:noFill/>
          <a:ln/>
        </p:spPr>
        <p:txBody>
          <a:bodyPr wrap="square" lIns="0" tIns="0" rIns="0" bIns="0" rtlCol="0" anchor="ctr">
            <a:noAutofit/>
          </a:bodyPr>
          <a:lstStyle/>
          <a:p>
            <a:pPr marL="0" indent="0">
              <a:buNone/>
            </a:pPr>
            <a:r>
              <a:rPr lang="en-US" sz="1600" b="1" dirty="0">
                <a:solidFill>
                  <a:srgbClr val="168A80"/>
                </a:solidFill>
                <a:ea typeface="Aptos" pitchFamily="34" charset="-122"/>
                <a:cs typeface="Aptos" pitchFamily="34" charset="-120"/>
              </a:rPr>
              <a:t>HWLE estimates for the UK</a:t>
            </a:r>
            <a:endParaRPr lang="en-US" sz="1600" dirty="0"/>
          </a:p>
        </p:txBody>
      </p:sp>
      <p:sp>
        <p:nvSpPr>
          <p:cNvPr id="316" name="Text 34">
            <a:extLst>
              <a:ext uri="{FF2B5EF4-FFF2-40B4-BE49-F238E27FC236}">
                <a16:creationId xmlns:a16="http://schemas.microsoft.com/office/drawing/2014/main" id="{84B7A2D4-F239-861F-011E-21F5ECCDFEA2}"/>
              </a:ext>
            </a:extLst>
          </p:cNvPr>
          <p:cNvSpPr/>
          <p:nvPr/>
        </p:nvSpPr>
        <p:spPr>
          <a:xfrm>
            <a:off x="1221509" y="5957081"/>
            <a:ext cx="1508760" cy="457200"/>
          </a:xfrm>
          <a:prstGeom prst="rect">
            <a:avLst/>
          </a:prstGeom>
          <a:noFill/>
          <a:ln/>
        </p:spPr>
        <p:txBody>
          <a:bodyPr wrap="square" lIns="0" tIns="0" rIns="0" bIns="0" rtlCol="0" anchor="ctr">
            <a:noAutofit/>
          </a:bodyPr>
          <a:lstStyle/>
          <a:p>
            <a:pPr marL="0" indent="0">
              <a:buNone/>
            </a:pPr>
            <a:r>
              <a:rPr lang="en-US" sz="1600" b="1" dirty="0">
                <a:solidFill>
                  <a:srgbClr val="7354A5"/>
                </a:solidFill>
                <a:ea typeface="Aptos" pitchFamily="34" charset="-122"/>
                <a:cs typeface="Aptos" pitchFamily="34" charset="-120"/>
              </a:rPr>
              <a:t>Journal of the Institute of Actuaries</a:t>
            </a:r>
            <a:endParaRPr lang="en-US" sz="1600" dirty="0"/>
          </a:p>
        </p:txBody>
      </p:sp>
      <p:sp>
        <p:nvSpPr>
          <p:cNvPr id="318" name="Text 46">
            <a:extLst>
              <a:ext uri="{FF2B5EF4-FFF2-40B4-BE49-F238E27FC236}">
                <a16:creationId xmlns:a16="http://schemas.microsoft.com/office/drawing/2014/main" id="{AA591EF3-3DF6-16EC-BAA7-A1C5EA31865B}"/>
              </a:ext>
            </a:extLst>
          </p:cNvPr>
          <p:cNvSpPr/>
          <p:nvPr/>
        </p:nvSpPr>
        <p:spPr>
          <a:xfrm>
            <a:off x="1117600" y="7285688"/>
            <a:ext cx="1508760" cy="457200"/>
          </a:xfrm>
          <a:prstGeom prst="rect">
            <a:avLst/>
          </a:prstGeom>
          <a:noFill/>
          <a:ln/>
        </p:spPr>
        <p:txBody>
          <a:bodyPr wrap="square" lIns="0" tIns="0" rIns="0" bIns="0" rtlCol="0" anchor="ctr">
            <a:noAutofit/>
          </a:bodyPr>
          <a:lstStyle/>
          <a:p>
            <a:pPr marL="0" indent="0">
              <a:buNone/>
            </a:pPr>
            <a:r>
              <a:rPr lang="en-US" sz="1600" b="1" dirty="0">
                <a:solidFill>
                  <a:srgbClr val="C77835"/>
                </a:solidFill>
                <a:ea typeface="Aptos" pitchFamily="34" charset="-122"/>
                <a:cs typeface="Aptos" pitchFamily="34" charset="-120"/>
              </a:rPr>
              <a:t>CMI Income Protection investigations</a:t>
            </a:r>
            <a:endParaRPr lang="en-US" sz="1600" dirty="0"/>
          </a:p>
        </p:txBody>
      </p:sp>
      <p:sp>
        <p:nvSpPr>
          <p:cNvPr id="320" name="Text 1">
            <a:extLst>
              <a:ext uri="{FF2B5EF4-FFF2-40B4-BE49-F238E27FC236}">
                <a16:creationId xmlns:a16="http://schemas.microsoft.com/office/drawing/2014/main" id="{1DD7A9AC-D652-05E5-F204-8DC643F7D400}"/>
              </a:ext>
            </a:extLst>
          </p:cNvPr>
          <p:cNvSpPr/>
          <p:nvPr/>
        </p:nvSpPr>
        <p:spPr>
          <a:xfrm>
            <a:off x="1135472" y="2229056"/>
            <a:ext cx="10972800" cy="228600"/>
          </a:xfrm>
          <a:prstGeom prst="rect">
            <a:avLst/>
          </a:prstGeom>
          <a:noFill/>
          <a:ln/>
        </p:spPr>
        <p:txBody>
          <a:bodyPr wrap="square" lIns="0" tIns="0" rIns="0" bIns="0" rtlCol="0" anchor="ctr">
            <a:noAutofit/>
          </a:bodyPr>
          <a:lstStyle/>
          <a:p>
            <a:pPr marL="0" indent="0">
              <a:buNone/>
            </a:pPr>
            <a:r>
              <a:rPr lang="en-US" sz="2000" dirty="0">
                <a:solidFill>
                  <a:srgbClr val="64748B"/>
                </a:solidFill>
                <a:ea typeface="Aptos" pitchFamily="34" charset="-122"/>
                <a:cs typeface="Arial" panose="020B0604020202020204" pitchFamily="34" charset="0"/>
              </a:rPr>
              <a:t>Selected academic and actuarial publications | 1970–2025</a:t>
            </a:r>
            <a:endParaRPr lang="en-US" sz="2000" dirty="0">
              <a:cs typeface="Arial" panose="020B0604020202020204" pitchFamily="34" charset="0"/>
            </a:endParaRPr>
          </a:p>
        </p:txBody>
      </p:sp>
    </p:spTree>
    <p:extLst>
      <p:ext uri="{BB962C8B-B14F-4D97-AF65-F5344CB8AC3E}">
        <p14:creationId xmlns:p14="http://schemas.microsoft.com/office/powerpoint/2010/main" val="3226360902"/>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E03EF-0969-1A21-8EAE-7BA2A7DA585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06663CF-BEF0-6906-D38A-07FA0F3179EE}"/>
              </a:ext>
            </a:extLst>
          </p:cNvPr>
          <p:cNvSpPr>
            <a:spLocks noGrp="1"/>
          </p:cNvSpPr>
          <p:nvPr>
            <p:ph type="title"/>
          </p:nvPr>
        </p:nvSpPr>
        <p:spPr/>
        <p:txBody>
          <a:bodyPr/>
          <a:lstStyle/>
          <a:p>
            <a:r>
              <a:rPr lang="en-GB" dirty="0"/>
              <a:t>Healthy Working Life Expectancy as a metric</a:t>
            </a:r>
          </a:p>
        </p:txBody>
      </p:sp>
      <p:sp>
        <p:nvSpPr>
          <p:cNvPr id="5" name="Footer Placeholder 4">
            <a:extLst>
              <a:ext uri="{FF2B5EF4-FFF2-40B4-BE49-F238E27FC236}">
                <a16:creationId xmlns:a16="http://schemas.microsoft.com/office/drawing/2014/main" id="{7C3CFE26-6787-FE08-1676-83B4CF190913}"/>
              </a:ext>
            </a:extLst>
          </p:cNvPr>
          <p:cNvSpPr>
            <a:spLocks noGrp="1"/>
          </p:cNvSpPr>
          <p:nvPr>
            <p:ph type="ftr" sz="quarter" idx="3"/>
          </p:nvPr>
        </p:nvSpPr>
        <p:spPr/>
        <p:txBody>
          <a:bodyPr/>
          <a:lstStyle/>
          <a:p>
            <a:r>
              <a:rPr lang="en-GB"/>
              <a:t>IFoA Life Conference</a:t>
            </a:r>
            <a:endParaRPr lang="en-GB" dirty="0"/>
          </a:p>
        </p:txBody>
      </p:sp>
      <p:sp>
        <p:nvSpPr>
          <p:cNvPr id="6" name="Slide Number Placeholder 5">
            <a:extLst>
              <a:ext uri="{FF2B5EF4-FFF2-40B4-BE49-F238E27FC236}">
                <a16:creationId xmlns:a16="http://schemas.microsoft.com/office/drawing/2014/main" id="{528473B1-5CB6-7BBF-4DAA-30E5003532C1}"/>
              </a:ext>
            </a:extLst>
          </p:cNvPr>
          <p:cNvSpPr>
            <a:spLocks noGrp="1"/>
          </p:cNvSpPr>
          <p:nvPr>
            <p:ph type="sldNum" sz="quarter" idx="4"/>
          </p:nvPr>
        </p:nvSpPr>
        <p:spPr/>
        <p:txBody>
          <a:bodyPr/>
          <a:lstStyle/>
          <a:p>
            <a:fld id="{40FC62D0-A2F2-4BF8-8DAC-E86C11000EC3}" type="slidenum">
              <a:rPr lang="en-GB" smtClean="0"/>
              <a:pPr/>
              <a:t>18</a:t>
            </a:fld>
            <a:endParaRPr lang="en-GB" dirty="0"/>
          </a:p>
        </p:txBody>
      </p:sp>
      <p:sp>
        <p:nvSpPr>
          <p:cNvPr id="7" name="Text Placeholder 6">
            <a:extLst>
              <a:ext uri="{FF2B5EF4-FFF2-40B4-BE49-F238E27FC236}">
                <a16:creationId xmlns:a16="http://schemas.microsoft.com/office/drawing/2014/main" id="{5656079D-D5C1-6369-3C8F-C3D5A96CC6D3}"/>
              </a:ext>
            </a:extLst>
          </p:cNvPr>
          <p:cNvSpPr>
            <a:spLocks noGrp="1"/>
          </p:cNvSpPr>
          <p:nvPr>
            <p:ph type="body" sz="quarter" idx="24"/>
          </p:nvPr>
        </p:nvSpPr>
        <p:spPr/>
        <p:txBody>
          <a:bodyPr/>
          <a:lstStyle/>
          <a:p>
            <a:r>
              <a:rPr lang="en-US" sz="2400" dirty="0">
                <a:latin typeface="+mn-lt"/>
              </a:rPr>
              <a:t>Healthy working-life expectancy first appears as a term in the public health literature in 2007</a:t>
            </a:r>
          </a:p>
        </p:txBody>
      </p:sp>
      <p:sp>
        <p:nvSpPr>
          <p:cNvPr id="247" name="Shape 2">
            <a:extLst>
              <a:ext uri="{FF2B5EF4-FFF2-40B4-BE49-F238E27FC236}">
                <a16:creationId xmlns:a16="http://schemas.microsoft.com/office/drawing/2014/main" id="{69D02156-5C2C-4DC3-7A4C-4059280560D5}"/>
              </a:ext>
            </a:extLst>
          </p:cNvPr>
          <p:cNvSpPr/>
          <p:nvPr/>
        </p:nvSpPr>
        <p:spPr>
          <a:xfrm>
            <a:off x="2827112" y="2850848"/>
            <a:ext cx="0" cy="5166360"/>
          </a:xfrm>
          <a:prstGeom prst="line">
            <a:avLst/>
          </a:prstGeom>
          <a:noFill/>
          <a:ln w="8255">
            <a:solidFill>
              <a:srgbClr val="DFE6EE"/>
            </a:solidFill>
            <a:prstDash val="solid"/>
          </a:ln>
        </p:spPr>
        <p:txBody>
          <a:bodyPr/>
          <a:lstStyle/>
          <a:p>
            <a:endParaRPr lang="en-GB" sz="1200"/>
          </a:p>
        </p:txBody>
      </p:sp>
      <p:sp>
        <p:nvSpPr>
          <p:cNvPr id="249" name="Text 3">
            <a:extLst>
              <a:ext uri="{FF2B5EF4-FFF2-40B4-BE49-F238E27FC236}">
                <a16:creationId xmlns:a16="http://schemas.microsoft.com/office/drawing/2014/main" id="{CB39EED1-2FDD-2EF8-3EDF-29059A271A95}"/>
              </a:ext>
            </a:extLst>
          </p:cNvPr>
          <p:cNvSpPr/>
          <p:nvPr/>
        </p:nvSpPr>
        <p:spPr>
          <a:xfrm>
            <a:off x="2671664"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1970</a:t>
            </a:r>
            <a:endParaRPr lang="en-US" sz="1400" dirty="0"/>
          </a:p>
        </p:txBody>
      </p:sp>
      <p:sp>
        <p:nvSpPr>
          <p:cNvPr id="251" name="Shape 4">
            <a:extLst>
              <a:ext uri="{FF2B5EF4-FFF2-40B4-BE49-F238E27FC236}">
                <a16:creationId xmlns:a16="http://schemas.microsoft.com/office/drawing/2014/main" id="{7DB39A06-23A4-2D49-48EC-BD6A4248D7CF}"/>
              </a:ext>
            </a:extLst>
          </p:cNvPr>
          <p:cNvSpPr/>
          <p:nvPr/>
        </p:nvSpPr>
        <p:spPr>
          <a:xfrm>
            <a:off x="3704105" y="2850848"/>
            <a:ext cx="0" cy="5166360"/>
          </a:xfrm>
          <a:prstGeom prst="line">
            <a:avLst/>
          </a:prstGeom>
          <a:noFill/>
          <a:ln w="8255">
            <a:solidFill>
              <a:srgbClr val="DFE6EE"/>
            </a:solidFill>
            <a:prstDash val="solid"/>
          </a:ln>
        </p:spPr>
        <p:txBody>
          <a:bodyPr/>
          <a:lstStyle/>
          <a:p>
            <a:endParaRPr lang="en-GB" sz="1200"/>
          </a:p>
        </p:txBody>
      </p:sp>
      <p:sp>
        <p:nvSpPr>
          <p:cNvPr id="253" name="Text 5">
            <a:extLst>
              <a:ext uri="{FF2B5EF4-FFF2-40B4-BE49-F238E27FC236}">
                <a16:creationId xmlns:a16="http://schemas.microsoft.com/office/drawing/2014/main" id="{CD24A218-6EAE-560D-120F-F841A7C2131E}"/>
              </a:ext>
            </a:extLst>
          </p:cNvPr>
          <p:cNvSpPr/>
          <p:nvPr/>
        </p:nvSpPr>
        <p:spPr>
          <a:xfrm>
            <a:off x="3548657"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1975</a:t>
            </a:r>
            <a:endParaRPr lang="en-US" sz="1400" dirty="0"/>
          </a:p>
        </p:txBody>
      </p:sp>
      <p:sp>
        <p:nvSpPr>
          <p:cNvPr id="255" name="Shape 6">
            <a:extLst>
              <a:ext uri="{FF2B5EF4-FFF2-40B4-BE49-F238E27FC236}">
                <a16:creationId xmlns:a16="http://schemas.microsoft.com/office/drawing/2014/main" id="{97F64FF5-4823-C850-B683-C00353C2950B}"/>
              </a:ext>
            </a:extLst>
          </p:cNvPr>
          <p:cNvSpPr/>
          <p:nvPr/>
        </p:nvSpPr>
        <p:spPr>
          <a:xfrm>
            <a:off x="4581097" y="2850848"/>
            <a:ext cx="0" cy="5166360"/>
          </a:xfrm>
          <a:prstGeom prst="line">
            <a:avLst/>
          </a:prstGeom>
          <a:noFill/>
          <a:ln w="8255">
            <a:solidFill>
              <a:srgbClr val="DFE6EE"/>
            </a:solidFill>
            <a:prstDash val="solid"/>
          </a:ln>
        </p:spPr>
        <p:txBody>
          <a:bodyPr/>
          <a:lstStyle/>
          <a:p>
            <a:endParaRPr lang="en-GB" sz="1200"/>
          </a:p>
        </p:txBody>
      </p:sp>
      <p:sp>
        <p:nvSpPr>
          <p:cNvPr id="257" name="Text 7">
            <a:extLst>
              <a:ext uri="{FF2B5EF4-FFF2-40B4-BE49-F238E27FC236}">
                <a16:creationId xmlns:a16="http://schemas.microsoft.com/office/drawing/2014/main" id="{74C42DB0-8B90-FF8C-123F-E42A621339B6}"/>
              </a:ext>
            </a:extLst>
          </p:cNvPr>
          <p:cNvSpPr/>
          <p:nvPr/>
        </p:nvSpPr>
        <p:spPr>
          <a:xfrm>
            <a:off x="4425649"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1980</a:t>
            </a:r>
            <a:endParaRPr lang="en-US" sz="1400" dirty="0"/>
          </a:p>
        </p:txBody>
      </p:sp>
      <p:sp>
        <p:nvSpPr>
          <p:cNvPr id="259" name="Shape 8">
            <a:extLst>
              <a:ext uri="{FF2B5EF4-FFF2-40B4-BE49-F238E27FC236}">
                <a16:creationId xmlns:a16="http://schemas.microsoft.com/office/drawing/2014/main" id="{6B489BEC-19FB-CFB2-D2C3-63E721809F9D}"/>
              </a:ext>
            </a:extLst>
          </p:cNvPr>
          <p:cNvSpPr/>
          <p:nvPr/>
        </p:nvSpPr>
        <p:spPr>
          <a:xfrm>
            <a:off x="5458090" y="2850848"/>
            <a:ext cx="0" cy="5166360"/>
          </a:xfrm>
          <a:prstGeom prst="line">
            <a:avLst/>
          </a:prstGeom>
          <a:noFill/>
          <a:ln w="8255">
            <a:solidFill>
              <a:srgbClr val="DFE6EE"/>
            </a:solidFill>
            <a:prstDash val="solid"/>
          </a:ln>
        </p:spPr>
        <p:txBody>
          <a:bodyPr/>
          <a:lstStyle/>
          <a:p>
            <a:endParaRPr lang="en-GB" sz="1200"/>
          </a:p>
        </p:txBody>
      </p:sp>
      <p:sp>
        <p:nvSpPr>
          <p:cNvPr id="261" name="Text 9">
            <a:extLst>
              <a:ext uri="{FF2B5EF4-FFF2-40B4-BE49-F238E27FC236}">
                <a16:creationId xmlns:a16="http://schemas.microsoft.com/office/drawing/2014/main" id="{25503C88-2869-1531-7250-209A3A4DA2F8}"/>
              </a:ext>
            </a:extLst>
          </p:cNvPr>
          <p:cNvSpPr/>
          <p:nvPr/>
        </p:nvSpPr>
        <p:spPr>
          <a:xfrm>
            <a:off x="5302642"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1985</a:t>
            </a:r>
            <a:endParaRPr lang="en-US" sz="1400" dirty="0"/>
          </a:p>
        </p:txBody>
      </p:sp>
      <p:sp>
        <p:nvSpPr>
          <p:cNvPr id="263" name="Shape 10">
            <a:extLst>
              <a:ext uri="{FF2B5EF4-FFF2-40B4-BE49-F238E27FC236}">
                <a16:creationId xmlns:a16="http://schemas.microsoft.com/office/drawing/2014/main" id="{D20B46B7-800B-C842-AC42-744CA54E6502}"/>
              </a:ext>
            </a:extLst>
          </p:cNvPr>
          <p:cNvSpPr/>
          <p:nvPr/>
        </p:nvSpPr>
        <p:spPr>
          <a:xfrm>
            <a:off x="6335083" y="2850848"/>
            <a:ext cx="0" cy="5166360"/>
          </a:xfrm>
          <a:prstGeom prst="line">
            <a:avLst/>
          </a:prstGeom>
          <a:noFill/>
          <a:ln w="8255">
            <a:solidFill>
              <a:srgbClr val="DFE6EE"/>
            </a:solidFill>
            <a:prstDash val="solid"/>
          </a:ln>
        </p:spPr>
        <p:txBody>
          <a:bodyPr/>
          <a:lstStyle/>
          <a:p>
            <a:endParaRPr lang="en-GB" sz="1200"/>
          </a:p>
        </p:txBody>
      </p:sp>
      <p:sp>
        <p:nvSpPr>
          <p:cNvPr id="265" name="Text 11">
            <a:extLst>
              <a:ext uri="{FF2B5EF4-FFF2-40B4-BE49-F238E27FC236}">
                <a16:creationId xmlns:a16="http://schemas.microsoft.com/office/drawing/2014/main" id="{8AC2F5BE-5AB2-1062-21CE-71765ED04582}"/>
              </a:ext>
            </a:extLst>
          </p:cNvPr>
          <p:cNvSpPr/>
          <p:nvPr/>
        </p:nvSpPr>
        <p:spPr>
          <a:xfrm>
            <a:off x="6179635"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1990</a:t>
            </a:r>
            <a:endParaRPr lang="en-US" sz="1400" dirty="0"/>
          </a:p>
        </p:txBody>
      </p:sp>
      <p:sp>
        <p:nvSpPr>
          <p:cNvPr id="267" name="Shape 12">
            <a:extLst>
              <a:ext uri="{FF2B5EF4-FFF2-40B4-BE49-F238E27FC236}">
                <a16:creationId xmlns:a16="http://schemas.microsoft.com/office/drawing/2014/main" id="{4BFD3F4E-A4A7-E0FA-FD05-C27CC3A4ECE8}"/>
              </a:ext>
            </a:extLst>
          </p:cNvPr>
          <p:cNvSpPr/>
          <p:nvPr/>
        </p:nvSpPr>
        <p:spPr>
          <a:xfrm>
            <a:off x="7212076" y="2850848"/>
            <a:ext cx="0" cy="5166360"/>
          </a:xfrm>
          <a:prstGeom prst="line">
            <a:avLst/>
          </a:prstGeom>
          <a:noFill/>
          <a:ln w="8255">
            <a:solidFill>
              <a:srgbClr val="DFE6EE"/>
            </a:solidFill>
            <a:prstDash val="solid"/>
          </a:ln>
        </p:spPr>
        <p:txBody>
          <a:bodyPr/>
          <a:lstStyle/>
          <a:p>
            <a:endParaRPr lang="en-GB" sz="1200"/>
          </a:p>
        </p:txBody>
      </p:sp>
      <p:sp>
        <p:nvSpPr>
          <p:cNvPr id="269" name="Text 13">
            <a:extLst>
              <a:ext uri="{FF2B5EF4-FFF2-40B4-BE49-F238E27FC236}">
                <a16:creationId xmlns:a16="http://schemas.microsoft.com/office/drawing/2014/main" id="{89E7DCD6-F3A4-4917-BE8F-C18A056E0E48}"/>
              </a:ext>
            </a:extLst>
          </p:cNvPr>
          <p:cNvSpPr/>
          <p:nvPr/>
        </p:nvSpPr>
        <p:spPr>
          <a:xfrm>
            <a:off x="7056628"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1995</a:t>
            </a:r>
            <a:endParaRPr lang="en-US" sz="1400" dirty="0"/>
          </a:p>
        </p:txBody>
      </p:sp>
      <p:sp>
        <p:nvSpPr>
          <p:cNvPr id="271" name="Shape 14">
            <a:extLst>
              <a:ext uri="{FF2B5EF4-FFF2-40B4-BE49-F238E27FC236}">
                <a16:creationId xmlns:a16="http://schemas.microsoft.com/office/drawing/2014/main" id="{F2F21914-B56C-B1C7-D503-6DDE07CE2B96}"/>
              </a:ext>
            </a:extLst>
          </p:cNvPr>
          <p:cNvSpPr/>
          <p:nvPr/>
        </p:nvSpPr>
        <p:spPr>
          <a:xfrm>
            <a:off x="8089068" y="2850848"/>
            <a:ext cx="0" cy="5166360"/>
          </a:xfrm>
          <a:prstGeom prst="line">
            <a:avLst/>
          </a:prstGeom>
          <a:noFill/>
          <a:ln w="8255">
            <a:solidFill>
              <a:srgbClr val="DFE6EE"/>
            </a:solidFill>
            <a:prstDash val="solid"/>
          </a:ln>
        </p:spPr>
        <p:txBody>
          <a:bodyPr/>
          <a:lstStyle/>
          <a:p>
            <a:endParaRPr lang="en-GB" sz="1200"/>
          </a:p>
        </p:txBody>
      </p:sp>
      <p:sp>
        <p:nvSpPr>
          <p:cNvPr id="273" name="Text 15">
            <a:extLst>
              <a:ext uri="{FF2B5EF4-FFF2-40B4-BE49-F238E27FC236}">
                <a16:creationId xmlns:a16="http://schemas.microsoft.com/office/drawing/2014/main" id="{E6997AEB-0E66-26F1-ECCD-2194244DE1D6}"/>
              </a:ext>
            </a:extLst>
          </p:cNvPr>
          <p:cNvSpPr/>
          <p:nvPr/>
        </p:nvSpPr>
        <p:spPr>
          <a:xfrm>
            <a:off x="7933620"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2000</a:t>
            </a:r>
            <a:endParaRPr lang="en-US" sz="1400" dirty="0"/>
          </a:p>
        </p:txBody>
      </p:sp>
      <p:sp>
        <p:nvSpPr>
          <p:cNvPr id="275" name="Shape 16">
            <a:extLst>
              <a:ext uri="{FF2B5EF4-FFF2-40B4-BE49-F238E27FC236}">
                <a16:creationId xmlns:a16="http://schemas.microsoft.com/office/drawing/2014/main" id="{2456445A-6AA3-F402-2964-4C4A75C5C11F}"/>
              </a:ext>
            </a:extLst>
          </p:cNvPr>
          <p:cNvSpPr/>
          <p:nvPr/>
        </p:nvSpPr>
        <p:spPr>
          <a:xfrm>
            <a:off x="8966061" y="2850848"/>
            <a:ext cx="0" cy="5166360"/>
          </a:xfrm>
          <a:prstGeom prst="line">
            <a:avLst/>
          </a:prstGeom>
          <a:noFill/>
          <a:ln w="8255">
            <a:solidFill>
              <a:srgbClr val="DFE6EE"/>
            </a:solidFill>
            <a:prstDash val="solid"/>
          </a:ln>
        </p:spPr>
        <p:txBody>
          <a:bodyPr/>
          <a:lstStyle/>
          <a:p>
            <a:endParaRPr lang="en-GB" sz="1200"/>
          </a:p>
        </p:txBody>
      </p:sp>
      <p:sp>
        <p:nvSpPr>
          <p:cNvPr id="277" name="Text 17">
            <a:extLst>
              <a:ext uri="{FF2B5EF4-FFF2-40B4-BE49-F238E27FC236}">
                <a16:creationId xmlns:a16="http://schemas.microsoft.com/office/drawing/2014/main" id="{41B5613D-9075-A1C2-D0C7-055A9D78D6DB}"/>
              </a:ext>
            </a:extLst>
          </p:cNvPr>
          <p:cNvSpPr/>
          <p:nvPr/>
        </p:nvSpPr>
        <p:spPr>
          <a:xfrm>
            <a:off x="8810613"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2005</a:t>
            </a:r>
            <a:endParaRPr lang="en-US" sz="1400" dirty="0"/>
          </a:p>
        </p:txBody>
      </p:sp>
      <p:sp>
        <p:nvSpPr>
          <p:cNvPr id="279" name="Shape 18">
            <a:extLst>
              <a:ext uri="{FF2B5EF4-FFF2-40B4-BE49-F238E27FC236}">
                <a16:creationId xmlns:a16="http://schemas.microsoft.com/office/drawing/2014/main" id="{03EEC015-123D-F7D7-DCCF-C8EBCE45CA75}"/>
              </a:ext>
            </a:extLst>
          </p:cNvPr>
          <p:cNvSpPr/>
          <p:nvPr/>
        </p:nvSpPr>
        <p:spPr>
          <a:xfrm>
            <a:off x="9843054" y="2850848"/>
            <a:ext cx="0" cy="5166360"/>
          </a:xfrm>
          <a:prstGeom prst="line">
            <a:avLst/>
          </a:prstGeom>
          <a:noFill/>
          <a:ln w="8255">
            <a:solidFill>
              <a:srgbClr val="DFE6EE"/>
            </a:solidFill>
            <a:prstDash val="solid"/>
          </a:ln>
        </p:spPr>
        <p:txBody>
          <a:bodyPr/>
          <a:lstStyle/>
          <a:p>
            <a:endParaRPr lang="en-GB" sz="1200"/>
          </a:p>
        </p:txBody>
      </p:sp>
      <p:sp>
        <p:nvSpPr>
          <p:cNvPr id="281" name="Text 19">
            <a:extLst>
              <a:ext uri="{FF2B5EF4-FFF2-40B4-BE49-F238E27FC236}">
                <a16:creationId xmlns:a16="http://schemas.microsoft.com/office/drawing/2014/main" id="{FC14B616-4B02-D460-EFC0-D209F6BB0867}"/>
              </a:ext>
            </a:extLst>
          </p:cNvPr>
          <p:cNvSpPr/>
          <p:nvPr/>
        </p:nvSpPr>
        <p:spPr>
          <a:xfrm>
            <a:off x="9687606"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2010</a:t>
            </a:r>
            <a:endParaRPr lang="en-US" sz="1400" dirty="0"/>
          </a:p>
        </p:txBody>
      </p:sp>
      <p:sp>
        <p:nvSpPr>
          <p:cNvPr id="283" name="Shape 20">
            <a:extLst>
              <a:ext uri="{FF2B5EF4-FFF2-40B4-BE49-F238E27FC236}">
                <a16:creationId xmlns:a16="http://schemas.microsoft.com/office/drawing/2014/main" id="{6778A1F5-BEF7-CE1A-23BF-814E43CB9472}"/>
              </a:ext>
            </a:extLst>
          </p:cNvPr>
          <p:cNvSpPr/>
          <p:nvPr/>
        </p:nvSpPr>
        <p:spPr>
          <a:xfrm>
            <a:off x="10720047" y="2850848"/>
            <a:ext cx="0" cy="5166360"/>
          </a:xfrm>
          <a:prstGeom prst="line">
            <a:avLst/>
          </a:prstGeom>
          <a:noFill/>
          <a:ln w="8255">
            <a:solidFill>
              <a:srgbClr val="DFE6EE"/>
            </a:solidFill>
            <a:prstDash val="solid"/>
          </a:ln>
        </p:spPr>
        <p:txBody>
          <a:bodyPr/>
          <a:lstStyle/>
          <a:p>
            <a:endParaRPr lang="en-GB" sz="1200"/>
          </a:p>
        </p:txBody>
      </p:sp>
      <p:sp>
        <p:nvSpPr>
          <p:cNvPr id="285" name="Text 21">
            <a:extLst>
              <a:ext uri="{FF2B5EF4-FFF2-40B4-BE49-F238E27FC236}">
                <a16:creationId xmlns:a16="http://schemas.microsoft.com/office/drawing/2014/main" id="{2D85E9C2-20A1-9D3E-18FD-34AAACA61018}"/>
              </a:ext>
            </a:extLst>
          </p:cNvPr>
          <p:cNvSpPr/>
          <p:nvPr/>
        </p:nvSpPr>
        <p:spPr>
          <a:xfrm>
            <a:off x="10564599"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2015</a:t>
            </a:r>
            <a:endParaRPr lang="en-US" sz="1400" dirty="0"/>
          </a:p>
        </p:txBody>
      </p:sp>
      <p:sp>
        <p:nvSpPr>
          <p:cNvPr id="287" name="Shape 22">
            <a:extLst>
              <a:ext uri="{FF2B5EF4-FFF2-40B4-BE49-F238E27FC236}">
                <a16:creationId xmlns:a16="http://schemas.microsoft.com/office/drawing/2014/main" id="{DCF0E85F-B70A-F61D-146F-F69C53CB44D2}"/>
              </a:ext>
            </a:extLst>
          </p:cNvPr>
          <p:cNvSpPr/>
          <p:nvPr/>
        </p:nvSpPr>
        <p:spPr>
          <a:xfrm>
            <a:off x="11597039" y="2850848"/>
            <a:ext cx="0" cy="5166360"/>
          </a:xfrm>
          <a:prstGeom prst="line">
            <a:avLst/>
          </a:prstGeom>
          <a:noFill/>
          <a:ln w="8255">
            <a:solidFill>
              <a:srgbClr val="DFE6EE"/>
            </a:solidFill>
            <a:prstDash val="solid"/>
          </a:ln>
        </p:spPr>
        <p:txBody>
          <a:bodyPr/>
          <a:lstStyle/>
          <a:p>
            <a:endParaRPr lang="en-GB" sz="1200"/>
          </a:p>
        </p:txBody>
      </p:sp>
      <p:sp>
        <p:nvSpPr>
          <p:cNvPr id="289" name="Text 23">
            <a:extLst>
              <a:ext uri="{FF2B5EF4-FFF2-40B4-BE49-F238E27FC236}">
                <a16:creationId xmlns:a16="http://schemas.microsoft.com/office/drawing/2014/main" id="{DF64F595-4251-2421-3AC5-0A6B22FD235E}"/>
              </a:ext>
            </a:extLst>
          </p:cNvPr>
          <p:cNvSpPr/>
          <p:nvPr/>
        </p:nvSpPr>
        <p:spPr>
          <a:xfrm>
            <a:off x="11441591"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2020</a:t>
            </a:r>
            <a:endParaRPr lang="en-US" sz="1400" dirty="0"/>
          </a:p>
        </p:txBody>
      </p:sp>
      <p:sp>
        <p:nvSpPr>
          <p:cNvPr id="291" name="Shape 24">
            <a:extLst>
              <a:ext uri="{FF2B5EF4-FFF2-40B4-BE49-F238E27FC236}">
                <a16:creationId xmlns:a16="http://schemas.microsoft.com/office/drawing/2014/main" id="{35D5AE9F-E975-5A2E-4B55-A2D844B0135E}"/>
              </a:ext>
            </a:extLst>
          </p:cNvPr>
          <p:cNvSpPr/>
          <p:nvPr/>
        </p:nvSpPr>
        <p:spPr>
          <a:xfrm>
            <a:off x="12474032" y="2850848"/>
            <a:ext cx="0" cy="5166360"/>
          </a:xfrm>
          <a:prstGeom prst="line">
            <a:avLst/>
          </a:prstGeom>
          <a:noFill/>
          <a:ln w="8255">
            <a:solidFill>
              <a:srgbClr val="DFE6EE"/>
            </a:solidFill>
            <a:prstDash val="solid"/>
          </a:ln>
        </p:spPr>
        <p:txBody>
          <a:bodyPr/>
          <a:lstStyle/>
          <a:p>
            <a:endParaRPr lang="en-GB" sz="1200"/>
          </a:p>
        </p:txBody>
      </p:sp>
      <p:sp>
        <p:nvSpPr>
          <p:cNvPr id="293" name="Text 25">
            <a:extLst>
              <a:ext uri="{FF2B5EF4-FFF2-40B4-BE49-F238E27FC236}">
                <a16:creationId xmlns:a16="http://schemas.microsoft.com/office/drawing/2014/main" id="{49F930C9-D7DC-CF19-836E-983E85DB8655}"/>
              </a:ext>
            </a:extLst>
          </p:cNvPr>
          <p:cNvSpPr/>
          <p:nvPr/>
        </p:nvSpPr>
        <p:spPr>
          <a:xfrm>
            <a:off x="12318584"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2025</a:t>
            </a:r>
            <a:endParaRPr lang="en-US" sz="1400" dirty="0"/>
          </a:p>
        </p:txBody>
      </p:sp>
      <p:sp>
        <p:nvSpPr>
          <p:cNvPr id="295" name="Text 26">
            <a:extLst>
              <a:ext uri="{FF2B5EF4-FFF2-40B4-BE49-F238E27FC236}">
                <a16:creationId xmlns:a16="http://schemas.microsoft.com/office/drawing/2014/main" id="{01C8B10D-0FB1-B849-71DB-F52F567339BE}"/>
              </a:ext>
            </a:extLst>
          </p:cNvPr>
          <p:cNvSpPr/>
          <p:nvPr/>
        </p:nvSpPr>
        <p:spPr>
          <a:xfrm>
            <a:off x="1135472" y="3335480"/>
            <a:ext cx="1508760" cy="457200"/>
          </a:xfrm>
          <a:prstGeom prst="rect">
            <a:avLst/>
          </a:prstGeom>
          <a:noFill/>
          <a:ln/>
        </p:spPr>
        <p:txBody>
          <a:bodyPr wrap="square" lIns="0" tIns="0" rIns="0" bIns="0" rtlCol="0" anchor="ctr">
            <a:noAutofit/>
          </a:bodyPr>
          <a:lstStyle/>
          <a:p>
            <a:pPr marL="0" indent="0">
              <a:buNone/>
            </a:pPr>
            <a:r>
              <a:rPr lang="en-US" sz="1600" b="1" dirty="0">
                <a:solidFill>
                  <a:srgbClr val="2675A6"/>
                </a:solidFill>
                <a:ea typeface="Aptos" pitchFamily="34" charset="-122"/>
                <a:cs typeface="Aptos" pitchFamily="34" charset="-120"/>
              </a:rPr>
              <a:t>Methods &amp; HWLE introduction</a:t>
            </a:r>
            <a:endParaRPr lang="en-US" sz="1600" dirty="0"/>
          </a:p>
        </p:txBody>
      </p:sp>
      <p:sp>
        <p:nvSpPr>
          <p:cNvPr id="297" name="Shape 27">
            <a:extLst>
              <a:ext uri="{FF2B5EF4-FFF2-40B4-BE49-F238E27FC236}">
                <a16:creationId xmlns:a16="http://schemas.microsoft.com/office/drawing/2014/main" id="{3E9398A0-1D09-63D7-4BCF-84B21563BA65}"/>
              </a:ext>
            </a:extLst>
          </p:cNvPr>
          <p:cNvSpPr/>
          <p:nvPr/>
        </p:nvSpPr>
        <p:spPr>
          <a:xfrm>
            <a:off x="2827112" y="3545792"/>
            <a:ext cx="9646920" cy="0"/>
          </a:xfrm>
          <a:prstGeom prst="line">
            <a:avLst/>
          </a:prstGeom>
          <a:noFill/>
          <a:ln w="29210">
            <a:solidFill>
              <a:srgbClr val="2675A6">
                <a:alpha val="75000"/>
              </a:srgbClr>
            </a:solidFill>
            <a:prstDash val="solid"/>
          </a:ln>
        </p:spPr>
        <p:txBody>
          <a:bodyPr/>
          <a:lstStyle/>
          <a:p>
            <a:endParaRPr lang="en-GB" sz="1200"/>
          </a:p>
        </p:txBody>
      </p:sp>
      <p:sp>
        <p:nvSpPr>
          <p:cNvPr id="299" name="Shape 28">
            <a:extLst>
              <a:ext uri="{FF2B5EF4-FFF2-40B4-BE49-F238E27FC236}">
                <a16:creationId xmlns:a16="http://schemas.microsoft.com/office/drawing/2014/main" id="{58397A1C-053C-CCBC-71B8-417F49B0FEC4}"/>
              </a:ext>
            </a:extLst>
          </p:cNvPr>
          <p:cNvSpPr/>
          <p:nvPr/>
        </p:nvSpPr>
        <p:spPr>
          <a:xfrm>
            <a:off x="2947647" y="3490928"/>
            <a:ext cx="109728" cy="109728"/>
          </a:xfrm>
          <a:prstGeom prst="ellipse">
            <a:avLst/>
          </a:prstGeom>
          <a:solidFill>
            <a:srgbClr val="2675A6"/>
          </a:solidFill>
          <a:ln w="12700">
            <a:solidFill>
              <a:srgbClr val="2675A6"/>
            </a:solidFill>
            <a:prstDash val="solid"/>
          </a:ln>
        </p:spPr>
        <p:txBody>
          <a:bodyPr/>
          <a:lstStyle/>
          <a:p>
            <a:endParaRPr lang="en-GB" sz="1600"/>
          </a:p>
        </p:txBody>
      </p:sp>
      <p:sp>
        <p:nvSpPr>
          <p:cNvPr id="301" name="Text 29">
            <a:extLst>
              <a:ext uri="{FF2B5EF4-FFF2-40B4-BE49-F238E27FC236}">
                <a16:creationId xmlns:a16="http://schemas.microsoft.com/office/drawing/2014/main" id="{67852465-3F42-B42B-85A5-ED3AAB23745C}"/>
              </a:ext>
            </a:extLst>
          </p:cNvPr>
          <p:cNvSpPr/>
          <p:nvPr/>
        </p:nvSpPr>
        <p:spPr>
          <a:xfrm>
            <a:off x="2898601" y="3545357"/>
            <a:ext cx="799685" cy="923543"/>
          </a:xfrm>
          <a:prstGeom prst="rect">
            <a:avLst/>
          </a:prstGeom>
          <a:noFill/>
          <a:ln/>
        </p:spPr>
        <p:txBody>
          <a:bodyPr wrap="square" lIns="0" tIns="0" rIns="0" bIns="0" rtlCol="0" anchor="ctr">
            <a:noAutofit/>
          </a:bodyPr>
          <a:lstStyle/>
          <a:p>
            <a:pPr marL="0" indent="0">
              <a:buNone/>
            </a:pPr>
            <a:r>
              <a:rPr lang="en-US" sz="1200" dirty="0">
                <a:solidFill>
                  <a:schemeClr val="tx2"/>
                </a:solidFill>
                <a:ea typeface="Aptos" pitchFamily="34" charset="-122"/>
                <a:cs typeface="Aptos" pitchFamily="34" charset="-120"/>
              </a:rPr>
              <a:t>Sullivan</a:t>
            </a:r>
            <a:endParaRPr lang="en-US" sz="1200" dirty="0">
              <a:solidFill>
                <a:schemeClr val="tx2"/>
              </a:solidFill>
            </a:endParaRPr>
          </a:p>
          <a:p>
            <a:pPr marL="0" indent="0">
              <a:buNone/>
            </a:pPr>
            <a:r>
              <a:rPr lang="en-US" sz="1200" dirty="0">
                <a:solidFill>
                  <a:schemeClr val="tx2"/>
                </a:solidFill>
                <a:ea typeface="Aptos" pitchFamily="34" charset="-122"/>
                <a:cs typeface="Aptos" pitchFamily="34" charset="-120"/>
              </a:rPr>
              <a:t>Health expectancy method</a:t>
            </a:r>
            <a:endParaRPr lang="en-US" sz="1200" dirty="0">
              <a:solidFill>
                <a:schemeClr val="tx2"/>
              </a:solidFill>
            </a:endParaRPr>
          </a:p>
        </p:txBody>
      </p:sp>
      <p:sp>
        <p:nvSpPr>
          <p:cNvPr id="303" name="Shape 30">
            <a:extLst>
              <a:ext uri="{FF2B5EF4-FFF2-40B4-BE49-F238E27FC236}">
                <a16:creationId xmlns:a16="http://schemas.microsoft.com/office/drawing/2014/main" id="{387EAE43-D6EF-E1B1-D647-AFDBC295636D}"/>
              </a:ext>
            </a:extLst>
          </p:cNvPr>
          <p:cNvSpPr/>
          <p:nvPr/>
        </p:nvSpPr>
        <p:spPr>
          <a:xfrm>
            <a:off x="7508009" y="3490928"/>
            <a:ext cx="109728" cy="109728"/>
          </a:xfrm>
          <a:prstGeom prst="ellipse">
            <a:avLst/>
          </a:prstGeom>
          <a:solidFill>
            <a:srgbClr val="2675A6"/>
          </a:solidFill>
          <a:ln w="12700">
            <a:solidFill>
              <a:srgbClr val="2675A6"/>
            </a:solidFill>
            <a:prstDash val="solid"/>
          </a:ln>
        </p:spPr>
        <p:txBody>
          <a:bodyPr/>
          <a:lstStyle/>
          <a:p>
            <a:endParaRPr lang="en-GB" sz="1200"/>
          </a:p>
        </p:txBody>
      </p:sp>
      <p:sp>
        <p:nvSpPr>
          <p:cNvPr id="305" name="Text 31">
            <a:extLst>
              <a:ext uri="{FF2B5EF4-FFF2-40B4-BE49-F238E27FC236}">
                <a16:creationId xmlns:a16="http://schemas.microsoft.com/office/drawing/2014/main" id="{C20E5FFB-5B71-B483-2F6F-145135A13F41}"/>
              </a:ext>
            </a:extLst>
          </p:cNvPr>
          <p:cNvSpPr/>
          <p:nvPr/>
        </p:nvSpPr>
        <p:spPr>
          <a:xfrm>
            <a:off x="6959369" y="3673808"/>
            <a:ext cx="1207008" cy="429768"/>
          </a:xfrm>
          <a:prstGeom prst="rect">
            <a:avLst/>
          </a:prstGeom>
          <a:noFill/>
          <a:ln/>
        </p:spPr>
        <p:txBody>
          <a:bodyPr wrap="square" lIns="0" tIns="0" rIns="0" bIns="0" rtlCol="0" anchor="ctr">
            <a:noAutofit/>
          </a:bodyPr>
          <a:lstStyle/>
          <a:p>
            <a:pPr marL="0" indent="0">
              <a:buNone/>
            </a:pPr>
            <a:r>
              <a:rPr lang="en-US" sz="1200" dirty="0">
                <a:solidFill>
                  <a:schemeClr val="tx2"/>
                </a:solidFill>
                <a:ea typeface="Aptos" pitchFamily="34" charset="-122"/>
                <a:cs typeface="Aptos" pitchFamily="34" charset="-120"/>
              </a:rPr>
              <a:t>Mathers et al.</a:t>
            </a:r>
            <a:endParaRPr lang="en-US" sz="1200" dirty="0">
              <a:solidFill>
                <a:schemeClr val="tx2"/>
              </a:solidFill>
            </a:endParaRPr>
          </a:p>
          <a:p>
            <a:pPr marL="0" indent="0">
              <a:buNone/>
            </a:pPr>
            <a:r>
              <a:rPr lang="en-US" sz="1200" dirty="0">
                <a:solidFill>
                  <a:schemeClr val="tx2"/>
                </a:solidFill>
                <a:ea typeface="Aptos" pitchFamily="34" charset="-122"/>
                <a:cs typeface="Aptos" pitchFamily="34" charset="-120"/>
              </a:rPr>
              <a:t>Sullivan method validation</a:t>
            </a:r>
            <a:endParaRPr lang="en-US" sz="1200" dirty="0">
              <a:solidFill>
                <a:schemeClr val="tx2"/>
              </a:solidFill>
            </a:endParaRPr>
          </a:p>
        </p:txBody>
      </p:sp>
      <p:sp>
        <p:nvSpPr>
          <p:cNvPr id="307" name="Shape 32">
            <a:extLst>
              <a:ext uri="{FF2B5EF4-FFF2-40B4-BE49-F238E27FC236}">
                <a16:creationId xmlns:a16="http://schemas.microsoft.com/office/drawing/2014/main" id="{F0DE7BA4-CC4D-37BA-370C-1E485B2ECD9F}"/>
              </a:ext>
            </a:extLst>
          </p:cNvPr>
          <p:cNvSpPr/>
          <p:nvPr/>
        </p:nvSpPr>
        <p:spPr>
          <a:xfrm>
            <a:off x="9261994" y="3490928"/>
            <a:ext cx="109728" cy="109728"/>
          </a:xfrm>
          <a:prstGeom prst="ellipse">
            <a:avLst/>
          </a:prstGeom>
          <a:solidFill>
            <a:srgbClr val="2675A6"/>
          </a:solidFill>
          <a:ln w="12700">
            <a:solidFill>
              <a:srgbClr val="2675A6"/>
            </a:solidFill>
            <a:prstDash val="solid"/>
          </a:ln>
        </p:spPr>
        <p:txBody>
          <a:bodyPr/>
          <a:lstStyle/>
          <a:p>
            <a:endParaRPr lang="en-GB" sz="1200"/>
          </a:p>
        </p:txBody>
      </p:sp>
      <p:sp>
        <p:nvSpPr>
          <p:cNvPr id="355" name="Shape 59">
            <a:extLst>
              <a:ext uri="{FF2B5EF4-FFF2-40B4-BE49-F238E27FC236}">
                <a16:creationId xmlns:a16="http://schemas.microsoft.com/office/drawing/2014/main" id="{57D1A6BA-26ED-FAE7-9F96-7EBEFF448495}"/>
              </a:ext>
            </a:extLst>
          </p:cNvPr>
          <p:cNvSpPr/>
          <p:nvPr/>
        </p:nvSpPr>
        <p:spPr>
          <a:xfrm>
            <a:off x="2827112" y="4880816"/>
            <a:ext cx="9646920" cy="0"/>
          </a:xfrm>
          <a:prstGeom prst="line">
            <a:avLst/>
          </a:prstGeom>
          <a:noFill/>
          <a:ln w="29210">
            <a:solidFill>
              <a:srgbClr val="168A80">
                <a:alpha val="75000"/>
              </a:srgbClr>
            </a:solidFill>
            <a:prstDash val="solid"/>
          </a:ln>
        </p:spPr>
        <p:txBody>
          <a:bodyPr/>
          <a:lstStyle/>
          <a:p>
            <a:endParaRPr lang="en-GB" sz="1200"/>
          </a:p>
        </p:txBody>
      </p:sp>
      <p:sp>
        <p:nvSpPr>
          <p:cNvPr id="357" name="Shape 60">
            <a:extLst>
              <a:ext uri="{FF2B5EF4-FFF2-40B4-BE49-F238E27FC236}">
                <a16:creationId xmlns:a16="http://schemas.microsoft.com/office/drawing/2014/main" id="{0DDCD180-31AF-D1A6-6CEB-D24D01696485}"/>
              </a:ext>
            </a:extLst>
          </p:cNvPr>
          <p:cNvSpPr/>
          <p:nvPr/>
        </p:nvSpPr>
        <p:spPr>
          <a:xfrm>
            <a:off x="11542175" y="4825952"/>
            <a:ext cx="109728" cy="109728"/>
          </a:xfrm>
          <a:prstGeom prst="ellipse">
            <a:avLst/>
          </a:prstGeom>
          <a:solidFill>
            <a:srgbClr val="168A80"/>
          </a:solidFill>
          <a:ln w="12700">
            <a:solidFill>
              <a:srgbClr val="168A80"/>
            </a:solidFill>
            <a:prstDash val="solid"/>
          </a:ln>
        </p:spPr>
        <p:txBody>
          <a:bodyPr/>
          <a:lstStyle/>
          <a:p>
            <a:endParaRPr lang="en-GB" sz="1200"/>
          </a:p>
        </p:txBody>
      </p:sp>
      <p:sp>
        <p:nvSpPr>
          <p:cNvPr id="359" name="Text 61">
            <a:extLst>
              <a:ext uri="{FF2B5EF4-FFF2-40B4-BE49-F238E27FC236}">
                <a16:creationId xmlns:a16="http://schemas.microsoft.com/office/drawing/2014/main" id="{0262F96C-AA21-E8F1-1F54-E051C1794FAB}"/>
              </a:ext>
            </a:extLst>
          </p:cNvPr>
          <p:cNvSpPr/>
          <p:nvPr/>
        </p:nvSpPr>
        <p:spPr>
          <a:xfrm>
            <a:off x="10770339" y="3924834"/>
            <a:ext cx="899434" cy="887402"/>
          </a:xfrm>
          <a:prstGeom prst="rect">
            <a:avLst/>
          </a:prstGeom>
          <a:noFill/>
          <a:ln/>
        </p:spPr>
        <p:txBody>
          <a:bodyPr wrap="square" lIns="0" tIns="0" rIns="0" bIns="0" rtlCol="0" anchor="ctr">
            <a:noAutofit/>
          </a:bodyPr>
          <a:lstStyle/>
          <a:p>
            <a:pPr marL="0" indent="0">
              <a:buNone/>
            </a:pPr>
            <a:r>
              <a:rPr lang="en-US" sz="1200" dirty="0">
                <a:solidFill>
                  <a:schemeClr val="accent4">
                    <a:lumMod val="50000"/>
                  </a:schemeClr>
                </a:solidFill>
                <a:ea typeface="Aptos" pitchFamily="34" charset="-122"/>
                <a:cs typeface="Aptos" pitchFamily="34" charset="-120"/>
              </a:rPr>
              <a:t>Parker et al.</a:t>
            </a:r>
            <a:endParaRPr lang="en-US" sz="1200" dirty="0">
              <a:solidFill>
                <a:schemeClr val="accent4">
                  <a:lumMod val="50000"/>
                </a:schemeClr>
              </a:solidFill>
            </a:endParaRPr>
          </a:p>
          <a:p>
            <a:pPr marL="0" indent="0">
              <a:buNone/>
            </a:pPr>
            <a:r>
              <a:rPr lang="en-US" sz="1200" dirty="0">
                <a:solidFill>
                  <a:schemeClr val="accent4">
                    <a:lumMod val="50000"/>
                  </a:schemeClr>
                </a:solidFill>
                <a:ea typeface="Aptos" pitchFamily="34" charset="-122"/>
                <a:cs typeface="Aptos" pitchFamily="34" charset="-120"/>
              </a:rPr>
              <a:t>Review + England estimates</a:t>
            </a:r>
            <a:endParaRPr lang="en-US" sz="1200" dirty="0">
              <a:solidFill>
                <a:schemeClr val="accent4">
                  <a:lumMod val="50000"/>
                </a:schemeClr>
              </a:solidFill>
            </a:endParaRPr>
          </a:p>
        </p:txBody>
      </p:sp>
      <p:sp>
        <p:nvSpPr>
          <p:cNvPr id="361" name="Shape 62">
            <a:extLst>
              <a:ext uri="{FF2B5EF4-FFF2-40B4-BE49-F238E27FC236}">
                <a16:creationId xmlns:a16="http://schemas.microsoft.com/office/drawing/2014/main" id="{FF37E9DD-5913-2F89-15D9-EE30B68E776F}"/>
              </a:ext>
            </a:extLst>
          </p:cNvPr>
          <p:cNvSpPr/>
          <p:nvPr/>
        </p:nvSpPr>
        <p:spPr>
          <a:xfrm>
            <a:off x="11717574" y="4825952"/>
            <a:ext cx="109728" cy="109728"/>
          </a:xfrm>
          <a:prstGeom prst="ellipse">
            <a:avLst/>
          </a:prstGeom>
          <a:solidFill>
            <a:srgbClr val="168A80"/>
          </a:solidFill>
          <a:ln w="12700">
            <a:solidFill>
              <a:srgbClr val="168A80"/>
            </a:solidFill>
            <a:prstDash val="solid"/>
          </a:ln>
        </p:spPr>
        <p:txBody>
          <a:bodyPr/>
          <a:lstStyle/>
          <a:p>
            <a:endParaRPr lang="en-GB" sz="1200"/>
          </a:p>
        </p:txBody>
      </p:sp>
      <p:sp>
        <p:nvSpPr>
          <p:cNvPr id="365" name="Shape 64">
            <a:extLst>
              <a:ext uri="{FF2B5EF4-FFF2-40B4-BE49-F238E27FC236}">
                <a16:creationId xmlns:a16="http://schemas.microsoft.com/office/drawing/2014/main" id="{AC2D1542-521F-3399-09B5-3E5A5396EA4B}"/>
              </a:ext>
            </a:extLst>
          </p:cNvPr>
          <p:cNvSpPr/>
          <p:nvPr/>
        </p:nvSpPr>
        <p:spPr>
          <a:xfrm>
            <a:off x="11892972" y="4825952"/>
            <a:ext cx="109728" cy="109728"/>
          </a:xfrm>
          <a:prstGeom prst="ellipse">
            <a:avLst/>
          </a:prstGeom>
          <a:solidFill>
            <a:srgbClr val="168A80"/>
          </a:solidFill>
          <a:ln w="12700">
            <a:solidFill>
              <a:srgbClr val="168A80"/>
            </a:solidFill>
            <a:prstDash val="solid"/>
          </a:ln>
        </p:spPr>
        <p:txBody>
          <a:bodyPr/>
          <a:lstStyle/>
          <a:p>
            <a:endParaRPr lang="en-GB" sz="1200"/>
          </a:p>
        </p:txBody>
      </p:sp>
      <p:sp>
        <p:nvSpPr>
          <p:cNvPr id="367" name="Text 65">
            <a:extLst>
              <a:ext uri="{FF2B5EF4-FFF2-40B4-BE49-F238E27FC236}">
                <a16:creationId xmlns:a16="http://schemas.microsoft.com/office/drawing/2014/main" id="{D53C838C-6635-958C-042E-20A0E07E433A}"/>
              </a:ext>
            </a:extLst>
          </p:cNvPr>
          <p:cNvSpPr/>
          <p:nvPr/>
        </p:nvSpPr>
        <p:spPr>
          <a:xfrm>
            <a:off x="11717574" y="3746524"/>
            <a:ext cx="1052386" cy="1051996"/>
          </a:xfrm>
          <a:prstGeom prst="rect">
            <a:avLst/>
          </a:prstGeom>
          <a:noFill/>
          <a:ln/>
        </p:spPr>
        <p:txBody>
          <a:bodyPr wrap="square" lIns="0" tIns="0" rIns="0" bIns="0" rtlCol="0" anchor="ctr">
            <a:noAutofit/>
          </a:bodyPr>
          <a:lstStyle/>
          <a:p>
            <a:pPr marL="0" indent="0">
              <a:buNone/>
            </a:pPr>
            <a:r>
              <a:rPr lang="en-US" sz="1200" dirty="0">
                <a:solidFill>
                  <a:schemeClr val="accent4">
                    <a:lumMod val="50000"/>
                  </a:schemeClr>
                </a:solidFill>
                <a:ea typeface="Aptos" pitchFamily="34" charset="-122"/>
                <a:cs typeface="Aptos" pitchFamily="34" charset="-120"/>
              </a:rPr>
              <a:t>Lynch; Heller; Weber</a:t>
            </a:r>
            <a:endParaRPr lang="en-US" sz="1200" dirty="0">
              <a:solidFill>
                <a:schemeClr val="accent4">
                  <a:lumMod val="50000"/>
                </a:schemeClr>
              </a:solidFill>
            </a:endParaRPr>
          </a:p>
          <a:p>
            <a:pPr marL="0" indent="0">
              <a:buNone/>
            </a:pPr>
            <a:r>
              <a:rPr lang="en-US" sz="1200" dirty="0">
                <a:solidFill>
                  <a:schemeClr val="accent4">
                    <a:lumMod val="50000"/>
                  </a:schemeClr>
                </a:solidFill>
                <a:ea typeface="Aptos" pitchFamily="34" charset="-122"/>
                <a:cs typeface="Aptos" pitchFamily="34" charset="-120"/>
              </a:rPr>
              <a:t>England / Germany / Europe</a:t>
            </a:r>
            <a:endParaRPr lang="en-US" sz="1200" dirty="0">
              <a:solidFill>
                <a:schemeClr val="accent4">
                  <a:lumMod val="50000"/>
                </a:schemeClr>
              </a:solidFill>
            </a:endParaRPr>
          </a:p>
        </p:txBody>
      </p:sp>
      <p:sp>
        <p:nvSpPr>
          <p:cNvPr id="369" name="Shape 66">
            <a:extLst>
              <a:ext uri="{FF2B5EF4-FFF2-40B4-BE49-F238E27FC236}">
                <a16:creationId xmlns:a16="http://schemas.microsoft.com/office/drawing/2014/main" id="{C8B13E08-C301-5931-03FE-96B67F3C3590}"/>
              </a:ext>
            </a:extLst>
          </p:cNvPr>
          <p:cNvSpPr/>
          <p:nvPr/>
        </p:nvSpPr>
        <p:spPr>
          <a:xfrm>
            <a:off x="12243769" y="4825952"/>
            <a:ext cx="109728" cy="109728"/>
          </a:xfrm>
          <a:prstGeom prst="ellipse">
            <a:avLst/>
          </a:prstGeom>
          <a:solidFill>
            <a:srgbClr val="168A80"/>
          </a:solidFill>
          <a:ln w="12700">
            <a:solidFill>
              <a:srgbClr val="168A80"/>
            </a:solidFill>
            <a:prstDash val="solid"/>
          </a:ln>
        </p:spPr>
        <p:txBody>
          <a:bodyPr/>
          <a:lstStyle/>
          <a:p>
            <a:endParaRPr lang="en-GB" sz="1200"/>
          </a:p>
        </p:txBody>
      </p:sp>
      <p:sp>
        <p:nvSpPr>
          <p:cNvPr id="371" name="Text 67">
            <a:extLst>
              <a:ext uri="{FF2B5EF4-FFF2-40B4-BE49-F238E27FC236}">
                <a16:creationId xmlns:a16="http://schemas.microsoft.com/office/drawing/2014/main" id="{34A6875B-BAC2-1246-8446-A9978FF82F3F}"/>
              </a:ext>
            </a:extLst>
          </p:cNvPr>
          <p:cNvSpPr/>
          <p:nvPr/>
        </p:nvSpPr>
        <p:spPr>
          <a:xfrm>
            <a:off x="11947836" y="4922850"/>
            <a:ext cx="987552" cy="990009"/>
          </a:xfrm>
          <a:prstGeom prst="rect">
            <a:avLst/>
          </a:prstGeom>
          <a:noFill/>
          <a:ln/>
        </p:spPr>
        <p:txBody>
          <a:bodyPr wrap="square" lIns="0" tIns="0" rIns="0" bIns="0" rtlCol="0" anchor="ctr">
            <a:noAutofit/>
          </a:bodyPr>
          <a:lstStyle/>
          <a:p>
            <a:pPr marL="0" indent="0">
              <a:buNone/>
            </a:pPr>
            <a:r>
              <a:rPr lang="en-US" sz="1200" dirty="0">
                <a:solidFill>
                  <a:schemeClr val="accent4">
                    <a:lumMod val="50000"/>
                  </a:schemeClr>
                </a:solidFill>
                <a:ea typeface="Aptos" pitchFamily="34" charset="-122"/>
                <a:cs typeface="Aptos" pitchFamily="34" charset="-120"/>
              </a:rPr>
              <a:t>Lynch et al.</a:t>
            </a:r>
            <a:endParaRPr lang="en-US" sz="1200" dirty="0">
              <a:solidFill>
                <a:schemeClr val="accent4">
                  <a:lumMod val="50000"/>
                </a:schemeClr>
              </a:solidFill>
            </a:endParaRPr>
          </a:p>
          <a:p>
            <a:pPr marL="0" indent="0">
              <a:buNone/>
            </a:pPr>
            <a:r>
              <a:rPr lang="en-US" sz="1200" dirty="0">
                <a:solidFill>
                  <a:schemeClr val="accent4">
                    <a:lumMod val="50000"/>
                  </a:schemeClr>
                </a:solidFill>
                <a:ea typeface="Aptos" pitchFamily="34" charset="-122"/>
                <a:cs typeface="Aptos" pitchFamily="34" charset="-120"/>
              </a:rPr>
              <a:t>HWLE determinants at age 50</a:t>
            </a:r>
            <a:endParaRPr lang="en-US" sz="1200" dirty="0">
              <a:solidFill>
                <a:schemeClr val="accent4">
                  <a:lumMod val="50000"/>
                </a:schemeClr>
              </a:solidFill>
            </a:endParaRPr>
          </a:p>
        </p:txBody>
      </p:sp>
      <p:sp>
        <p:nvSpPr>
          <p:cNvPr id="373" name="Text 58">
            <a:extLst>
              <a:ext uri="{FF2B5EF4-FFF2-40B4-BE49-F238E27FC236}">
                <a16:creationId xmlns:a16="http://schemas.microsoft.com/office/drawing/2014/main" id="{F3A7D42A-DE49-4A5F-E21D-2EA862E8BF10}"/>
              </a:ext>
            </a:extLst>
          </p:cNvPr>
          <p:cNvSpPr/>
          <p:nvPr/>
        </p:nvSpPr>
        <p:spPr>
          <a:xfrm>
            <a:off x="1181608" y="4665691"/>
            <a:ext cx="1508760" cy="457200"/>
          </a:xfrm>
          <a:prstGeom prst="rect">
            <a:avLst/>
          </a:prstGeom>
          <a:noFill/>
          <a:ln/>
        </p:spPr>
        <p:txBody>
          <a:bodyPr wrap="square" lIns="0" tIns="0" rIns="0" bIns="0" rtlCol="0" anchor="ctr">
            <a:noAutofit/>
          </a:bodyPr>
          <a:lstStyle/>
          <a:p>
            <a:pPr marL="0" indent="0">
              <a:buNone/>
            </a:pPr>
            <a:r>
              <a:rPr lang="en-US" sz="1600" b="1" dirty="0">
                <a:solidFill>
                  <a:srgbClr val="168A80"/>
                </a:solidFill>
                <a:ea typeface="Aptos" pitchFamily="34" charset="-122"/>
                <a:cs typeface="Aptos" pitchFamily="34" charset="-120"/>
              </a:rPr>
              <a:t>HWLE estimates for the UK</a:t>
            </a:r>
            <a:endParaRPr lang="en-US" sz="1600" dirty="0"/>
          </a:p>
        </p:txBody>
      </p:sp>
      <p:sp>
        <p:nvSpPr>
          <p:cNvPr id="379" name="Text 1">
            <a:extLst>
              <a:ext uri="{FF2B5EF4-FFF2-40B4-BE49-F238E27FC236}">
                <a16:creationId xmlns:a16="http://schemas.microsoft.com/office/drawing/2014/main" id="{342188B6-1450-45C4-345C-E368EE220B60}"/>
              </a:ext>
            </a:extLst>
          </p:cNvPr>
          <p:cNvSpPr/>
          <p:nvPr/>
        </p:nvSpPr>
        <p:spPr>
          <a:xfrm>
            <a:off x="1135472" y="2229056"/>
            <a:ext cx="10972800" cy="228600"/>
          </a:xfrm>
          <a:prstGeom prst="rect">
            <a:avLst/>
          </a:prstGeom>
          <a:noFill/>
          <a:ln/>
        </p:spPr>
        <p:txBody>
          <a:bodyPr wrap="square" lIns="0" tIns="0" rIns="0" bIns="0" rtlCol="0" anchor="ctr">
            <a:noAutofit/>
          </a:bodyPr>
          <a:lstStyle/>
          <a:p>
            <a:pPr marL="0" indent="0">
              <a:buNone/>
            </a:pPr>
            <a:r>
              <a:rPr lang="en-US" sz="2000" dirty="0">
                <a:solidFill>
                  <a:srgbClr val="64748B"/>
                </a:solidFill>
                <a:ea typeface="Aptos" pitchFamily="34" charset="-122"/>
                <a:cs typeface="Arial" panose="020B0604020202020204" pitchFamily="34" charset="0"/>
              </a:rPr>
              <a:t>Selected academic publications | 1970–2025</a:t>
            </a:r>
            <a:endParaRPr lang="en-US" sz="2000" dirty="0">
              <a:cs typeface="Arial" panose="020B0604020202020204" pitchFamily="34" charset="0"/>
            </a:endParaRPr>
          </a:p>
        </p:txBody>
      </p:sp>
      <p:sp>
        <p:nvSpPr>
          <p:cNvPr id="186" name="Shape 87">
            <a:extLst>
              <a:ext uri="{FF2B5EF4-FFF2-40B4-BE49-F238E27FC236}">
                <a16:creationId xmlns:a16="http://schemas.microsoft.com/office/drawing/2014/main" id="{1611BD8C-7445-AA8D-2F60-71F5AF9154A8}"/>
              </a:ext>
            </a:extLst>
          </p:cNvPr>
          <p:cNvSpPr/>
          <p:nvPr/>
        </p:nvSpPr>
        <p:spPr>
          <a:xfrm>
            <a:off x="1024504" y="5932447"/>
            <a:ext cx="13818231" cy="2167057"/>
          </a:xfrm>
          <a:prstGeom prst="roundRect">
            <a:avLst>
              <a:gd name="adj" fmla="val 6897"/>
            </a:avLst>
          </a:prstGeom>
          <a:solidFill>
            <a:schemeClr val="accent3">
              <a:lumMod val="20000"/>
              <a:lumOff val="80000"/>
            </a:schemeClr>
          </a:solidFill>
          <a:ln w="12700">
            <a:solidFill>
              <a:srgbClr val="EEF2F6"/>
            </a:solidFill>
            <a:prstDash val="solid"/>
          </a:ln>
        </p:spPr>
        <p:txBody>
          <a:bodyPr/>
          <a:lstStyle/>
          <a:p>
            <a:endParaRPr lang="en-GB" sz="1200"/>
          </a:p>
        </p:txBody>
      </p:sp>
      <p:sp>
        <p:nvSpPr>
          <p:cNvPr id="188" name="Text 88">
            <a:extLst>
              <a:ext uri="{FF2B5EF4-FFF2-40B4-BE49-F238E27FC236}">
                <a16:creationId xmlns:a16="http://schemas.microsoft.com/office/drawing/2014/main" id="{CC1DE9A7-00F2-E8E4-2F0A-D68E66607C7C}"/>
              </a:ext>
            </a:extLst>
          </p:cNvPr>
          <p:cNvSpPr/>
          <p:nvPr/>
        </p:nvSpPr>
        <p:spPr>
          <a:xfrm>
            <a:off x="1181608" y="6129659"/>
            <a:ext cx="13569688" cy="1208813"/>
          </a:xfrm>
          <a:prstGeom prst="rect">
            <a:avLst/>
          </a:prstGeom>
          <a:noFill/>
          <a:ln/>
        </p:spPr>
        <p:txBody>
          <a:bodyPr wrap="square" lIns="127" tIns="127" rIns="127" bIns="127" rtlCol="0" anchor="ctr">
            <a:noAutofit/>
          </a:bodyPr>
          <a:lstStyle/>
          <a:p>
            <a:pPr marL="0" indent="0">
              <a:buNone/>
            </a:pPr>
            <a:r>
              <a:rPr lang="en-US" sz="2400" dirty="0">
                <a:solidFill>
                  <a:srgbClr val="344256"/>
                </a:solidFill>
              </a:rPr>
              <a:t>…. but similar concepts had been presented in actuarial journals decades earlier</a:t>
            </a:r>
            <a:endParaRPr lang="en-US" sz="2400" dirty="0"/>
          </a:p>
        </p:txBody>
      </p:sp>
      <p:sp>
        <p:nvSpPr>
          <p:cNvPr id="4" name="Text 33">
            <a:extLst>
              <a:ext uri="{FF2B5EF4-FFF2-40B4-BE49-F238E27FC236}">
                <a16:creationId xmlns:a16="http://schemas.microsoft.com/office/drawing/2014/main" id="{E2DD5BB1-1C90-40B3-B84A-EC52461D3803}"/>
              </a:ext>
            </a:extLst>
          </p:cNvPr>
          <p:cNvSpPr/>
          <p:nvPr/>
        </p:nvSpPr>
        <p:spPr>
          <a:xfrm>
            <a:off x="8713354" y="3033728"/>
            <a:ext cx="1359964" cy="429768"/>
          </a:xfrm>
          <a:prstGeom prst="rect">
            <a:avLst/>
          </a:prstGeom>
          <a:noFill/>
          <a:ln/>
        </p:spPr>
        <p:txBody>
          <a:bodyPr wrap="square" lIns="0" tIns="0" rIns="0" bIns="0" rtlCol="0" anchor="ctr">
            <a:noAutofit/>
          </a:bodyPr>
          <a:lstStyle/>
          <a:p>
            <a:pPr marL="0" indent="0">
              <a:buNone/>
            </a:pPr>
            <a:r>
              <a:rPr lang="en-US" sz="1200" b="1" dirty="0">
                <a:solidFill>
                  <a:schemeClr val="tx2"/>
                </a:solidFill>
                <a:ea typeface="Aptos" pitchFamily="34" charset="-122"/>
                <a:cs typeface="Aptos" pitchFamily="34" charset="-120"/>
              </a:rPr>
              <a:t>Lièvre et al.</a:t>
            </a:r>
            <a:endParaRPr lang="en-US" sz="1200" b="1" dirty="0">
              <a:solidFill>
                <a:schemeClr val="tx2"/>
              </a:solidFill>
            </a:endParaRPr>
          </a:p>
          <a:p>
            <a:pPr marL="0" indent="0">
              <a:buNone/>
            </a:pPr>
            <a:r>
              <a:rPr lang="en-US" sz="1200" b="1" dirty="0">
                <a:solidFill>
                  <a:schemeClr val="tx2"/>
                </a:solidFill>
                <a:ea typeface="Aptos" pitchFamily="34" charset="-122"/>
                <a:cs typeface="Aptos" pitchFamily="34" charset="-120"/>
              </a:rPr>
              <a:t>Healthy working life at 50 · Europe</a:t>
            </a:r>
            <a:endParaRPr lang="en-US" sz="1200" b="1" dirty="0">
              <a:solidFill>
                <a:schemeClr val="tx2"/>
              </a:solidFill>
            </a:endParaRPr>
          </a:p>
        </p:txBody>
      </p:sp>
      <p:sp>
        <p:nvSpPr>
          <p:cNvPr id="10" name="Text 63">
            <a:extLst>
              <a:ext uri="{FF2B5EF4-FFF2-40B4-BE49-F238E27FC236}">
                <a16:creationId xmlns:a16="http://schemas.microsoft.com/office/drawing/2014/main" id="{E1952518-EAF8-3637-605E-5DBB7AE0F663}"/>
              </a:ext>
            </a:extLst>
          </p:cNvPr>
          <p:cNvSpPr/>
          <p:nvPr/>
        </p:nvSpPr>
        <p:spPr>
          <a:xfrm>
            <a:off x="11114178" y="5008832"/>
            <a:ext cx="713124" cy="768026"/>
          </a:xfrm>
          <a:prstGeom prst="rect">
            <a:avLst/>
          </a:prstGeom>
          <a:noFill/>
          <a:ln/>
        </p:spPr>
        <p:txBody>
          <a:bodyPr wrap="square" lIns="0" tIns="0" rIns="0" bIns="0" rtlCol="0" anchor="ctr">
            <a:noAutofit/>
          </a:bodyPr>
          <a:lstStyle/>
          <a:p>
            <a:pPr marL="0" indent="0">
              <a:buNone/>
            </a:pPr>
            <a:r>
              <a:rPr lang="en-US" sz="1200" dirty="0">
                <a:solidFill>
                  <a:schemeClr val="accent4">
                    <a:lumMod val="50000"/>
                  </a:schemeClr>
                </a:solidFill>
                <a:ea typeface="Aptos" pitchFamily="34" charset="-122"/>
                <a:cs typeface="Aptos" pitchFamily="34" charset="-120"/>
              </a:rPr>
              <a:t>Dudel</a:t>
            </a:r>
            <a:endParaRPr lang="en-US" sz="1200" dirty="0">
              <a:solidFill>
                <a:schemeClr val="accent4">
                  <a:lumMod val="50000"/>
                </a:schemeClr>
              </a:solidFill>
            </a:endParaRPr>
          </a:p>
          <a:p>
            <a:pPr marL="0" indent="0">
              <a:buNone/>
            </a:pPr>
            <a:r>
              <a:rPr lang="en-US" sz="1200" dirty="0">
                <a:solidFill>
                  <a:schemeClr val="accent4">
                    <a:lumMod val="50000"/>
                  </a:schemeClr>
                </a:solidFill>
                <a:ea typeface="Aptos" pitchFamily="34" charset="-122"/>
                <a:cs typeface="Aptos" pitchFamily="34" charset="-120"/>
              </a:rPr>
              <a:t>Healthy / unhealthy WLE</a:t>
            </a:r>
            <a:endParaRPr lang="en-US" sz="1200" dirty="0">
              <a:solidFill>
                <a:schemeClr val="accent4">
                  <a:lumMod val="50000"/>
                </a:schemeClr>
              </a:solidFill>
            </a:endParaRPr>
          </a:p>
        </p:txBody>
      </p:sp>
    </p:spTree>
    <p:extLst>
      <p:ext uri="{BB962C8B-B14F-4D97-AF65-F5344CB8AC3E}">
        <p14:creationId xmlns:p14="http://schemas.microsoft.com/office/powerpoint/2010/main" val="4010660591"/>
      </p:ext>
    </p:extLst>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8953F8F-A21B-8F0F-275B-8192CBA579AE}"/>
              </a:ext>
            </a:extLst>
          </p:cNvPr>
          <p:cNvSpPr>
            <a:spLocks noGrp="1"/>
          </p:cNvSpPr>
          <p:nvPr>
            <p:ph sz="quarter" idx="13"/>
          </p:nvPr>
        </p:nvSpPr>
        <p:spPr>
          <a:xfrm>
            <a:off x="1104904" y="2959099"/>
            <a:ext cx="6896104" cy="4769533"/>
          </a:xfrm>
        </p:spPr>
        <p:txBody>
          <a:bodyPr/>
          <a:lstStyle/>
          <a:p>
            <a:r>
              <a:rPr lang="en-US" dirty="0"/>
              <a:t>Usefulness and applicability to the </a:t>
            </a:r>
            <a:r>
              <a:rPr lang="en-US" b="1" dirty="0"/>
              <a:t>life and health insurance </a:t>
            </a:r>
            <a:r>
              <a:rPr lang="en-US" dirty="0"/>
              <a:t>domain</a:t>
            </a:r>
          </a:p>
          <a:p>
            <a:pPr marL="457200" indent="-457200">
              <a:buFont typeface="Arial" panose="020B0604020202020204" pitchFamily="34" charset="0"/>
              <a:buChar char="•"/>
            </a:pPr>
            <a:r>
              <a:rPr lang="en-US" dirty="0"/>
              <a:t>comparing existing pricing and reserving bases</a:t>
            </a:r>
          </a:p>
          <a:p>
            <a:pPr marL="457200" indent="-457200">
              <a:buFont typeface="Arial" panose="020B0604020202020204" pitchFamily="34" charset="0"/>
              <a:buChar char="•"/>
            </a:pPr>
            <a:r>
              <a:rPr lang="en-US" dirty="0"/>
              <a:t>benchmarking pricing and reserving bases against wider population</a:t>
            </a:r>
          </a:p>
          <a:p>
            <a:pPr marL="457200" indent="-457200">
              <a:buFont typeface="Arial" panose="020B0604020202020204" pitchFamily="34" charset="0"/>
              <a:buChar char="•"/>
            </a:pPr>
            <a:r>
              <a:rPr lang="en-US" dirty="0"/>
              <a:t>product development for new population segments</a:t>
            </a:r>
          </a:p>
          <a:p>
            <a:pPr marL="457200" indent="-457200">
              <a:buFont typeface="Arial" panose="020B0604020202020204" pitchFamily="34" charset="0"/>
              <a:buChar char="•"/>
            </a:pPr>
            <a:endParaRPr lang="en-US" dirty="0"/>
          </a:p>
          <a:p>
            <a:endParaRPr lang="en-GB" dirty="0"/>
          </a:p>
        </p:txBody>
      </p:sp>
      <p:sp>
        <p:nvSpPr>
          <p:cNvPr id="3" name="Title 2">
            <a:extLst>
              <a:ext uri="{FF2B5EF4-FFF2-40B4-BE49-F238E27FC236}">
                <a16:creationId xmlns:a16="http://schemas.microsoft.com/office/drawing/2014/main" id="{749C4B29-0DA0-7459-509E-D58456A1E032}"/>
              </a:ext>
            </a:extLst>
          </p:cNvPr>
          <p:cNvSpPr>
            <a:spLocks noGrp="1"/>
          </p:cNvSpPr>
          <p:nvPr>
            <p:ph type="title"/>
          </p:nvPr>
        </p:nvSpPr>
        <p:spPr/>
        <p:txBody>
          <a:bodyPr/>
          <a:lstStyle/>
          <a:p>
            <a:r>
              <a:rPr lang="en-GB" dirty="0"/>
              <a:t>Healthy Working Life Expectancy as a metric</a:t>
            </a:r>
          </a:p>
        </p:txBody>
      </p:sp>
      <p:sp>
        <p:nvSpPr>
          <p:cNvPr id="4" name="Content Placeholder 3">
            <a:extLst>
              <a:ext uri="{FF2B5EF4-FFF2-40B4-BE49-F238E27FC236}">
                <a16:creationId xmlns:a16="http://schemas.microsoft.com/office/drawing/2014/main" id="{66F9FFDA-D063-06DE-F212-DFAE48D878DE}"/>
              </a:ext>
            </a:extLst>
          </p:cNvPr>
          <p:cNvSpPr>
            <a:spLocks noGrp="1"/>
          </p:cNvSpPr>
          <p:nvPr>
            <p:ph sz="quarter" idx="25"/>
          </p:nvPr>
        </p:nvSpPr>
        <p:spPr>
          <a:xfrm>
            <a:off x="8229600" y="2959098"/>
            <a:ext cx="6896104" cy="4769533"/>
          </a:xfrm>
        </p:spPr>
        <p:txBody>
          <a:bodyPr/>
          <a:lstStyle/>
          <a:p>
            <a:r>
              <a:rPr lang="en-US" dirty="0"/>
              <a:t>Usefulness and applicability to </a:t>
            </a:r>
            <a:r>
              <a:rPr lang="en-US" b="1" dirty="0"/>
              <a:t>health economics and public policy-making</a:t>
            </a:r>
          </a:p>
          <a:p>
            <a:pPr marL="457200" indent="-457200">
              <a:buFont typeface="Arial" panose="020B0604020202020204" pitchFamily="34" charset="0"/>
              <a:buChar char="•"/>
            </a:pPr>
            <a:r>
              <a:rPr lang="en-US" dirty="0"/>
              <a:t>social security benefits demand projections;</a:t>
            </a:r>
          </a:p>
          <a:p>
            <a:pPr marL="457200" indent="-457200">
              <a:buFont typeface="Arial" panose="020B0604020202020204" pitchFamily="34" charset="0"/>
              <a:buChar char="•"/>
            </a:pPr>
            <a:r>
              <a:rPr lang="en-US" dirty="0"/>
              <a:t>health service demand projections;</a:t>
            </a:r>
          </a:p>
          <a:p>
            <a:pPr marL="457200" indent="-457200">
              <a:buFont typeface="Arial" panose="020B0604020202020204" pitchFamily="34" charset="0"/>
              <a:buChar char="•"/>
            </a:pPr>
            <a:r>
              <a:rPr lang="en-US" dirty="0"/>
              <a:t>economic analyses incorporating projections of the future UK workforce;</a:t>
            </a:r>
          </a:p>
          <a:p>
            <a:pPr marL="457200" indent="-457200">
              <a:buFont typeface="Arial" panose="020B0604020202020204" pitchFamily="34" charset="0"/>
              <a:buChar char="•"/>
            </a:pPr>
            <a:r>
              <a:rPr lang="en-US" dirty="0"/>
              <a:t>setting retirement ages and state pensions policy.</a:t>
            </a:r>
          </a:p>
        </p:txBody>
      </p:sp>
      <p:sp>
        <p:nvSpPr>
          <p:cNvPr id="5" name="Footer Placeholder 4">
            <a:extLst>
              <a:ext uri="{FF2B5EF4-FFF2-40B4-BE49-F238E27FC236}">
                <a16:creationId xmlns:a16="http://schemas.microsoft.com/office/drawing/2014/main" id="{638FBE29-7E39-E7D0-3899-F76F1C11A2FB}"/>
              </a:ext>
            </a:extLst>
          </p:cNvPr>
          <p:cNvSpPr>
            <a:spLocks noGrp="1"/>
          </p:cNvSpPr>
          <p:nvPr>
            <p:ph type="ftr" sz="quarter" idx="3"/>
          </p:nvPr>
        </p:nvSpPr>
        <p:spPr/>
        <p:txBody>
          <a:bodyPr/>
          <a:lstStyle/>
          <a:p>
            <a:r>
              <a:rPr lang="en-GB" dirty="0" err="1"/>
              <a:t>IFoA</a:t>
            </a:r>
            <a:r>
              <a:rPr lang="en-GB" dirty="0"/>
              <a:t> Life Conference</a:t>
            </a:r>
          </a:p>
        </p:txBody>
      </p:sp>
      <p:sp>
        <p:nvSpPr>
          <p:cNvPr id="6" name="Slide Number Placeholder 5">
            <a:extLst>
              <a:ext uri="{FF2B5EF4-FFF2-40B4-BE49-F238E27FC236}">
                <a16:creationId xmlns:a16="http://schemas.microsoft.com/office/drawing/2014/main" id="{DEB4FAC6-731D-4268-269C-90FE7B00DBC0}"/>
              </a:ext>
            </a:extLst>
          </p:cNvPr>
          <p:cNvSpPr>
            <a:spLocks noGrp="1"/>
          </p:cNvSpPr>
          <p:nvPr>
            <p:ph type="sldNum" sz="quarter" idx="4"/>
          </p:nvPr>
        </p:nvSpPr>
        <p:spPr/>
        <p:txBody>
          <a:bodyPr/>
          <a:lstStyle/>
          <a:p>
            <a:fld id="{40FC62D0-A2F2-4BF8-8DAC-E86C11000EC3}" type="slidenum">
              <a:rPr lang="en-GB" smtClean="0"/>
              <a:pPr/>
              <a:t>19</a:t>
            </a:fld>
            <a:endParaRPr lang="en-GB" dirty="0"/>
          </a:p>
        </p:txBody>
      </p:sp>
      <p:sp>
        <p:nvSpPr>
          <p:cNvPr id="7" name="Text Placeholder 6">
            <a:extLst>
              <a:ext uri="{FF2B5EF4-FFF2-40B4-BE49-F238E27FC236}">
                <a16:creationId xmlns:a16="http://schemas.microsoft.com/office/drawing/2014/main" id="{D38BFF88-E30D-1673-94F7-FBB2FA23AF9D}"/>
              </a:ext>
            </a:extLst>
          </p:cNvPr>
          <p:cNvSpPr>
            <a:spLocks noGrp="1"/>
          </p:cNvSpPr>
          <p:nvPr>
            <p:ph type="body" sz="quarter" idx="24"/>
          </p:nvPr>
        </p:nvSpPr>
        <p:spPr>
          <a:xfrm>
            <a:off x="1117601" y="1214782"/>
            <a:ext cx="14008103" cy="1363317"/>
          </a:xfrm>
        </p:spPr>
        <p:txBody>
          <a:bodyPr/>
          <a:lstStyle/>
          <a:p>
            <a:r>
              <a:rPr lang="en-GB" dirty="0"/>
              <a:t>A statistic which incorporates sickness rates, recovery rates and mortality rates across the future lifetime</a:t>
            </a:r>
          </a:p>
        </p:txBody>
      </p:sp>
    </p:spTree>
    <p:extLst>
      <p:ext uri="{BB962C8B-B14F-4D97-AF65-F5344CB8AC3E}">
        <p14:creationId xmlns:p14="http://schemas.microsoft.com/office/powerpoint/2010/main" val="3023293144"/>
      </p:ext>
    </p:extLst>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Content Placeholder 33">
            <a:extLst>
              <a:ext uri="{FF2B5EF4-FFF2-40B4-BE49-F238E27FC236}">
                <a16:creationId xmlns:a16="http://schemas.microsoft.com/office/drawing/2014/main" id="{1E7C3372-5C9C-516E-A791-4306FFFF84FF}"/>
              </a:ext>
            </a:extLst>
          </p:cNvPr>
          <p:cNvPicPr>
            <a:picLocks noGrp="1" noChangeAspect="1"/>
          </p:cNvPicPr>
          <p:nvPr>
            <p:ph sz="quarter" idx="25"/>
          </p:nvPr>
        </p:nvPicPr>
        <p:blipFill>
          <a:blip r:embed="rId3"/>
          <a:stretch>
            <a:fillRect/>
          </a:stretch>
        </p:blipFill>
        <p:spPr>
          <a:xfrm>
            <a:off x="1117600" y="2499531"/>
            <a:ext cx="6994431" cy="6126418"/>
          </a:xfrm>
          <a:prstGeom prst="rect">
            <a:avLst/>
          </a:prstGeom>
        </p:spPr>
      </p:pic>
      <p:sp>
        <p:nvSpPr>
          <p:cNvPr id="3" name="Content Placeholder 2">
            <a:extLst>
              <a:ext uri="{FF2B5EF4-FFF2-40B4-BE49-F238E27FC236}">
                <a16:creationId xmlns:a16="http://schemas.microsoft.com/office/drawing/2014/main" id="{57FD6E17-621F-74B6-87A3-E34E8BD892D7}"/>
              </a:ext>
            </a:extLst>
          </p:cNvPr>
          <p:cNvSpPr>
            <a:spLocks noGrp="1"/>
          </p:cNvSpPr>
          <p:nvPr>
            <p:ph sz="quarter" idx="26"/>
          </p:nvPr>
        </p:nvSpPr>
        <p:spPr>
          <a:xfrm>
            <a:off x="9097096" y="4272367"/>
            <a:ext cx="6005759" cy="4020733"/>
          </a:xfrm>
        </p:spPr>
        <p:txBody>
          <a:bodyPr>
            <a:noAutofit/>
          </a:bodyPr>
          <a:lstStyle/>
          <a:p>
            <a:pPr marL="457200" indent="-457200">
              <a:spcBef>
                <a:spcPts val="600"/>
              </a:spcBef>
              <a:buFont typeface="Arial" panose="020B0604020202020204" pitchFamily="34" charset="0"/>
              <a:buChar char="•"/>
            </a:pPr>
            <a:r>
              <a:rPr lang="en-GB" sz="2000" dirty="0"/>
              <a:t>4 states with 7 transition routes</a:t>
            </a:r>
          </a:p>
          <a:p>
            <a:pPr marL="457200" indent="-457200">
              <a:spcBef>
                <a:spcPts val="600"/>
              </a:spcBef>
              <a:buFont typeface="Arial" panose="020B0604020202020204" pitchFamily="34" charset="0"/>
              <a:buChar char="•"/>
            </a:pPr>
            <a:r>
              <a:rPr lang="en-GB" sz="2000" dirty="0"/>
              <a:t>transition rates derived from administrative data</a:t>
            </a:r>
          </a:p>
          <a:p>
            <a:pPr>
              <a:spcBef>
                <a:spcPts val="600"/>
              </a:spcBef>
            </a:pPr>
            <a:r>
              <a:rPr lang="en-GB" sz="2000" dirty="0"/>
              <a:t>Advantages</a:t>
            </a:r>
          </a:p>
          <a:p>
            <a:pPr marL="457200" indent="-457200">
              <a:spcBef>
                <a:spcPts val="600"/>
              </a:spcBef>
              <a:buFont typeface="Arial" panose="020B0604020202020204" pitchFamily="34" charset="0"/>
              <a:buChar char="•"/>
            </a:pPr>
            <a:r>
              <a:rPr lang="en-GB" sz="2000" dirty="0"/>
              <a:t>transitions out of NN state are duration-dependent</a:t>
            </a:r>
          </a:p>
          <a:p>
            <a:pPr marL="457200" indent="-457200">
              <a:spcBef>
                <a:spcPts val="600"/>
              </a:spcBef>
              <a:buFont typeface="Arial" panose="020B0604020202020204" pitchFamily="34" charset="0"/>
              <a:buChar char="•"/>
            </a:pPr>
            <a:r>
              <a:rPr lang="en-GB" sz="2000" dirty="0"/>
              <a:t>explicit allowance for expected retirement age</a:t>
            </a:r>
          </a:p>
          <a:p>
            <a:pPr>
              <a:spcBef>
                <a:spcPts val="600"/>
              </a:spcBef>
            </a:pPr>
            <a:r>
              <a:rPr lang="en-GB" sz="2000" dirty="0"/>
              <a:t>Disadvantages</a:t>
            </a:r>
          </a:p>
          <a:p>
            <a:pPr marL="457200" indent="-457200">
              <a:spcBef>
                <a:spcPts val="600"/>
              </a:spcBef>
              <a:buFont typeface="Arial" panose="020B0604020202020204" pitchFamily="34" charset="0"/>
              <a:buChar char="•"/>
            </a:pPr>
            <a:r>
              <a:rPr lang="en-GB" sz="2000" dirty="0"/>
              <a:t>currently limited data availability in the UK beyond insured populations</a:t>
            </a:r>
          </a:p>
          <a:p>
            <a:pPr marL="457200" indent="-457200">
              <a:spcBef>
                <a:spcPts val="600"/>
              </a:spcBef>
              <a:buFont typeface="Arial" panose="020B0604020202020204" pitchFamily="34" charset="0"/>
              <a:buChar char="•"/>
            </a:pPr>
            <a:r>
              <a:rPr lang="en-GB" sz="2000" dirty="0"/>
              <a:t>CMI claim inception rates used as a proxy for sickness inception rates</a:t>
            </a:r>
          </a:p>
        </p:txBody>
      </p:sp>
      <p:sp>
        <p:nvSpPr>
          <p:cNvPr id="4" name="Footer Placeholder 3">
            <a:extLst>
              <a:ext uri="{FF2B5EF4-FFF2-40B4-BE49-F238E27FC236}">
                <a16:creationId xmlns:a16="http://schemas.microsoft.com/office/drawing/2014/main" id="{B40387C7-48A7-B812-889B-F8A99AC6DB17}"/>
              </a:ext>
            </a:extLst>
          </p:cNvPr>
          <p:cNvSpPr>
            <a:spLocks noGrp="1"/>
          </p:cNvSpPr>
          <p:nvPr>
            <p:ph type="ftr" sz="quarter" idx="3"/>
          </p:nvPr>
        </p:nvSpPr>
        <p:spPr/>
        <p:txBody>
          <a:bodyPr/>
          <a:lstStyle/>
          <a:p>
            <a:r>
              <a:rPr lang="en-GB" dirty="0" err="1"/>
              <a:t>IFoA</a:t>
            </a:r>
            <a:r>
              <a:rPr lang="en-GB" dirty="0"/>
              <a:t> Life Conference</a:t>
            </a:r>
          </a:p>
        </p:txBody>
      </p:sp>
      <p:sp>
        <p:nvSpPr>
          <p:cNvPr id="5" name="Slide Number Placeholder 4">
            <a:extLst>
              <a:ext uri="{FF2B5EF4-FFF2-40B4-BE49-F238E27FC236}">
                <a16:creationId xmlns:a16="http://schemas.microsoft.com/office/drawing/2014/main" id="{1F97049E-74BB-72F6-51B5-1BFD174BD033}"/>
              </a:ext>
            </a:extLst>
          </p:cNvPr>
          <p:cNvSpPr>
            <a:spLocks noGrp="1"/>
          </p:cNvSpPr>
          <p:nvPr>
            <p:ph type="sldNum" sz="quarter" idx="4"/>
          </p:nvPr>
        </p:nvSpPr>
        <p:spPr/>
        <p:txBody>
          <a:bodyPr/>
          <a:lstStyle/>
          <a:p>
            <a:fld id="{40FC62D0-A2F2-4BF8-8DAC-E86C11000EC3}" type="slidenum">
              <a:rPr lang="en-GB" smtClean="0"/>
              <a:pPr/>
              <a:t>20</a:t>
            </a:fld>
            <a:endParaRPr lang="en-GB" dirty="0"/>
          </a:p>
        </p:txBody>
      </p:sp>
      <p:sp>
        <p:nvSpPr>
          <p:cNvPr id="6" name="Text Placeholder 5">
            <a:extLst>
              <a:ext uri="{FF2B5EF4-FFF2-40B4-BE49-F238E27FC236}">
                <a16:creationId xmlns:a16="http://schemas.microsoft.com/office/drawing/2014/main" id="{0EFA36DF-88F1-DDD1-F989-2E995C9C0E6E}"/>
              </a:ext>
            </a:extLst>
          </p:cNvPr>
          <p:cNvSpPr>
            <a:spLocks noGrp="1"/>
          </p:cNvSpPr>
          <p:nvPr>
            <p:ph type="body" sz="quarter" idx="24"/>
          </p:nvPr>
        </p:nvSpPr>
        <p:spPr>
          <a:xfrm>
            <a:off x="1117601" y="1214783"/>
            <a:ext cx="13985256" cy="1284748"/>
          </a:xfrm>
        </p:spPr>
        <p:txBody>
          <a:bodyPr/>
          <a:lstStyle/>
          <a:p>
            <a:r>
              <a:rPr lang="en-GB" dirty="0"/>
              <a:t>to take advantage of CMI IP11 rates </a:t>
            </a:r>
          </a:p>
          <a:p>
            <a:r>
              <a:rPr lang="en-GB" dirty="0"/>
              <a:t>leading to an increment-decrement life table</a:t>
            </a:r>
          </a:p>
        </p:txBody>
      </p:sp>
      <p:sp>
        <p:nvSpPr>
          <p:cNvPr id="7" name="Title 6">
            <a:extLst>
              <a:ext uri="{FF2B5EF4-FFF2-40B4-BE49-F238E27FC236}">
                <a16:creationId xmlns:a16="http://schemas.microsoft.com/office/drawing/2014/main" id="{87279CE6-EBFE-14D5-7E52-AC22FF55B8C9}"/>
              </a:ext>
            </a:extLst>
          </p:cNvPr>
          <p:cNvSpPr>
            <a:spLocks noGrp="1"/>
          </p:cNvSpPr>
          <p:nvPr>
            <p:ph type="title"/>
          </p:nvPr>
        </p:nvSpPr>
        <p:spPr/>
        <p:txBody>
          <a:bodyPr/>
          <a:lstStyle/>
          <a:p>
            <a:r>
              <a:rPr lang="en-GB" dirty="0"/>
              <a:t>Multi-state model method with administrative data</a:t>
            </a:r>
          </a:p>
        </p:txBody>
      </p:sp>
      <p:graphicFrame>
        <p:nvGraphicFramePr>
          <p:cNvPr id="2" name="Content Placeholder 5">
            <a:extLst>
              <a:ext uri="{FF2B5EF4-FFF2-40B4-BE49-F238E27FC236}">
                <a16:creationId xmlns:a16="http://schemas.microsoft.com/office/drawing/2014/main" id="{97720DE3-434C-B496-3D83-61ABC630BDC6}"/>
              </a:ext>
            </a:extLst>
          </p:cNvPr>
          <p:cNvGraphicFramePr>
            <a:graphicFrameLocks/>
          </p:cNvGraphicFramePr>
          <p:nvPr>
            <p:extLst>
              <p:ext uri="{D42A27DB-BD31-4B8C-83A1-F6EECF244321}">
                <p14:modId xmlns:p14="http://schemas.microsoft.com/office/powerpoint/2010/main" val="4118683227"/>
              </p:ext>
            </p:extLst>
          </p:nvPr>
        </p:nvGraphicFramePr>
        <p:xfrm>
          <a:off x="9097096" y="1753164"/>
          <a:ext cx="6005758" cy="2377440"/>
        </p:xfrm>
        <a:graphic>
          <a:graphicData uri="http://schemas.openxmlformats.org/drawingml/2006/table">
            <a:tbl>
              <a:tblPr firstRow="1" bandRow="1">
                <a:tableStyleId>{5C22544A-7EE6-4342-B048-85BDC9FD1C3A}</a:tableStyleId>
              </a:tblPr>
              <a:tblGrid>
                <a:gridCol w="1990704">
                  <a:extLst>
                    <a:ext uri="{9D8B030D-6E8A-4147-A177-3AD203B41FA5}">
                      <a16:colId xmlns:a16="http://schemas.microsoft.com/office/drawing/2014/main" val="20000"/>
                    </a:ext>
                  </a:extLst>
                </a:gridCol>
                <a:gridCol w="4015054">
                  <a:extLst>
                    <a:ext uri="{9D8B030D-6E8A-4147-A177-3AD203B41FA5}">
                      <a16:colId xmlns:a16="http://schemas.microsoft.com/office/drawing/2014/main" val="20002"/>
                    </a:ext>
                  </a:extLst>
                </a:gridCol>
              </a:tblGrid>
              <a:tr h="0">
                <a:tc>
                  <a:txBody>
                    <a:bodyPr/>
                    <a:lstStyle/>
                    <a:p>
                      <a:pPr marL="0" lvl="0" indent="0">
                        <a:buNone/>
                      </a:pPr>
                      <a:r>
                        <a:rPr sz="2000" dirty="0"/>
                        <a:t>Rate</a:t>
                      </a:r>
                    </a:p>
                  </a:txBody>
                  <a:tcPr/>
                </a:tc>
                <a:tc>
                  <a:txBody>
                    <a:bodyPr/>
                    <a:lstStyle/>
                    <a:p>
                      <a:pPr marL="0" lvl="0" indent="0">
                        <a:buNone/>
                      </a:pPr>
                      <a:r>
                        <a:rPr sz="2000" dirty="0"/>
                        <a:t>Basis</a:t>
                      </a:r>
                    </a:p>
                  </a:txBody>
                  <a:tcPr/>
                </a:tc>
                <a:extLst>
                  <a:ext uri="{0D108BD9-81ED-4DB2-BD59-A6C34878D82A}">
                    <a16:rowId xmlns:a16="http://schemas.microsoft.com/office/drawing/2014/main" val="10000"/>
                  </a:ext>
                </a:extLst>
              </a:tr>
              <a:tr h="0">
                <a:tc>
                  <a:txBody>
                    <a:bodyPr/>
                    <a:lstStyle/>
                    <a:p>
                      <a:pPr marL="0" lvl="0" indent="0">
                        <a:buNone/>
                      </a:pPr>
                      <a:r>
                        <a:rPr sz="2000" dirty="0" err="1"/>
                        <a:t>nn</a:t>
                      </a:r>
                      <a:r>
                        <a:rPr sz="2000" dirty="0"/>
                        <a:t>(x)</a:t>
                      </a:r>
                    </a:p>
                  </a:txBody>
                  <a:tcPr/>
                </a:tc>
                <a:tc>
                  <a:txBody>
                    <a:bodyPr/>
                    <a:lstStyle/>
                    <a:p>
                      <a:pPr marL="0" lvl="0" indent="0">
                        <a:buNone/>
                      </a:pPr>
                      <a:r>
                        <a:rPr sz="2000" dirty="0"/>
                        <a:t>CMI IP11 claim inception, DP4</a:t>
                      </a:r>
                    </a:p>
                  </a:txBody>
                  <a:tcPr/>
                </a:tc>
                <a:extLst>
                  <a:ext uri="{0D108BD9-81ED-4DB2-BD59-A6C34878D82A}">
                    <a16:rowId xmlns:a16="http://schemas.microsoft.com/office/drawing/2014/main" val="10001"/>
                  </a:ext>
                </a:extLst>
              </a:tr>
              <a:tr h="0">
                <a:tc>
                  <a:txBody>
                    <a:bodyPr/>
                    <a:lstStyle/>
                    <a:p>
                      <a:pPr marL="0" lvl="0" indent="0">
                        <a:buNone/>
                      </a:pPr>
                      <a:r>
                        <a:rPr sz="2000" dirty="0"/>
                        <a:t>w(</a:t>
                      </a:r>
                      <a:r>
                        <a:rPr sz="2000" dirty="0" err="1"/>
                        <a:t>x,z</a:t>
                      </a:r>
                      <a:r>
                        <a:rPr sz="2000" dirty="0"/>
                        <a:t>)</a:t>
                      </a:r>
                    </a:p>
                  </a:txBody>
                  <a:tcPr/>
                </a:tc>
                <a:tc>
                  <a:txBody>
                    <a:bodyPr/>
                    <a:lstStyle/>
                    <a:p>
                      <a:pPr marL="0" lvl="0" indent="0">
                        <a:buNone/>
                      </a:pPr>
                      <a:r>
                        <a:rPr sz="2000" dirty="0"/>
                        <a:t>CMI IP11 recovery rates</a:t>
                      </a:r>
                    </a:p>
                  </a:txBody>
                  <a:tcPr/>
                </a:tc>
                <a:extLst>
                  <a:ext uri="{0D108BD9-81ED-4DB2-BD59-A6C34878D82A}">
                    <a16:rowId xmlns:a16="http://schemas.microsoft.com/office/drawing/2014/main" val="10002"/>
                  </a:ext>
                </a:extLst>
              </a:tr>
              <a:tr h="0">
                <a:tc>
                  <a:txBody>
                    <a:bodyPr/>
                    <a:lstStyle/>
                    <a:p>
                      <a:pPr marL="0" lvl="0" indent="0">
                        <a:buNone/>
                      </a:pPr>
                      <a:r>
                        <a:rPr sz="2000"/>
                        <a:t>dw(x), dr(x)</a:t>
                      </a:r>
                    </a:p>
                  </a:txBody>
                  <a:tcPr/>
                </a:tc>
                <a:tc>
                  <a:txBody>
                    <a:bodyPr/>
                    <a:lstStyle/>
                    <a:p>
                      <a:pPr marL="0" lvl="0" indent="0">
                        <a:buNone/>
                      </a:pPr>
                      <a:r>
                        <a:rPr sz="2000" dirty="0"/>
                        <a:t>ONS UK 2022–24</a:t>
                      </a:r>
                    </a:p>
                  </a:txBody>
                  <a:tcPr/>
                </a:tc>
                <a:extLst>
                  <a:ext uri="{0D108BD9-81ED-4DB2-BD59-A6C34878D82A}">
                    <a16:rowId xmlns:a16="http://schemas.microsoft.com/office/drawing/2014/main" val="10003"/>
                  </a:ext>
                </a:extLst>
              </a:tr>
              <a:tr h="0">
                <a:tc>
                  <a:txBody>
                    <a:bodyPr/>
                    <a:lstStyle/>
                    <a:p>
                      <a:pPr marL="0" lvl="0" indent="0">
                        <a:buNone/>
                      </a:pPr>
                      <a:r>
                        <a:rPr sz="2000"/>
                        <a:t>dnn(x,z)</a:t>
                      </a:r>
                    </a:p>
                  </a:txBody>
                  <a:tcPr/>
                </a:tc>
                <a:tc>
                  <a:txBody>
                    <a:bodyPr/>
                    <a:lstStyle/>
                    <a:p>
                      <a:pPr marL="0" lvl="0" indent="0">
                        <a:buNone/>
                      </a:pPr>
                      <a:r>
                        <a:rPr sz="2000" dirty="0"/>
                        <a:t>CMI IP11 claimant mortality</a:t>
                      </a:r>
                    </a:p>
                  </a:txBody>
                  <a:tcPr/>
                </a:tc>
                <a:extLst>
                  <a:ext uri="{0D108BD9-81ED-4DB2-BD59-A6C34878D82A}">
                    <a16:rowId xmlns:a16="http://schemas.microsoft.com/office/drawing/2014/main" val="10004"/>
                  </a:ext>
                </a:extLst>
              </a:tr>
              <a:tr h="0">
                <a:tc>
                  <a:txBody>
                    <a:bodyPr/>
                    <a:lstStyle/>
                    <a:p>
                      <a:pPr marL="0" lvl="0" indent="0">
                        <a:buNone/>
                      </a:pPr>
                      <a:r>
                        <a:rPr sz="2000"/>
                        <a:t>rw(x), rnn(x)</a:t>
                      </a:r>
                    </a:p>
                  </a:txBody>
                  <a:tcPr/>
                </a:tc>
                <a:tc>
                  <a:txBody>
                    <a:bodyPr/>
                    <a:lstStyle/>
                    <a:p>
                      <a:pPr marL="0" lvl="0" indent="0">
                        <a:buNone/>
                      </a:pPr>
                      <a:r>
                        <a:rPr sz="2000" dirty="0"/>
                        <a:t>1 at age 65; 0 otherwise</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768613902"/>
      </p:ext>
    </p:extLst>
  </p:cSld>
  <p:clrMapOvr>
    <a:masterClrMapping/>
  </p:clrMapOvr>
  <p:extLst>
    <p:ext uri="{6950BFC3-D8DA-4A85-94F7-54DA5524770B}">
      <p188:commentRel xmlns:p188="http://schemas.microsoft.com/office/powerpoint/2018/8/main" r:id="rId4"/>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4DFE8-5C9C-3059-F900-01B969313CA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0C9CB6-38F1-369C-3AD2-5458816B12B9}"/>
              </a:ext>
            </a:extLst>
          </p:cNvPr>
          <p:cNvSpPr>
            <a:spLocks noGrp="1"/>
          </p:cNvSpPr>
          <p:nvPr>
            <p:ph type="title"/>
          </p:nvPr>
        </p:nvSpPr>
        <p:spPr/>
        <p:txBody>
          <a:bodyPr/>
          <a:lstStyle/>
          <a:p>
            <a:r>
              <a:rPr lang="en-GB" dirty="0"/>
              <a:t>Healthy Working Life Table</a:t>
            </a:r>
          </a:p>
        </p:txBody>
      </p:sp>
      <p:sp>
        <p:nvSpPr>
          <p:cNvPr id="4" name="Content Placeholder 3">
            <a:extLst>
              <a:ext uri="{FF2B5EF4-FFF2-40B4-BE49-F238E27FC236}">
                <a16:creationId xmlns:a16="http://schemas.microsoft.com/office/drawing/2014/main" id="{74DAAE26-1AC4-32CF-8C5B-3874919448B2}"/>
              </a:ext>
            </a:extLst>
          </p:cNvPr>
          <p:cNvSpPr>
            <a:spLocks noGrp="1"/>
          </p:cNvSpPr>
          <p:nvPr>
            <p:ph sz="quarter" idx="25"/>
          </p:nvPr>
        </p:nvSpPr>
        <p:spPr>
          <a:xfrm>
            <a:off x="10711542" y="2522538"/>
            <a:ext cx="4414161" cy="5206093"/>
          </a:xfrm>
        </p:spPr>
        <p:txBody>
          <a:bodyPr/>
          <a:lstStyle/>
          <a:p>
            <a:r>
              <a:rPr lang="en-US" b="1" dirty="0"/>
              <a:t>Estimates: female 50 OC1</a:t>
            </a:r>
            <a:endParaRPr lang="en-US" dirty="0"/>
          </a:p>
        </p:txBody>
      </p:sp>
      <p:sp>
        <p:nvSpPr>
          <p:cNvPr id="5" name="Footer Placeholder 4">
            <a:extLst>
              <a:ext uri="{FF2B5EF4-FFF2-40B4-BE49-F238E27FC236}">
                <a16:creationId xmlns:a16="http://schemas.microsoft.com/office/drawing/2014/main" id="{F787C572-EFB3-B5B3-7498-92DE183D9493}"/>
              </a:ext>
            </a:extLst>
          </p:cNvPr>
          <p:cNvSpPr>
            <a:spLocks noGrp="1"/>
          </p:cNvSpPr>
          <p:nvPr>
            <p:ph type="ftr" sz="quarter" idx="3"/>
          </p:nvPr>
        </p:nvSpPr>
        <p:spPr/>
        <p:txBody>
          <a:bodyPr/>
          <a:lstStyle/>
          <a:p>
            <a:r>
              <a:rPr lang="en-GB" dirty="0" err="1"/>
              <a:t>IFoA</a:t>
            </a:r>
            <a:r>
              <a:rPr lang="en-GB" dirty="0"/>
              <a:t> Life Conference</a:t>
            </a:r>
          </a:p>
        </p:txBody>
      </p:sp>
      <p:sp>
        <p:nvSpPr>
          <p:cNvPr id="6" name="Slide Number Placeholder 5">
            <a:extLst>
              <a:ext uri="{FF2B5EF4-FFF2-40B4-BE49-F238E27FC236}">
                <a16:creationId xmlns:a16="http://schemas.microsoft.com/office/drawing/2014/main" id="{A89513CC-1EC6-5C98-7D86-6494578B1595}"/>
              </a:ext>
            </a:extLst>
          </p:cNvPr>
          <p:cNvSpPr>
            <a:spLocks noGrp="1"/>
          </p:cNvSpPr>
          <p:nvPr>
            <p:ph type="sldNum" sz="quarter" idx="4"/>
          </p:nvPr>
        </p:nvSpPr>
        <p:spPr/>
        <p:txBody>
          <a:bodyPr/>
          <a:lstStyle/>
          <a:p>
            <a:fld id="{40FC62D0-A2F2-4BF8-8DAC-E86C11000EC3}" type="slidenum">
              <a:rPr lang="en-GB" smtClean="0"/>
              <a:pPr/>
              <a:t>21</a:t>
            </a:fld>
            <a:endParaRPr lang="en-GB" dirty="0"/>
          </a:p>
        </p:txBody>
      </p:sp>
      <p:sp>
        <p:nvSpPr>
          <p:cNvPr id="7" name="Text Placeholder 6">
            <a:extLst>
              <a:ext uri="{FF2B5EF4-FFF2-40B4-BE49-F238E27FC236}">
                <a16:creationId xmlns:a16="http://schemas.microsoft.com/office/drawing/2014/main" id="{23C16EFE-A320-C76C-E417-C46E826318F3}"/>
              </a:ext>
            </a:extLst>
          </p:cNvPr>
          <p:cNvSpPr>
            <a:spLocks noGrp="1"/>
          </p:cNvSpPr>
          <p:nvPr>
            <p:ph type="body" sz="quarter" idx="24"/>
          </p:nvPr>
        </p:nvSpPr>
        <p:spPr>
          <a:xfrm>
            <a:off x="1117601" y="1214782"/>
            <a:ext cx="14008103" cy="1208481"/>
          </a:xfrm>
        </p:spPr>
        <p:txBody>
          <a:bodyPr/>
          <a:lstStyle/>
          <a:p>
            <a:r>
              <a:rPr lang="en-GB" dirty="0"/>
              <a:t>Derived from administrative data (CMI and ONS)</a:t>
            </a:r>
          </a:p>
          <a:p>
            <a:r>
              <a:rPr lang="en-GB" dirty="0"/>
              <a:t>Example for females occupation class 1 who are healthy and working at age 50</a:t>
            </a:r>
          </a:p>
        </p:txBody>
      </p:sp>
      <p:graphicFrame>
        <p:nvGraphicFramePr>
          <p:cNvPr id="13" name="Content Placeholder 12">
            <a:extLst>
              <a:ext uri="{FF2B5EF4-FFF2-40B4-BE49-F238E27FC236}">
                <a16:creationId xmlns:a16="http://schemas.microsoft.com/office/drawing/2014/main" id="{39261A76-250E-7B49-0841-445F0990A943}"/>
              </a:ext>
            </a:extLst>
          </p:cNvPr>
          <p:cNvGraphicFramePr>
            <a:graphicFrameLocks noGrp="1"/>
          </p:cNvGraphicFramePr>
          <p:nvPr>
            <p:ph sz="quarter" idx="13"/>
            <p:extLst>
              <p:ext uri="{D42A27DB-BD31-4B8C-83A1-F6EECF244321}">
                <p14:modId xmlns:p14="http://schemas.microsoft.com/office/powerpoint/2010/main" val="3855890523"/>
              </p:ext>
            </p:extLst>
          </p:nvPr>
        </p:nvGraphicFramePr>
        <p:xfrm>
          <a:off x="1117600" y="2522538"/>
          <a:ext cx="9018816" cy="5760720"/>
        </p:xfrm>
        <a:graphic>
          <a:graphicData uri="http://schemas.openxmlformats.org/drawingml/2006/table">
            <a:tbl>
              <a:tblPr firstRow="1" bandRow="1">
                <a:tableStyleId>{5C22544A-7EE6-4342-B048-85BDC9FD1C3A}</a:tableStyleId>
              </a:tblPr>
              <a:tblGrid>
                <a:gridCol w="1134717">
                  <a:extLst>
                    <a:ext uri="{9D8B030D-6E8A-4147-A177-3AD203B41FA5}">
                      <a16:colId xmlns:a16="http://schemas.microsoft.com/office/drawing/2014/main" val="2349935845"/>
                    </a:ext>
                  </a:extLst>
                </a:gridCol>
                <a:gridCol w="1060174">
                  <a:extLst>
                    <a:ext uri="{9D8B030D-6E8A-4147-A177-3AD203B41FA5}">
                      <a16:colId xmlns:a16="http://schemas.microsoft.com/office/drawing/2014/main" val="552416214"/>
                    </a:ext>
                  </a:extLst>
                </a:gridCol>
                <a:gridCol w="1590261">
                  <a:extLst>
                    <a:ext uri="{9D8B030D-6E8A-4147-A177-3AD203B41FA5}">
                      <a16:colId xmlns:a16="http://schemas.microsoft.com/office/drawing/2014/main" val="3694621724"/>
                    </a:ext>
                  </a:extLst>
                </a:gridCol>
                <a:gridCol w="1563757">
                  <a:extLst>
                    <a:ext uri="{9D8B030D-6E8A-4147-A177-3AD203B41FA5}">
                      <a16:colId xmlns:a16="http://schemas.microsoft.com/office/drawing/2014/main" val="1828384546"/>
                    </a:ext>
                  </a:extLst>
                </a:gridCol>
                <a:gridCol w="2166771">
                  <a:extLst>
                    <a:ext uri="{9D8B030D-6E8A-4147-A177-3AD203B41FA5}">
                      <a16:colId xmlns:a16="http://schemas.microsoft.com/office/drawing/2014/main" val="506728094"/>
                    </a:ext>
                  </a:extLst>
                </a:gridCol>
                <a:gridCol w="1503136">
                  <a:extLst>
                    <a:ext uri="{9D8B030D-6E8A-4147-A177-3AD203B41FA5}">
                      <a16:colId xmlns:a16="http://schemas.microsoft.com/office/drawing/2014/main" val="297884654"/>
                    </a:ext>
                  </a:extLst>
                </a:gridCol>
              </a:tblGrid>
              <a:tr h="370840">
                <a:tc>
                  <a:txBody>
                    <a:bodyPr/>
                    <a:lstStyle/>
                    <a:p>
                      <a:r>
                        <a:rPr lang="en-GB" sz="2000" dirty="0"/>
                        <a:t>time in years</a:t>
                      </a:r>
                    </a:p>
                  </a:txBody>
                  <a:tcPr/>
                </a:tc>
                <a:tc>
                  <a:txBody>
                    <a:bodyPr/>
                    <a:lstStyle/>
                    <a:p>
                      <a:r>
                        <a:rPr lang="en-GB" sz="2000" dirty="0"/>
                        <a:t>exact age</a:t>
                      </a:r>
                    </a:p>
                  </a:txBody>
                  <a:tcPr/>
                </a:tc>
                <a:tc>
                  <a:txBody>
                    <a:bodyPr/>
                    <a:lstStyle/>
                    <a:p>
                      <a:pPr algn="r"/>
                      <a:r>
                        <a:rPr lang="en-GB" sz="2000" dirty="0"/>
                        <a:t>Healthy Working lives</a:t>
                      </a:r>
                    </a:p>
                  </a:txBody>
                  <a:tcPr/>
                </a:tc>
                <a:tc>
                  <a:txBody>
                    <a:bodyPr/>
                    <a:lstStyle/>
                    <a:p>
                      <a:pPr algn="r"/>
                      <a:r>
                        <a:rPr lang="en-GB" sz="2000" dirty="0"/>
                        <a:t>Retirees</a:t>
                      </a:r>
                    </a:p>
                  </a:txBody>
                  <a:tcPr/>
                </a:tc>
                <a:tc>
                  <a:txBody>
                    <a:bodyPr/>
                    <a:lstStyle/>
                    <a:p>
                      <a:pPr algn="r"/>
                      <a:r>
                        <a:rPr lang="en-GB" sz="2000" dirty="0"/>
                        <a:t>Not-Healthy Not-Working lives</a:t>
                      </a:r>
                    </a:p>
                  </a:txBody>
                  <a:tcPr/>
                </a:tc>
                <a:tc>
                  <a:txBody>
                    <a:bodyPr/>
                    <a:lstStyle/>
                    <a:p>
                      <a:pPr algn="r"/>
                      <a:r>
                        <a:rPr lang="en-GB" sz="2000" dirty="0"/>
                        <a:t>Deaths</a:t>
                      </a:r>
                    </a:p>
                  </a:txBody>
                  <a:tcPr/>
                </a:tc>
                <a:extLst>
                  <a:ext uri="{0D108BD9-81ED-4DB2-BD59-A6C34878D82A}">
                    <a16:rowId xmlns:a16="http://schemas.microsoft.com/office/drawing/2014/main" val="1453465120"/>
                  </a:ext>
                </a:extLst>
              </a:tr>
              <a:tr h="370840">
                <a:tc>
                  <a:txBody>
                    <a:bodyPr/>
                    <a:lstStyle/>
                    <a:p>
                      <a:r>
                        <a:rPr lang="en-GB" sz="2000" dirty="0"/>
                        <a:t>0</a:t>
                      </a:r>
                    </a:p>
                  </a:txBody>
                  <a:tcPr/>
                </a:tc>
                <a:tc>
                  <a:txBody>
                    <a:bodyPr/>
                    <a:lstStyle/>
                    <a:p>
                      <a:r>
                        <a:rPr lang="en-GB" sz="2000" dirty="0"/>
                        <a:t>50</a:t>
                      </a:r>
                    </a:p>
                  </a:txBody>
                  <a:tcPr/>
                </a:tc>
                <a:tc>
                  <a:txBody>
                    <a:bodyPr/>
                    <a:lstStyle/>
                    <a:p>
                      <a:pPr marL="0" algn="r" defTabSz="1219170" rtl="0" eaLnBrk="1" fontAlgn="b" latinLnBrk="0" hangingPunct="1">
                        <a:buNone/>
                      </a:pPr>
                      <a:r>
                        <a:rPr lang="de-CH" sz="2000" kern="1200" dirty="0">
                          <a:solidFill>
                            <a:schemeClr val="dk1"/>
                          </a:solidFill>
                          <a:latin typeface="+mn-lt"/>
                          <a:ea typeface="+mn-ea"/>
                          <a:cs typeface="+mn-cs"/>
                        </a:rPr>
                        <a:t>100’000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extLst>
                  <a:ext uri="{0D108BD9-81ED-4DB2-BD59-A6C34878D82A}">
                    <a16:rowId xmlns:a16="http://schemas.microsoft.com/office/drawing/2014/main" val="1266550442"/>
                  </a:ext>
                </a:extLst>
              </a:tr>
              <a:tr h="370840">
                <a:tc>
                  <a:txBody>
                    <a:bodyPr/>
                    <a:lstStyle/>
                    <a:p>
                      <a:r>
                        <a:rPr lang="en-GB" sz="2000" dirty="0"/>
                        <a:t>1</a:t>
                      </a:r>
                    </a:p>
                  </a:txBody>
                  <a:tcPr/>
                </a:tc>
                <a:tc>
                  <a:txBody>
                    <a:bodyPr/>
                    <a:lstStyle/>
                    <a:p>
                      <a:r>
                        <a:rPr lang="en-GB" sz="2000" dirty="0"/>
                        <a:t>51</a:t>
                      </a:r>
                    </a:p>
                  </a:txBody>
                  <a:tcPr/>
                </a:tc>
                <a:tc>
                  <a:txBody>
                    <a:bodyPr/>
                    <a:lstStyle/>
                    <a:p>
                      <a:pPr marL="0" algn="r" defTabSz="1219170" rtl="0" eaLnBrk="1" fontAlgn="b" latinLnBrk="0" hangingPunct="1">
                        <a:buNone/>
                      </a:pPr>
                      <a:r>
                        <a:rPr lang="de-CH" sz="2000" kern="1200" dirty="0">
                          <a:solidFill>
                            <a:schemeClr val="dk1"/>
                          </a:solidFill>
                          <a:latin typeface="+mn-lt"/>
                          <a:ea typeface="+mn-ea"/>
                          <a:cs typeface="+mn-cs"/>
                        </a:rPr>
                        <a:t>98’265</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1’501</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235</a:t>
                      </a:r>
                    </a:p>
                  </a:txBody>
                  <a:tcPr anchor="b"/>
                </a:tc>
                <a:extLst>
                  <a:ext uri="{0D108BD9-81ED-4DB2-BD59-A6C34878D82A}">
                    <a16:rowId xmlns:a16="http://schemas.microsoft.com/office/drawing/2014/main" val="1534296135"/>
                  </a:ext>
                </a:extLst>
              </a:tr>
              <a:tr h="370840">
                <a:tc>
                  <a:txBody>
                    <a:bodyPr/>
                    <a:lstStyle/>
                    <a:p>
                      <a:r>
                        <a:rPr lang="en-GB" sz="2000" dirty="0"/>
                        <a:t>2</a:t>
                      </a:r>
                    </a:p>
                  </a:txBody>
                  <a:tcPr/>
                </a:tc>
                <a:tc>
                  <a:txBody>
                    <a:bodyPr/>
                    <a:lstStyle/>
                    <a:p>
                      <a:r>
                        <a:rPr lang="en-GB" sz="2000" dirty="0"/>
                        <a:t>52</a:t>
                      </a:r>
                    </a:p>
                  </a:txBody>
                  <a:tcPr/>
                </a:tc>
                <a:tc>
                  <a:txBody>
                    <a:bodyPr/>
                    <a:lstStyle/>
                    <a:p>
                      <a:pPr marL="0" algn="r" defTabSz="1219170" rtl="0" eaLnBrk="1" fontAlgn="b" latinLnBrk="0" hangingPunct="1">
                        <a:buNone/>
                      </a:pPr>
                      <a:r>
                        <a:rPr lang="de-CH" sz="2000" kern="1200">
                          <a:solidFill>
                            <a:schemeClr val="dk1"/>
                          </a:solidFill>
                          <a:latin typeface="+mn-lt"/>
                          <a:ea typeface="+mn-ea"/>
                          <a:cs typeface="+mn-cs"/>
                        </a:rPr>
                        <a:t>97’368</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2’109</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524</a:t>
                      </a:r>
                    </a:p>
                  </a:txBody>
                  <a:tcPr anchor="b"/>
                </a:tc>
                <a:extLst>
                  <a:ext uri="{0D108BD9-81ED-4DB2-BD59-A6C34878D82A}">
                    <a16:rowId xmlns:a16="http://schemas.microsoft.com/office/drawing/2014/main" val="4145163076"/>
                  </a:ext>
                </a:extLst>
              </a:tr>
              <a:tr h="370840">
                <a:tc>
                  <a:txBody>
                    <a:bodyPr/>
                    <a:lstStyle/>
                    <a:p>
                      <a:r>
                        <a:rPr lang="en-GB" sz="2000" dirty="0"/>
                        <a:t>3</a:t>
                      </a:r>
                    </a:p>
                  </a:txBody>
                  <a:tcPr/>
                </a:tc>
                <a:tc>
                  <a:txBody>
                    <a:bodyPr/>
                    <a:lstStyle/>
                    <a:p>
                      <a:r>
                        <a:rPr lang="en-GB" sz="2000" dirty="0"/>
                        <a:t>53</a:t>
                      </a:r>
                    </a:p>
                  </a:txBody>
                  <a:tcPr/>
                </a:tc>
                <a:tc>
                  <a:txBody>
                    <a:bodyPr/>
                    <a:lstStyle/>
                    <a:p>
                      <a:pPr marL="0" algn="r" defTabSz="1219170" rtl="0" eaLnBrk="1" fontAlgn="b" latinLnBrk="0" hangingPunct="1">
                        <a:buNone/>
                      </a:pPr>
                      <a:r>
                        <a:rPr lang="de-CH" sz="2000" kern="1200">
                          <a:solidFill>
                            <a:schemeClr val="dk1"/>
                          </a:solidFill>
                          <a:latin typeface="+mn-lt"/>
                          <a:ea typeface="+mn-ea"/>
                          <a:cs typeface="+mn-cs"/>
                        </a:rPr>
                        <a:t>96’478</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2’676</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846</a:t>
                      </a:r>
                    </a:p>
                  </a:txBody>
                  <a:tcPr anchor="b"/>
                </a:tc>
                <a:extLst>
                  <a:ext uri="{0D108BD9-81ED-4DB2-BD59-A6C34878D82A}">
                    <a16:rowId xmlns:a16="http://schemas.microsoft.com/office/drawing/2014/main" val="3570091615"/>
                  </a:ext>
                </a:extLst>
              </a:tr>
              <a:tr h="370840">
                <a:tc>
                  <a:txBody>
                    <a:bodyPr/>
                    <a:lstStyle/>
                    <a:p>
                      <a:r>
                        <a:rPr lang="en-GB" sz="2000" dirty="0"/>
                        <a:t>4</a:t>
                      </a:r>
                    </a:p>
                  </a:txBody>
                  <a:tcPr/>
                </a:tc>
                <a:tc>
                  <a:txBody>
                    <a:bodyPr/>
                    <a:lstStyle/>
                    <a:p>
                      <a:r>
                        <a:rPr lang="en-GB" sz="2000" dirty="0"/>
                        <a:t>54</a:t>
                      </a:r>
                    </a:p>
                  </a:txBody>
                  <a:tcPr/>
                </a:tc>
                <a:tc>
                  <a:txBody>
                    <a:bodyPr/>
                    <a:lstStyle/>
                    <a:p>
                      <a:pPr marL="0" algn="r" defTabSz="1219170" rtl="0" eaLnBrk="1" fontAlgn="b" latinLnBrk="0" hangingPunct="1">
                        <a:buNone/>
                      </a:pPr>
                      <a:r>
                        <a:rPr lang="de-CH" sz="2000" kern="1200">
                          <a:solidFill>
                            <a:schemeClr val="dk1"/>
                          </a:solidFill>
                          <a:latin typeface="+mn-lt"/>
                          <a:ea typeface="+mn-ea"/>
                          <a:cs typeface="+mn-cs"/>
                        </a:rPr>
                        <a:t>95’524</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3’272</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1’204</a:t>
                      </a:r>
                    </a:p>
                  </a:txBody>
                  <a:tcPr anchor="b"/>
                </a:tc>
                <a:extLst>
                  <a:ext uri="{0D108BD9-81ED-4DB2-BD59-A6C34878D82A}">
                    <a16:rowId xmlns:a16="http://schemas.microsoft.com/office/drawing/2014/main" val="1992863753"/>
                  </a:ext>
                </a:extLst>
              </a:tr>
              <a:tr h="370840">
                <a:tc>
                  <a:txBody>
                    <a:bodyPr/>
                    <a:lstStyle/>
                    <a:p>
                      <a:r>
                        <a:rPr lang="en-GB" sz="2000" dirty="0"/>
                        <a:t>5</a:t>
                      </a:r>
                    </a:p>
                  </a:txBody>
                  <a:tcPr/>
                </a:tc>
                <a:tc>
                  <a:txBody>
                    <a:bodyPr/>
                    <a:lstStyle/>
                    <a:p>
                      <a:r>
                        <a:rPr lang="en-GB" sz="2000" dirty="0"/>
                        <a:t>55</a:t>
                      </a:r>
                    </a:p>
                  </a:txBody>
                  <a:tcPr/>
                </a:tc>
                <a:tc>
                  <a:txBody>
                    <a:bodyPr/>
                    <a:lstStyle/>
                    <a:p>
                      <a:pPr marL="0" algn="r" defTabSz="1219170" rtl="0" eaLnBrk="1" fontAlgn="b" latinLnBrk="0" hangingPunct="1">
                        <a:buNone/>
                      </a:pPr>
                      <a:r>
                        <a:rPr lang="de-CH" sz="2000" kern="1200">
                          <a:solidFill>
                            <a:schemeClr val="dk1"/>
                          </a:solidFill>
                          <a:latin typeface="+mn-lt"/>
                          <a:ea typeface="+mn-ea"/>
                          <a:cs typeface="+mn-cs"/>
                        </a:rPr>
                        <a:t>94’480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3’916</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1’604</a:t>
                      </a:r>
                    </a:p>
                  </a:txBody>
                  <a:tcPr anchor="b"/>
                </a:tc>
                <a:extLst>
                  <a:ext uri="{0D108BD9-81ED-4DB2-BD59-A6C34878D82A}">
                    <a16:rowId xmlns:a16="http://schemas.microsoft.com/office/drawing/2014/main" val="3435286380"/>
                  </a:ext>
                </a:extLst>
              </a:tr>
              <a:tr h="370840">
                <a:tc>
                  <a:txBody>
                    <a:bodyPr/>
                    <a:lstStyle/>
                    <a:p>
                      <a:r>
                        <a:rPr lang="en-GB" sz="2000" dirty="0"/>
                        <a:t>6</a:t>
                      </a:r>
                    </a:p>
                  </a:txBody>
                  <a:tcPr/>
                </a:tc>
                <a:tc>
                  <a:txBody>
                    <a:bodyPr/>
                    <a:lstStyle/>
                    <a:p>
                      <a:r>
                        <a:rPr lang="en-GB" sz="2000" dirty="0"/>
                        <a:t>56</a:t>
                      </a:r>
                    </a:p>
                  </a:txBody>
                  <a:tcPr/>
                </a:tc>
                <a:tc>
                  <a:txBody>
                    <a:bodyPr/>
                    <a:lstStyle/>
                    <a:p>
                      <a:pPr marL="0" algn="r" defTabSz="1219170" rtl="0" eaLnBrk="1" fontAlgn="b" latinLnBrk="0" hangingPunct="1">
                        <a:buNone/>
                      </a:pPr>
                      <a:r>
                        <a:rPr lang="de-CH" sz="2000" kern="1200" dirty="0">
                          <a:solidFill>
                            <a:schemeClr val="dk1"/>
                          </a:solidFill>
                          <a:latin typeface="+mn-lt"/>
                          <a:ea typeface="+mn-ea"/>
                          <a:cs typeface="+mn-cs"/>
                        </a:rPr>
                        <a:t>93’341</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4’615</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2’044</a:t>
                      </a:r>
                    </a:p>
                  </a:txBody>
                  <a:tcPr anchor="b"/>
                </a:tc>
                <a:extLst>
                  <a:ext uri="{0D108BD9-81ED-4DB2-BD59-A6C34878D82A}">
                    <a16:rowId xmlns:a16="http://schemas.microsoft.com/office/drawing/2014/main" val="1352294391"/>
                  </a:ext>
                </a:extLst>
              </a:tr>
              <a:tr h="370840">
                <a:tc>
                  <a:txBody>
                    <a:bodyPr/>
                    <a:lstStyle/>
                    <a:p>
                      <a:r>
                        <a:rPr lang="en-GB" sz="2000" dirty="0"/>
                        <a:t>…</a:t>
                      </a:r>
                    </a:p>
                  </a:txBody>
                  <a:tcPr/>
                </a:tc>
                <a:tc>
                  <a:txBody>
                    <a:bodyPr/>
                    <a:lstStyle/>
                    <a:p>
                      <a:r>
                        <a:rPr lang="en-GB" sz="2000" dirty="0"/>
                        <a:t>…</a:t>
                      </a:r>
                    </a:p>
                  </a:txBody>
                  <a:tcPr/>
                </a:tc>
                <a:tc>
                  <a: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lang="en-GB" sz="2000" dirty="0"/>
                        <a:t>…</a:t>
                      </a:r>
                    </a:p>
                  </a:txBody>
                  <a:tcPr/>
                </a:tc>
                <a:tc>
                  <a: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lang="en-GB" sz="2000" dirty="0"/>
                        <a:t>…</a:t>
                      </a:r>
                    </a:p>
                  </a:txBody>
                  <a:tcPr/>
                </a:tc>
                <a:tc>
                  <a: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lang="en-GB" sz="2000" dirty="0"/>
                        <a:t>…</a:t>
                      </a:r>
                    </a:p>
                  </a:txBody>
                  <a:tcPr/>
                </a:tc>
                <a:tc>
                  <a: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lang="en-GB" sz="2000" dirty="0"/>
                        <a:t>…</a:t>
                      </a:r>
                    </a:p>
                  </a:txBody>
                  <a:tcPr/>
                </a:tc>
                <a:extLst>
                  <a:ext uri="{0D108BD9-81ED-4DB2-BD59-A6C34878D82A}">
                    <a16:rowId xmlns:a16="http://schemas.microsoft.com/office/drawing/2014/main" val="1878086907"/>
                  </a:ext>
                </a:extLst>
              </a:tr>
              <a:tr h="370840">
                <a:tc>
                  <a:txBody>
                    <a:bodyPr/>
                    <a:lstStyle/>
                    <a:p>
                      <a:r>
                        <a:rPr lang="en-GB" sz="2000" dirty="0"/>
                        <a:t>14</a:t>
                      </a:r>
                    </a:p>
                  </a:txBody>
                  <a:tcPr/>
                </a:tc>
                <a:tc>
                  <a:txBody>
                    <a:bodyPr/>
                    <a:lstStyle/>
                    <a:p>
                      <a:r>
                        <a:rPr lang="en-GB" sz="2000" dirty="0"/>
                        <a:t>64</a:t>
                      </a:r>
                    </a:p>
                  </a:txBody>
                  <a:tcPr/>
                </a:tc>
                <a:tc>
                  <a:txBody>
                    <a:bodyPr/>
                    <a:lstStyle/>
                    <a:p>
                      <a:pPr marL="0" algn="r" defTabSz="1219170" rtl="0" eaLnBrk="1" fontAlgn="b" latinLnBrk="0" hangingPunct="1">
                        <a:buNone/>
                      </a:pPr>
                      <a:r>
                        <a:rPr lang="de-CH" sz="2000" kern="1200" dirty="0">
                          <a:solidFill>
                            <a:schemeClr val="dk1"/>
                          </a:solidFill>
                          <a:latin typeface="+mn-lt"/>
                          <a:ea typeface="+mn-ea"/>
                          <a:cs typeface="+mn-cs"/>
                        </a:rPr>
                        <a:t>80’910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11’727</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7’363</a:t>
                      </a:r>
                    </a:p>
                  </a:txBody>
                  <a:tcPr anchor="b"/>
                </a:tc>
                <a:extLst>
                  <a:ext uri="{0D108BD9-81ED-4DB2-BD59-A6C34878D82A}">
                    <a16:rowId xmlns:a16="http://schemas.microsoft.com/office/drawing/2014/main" val="4068678164"/>
                  </a:ext>
                </a:extLst>
              </a:tr>
              <a:tr h="370840">
                <a:tc>
                  <a:txBody>
                    <a:bodyPr/>
                    <a:lstStyle/>
                    <a:p>
                      <a:r>
                        <a:rPr lang="en-GB" sz="2000" dirty="0"/>
                        <a:t>15</a:t>
                      </a:r>
                    </a:p>
                  </a:txBody>
                  <a:tcPr/>
                </a:tc>
                <a:tc>
                  <a:txBody>
                    <a:bodyPr/>
                    <a:lstStyle/>
                    <a:p>
                      <a:r>
                        <a:rPr lang="en-GB" sz="2000" dirty="0"/>
                        <a:t>65</a:t>
                      </a:r>
                    </a:p>
                  </a:txBody>
                  <a:tcPr/>
                </a:tc>
                <a:tc>
                  <a:txBody>
                    <a:bodyPr/>
                    <a:lstStyle/>
                    <a:p>
                      <a:pPr marL="0" algn="r" defTabSz="1219170" rtl="0" eaLnBrk="1" fontAlgn="b" latinLnBrk="0" hangingPunct="1">
                        <a:buNone/>
                      </a:pPr>
                      <a:r>
                        <a:rPr lang="de-CH" sz="2000" kern="1200">
                          <a:solidFill>
                            <a:schemeClr val="dk1"/>
                          </a:solidFill>
                          <a:latin typeface="+mn-lt"/>
                          <a:ea typeface="+mn-ea"/>
                          <a:cs typeface="+mn-cs"/>
                        </a:rPr>
                        <a:t>78’341</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10’364</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3’213</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8’082</a:t>
                      </a:r>
                    </a:p>
                  </a:txBody>
                  <a:tcPr anchor="b"/>
                </a:tc>
                <a:extLst>
                  <a:ext uri="{0D108BD9-81ED-4DB2-BD59-A6C34878D82A}">
                    <a16:rowId xmlns:a16="http://schemas.microsoft.com/office/drawing/2014/main" val="265532196"/>
                  </a:ext>
                </a:extLst>
              </a:tr>
              <a:tr h="370840">
                <a:tc>
                  <a:txBody>
                    <a:bodyPr/>
                    <a:lstStyle/>
                    <a:p>
                      <a:r>
                        <a:rPr lang="en-GB" sz="2000" dirty="0"/>
                        <a:t>16</a:t>
                      </a:r>
                    </a:p>
                  </a:txBody>
                  <a:tcPr/>
                </a:tc>
                <a:tc>
                  <a:txBody>
                    <a:bodyPr/>
                    <a:lstStyle/>
                    <a:p>
                      <a:r>
                        <a:rPr lang="en-GB" sz="2000" dirty="0"/>
                        <a:t>66</a:t>
                      </a:r>
                    </a:p>
                  </a:txBody>
                  <a:tcPr/>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91’525</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8’475</a:t>
                      </a:r>
                    </a:p>
                  </a:txBody>
                  <a:tcPr anchor="b"/>
                </a:tc>
                <a:extLst>
                  <a:ext uri="{0D108BD9-81ED-4DB2-BD59-A6C34878D82A}">
                    <a16:rowId xmlns:a16="http://schemas.microsoft.com/office/drawing/2014/main" val="4223407602"/>
                  </a:ext>
                </a:extLst>
              </a:tr>
              <a:tr h="370840">
                <a:tc>
                  <a:txBody>
                    <a:bodyPr/>
                    <a:lstStyle/>
                    <a:p>
                      <a:r>
                        <a:rPr lang="en-GB" sz="2000" dirty="0"/>
                        <a:t>17</a:t>
                      </a:r>
                    </a:p>
                  </a:txBody>
                  <a:tcPr/>
                </a:tc>
                <a:tc>
                  <a:txBody>
                    <a:bodyPr/>
                    <a:lstStyle/>
                    <a:p>
                      <a:r>
                        <a:rPr lang="en-GB" sz="2000" dirty="0"/>
                        <a:t>67</a:t>
                      </a:r>
                    </a:p>
                  </a:txBody>
                  <a:tcPr/>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90’706</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9’294</a:t>
                      </a:r>
                    </a:p>
                  </a:txBody>
                  <a:tcPr anchor="b"/>
                </a:tc>
                <a:extLst>
                  <a:ext uri="{0D108BD9-81ED-4DB2-BD59-A6C34878D82A}">
                    <a16:rowId xmlns:a16="http://schemas.microsoft.com/office/drawing/2014/main" val="4201794598"/>
                  </a:ext>
                </a:extLst>
              </a:tr>
            </a:tbl>
          </a:graphicData>
        </a:graphic>
      </p:graphicFrame>
      <p:sp>
        <p:nvSpPr>
          <p:cNvPr id="8" name="Rectangle: Rounded Corners 7">
            <a:extLst>
              <a:ext uri="{FF2B5EF4-FFF2-40B4-BE49-F238E27FC236}">
                <a16:creationId xmlns:a16="http://schemas.microsoft.com/office/drawing/2014/main" id="{9B70F93D-A0A3-6A9E-5E69-D1653EC5A75B}"/>
              </a:ext>
            </a:extLst>
          </p:cNvPr>
          <p:cNvSpPr/>
          <p:nvPr/>
        </p:nvSpPr>
        <p:spPr>
          <a:xfrm>
            <a:off x="10711542" y="3581514"/>
            <a:ext cx="2160592" cy="1386340"/>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HWPLE = Healthy Working Partial Life Expectancy</a:t>
            </a:r>
          </a:p>
        </p:txBody>
      </p:sp>
      <p:sp>
        <p:nvSpPr>
          <p:cNvPr id="10" name="Rectangle: Rounded Corners 9">
            <a:extLst>
              <a:ext uri="{FF2B5EF4-FFF2-40B4-BE49-F238E27FC236}">
                <a16:creationId xmlns:a16="http://schemas.microsoft.com/office/drawing/2014/main" id="{64FC38F8-A43B-C34D-71D8-41B87BBB9BC2}"/>
              </a:ext>
            </a:extLst>
          </p:cNvPr>
          <p:cNvSpPr/>
          <p:nvPr/>
        </p:nvSpPr>
        <p:spPr>
          <a:xfrm>
            <a:off x="12942265" y="3581514"/>
            <a:ext cx="2160592" cy="1386340"/>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NNPLE  = Not-Healthy Not-Working Partial Life Expectancy</a:t>
            </a:r>
          </a:p>
        </p:txBody>
      </p:sp>
      <p:sp>
        <p:nvSpPr>
          <p:cNvPr id="12" name="Rectangle: Rounded Corners 11">
            <a:extLst>
              <a:ext uri="{FF2B5EF4-FFF2-40B4-BE49-F238E27FC236}">
                <a16:creationId xmlns:a16="http://schemas.microsoft.com/office/drawing/2014/main" id="{801F14AC-369E-D48E-FE24-F023A90FD842}"/>
              </a:ext>
            </a:extLst>
          </p:cNvPr>
          <p:cNvSpPr/>
          <p:nvPr/>
        </p:nvSpPr>
        <p:spPr>
          <a:xfrm>
            <a:off x="10711542" y="5067129"/>
            <a:ext cx="2160592" cy="1386340"/>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13.5 years</a:t>
            </a:r>
          </a:p>
        </p:txBody>
      </p:sp>
      <p:sp>
        <p:nvSpPr>
          <p:cNvPr id="15" name="Rectangle: Rounded Corners 14">
            <a:extLst>
              <a:ext uri="{FF2B5EF4-FFF2-40B4-BE49-F238E27FC236}">
                <a16:creationId xmlns:a16="http://schemas.microsoft.com/office/drawing/2014/main" id="{6D369602-3B72-641E-5AF4-5E0DE694991D}"/>
              </a:ext>
            </a:extLst>
          </p:cNvPr>
          <p:cNvSpPr/>
          <p:nvPr/>
        </p:nvSpPr>
        <p:spPr>
          <a:xfrm>
            <a:off x="12942265" y="5067129"/>
            <a:ext cx="2160592" cy="1386340"/>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0.9 years</a:t>
            </a:r>
          </a:p>
        </p:txBody>
      </p:sp>
    </p:spTree>
    <p:extLst>
      <p:ext uri="{BB962C8B-B14F-4D97-AF65-F5344CB8AC3E}">
        <p14:creationId xmlns:p14="http://schemas.microsoft.com/office/powerpoint/2010/main" val="373523895"/>
      </p:ext>
    </p:extLst>
  </p:cSld>
  <p:clrMapOvr>
    <a:masterClrMapping/>
  </p:clrMapOvr>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3DE0F-CFEE-7A57-62AB-79C59123589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D28B46F-4551-1309-F58D-671F3E102379}"/>
              </a:ext>
            </a:extLst>
          </p:cNvPr>
          <p:cNvSpPr>
            <a:spLocks noGrp="1"/>
          </p:cNvSpPr>
          <p:nvPr>
            <p:ph type="title"/>
          </p:nvPr>
        </p:nvSpPr>
        <p:spPr/>
        <p:txBody>
          <a:bodyPr/>
          <a:lstStyle/>
          <a:p>
            <a:r>
              <a:rPr lang="en-GB" dirty="0"/>
              <a:t>Healthy Working Life Table</a:t>
            </a:r>
          </a:p>
        </p:txBody>
      </p:sp>
      <p:sp>
        <p:nvSpPr>
          <p:cNvPr id="5" name="Footer Placeholder 4">
            <a:extLst>
              <a:ext uri="{FF2B5EF4-FFF2-40B4-BE49-F238E27FC236}">
                <a16:creationId xmlns:a16="http://schemas.microsoft.com/office/drawing/2014/main" id="{CF11870C-1DE9-D31E-1A2C-F6643E8487E0}"/>
              </a:ext>
            </a:extLst>
          </p:cNvPr>
          <p:cNvSpPr>
            <a:spLocks noGrp="1"/>
          </p:cNvSpPr>
          <p:nvPr>
            <p:ph type="ftr" sz="quarter" idx="3"/>
          </p:nvPr>
        </p:nvSpPr>
        <p:spPr/>
        <p:txBody>
          <a:bodyPr/>
          <a:lstStyle/>
          <a:p>
            <a:r>
              <a:rPr lang="en-GB"/>
              <a:t>IFoA Life Conference</a:t>
            </a:r>
            <a:endParaRPr lang="en-GB" dirty="0"/>
          </a:p>
        </p:txBody>
      </p:sp>
      <p:sp>
        <p:nvSpPr>
          <p:cNvPr id="6" name="Slide Number Placeholder 5">
            <a:extLst>
              <a:ext uri="{FF2B5EF4-FFF2-40B4-BE49-F238E27FC236}">
                <a16:creationId xmlns:a16="http://schemas.microsoft.com/office/drawing/2014/main" id="{F6199190-F8AF-87F2-5764-9BB364EED1E9}"/>
              </a:ext>
            </a:extLst>
          </p:cNvPr>
          <p:cNvSpPr>
            <a:spLocks noGrp="1"/>
          </p:cNvSpPr>
          <p:nvPr>
            <p:ph type="sldNum" sz="quarter" idx="4"/>
          </p:nvPr>
        </p:nvSpPr>
        <p:spPr/>
        <p:txBody>
          <a:bodyPr/>
          <a:lstStyle/>
          <a:p>
            <a:fld id="{40FC62D0-A2F2-4BF8-8DAC-E86C11000EC3}" type="slidenum">
              <a:rPr lang="en-GB" smtClean="0"/>
              <a:pPr/>
              <a:t>22</a:t>
            </a:fld>
            <a:endParaRPr lang="en-GB" dirty="0"/>
          </a:p>
        </p:txBody>
      </p:sp>
      <p:graphicFrame>
        <p:nvGraphicFramePr>
          <p:cNvPr id="15" name="Content Placeholder 14">
            <a:extLst>
              <a:ext uri="{FF2B5EF4-FFF2-40B4-BE49-F238E27FC236}">
                <a16:creationId xmlns:a16="http://schemas.microsoft.com/office/drawing/2014/main" id="{B948669D-BAD1-34F7-1D15-6C3B31B8F991}"/>
              </a:ext>
            </a:extLst>
          </p:cNvPr>
          <p:cNvGraphicFramePr>
            <a:graphicFrameLocks noGrp="1"/>
          </p:cNvGraphicFramePr>
          <p:nvPr>
            <p:ph sz="quarter" idx="13"/>
            <p:extLst>
              <p:ext uri="{D42A27DB-BD31-4B8C-83A1-F6EECF244321}">
                <p14:modId xmlns:p14="http://schemas.microsoft.com/office/powerpoint/2010/main" val="308092511"/>
              </p:ext>
            </p:extLst>
          </p:nvPr>
        </p:nvGraphicFramePr>
        <p:xfrm>
          <a:off x="1104899" y="2522538"/>
          <a:ext cx="9388929" cy="5859994"/>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Placeholder 7">
            <a:extLst>
              <a:ext uri="{FF2B5EF4-FFF2-40B4-BE49-F238E27FC236}">
                <a16:creationId xmlns:a16="http://schemas.microsoft.com/office/drawing/2014/main" id="{2AFE5B37-70B9-D434-8287-5AFAA7347E69}"/>
              </a:ext>
            </a:extLst>
          </p:cNvPr>
          <p:cNvSpPr>
            <a:spLocks noGrp="1"/>
          </p:cNvSpPr>
          <p:nvPr>
            <p:ph type="body" sz="quarter" idx="24"/>
          </p:nvPr>
        </p:nvSpPr>
        <p:spPr/>
        <p:txBody>
          <a:bodyPr/>
          <a:lstStyle/>
          <a:p>
            <a:r>
              <a:rPr lang="en-GB" dirty="0"/>
              <a:t>Derived from administrative data (CMI and ONS)</a:t>
            </a:r>
          </a:p>
          <a:p>
            <a:r>
              <a:rPr lang="en-GB" dirty="0"/>
              <a:t>Example for females occupation class 1 who are healthy and working at age 50</a:t>
            </a:r>
          </a:p>
        </p:txBody>
      </p:sp>
      <p:sp>
        <p:nvSpPr>
          <p:cNvPr id="11" name="Content Placeholder 3">
            <a:extLst>
              <a:ext uri="{FF2B5EF4-FFF2-40B4-BE49-F238E27FC236}">
                <a16:creationId xmlns:a16="http://schemas.microsoft.com/office/drawing/2014/main" id="{686FDC7E-CB80-2875-44A9-16EA23AE1AAF}"/>
              </a:ext>
            </a:extLst>
          </p:cNvPr>
          <p:cNvSpPr txBox="1">
            <a:spLocks/>
          </p:cNvSpPr>
          <p:nvPr/>
        </p:nvSpPr>
        <p:spPr>
          <a:xfrm>
            <a:off x="10711542" y="2522538"/>
            <a:ext cx="4414161" cy="5206093"/>
          </a:xfrm>
          <a:prstGeom prst="rect">
            <a:avLst/>
          </a:prstGeom>
        </p:spPr>
        <p:txBody>
          <a:bodyPr vert="horz" lIns="91440" tIns="45720" rIns="91440" bIns="45720" rtlCol="0">
            <a:normAutofit/>
          </a:bodyPr>
          <a:lstStyle>
            <a:lvl1pPr marL="0" indent="0" algn="l" defTabSz="1219170" rtl="0" eaLnBrk="1" latinLnBrk="0" hangingPunct="1">
              <a:lnSpc>
                <a:spcPct val="100000"/>
              </a:lnSpc>
              <a:spcBef>
                <a:spcPts val="1333"/>
              </a:spcBef>
              <a:buClr>
                <a:schemeClr val="accent3"/>
              </a:buClr>
              <a:buFont typeface="Arial" panose="020B0604020202020204" pitchFamily="34" charset="0"/>
              <a:buNone/>
              <a:defRPr sz="2600" b="0" i="0" kern="1200">
                <a:solidFill>
                  <a:schemeClr val="tx1"/>
                </a:solidFill>
                <a:latin typeface="Arial" panose="020B0604020202020204" pitchFamily="34" charset="0"/>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r>
              <a:rPr lang="en-US" b="1" dirty="0"/>
              <a:t>Estimates: female 50 OC1</a:t>
            </a:r>
            <a:endParaRPr lang="en-US" dirty="0"/>
          </a:p>
        </p:txBody>
      </p:sp>
      <p:sp>
        <p:nvSpPr>
          <p:cNvPr id="18" name="Rectangle: Rounded Corners 17">
            <a:extLst>
              <a:ext uri="{FF2B5EF4-FFF2-40B4-BE49-F238E27FC236}">
                <a16:creationId xmlns:a16="http://schemas.microsoft.com/office/drawing/2014/main" id="{6480D99D-E285-B16F-F6D0-37A587A323DC}"/>
              </a:ext>
            </a:extLst>
          </p:cNvPr>
          <p:cNvSpPr/>
          <p:nvPr/>
        </p:nvSpPr>
        <p:spPr>
          <a:xfrm>
            <a:off x="10711542" y="3581514"/>
            <a:ext cx="2160592" cy="1386340"/>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HWPLE = Healthy Working Partial Life Expectancy</a:t>
            </a:r>
          </a:p>
        </p:txBody>
      </p:sp>
      <p:sp>
        <p:nvSpPr>
          <p:cNvPr id="20" name="Rectangle: Rounded Corners 19">
            <a:extLst>
              <a:ext uri="{FF2B5EF4-FFF2-40B4-BE49-F238E27FC236}">
                <a16:creationId xmlns:a16="http://schemas.microsoft.com/office/drawing/2014/main" id="{DDD68BA6-75D6-5C34-8A8F-04152DE82D71}"/>
              </a:ext>
            </a:extLst>
          </p:cNvPr>
          <p:cNvSpPr/>
          <p:nvPr/>
        </p:nvSpPr>
        <p:spPr>
          <a:xfrm>
            <a:off x="12942265" y="3581514"/>
            <a:ext cx="2160592" cy="1386340"/>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NNPLE  = Not-Healthy Not-Working Partial Life Expectancy</a:t>
            </a:r>
          </a:p>
        </p:txBody>
      </p:sp>
      <p:sp>
        <p:nvSpPr>
          <p:cNvPr id="22" name="Rectangle: Rounded Corners 21">
            <a:extLst>
              <a:ext uri="{FF2B5EF4-FFF2-40B4-BE49-F238E27FC236}">
                <a16:creationId xmlns:a16="http://schemas.microsoft.com/office/drawing/2014/main" id="{C2C82365-3C72-2486-6A36-C137FDE8BDC1}"/>
              </a:ext>
            </a:extLst>
          </p:cNvPr>
          <p:cNvSpPr/>
          <p:nvPr/>
        </p:nvSpPr>
        <p:spPr>
          <a:xfrm>
            <a:off x="10711542" y="5067129"/>
            <a:ext cx="2160592" cy="1386340"/>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13.5 years</a:t>
            </a:r>
          </a:p>
        </p:txBody>
      </p:sp>
      <p:sp>
        <p:nvSpPr>
          <p:cNvPr id="24" name="Rectangle: Rounded Corners 23">
            <a:extLst>
              <a:ext uri="{FF2B5EF4-FFF2-40B4-BE49-F238E27FC236}">
                <a16:creationId xmlns:a16="http://schemas.microsoft.com/office/drawing/2014/main" id="{A020932A-3A02-36AF-354C-D6E97CADC45B}"/>
              </a:ext>
            </a:extLst>
          </p:cNvPr>
          <p:cNvSpPr/>
          <p:nvPr/>
        </p:nvSpPr>
        <p:spPr>
          <a:xfrm>
            <a:off x="12942265" y="5067129"/>
            <a:ext cx="2160592" cy="1386340"/>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0.9 years</a:t>
            </a:r>
          </a:p>
        </p:txBody>
      </p:sp>
    </p:spTree>
    <p:extLst>
      <p:ext uri="{BB962C8B-B14F-4D97-AF65-F5344CB8AC3E}">
        <p14:creationId xmlns:p14="http://schemas.microsoft.com/office/powerpoint/2010/main" val="1815810728"/>
      </p:ext>
    </p:extLst>
  </p:cSld>
  <p:clrMapOvr>
    <a:masterClrMapping/>
  </p:clrMapOvr>
  <p:extLst>
    <p:ext uri="{6950BFC3-D8DA-4A85-94F7-54DA5524770B}">
      <p188:commentRel xmlns:p188="http://schemas.microsoft.com/office/powerpoint/2018/8/main" r:id="rId4"/>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4FA89-E889-0397-9722-4CBA6C59A27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2BF0C06-6EB5-5FB1-5B03-EED63E29A4D4}"/>
              </a:ext>
            </a:extLst>
          </p:cNvPr>
          <p:cNvSpPr>
            <a:spLocks noGrp="1"/>
          </p:cNvSpPr>
          <p:nvPr>
            <p:ph type="title"/>
          </p:nvPr>
        </p:nvSpPr>
        <p:spPr/>
        <p:txBody>
          <a:bodyPr/>
          <a:lstStyle/>
          <a:p>
            <a:r>
              <a:rPr lang="en-GB" dirty="0"/>
              <a:t>HWLE estimates with CMI IP rates: males and females</a:t>
            </a:r>
          </a:p>
        </p:txBody>
      </p:sp>
      <p:sp>
        <p:nvSpPr>
          <p:cNvPr id="5" name="Footer Placeholder 4">
            <a:extLst>
              <a:ext uri="{FF2B5EF4-FFF2-40B4-BE49-F238E27FC236}">
                <a16:creationId xmlns:a16="http://schemas.microsoft.com/office/drawing/2014/main" id="{D3C58FB8-B8F8-2996-6AAE-FD1EFC84ED46}"/>
              </a:ext>
            </a:extLst>
          </p:cNvPr>
          <p:cNvSpPr>
            <a:spLocks noGrp="1"/>
          </p:cNvSpPr>
          <p:nvPr>
            <p:ph type="ftr" sz="quarter" idx="3"/>
          </p:nvPr>
        </p:nvSpPr>
        <p:spPr>
          <a:xfrm>
            <a:off x="1117600" y="8368019"/>
            <a:ext cx="11368098" cy="486833"/>
          </a:xfrm>
        </p:spPr>
        <p:txBody>
          <a:bodyPr/>
          <a:lstStyle/>
          <a:p>
            <a:r>
              <a:rPr lang="en-GB" dirty="0" err="1"/>
              <a:t>IFoA</a:t>
            </a:r>
            <a:r>
              <a:rPr lang="en-GB" dirty="0"/>
              <a:t> Life Conference</a:t>
            </a:r>
          </a:p>
        </p:txBody>
      </p:sp>
      <p:sp>
        <p:nvSpPr>
          <p:cNvPr id="6" name="Slide Number Placeholder 5">
            <a:extLst>
              <a:ext uri="{FF2B5EF4-FFF2-40B4-BE49-F238E27FC236}">
                <a16:creationId xmlns:a16="http://schemas.microsoft.com/office/drawing/2014/main" id="{54D2A231-5AAF-0CF1-B4E9-BB22536AD559}"/>
              </a:ext>
            </a:extLst>
          </p:cNvPr>
          <p:cNvSpPr>
            <a:spLocks noGrp="1"/>
          </p:cNvSpPr>
          <p:nvPr>
            <p:ph type="sldNum" sz="quarter" idx="4"/>
          </p:nvPr>
        </p:nvSpPr>
        <p:spPr/>
        <p:txBody>
          <a:bodyPr/>
          <a:lstStyle/>
          <a:p>
            <a:fld id="{40FC62D0-A2F2-4BF8-8DAC-E86C11000EC3}" type="slidenum">
              <a:rPr lang="en-GB" smtClean="0"/>
              <a:pPr/>
              <a:t>23</a:t>
            </a:fld>
            <a:endParaRPr lang="en-GB" dirty="0"/>
          </a:p>
        </p:txBody>
      </p:sp>
      <p:sp>
        <p:nvSpPr>
          <p:cNvPr id="7" name="Text Placeholder 6">
            <a:extLst>
              <a:ext uri="{FF2B5EF4-FFF2-40B4-BE49-F238E27FC236}">
                <a16:creationId xmlns:a16="http://schemas.microsoft.com/office/drawing/2014/main" id="{422661E1-0E36-3223-F02F-509181897BF2}"/>
              </a:ext>
            </a:extLst>
          </p:cNvPr>
          <p:cNvSpPr>
            <a:spLocks noGrp="1"/>
          </p:cNvSpPr>
          <p:nvPr>
            <p:ph type="body" sz="quarter" idx="24"/>
          </p:nvPr>
        </p:nvSpPr>
        <p:spPr/>
        <p:txBody>
          <a:bodyPr/>
          <a:lstStyle/>
          <a:p>
            <a:r>
              <a:rPr lang="en-GB" dirty="0"/>
              <a:t>Examples for a sample of starting ages to age 65 for occupation class 1</a:t>
            </a:r>
          </a:p>
        </p:txBody>
      </p:sp>
      <p:sp>
        <p:nvSpPr>
          <p:cNvPr id="15" name="Rectangle: Rounded Corners 14">
            <a:extLst>
              <a:ext uri="{FF2B5EF4-FFF2-40B4-BE49-F238E27FC236}">
                <a16:creationId xmlns:a16="http://schemas.microsoft.com/office/drawing/2014/main" id="{B54D71DC-5082-FF38-CB2D-F1B50D588240}"/>
              </a:ext>
            </a:extLst>
          </p:cNvPr>
          <p:cNvSpPr/>
          <p:nvPr/>
        </p:nvSpPr>
        <p:spPr>
          <a:xfrm>
            <a:off x="1117600" y="1803756"/>
            <a:ext cx="6883400" cy="399855"/>
          </a:xfrm>
          <a:prstGeom prst="round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Females</a:t>
            </a:r>
          </a:p>
        </p:txBody>
      </p:sp>
      <p:sp>
        <p:nvSpPr>
          <p:cNvPr id="17" name="Rectangle: Rounded Corners 16">
            <a:extLst>
              <a:ext uri="{FF2B5EF4-FFF2-40B4-BE49-F238E27FC236}">
                <a16:creationId xmlns:a16="http://schemas.microsoft.com/office/drawing/2014/main" id="{A45C65F9-035C-1C01-0BBE-88E3E86AD1A5}"/>
              </a:ext>
            </a:extLst>
          </p:cNvPr>
          <p:cNvSpPr/>
          <p:nvPr/>
        </p:nvSpPr>
        <p:spPr>
          <a:xfrm>
            <a:off x="8242300" y="1803755"/>
            <a:ext cx="6883400" cy="399855"/>
          </a:xfrm>
          <a:prstGeom prst="round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Males</a:t>
            </a:r>
          </a:p>
        </p:txBody>
      </p:sp>
      <p:graphicFrame>
        <p:nvGraphicFramePr>
          <p:cNvPr id="13" name="Content Placeholder 12">
            <a:extLst>
              <a:ext uri="{FF2B5EF4-FFF2-40B4-BE49-F238E27FC236}">
                <a16:creationId xmlns:a16="http://schemas.microsoft.com/office/drawing/2014/main" id="{CF37849F-63D6-40A1-8C60-CA7E96CFE145}"/>
              </a:ext>
            </a:extLst>
          </p:cNvPr>
          <p:cNvGraphicFramePr>
            <a:graphicFrameLocks noGrp="1"/>
          </p:cNvGraphicFramePr>
          <p:nvPr>
            <p:ph sz="quarter" idx="13"/>
            <p:extLst>
              <p:ext uri="{D42A27DB-BD31-4B8C-83A1-F6EECF244321}">
                <p14:modId xmlns:p14="http://schemas.microsoft.com/office/powerpoint/2010/main" val="2695513813"/>
              </p:ext>
            </p:extLst>
          </p:nvPr>
        </p:nvGraphicFramePr>
        <p:xfrm>
          <a:off x="1104900" y="2268538"/>
          <a:ext cx="6896100" cy="545941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9" name="Content Placeholder 18">
            <a:extLst>
              <a:ext uri="{FF2B5EF4-FFF2-40B4-BE49-F238E27FC236}">
                <a16:creationId xmlns:a16="http://schemas.microsoft.com/office/drawing/2014/main" id="{A50E3DA6-EABC-4BAE-A850-0B516D71E3C1}"/>
              </a:ext>
            </a:extLst>
          </p:cNvPr>
          <p:cNvGraphicFramePr>
            <a:graphicFrameLocks noGrp="1"/>
          </p:cNvGraphicFramePr>
          <p:nvPr>
            <p:ph sz="quarter" idx="25"/>
            <p:extLst>
              <p:ext uri="{D42A27DB-BD31-4B8C-83A1-F6EECF244321}">
                <p14:modId xmlns:p14="http://schemas.microsoft.com/office/powerpoint/2010/main" val="974170705"/>
              </p:ext>
            </p:extLst>
          </p:nvPr>
        </p:nvGraphicFramePr>
        <p:xfrm>
          <a:off x="8229600" y="2268538"/>
          <a:ext cx="6896100" cy="5459412"/>
        </p:xfrm>
        <a:graphic>
          <a:graphicData uri="http://schemas.openxmlformats.org/drawingml/2006/chart">
            <c:chart xmlns:c="http://schemas.openxmlformats.org/drawingml/2006/chart" xmlns:r="http://schemas.openxmlformats.org/officeDocument/2006/relationships" r:id="rId4"/>
          </a:graphicData>
        </a:graphic>
      </p:graphicFrame>
      <p:cxnSp>
        <p:nvCxnSpPr>
          <p:cNvPr id="8" name="Straight Arrow Connector 7">
            <a:extLst>
              <a:ext uri="{FF2B5EF4-FFF2-40B4-BE49-F238E27FC236}">
                <a16:creationId xmlns:a16="http://schemas.microsoft.com/office/drawing/2014/main" id="{ADCBD285-4780-CD70-8C16-374385FEA021}"/>
              </a:ext>
            </a:extLst>
          </p:cNvPr>
          <p:cNvCxnSpPr>
            <a:cxnSpLocks/>
          </p:cNvCxnSpPr>
          <p:nvPr/>
        </p:nvCxnSpPr>
        <p:spPr>
          <a:xfrm flipV="1">
            <a:off x="2189498" y="2531165"/>
            <a:ext cx="5589528" cy="8438"/>
          </a:xfrm>
          <a:prstGeom prst="straightConnector1">
            <a:avLst/>
          </a:prstGeom>
          <a:ln w="3175">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803718BE-6EA9-A88E-B635-65B4210E4316}"/>
              </a:ext>
            </a:extLst>
          </p:cNvPr>
          <p:cNvSpPr/>
          <p:nvPr/>
        </p:nvSpPr>
        <p:spPr>
          <a:xfrm>
            <a:off x="1104900" y="2372139"/>
            <a:ext cx="1089695" cy="3283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retire 65</a:t>
            </a:r>
          </a:p>
        </p:txBody>
      </p:sp>
      <p:sp>
        <p:nvSpPr>
          <p:cNvPr id="14" name="Rectangle 13">
            <a:extLst>
              <a:ext uri="{FF2B5EF4-FFF2-40B4-BE49-F238E27FC236}">
                <a16:creationId xmlns:a16="http://schemas.microsoft.com/office/drawing/2014/main" id="{19FA3C39-42AA-2549-2AF4-84A84D231373}"/>
              </a:ext>
            </a:extLst>
          </p:cNvPr>
          <p:cNvSpPr/>
          <p:nvPr/>
        </p:nvSpPr>
        <p:spPr>
          <a:xfrm>
            <a:off x="8242300" y="2367015"/>
            <a:ext cx="1089695" cy="3283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retire 65</a:t>
            </a:r>
          </a:p>
        </p:txBody>
      </p:sp>
      <p:cxnSp>
        <p:nvCxnSpPr>
          <p:cNvPr id="18" name="Straight Arrow Connector 17">
            <a:extLst>
              <a:ext uri="{FF2B5EF4-FFF2-40B4-BE49-F238E27FC236}">
                <a16:creationId xmlns:a16="http://schemas.microsoft.com/office/drawing/2014/main" id="{869C6EB6-2F70-A31A-3D5D-728A0A305AB2}"/>
              </a:ext>
            </a:extLst>
          </p:cNvPr>
          <p:cNvCxnSpPr>
            <a:cxnSpLocks/>
          </p:cNvCxnSpPr>
          <p:nvPr/>
        </p:nvCxnSpPr>
        <p:spPr>
          <a:xfrm flipV="1">
            <a:off x="9331995" y="2510987"/>
            <a:ext cx="5589528" cy="8438"/>
          </a:xfrm>
          <a:prstGeom prst="straightConnector1">
            <a:avLst/>
          </a:prstGeom>
          <a:ln w="3175">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4" name="Rectangle: Rounded Corners 3">
            <a:extLst>
              <a:ext uri="{FF2B5EF4-FFF2-40B4-BE49-F238E27FC236}">
                <a16:creationId xmlns:a16="http://schemas.microsoft.com/office/drawing/2014/main" id="{1E19E9A3-9E42-1CB1-FC15-D8ECB292CA79}"/>
              </a:ext>
            </a:extLst>
          </p:cNvPr>
          <p:cNvSpPr/>
          <p:nvPr/>
        </p:nvSpPr>
        <p:spPr>
          <a:xfrm>
            <a:off x="12760931" y="5462455"/>
            <a:ext cx="2160592" cy="1386340"/>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HWPLE = Healthy Working Partial Life Expectancy</a:t>
            </a:r>
          </a:p>
        </p:txBody>
      </p:sp>
      <p:sp>
        <p:nvSpPr>
          <p:cNvPr id="10" name="Rectangle: Rounded Corners 9">
            <a:extLst>
              <a:ext uri="{FF2B5EF4-FFF2-40B4-BE49-F238E27FC236}">
                <a16:creationId xmlns:a16="http://schemas.microsoft.com/office/drawing/2014/main" id="{F8D70A53-5094-F151-1BF9-66A638FE5574}"/>
              </a:ext>
            </a:extLst>
          </p:cNvPr>
          <p:cNvSpPr/>
          <p:nvPr/>
        </p:nvSpPr>
        <p:spPr>
          <a:xfrm>
            <a:off x="12760931" y="4043651"/>
            <a:ext cx="2160592" cy="1386340"/>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NNPLE  = Not-Healthy Not-Working Partial Life Expectancy</a:t>
            </a:r>
          </a:p>
        </p:txBody>
      </p:sp>
    </p:spTree>
    <p:extLst>
      <p:ext uri="{BB962C8B-B14F-4D97-AF65-F5344CB8AC3E}">
        <p14:creationId xmlns:p14="http://schemas.microsoft.com/office/powerpoint/2010/main" val="2550967057"/>
      </p:ext>
    </p:extLst>
  </p:cSld>
  <p:clrMapOvr>
    <a:masterClrMapping/>
  </p:clrMapOvr>
  <p:extLst>
    <p:ext uri="{6950BFC3-D8DA-4A85-94F7-54DA5524770B}">
      <p188:commentRel xmlns:p188="http://schemas.microsoft.com/office/powerpoint/2018/8/main" r:id="rId5"/>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A01D4-0FE3-0DE1-E090-76A6623701E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10E12E4-F760-CE9A-41F9-4726A77695DD}"/>
              </a:ext>
            </a:extLst>
          </p:cNvPr>
          <p:cNvSpPr>
            <a:spLocks noGrp="1"/>
          </p:cNvSpPr>
          <p:nvPr>
            <p:ph type="title"/>
          </p:nvPr>
        </p:nvSpPr>
        <p:spPr/>
        <p:txBody>
          <a:bodyPr/>
          <a:lstStyle/>
          <a:p>
            <a:r>
              <a:rPr lang="en-GB" dirty="0"/>
              <a:t>HWLE estimates with CMI IP rates</a:t>
            </a:r>
          </a:p>
        </p:txBody>
      </p:sp>
      <p:sp>
        <p:nvSpPr>
          <p:cNvPr id="5" name="Footer Placeholder 4">
            <a:extLst>
              <a:ext uri="{FF2B5EF4-FFF2-40B4-BE49-F238E27FC236}">
                <a16:creationId xmlns:a16="http://schemas.microsoft.com/office/drawing/2014/main" id="{8B0E3754-70E9-A6D2-C153-58A01E7E9F0C}"/>
              </a:ext>
            </a:extLst>
          </p:cNvPr>
          <p:cNvSpPr>
            <a:spLocks noGrp="1"/>
          </p:cNvSpPr>
          <p:nvPr>
            <p:ph type="ftr" sz="quarter" idx="3"/>
          </p:nvPr>
        </p:nvSpPr>
        <p:spPr/>
        <p:txBody>
          <a:bodyPr/>
          <a:lstStyle/>
          <a:p>
            <a:r>
              <a:rPr lang="en-GB" dirty="0" err="1"/>
              <a:t>IFoA</a:t>
            </a:r>
            <a:r>
              <a:rPr lang="en-GB" dirty="0"/>
              <a:t> Life Conference</a:t>
            </a:r>
          </a:p>
        </p:txBody>
      </p:sp>
      <p:sp>
        <p:nvSpPr>
          <p:cNvPr id="6" name="Slide Number Placeholder 5">
            <a:extLst>
              <a:ext uri="{FF2B5EF4-FFF2-40B4-BE49-F238E27FC236}">
                <a16:creationId xmlns:a16="http://schemas.microsoft.com/office/drawing/2014/main" id="{ED99E279-4A96-6380-01C2-61DB3AA9930D}"/>
              </a:ext>
            </a:extLst>
          </p:cNvPr>
          <p:cNvSpPr>
            <a:spLocks noGrp="1"/>
          </p:cNvSpPr>
          <p:nvPr>
            <p:ph type="sldNum" sz="quarter" idx="4"/>
          </p:nvPr>
        </p:nvSpPr>
        <p:spPr/>
        <p:txBody>
          <a:bodyPr/>
          <a:lstStyle/>
          <a:p>
            <a:fld id="{40FC62D0-A2F2-4BF8-8DAC-E86C11000EC3}" type="slidenum">
              <a:rPr lang="en-GB" smtClean="0"/>
              <a:pPr/>
              <a:t>24</a:t>
            </a:fld>
            <a:endParaRPr lang="en-GB" dirty="0"/>
          </a:p>
        </p:txBody>
      </p:sp>
      <p:sp>
        <p:nvSpPr>
          <p:cNvPr id="7" name="Text Placeholder 6">
            <a:extLst>
              <a:ext uri="{FF2B5EF4-FFF2-40B4-BE49-F238E27FC236}">
                <a16:creationId xmlns:a16="http://schemas.microsoft.com/office/drawing/2014/main" id="{41EBE386-0700-5815-65E7-A74662A831E3}"/>
              </a:ext>
            </a:extLst>
          </p:cNvPr>
          <p:cNvSpPr>
            <a:spLocks noGrp="1"/>
          </p:cNvSpPr>
          <p:nvPr>
            <p:ph type="body" sz="quarter" idx="24"/>
          </p:nvPr>
        </p:nvSpPr>
        <p:spPr/>
        <p:txBody>
          <a:bodyPr/>
          <a:lstStyle/>
          <a:p>
            <a:r>
              <a:rPr lang="en-GB" dirty="0"/>
              <a:t>Examples for a sample of starting ages to age 65 for occupation class 1</a:t>
            </a:r>
          </a:p>
          <a:p>
            <a:r>
              <a:rPr lang="en-GB" dirty="0"/>
              <a:t>(average of females and males)</a:t>
            </a:r>
          </a:p>
        </p:txBody>
      </p:sp>
      <p:graphicFrame>
        <p:nvGraphicFramePr>
          <p:cNvPr id="11" name="Content Placeholder 10">
            <a:extLst>
              <a:ext uri="{FF2B5EF4-FFF2-40B4-BE49-F238E27FC236}">
                <a16:creationId xmlns:a16="http://schemas.microsoft.com/office/drawing/2014/main" id="{9D09977E-9B3C-B835-FEBE-35290D6C332B}"/>
              </a:ext>
            </a:extLst>
          </p:cNvPr>
          <p:cNvGraphicFramePr>
            <a:graphicFrameLocks noGrp="1"/>
          </p:cNvGraphicFramePr>
          <p:nvPr>
            <p:ph sz="quarter" idx="13"/>
            <p:extLst>
              <p:ext uri="{D42A27DB-BD31-4B8C-83A1-F6EECF244321}">
                <p14:modId xmlns:p14="http://schemas.microsoft.com/office/powerpoint/2010/main" val="1413630387"/>
              </p:ext>
            </p:extLst>
          </p:nvPr>
        </p:nvGraphicFramePr>
        <p:xfrm>
          <a:off x="1117600" y="4760750"/>
          <a:ext cx="6883400" cy="2280666"/>
        </p:xfrm>
        <a:graphic>
          <a:graphicData uri="http://schemas.openxmlformats.org/drawingml/2006/table">
            <a:tbl>
              <a:tblPr firstRow="1" bandRow="1">
                <a:tableStyleId>{5C22544A-7EE6-4342-B048-85BDC9FD1C3A}</a:tableStyleId>
              </a:tblPr>
              <a:tblGrid>
                <a:gridCol w="1851708">
                  <a:extLst>
                    <a:ext uri="{9D8B030D-6E8A-4147-A177-3AD203B41FA5}">
                      <a16:colId xmlns:a16="http://schemas.microsoft.com/office/drawing/2014/main" val="3390698310"/>
                    </a:ext>
                  </a:extLst>
                </a:gridCol>
                <a:gridCol w="2515846">
                  <a:extLst>
                    <a:ext uri="{9D8B030D-6E8A-4147-A177-3AD203B41FA5}">
                      <a16:colId xmlns:a16="http://schemas.microsoft.com/office/drawing/2014/main" val="487192253"/>
                    </a:ext>
                  </a:extLst>
                </a:gridCol>
                <a:gridCol w="2515846">
                  <a:extLst>
                    <a:ext uri="{9D8B030D-6E8A-4147-A177-3AD203B41FA5}">
                      <a16:colId xmlns:a16="http://schemas.microsoft.com/office/drawing/2014/main" val="134209927"/>
                    </a:ext>
                  </a:extLst>
                </a:gridCol>
              </a:tblGrid>
              <a:tr h="370840">
                <a:tc>
                  <a:txBody>
                    <a:bodyPr/>
                    <a:lstStyle/>
                    <a:p>
                      <a:pP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Starting Age</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US" sz="1800" b="1" dirty="0"/>
                        <a:t>HWPLE to age 65</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de-CH" sz="1800" dirty="0">
                          <a:effectLst/>
                          <a:latin typeface="+mn-lt"/>
                          <a:ea typeface="Calibri" panose="020F0502020204030204" pitchFamily="34" charset="0"/>
                          <a:cs typeface="Times New Roman" panose="02020603050405020304" pitchFamily="18" charset="0"/>
                        </a:rPr>
                        <a:t>NNPLE to </a:t>
                      </a:r>
                      <a:r>
                        <a:rPr lang="de-CH" sz="1800" dirty="0" err="1">
                          <a:effectLst/>
                          <a:latin typeface="+mn-lt"/>
                          <a:ea typeface="Calibri" panose="020F0502020204030204" pitchFamily="34" charset="0"/>
                          <a:cs typeface="Times New Roman" panose="02020603050405020304" pitchFamily="18" charset="0"/>
                        </a:rPr>
                        <a:t>age</a:t>
                      </a:r>
                      <a:r>
                        <a:rPr lang="de-CH" sz="1800" dirty="0">
                          <a:effectLst/>
                          <a:latin typeface="+mn-lt"/>
                          <a:ea typeface="Calibri" panose="020F0502020204030204" pitchFamily="34" charset="0"/>
                          <a:cs typeface="Times New Roman" panose="02020603050405020304" pitchFamily="18" charset="0"/>
                        </a:rPr>
                        <a:t> 65</a:t>
                      </a:r>
                    </a:p>
                  </a:txBody>
                  <a:tcPr>
                    <a:solidFill>
                      <a:schemeClr val="accent3"/>
                    </a:solidFill>
                  </a:tcPr>
                </a:tc>
                <a:extLst>
                  <a:ext uri="{0D108BD9-81ED-4DB2-BD59-A6C34878D82A}">
                    <a16:rowId xmlns:a16="http://schemas.microsoft.com/office/drawing/2014/main" val="3744680824"/>
                  </a:ext>
                </a:extLst>
              </a:tr>
              <a:tr h="370840">
                <a:tc>
                  <a:txBody>
                    <a:bodyPr/>
                    <a:lstStyle/>
                    <a:p>
                      <a:pPr>
                        <a:lnSpc>
                          <a:spcPct val="115000"/>
                        </a:lnSpc>
                        <a:spcAft>
                          <a:spcPts val="1000"/>
                        </a:spcAft>
                        <a:buNone/>
                      </a:pPr>
                      <a:r>
                        <a:rPr lang="de-CH" sz="1800" dirty="0">
                          <a:effectLst/>
                          <a:latin typeface="+mn-lt"/>
                          <a:ea typeface="Calibri" panose="020F0502020204030204" pitchFamily="34" charset="0"/>
                          <a:cs typeface="Times New Roman" panose="02020603050405020304" pitchFamily="18" charset="0"/>
                        </a:rPr>
                        <a:t>20</a:t>
                      </a: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42.3</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1.1</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636021954"/>
                  </a:ext>
                </a:extLst>
              </a:tr>
              <a:tr h="370840">
                <a:tc>
                  <a:txBody>
                    <a:bodyPr/>
                    <a:lstStyle/>
                    <a:p>
                      <a:pPr>
                        <a:lnSpc>
                          <a:spcPct val="115000"/>
                        </a:lnSpc>
                        <a:spcAft>
                          <a:spcPts val="1000"/>
                        </a:spcAft>
                        <a:buNone/>
                      </a:pPr>
                      <a:r>
                        <a:rPr lang="de-CH" sz="1800" dirty="0">
                          <a:effectLst/>
                          <a:latin typeface="+mn-lt"/>
                          <a:ea typeface="Calibri" panose="020F0502020204030204" pitchFamily="34" charset="0"/>
                          <a:cs typeface="Times New Roman" panose="02020603050405020304" pitchFamily="18" charset="0"/>
                        </a:rPr>
                        <a:t>30</a:t>
                      </a: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32.5</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1.0</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980238256"/>
                  </a:ext>
                </a:extLst>
              </a:tr>
              <a:tr h="370840">
                <a:tc>
                  <a:txBody>
                    <a:bodyPr/>
                    <a:lstStyle/>
                    <a:p>
                      <a:pPr>
                        <a:lnSpc>
                          <a:spcPct val="115000"/>
                        </a:lnSpc>
                        <a:spcAft>
                          <a:spcPts val="1000"/>
                        </a:spcAft>
                        <a:buNone/>
                      </a:pPr>
                      <a:r>
                        <a:rPr lang="de-CH" sz="1800" dirty="0">
                          <a:effectLst/>
                          <a:latin typeface="+mn-lt"/>
                          <a:ea typeface="Calibri" panose="020F0502020204030204" pitchFamily="34" charset="0"/>
                          <a:cs typeface="Times New Roman" panose="02020603050405020304" pitchFamily="18" charset="0"/>
                        </a:rPr>
                        <a:t>40</a:t>
                      </a: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23.0</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1.0</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790822725"/>
                  </a:ext>
                </a:extLst>
              </a:tr>
              <a:tr h="370840">
                <a:tc>
                  <a:txBody>
                    <a:bodyPr/>
                    <a:lstStyle/>
                    <a:p>
                      <a:pPr>
                        <a:lnSpc>
                          <a:spcPct val="115000"/>
                        </a:lnSpc>
                        <a:spcAft>
                          <a:spcPts val="1000"/>
                        </a:spcAft>
                        <a:buNone/>
                      </a:pPr>
                      <a:r>
                        <a:rPr lang="de-CH" sz="1800" b="1" dirty="0">
                          <a:effectLst/>
                          <a:latin typeface="+mn-lt"/>
                          <a:ea typeface="Calibri" panose="020F0502020204030204" pitchFamily="34" charset="0"/>
                          <a:cs typeface="Times New Roman" panose="02020603050405020304" pitchFamily="18" charset="0"/>
                        </a:rPr>
                        <a:t>50</a:t>
                      </a:r>
                    </a:p>
                  </a:txBody>
                  <a:tcPr/>
                </a:tc>
                <a:tc>
                  <a:txBody>
                    <a:bodyPr/>
                    <a:lstStyle/>
                    <a:p>
                      <a:pPr marL="0" algn="r" defTabSz="1219170" rtl="0" eaLnBrk="1" latinLnBrk="0" hangingPunct="1">
                        <a:lnSpc>
                          <a:spcPct val="115000"/>
                        </a:lnSpc>
                        <a:spcAft>
                          <a:spcPts val="1000"/>
                        </a:spcAft>
                        <a:buNone/>
                      </a:pPr>
                      <a:r>
                        <a:rPr lang="en-GB" sz="1800" b="1" kern="1200" dirty="0">
                          <a:solidFill>
                            <a:schemeClr val="dk1"/>
                          </a:solidFill>
                          <a:effectLst/>
                          <a:latin typeface="+mn-lt"/>
                          <a:ea typeface="Calibri" panose="020F0502020204030204" pitchFamily="34" charset="0"/>
                          <a:cs typeface="Times New Roman" panose="02020603050405020304" pitchFamily="18" charset="0"/>
                        </a:rPr>
                        <a:t>13.6</a:t>
                      </a:r>
                      <a:endParaRPr lang="de-CH" sz="1800" b="1"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b="1" kern="1200" dirty="0">
                          <a:solidFill>
                            <a:schemeClr val="dk1"/>
                          </a:solidFill>
                          <a:effectLst/>
                          <a:latin typeface="+mn-lt"/>
                          <a:ea typeface="Calibri" panose="020F0502020204030204" pitchFamily="34" charset="0"/>
                          <a:cs typeface="Times New Roman" panose="02020603050405020304" pitchFamily="18" charset="0"/>
                        </a:rPr>
                        <a:t>0.7</a:t>
                      </a:r>
                      <a:endParaRPr lang="de-CH" sz="1800" b="1"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3688239074"/>
                  </a:ext>
                </a:extLst>
              </a:tr>
              <a:tr h="370840">
                <a:tc>
                  <a:txBody>
                    <a:bodyPr/>
                    <a:lstStyle/>
                    <a:p>
                      <a:pPr>
                        <a:lnSpc>
                          <a:spcPct val="115000"/>
                        </a:lnSpc>
                        <a:spcAft>
                          <a:spcPts val="1000"/>
                        </a:spcAft>
                        <a:buNone/>
                      </a:pPr>
                      <a:r>
                        <a:rPr lang="de-CH" sz="1800" dirty="0">
                          <a:effectLst/>
                          <a:latin typeface="+mn-lt"/>
                          <a:ea typeface="Calibri" panose="020F0502020204030204" pitchFamily="34" charset="0"/>
                          <a:cs typeface="Times New Roman" panose="02020603050405020304" pitchFamily="18" charset="0"/>
                        </a:rPr>
                        <a:t>60</a:t>
                      </a: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4.7</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0.2</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3213328790"/>
                  </a:ext>
                </a:extLst>
              </a:tr>
            </a:tbl>
          </a:graphicData>
        </a:graphic>
      </p:graphicFrame>
      <p:sp>
        <p:nvSpPr>
          <p:cNvPr id="15" name="Rectangle: Rounded Corners 14">
            <a:extLst>
              <a:ext uri="{FF2B5EF4-FFF2-40B4-BE49-F238E27FC236}">
                <a16:creationId xmlns:a16="http://schemas.microsoft.com/office/drawing/2014/main" id="{A32718DD-09CC-36CE-0492-BA4E31EC66D8}"/>
              </a:ext>
            </a:extLst>
          </p:cNvPr>
          <p:cNvSpPr/>
          <p:nvPr/>
        </p:nvSpPr>
        <p:spPr>
          <a:xfrm>
            <a:off x="3175000" y="3209801"/>
            <a:ext cx="2160592" cy="1386340"/>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HWPLE = Healthy Working Partial Life Expectancy</a:t>
            </a:r>
          </a:p>
        </p:txBody>
      </p:sp>
      <p:sp>
        <p:nvSpPr>
          <p:cNvPr id="17" name="Rectangle: Rounded Corners 16">
            <a:extLst>
              <a:ext uri="{FF2B5EF4-FFF2-40B4-BE49-F238E27FC236}">
                <a16:creationId xmlns:a16="http://schemas.microsoft.com/office/drawing/2014/main" id="{8E20A86C-FB10-607F-328C-96ED4B6240B5}"/>
              </a:ext>
            </a:extLst>
          </p:cNvPr>
          <p:cNvSpPr/>
          <p:nvPr/>
        </p:nvSpPr>
        <p:spPr>
          <a:xfrm>
            <a:off x="5658646" y="3209800"/>
            <a:ext cx="2160592" cy="1386340"/>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NNPLE  = Not-Healthy Not-Working Partial Life Expectancy</a:t>
            </a:r>
          </a:p>
        </p:txBody>
      </p:sp>
      <p:sp>
        <p:nvSpPr>
          <p:cNvPr id="2" name="Content Placeholder 3">
            <a:extLst>
              <a:ext uri="{FF2B5EF4-FFF2-40B4-BE49-F238E27FC236}">
                <a16:creationId xmlns:a16="http://schemas.microsoft.com/office/drawing/2014/main" id="{01FEBCDC-E225-4CE1-80B2-4449FCFD9853}"/>
              </a:ext>
            </a:extLst>
          </p:cNvPr>
          <p:cNvSpPr txBox="1">
            <a:spLocks/>
          </p:cNvSpPr>
          <p:nvPr/>
        </p:nvSpPr>
        <p:spPr>
          <a:xfrm>
            <a:off x="8242300" y="5272088"/>
            <a:ext cx="7631113" cy="2879453"/>
          </a:xfrm>
          <a:prstGeom prst="rect">
            <a:avLst/>
          </a:prstGeom>
        </p:spPr>
        <p:txBody>
          <a:bodyPr vert="horz" lIns="91440" tIns="45720" rIns="91440" bIns="45720" rtlCol="0">
            <a:noAutofit/>
          </a:bodyPr>
          <a:lstStyle>
            <a:lvl1pPr marL="0" indent="0" algn="l" defTabSz="1219170" rtl="0" eaLnBrk="1" latinLnBrk="0" hangingPunct="1">
              <a:lnSpc>
                <a:spcPct val="100000"/>
              </a:lnSpc>
              <a:spcBef>
                <a:spcPts val="1333"/>
              </a:spcBef>
              <a:buClr>
                <a:schemeClr val="accent3"/>
              </a:buClr>
              <a:buFont typeface="Arial" panose="020B0604020202020204" pitchFamily="34" charset="0"/>
              <a:buNone/>
              <a:defRPr sz="2600" b="0" i="0" kern="1200">
                <a:solidFill>
                  <a:schemeClr val="tx1"/>
                </a:solidFill>
                <a:latin typeface="Arial" panose="020B0604020202020204" pitchFamily="34" charset="0"/>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spcBef>
                <a:spcPts val="600"/>
              </a:spcBef>
            </a:pPr>
            <a:r>
              <a:rPr lang="en-US" sz="1800" dirty="0"/>
              <a:t>A </a:t>
            </a:r>
            <a:r>
              <a:rPr lang="en-US" sz="1800" b="1" dirty="0"/>
              <a:t>20-year-old</a:t>
            </a:r>
            <a:r>
              <a:rPr lang="en-US" sz="1800" dirty="0"/>
              <a:t> has </a:t>
            </a:r>
            <a:r>
              <a:rPr lang="en-US" sz="1800" b="1" dirty="0"/>
              <a:t>42.3 years HWPLE </a:t>
            </a:r>
            <a:r>
              <a:rPr lang="en-US" sz="1800" dirty="0"/>
              <a:t>and </a:t>
            </a:r>
            <a:r>
              <a:rPr lang="en-US" sz="1800" b="1" dirty="0"/>
              <a:t>1.1 years NNPLE </a:t>
            </a:r>
            <a:r>
              <a:rPr lang="en-US" sz="1800" dirty="0"/>
              <a:t>meaning:</a:t>
            </a:r>
          </a:p>
          <a:p>
            <a:pPr marL="457200" indent="-457200">
              <a:spcBef>
                <a:spcPts val="600"/>
              </a:spcBef>
              <a:buFont typeface="Arial" panose="020B0604020202020204" pitchFamily="34" charset="0"/>
              <a:buChar char="•"/>
            </a:pPr>
            <a:r>
              <a:rPr lang="en-US" sz="1800" dirty="0"/>
              <a:t>94.0% of their working life to age 65 in the working state;</a:t>
            </a:r>
          </a:p>
          <a:p>
            <a:pPr marL="457200" indent="-457200">
              <a:spcBef>
                <a:spcPts val="600"/>
              </a:spcBef>
              <a:buFont typeface="Arial" panose="020B0604020202020204" pitchFamily="34" charset="0"/>
              <a:buChar char="•"/>
            </a:pPr>
            <a:r>
              <a:rPr lang="en-US" sz="1800" dirty="0"/>
              <a:t>2.4% of their working lifetime in the NN state;</a:t>
            </a:r>
          </a:p>
          <a:p>
            <a:pPr marL="457200" indent="-457200">
              <a:spcBef>
                <a:spcPts val="600"/>
              </a:spcBef>
              <a:buFont typeface="Arial" panose="020B0604020202020204" pitchFamily="34" charset="0"/>
              <a:buChar char="•"/>
            </a:pPr>
            <a:r>
              <a:rPr lang="en-US" sz="1800" dirty="0"/>
              <a:t>3.6% of the 45 years relates to deaths before 65.</a:t>
            </a:r>
          </a:p>
          <a:p>
            <a:pPr>
              <a:spcBef>
                <a:spcPts val="600"/>
              </a:spcBef>
            </a:pPr>
            <a:r>
              <a:rPr lang="en-US" sz="1800" dirty="0"/>
              <a:t>A </a:t>
            </a:r>
            <a:r>
              <a:rPr lang="en-US" sz="1800" b="1" dirty="0"/>
              <a:t>50-year-old</a:t>
            </a:r>
            <a:r>
              <a:rPr lang="en-US" sz="1800" dirty="0"/>
              <a:t> has </a:t>
            </a:r>
            <a:r>
              <a:rPr lang="en-US" sz="1800" b="1" dirty="0"/>
              <a:t>13.6 years HWPLE </a:t>
            </a:r>
            <a:r>
              <a:rPr lang="en-US" sz="1800" dirty="0"/>
              <a:t>and </a:t>
            </a:r>
            <a:r>
              <a:rPr lang="en-US" sz="1800" b="1" dirty="0"/>
              <a:t>0.7 years NNPLE </a:t>
            </a:r>
            <a:r>
              <a:rPr lang="en-US" sz="1800" dirty="0"/>
              <a:t>meaning:</a:t>
            </a:r>
          </a:p>
          <a:p>
            <a:pPr marL="457200" indent="-457200">
              <a:spcBef>
                <a:spcPts val="600"/>
              </a:spcBef>
              <a:buFont typeface="Arial" panose="020B0604020202020204" pitchFamily="34" charset="0"/>
              <a:buChar char="•"/>
            </a:pPr>
            <a:r>
              <a:rPr lang="en-US" sz="1800" dirty="0"/>
              <a:t>90.7% of their working life to age 65 in the working state;</a:t>
            </a:r>
          </a:p>
          <a:p>
            <a:pPr marL="457200" indent="-457200">
              <a:spcBef>
                <a:spcPts val="600"/>
              </a:spcBef>
              <a:buFont typeface="Arial" panose="020B0604020202020204" pitchFamily="34" charset="0"/>
              <a:buChar char="•"/>
            </a:pPr>
            <a:r>
              <a:rPr lang="en-US" sz="1800" dirty="0"/>
              <a:t>4.9% of their working lifetime in the NN state;</a:t>
            </a:r>
          </a:p>
          <a:p>
            <a:pPr marL="457200" indent="-457200">
              <a:spcBef>
                <a:spcPts val="600"/>
              </a:spcBef>
              <a:buFont typeface="Arial" panose="020B0604020202020204" pitchFamily="34" charset="0"/>
              <a:buChar char="•"/>
            </a:pPr>
            <a:r>
              <a:rPr lang="en-US" sz="1800" dirty="0"/>
              <a:t>4.4% of the 15 years relates to deaths before 65.</a:t>
            </a:r>
          </a:p>
        </p:txBody>
      </p:sp>
      <p:sp>
        <p:nvSpPr>
          <p:cNvPr id="8" name="Content Placeholder 3">
            <a:extLst>
              <a:ext uri="{FF2B5EF4-FFF2-40B4-BE49-F238E27FC236}">
                <a16:creationId xmlns:a16="http://schemas.microsoft.com/office/drawing/2014/main" id="{807451D7-018D-0948-BD6E-19A0459AF8E0}"/>
              </a:ext>
            </a:extLst>
          </p:cNvPr>
          <p:cNvSpPr txBox="1">
            <a:spLocks/>
          </p:cNvSpPr>
          <p:nvPr/>
        </p:nvSpPr>
        <p:spPr>
          <a:xfrm>
            <a:off x="8128000" y="1970009"/>
            <a:ext cx="6883403" cy="3323063"/>
          </a:xfrm>
          <a:prstGeom prst="rect">
            <a:avLst/>
          </a:prstGeom>
        </p:spPr>
        <p:txBody>
          <a:bodyPr vert="horz" lIns="91440" tIns="45720" rIns="91440" bIns="45720" rtlCol="0">
            <a:normAutofit fontScale="92500"/>
          </a:bodyPr>
          <a:lstStyle>
            <a:lvl1pPr marL="0" indent="0" algn="l" defTabSz="1219170" rtl="0" eaLnBrk="1" latinLnBrk="0" hangingPunct="1">
              <a:lnSpc>
                <a:spcPct val="100000"/>
              </a:lnSpc>
              <a:spcBef>
                <a:spcPts val="1333"/>
              </a:spcBef>
              <a:buClr>
                <a:schemeClr val="accent3"/>
              </a:buClr>
              <a:buFont typeface="Arial" panose="020B0604020202020204" pitchFamily="34" charset="0"/>
              <a:buNone/>
              <a:defRPr sz="2600" b="0" i="0" kern="1200">
                <a:solidFill>
                  <a:schemeClr val="tx1"/>
                </a:solidFill>
                <a:latin typeface="Arial" panose="020B0604020202020204" pitchFamily="34" charset="0"/>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r>
              <a:rPr lang="en-US" b="1" dirty="0"/>
              <a:t>Observations (align with intuition)</a:t>
            </a:r>
            <a:endParaRPr lang="en-US" dirty="0"/>
          </a:p>
          <a:p>
            <a:pPr marL="457200" indent="-457200">
              <a:buFont typeface="Arial" panose="020B0604020202020204" pitchFamily="34" charset="0"/>
              <a:buChar char="•"/>
            </a:pPr>
            <a:r>
              <a:rPr lang="en-US" dirty="0"/>
              <a:t>HWPLE decreases as starting age increases; </a:t>
            </a:r>
          </a:p>
          <a:p>
            <a:pPr marL="457200" indent="-457200">
              <a:buFont typeface="Arial" panose="020B0604020202020204" pitchFamily="34" charset="0"/>
              <a:buChar char="•"/>
            </a:pPr>
            <a:r>
              <a:rPr lang="en-US" dirty="0"/>
              <a:t>NNPLE decreases as starting age increases but proportionally less so than HWPLE;</a:t>
            </a:r>
          </a:p>
          <a:p>
            <a:pPr marL="457200" indent="-457200">
              <a:buFont typeface="Arial" panose="020B0604020202020204" pitchFamily="34" charset="0"/>
              <a:buChar char="•"/>
            </a:pPr>
            <a:r>
              <a:rPr lang="en-US" dirty="0"/>
              <a:t>The proportion of the working life to age 65 spent in the NN state is higher at older starting ages.</a:t>
            </a:r>
          </a:p>
        </p:txBody>
      </p:sp>
    </p:spTree>
    <p:extLst>
      <p:ext uri="{BB962C8B-B14F-4D97-AF65-F5344CB8AC3E}">
        <p14:creationId xmlns:p14="http://schemas.microsoft.com/office/powerpoint/2010/main" val="2437120833"/>
      </p:ext>
    </p:extLst>
  </p:cSld>
  <p:clrMapOvr>
    <a:masterClrMapping/>
  </p:clrMapOvr>
  <p:extLst>
    <p:ext uri="{6950BFC3-D8DA-4A85-94F7-54DA5524770B}">
      <p188:commentRel xmlns:p188="http://schemas.microsoft.com/office/powerpoint/2018/8/main" r:id="rId3"/>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57DCEEEA-5289-C2DF-12B9-A920914EDE2E}"/>
              </a:ext>
            </a:extLst>
          </p:cNvPr>
          <p:cNvPicPr>
            <a:picLocks noGrp="1" noChangeAspect="1"/>
          </p:cNvPicPr>
          <p:nvPr>
            <p:ph sz="quarter" idx="25"/>
          </p:nvPr>
        </p:nvPicPr>
        <p:blipFill>
          <a:blip r:embed="rId3"/>
          <a:stretch>
            <a:fillRect/>
          </a:stretch>
        </p:blipFill>
        <p:spPr>
          <a:xfrm>
            <a:off x="1117600" y="2269309"/>
            <a:ext cx="14035197" cy="3579948"/>
          </a:xfrm>
          <a:prstGeom prst="rect">
            <a:avLst/>
          </a:prstGeom>
        </p:spPr>
      </p:pic>
      <p:sp>
        <p:nvSpPr>
          <p:cNvPr id="3" name="Content Placeholder 2">
            <a:extLst>
              <a:ext uri="{FF2B5EF4-FFF2-40B4-BE49-F238E27FC236}">
                <a16:creationId xmlns:a16="http://schemas.microsoft.com/office/drawing/2014/main" id="{3B457207-32EC-F84A-D0A3-9D5F51D506F2}"/>
              </a:ext>
            </a:extLst>
          </p:cNvPr>
          <p:cNvSpPr>
            <a:spLocks noGrp="1"/>
          </p:cNvSpPr>
          <p:nvPr>
            <p:ph sz="quarter" idx="26"/>
          </p:nvPr>
        </p:nvSpPr>
        <p:spPr>
          <a:xfrm>
            <a:off x="1117600" y="6023428"/>
            <a:ext cx="10875583" cy="2715485"/>
          </a:xfrm>
        </p:spPr>
        <p:txBody>
          <a:bodyPr>
            <a:normAutofit fontScale="92500" lnSpcReduction="20000"/>
          </a:bodyPr>
          <a:lstStyle/>
          <a:p>
            <a:pPr marL="457200" indent="-457200">
              <a:buFont typeface="Arial" panose="020B0604020202020204" pitchFamily="34" charset="0"/>
              <a:buChar char="•"/>
            </a:pPr>
            <a:r>
              <a:rPr lang="en-US" dirty="0"/>
              <a:t>derived from survey data (English Longitudinal Study of Ageing, ELSA) for a representative sample of the UK population aged 50 and older. </a:t>
            </a:r>
          </a:p>
          <a:p>
            <a:pPr marL="457200" indent="-457200">
              <a:buFont typeface="Arial" panose="020B0604020202020204" pitchFamily="34" charset="0"/>
              <a:buChar char="•"/>
            </a:pPr>
            <a:r>
              <a:rPr lang="en-US" dirty="0"/>
              <a:t>results given for the average time spent in each of 4 healthy/working states from age 50 onwards. </a:t>
            </a:r>
          </a:p>
          <a:p>
            <a:pPr marL="457200" indent="-457200">
              <a:buFont typeface="Arial" panose="020B0604020202020204" pitchFamily="34" charset="0"/>
              <a:buChar char="•"/>
            </a:pPr>
            <a:r>
              <a:rPr lang="en-US" dirty="0"/>
              <a:t>retirement is not modelled</a:t>
            </a:r>
          </a:p>
          <a:p>
            <a:pPr marL="457200" indent="-457200">
              <a:buFont typeface="Arial" panose="020B0604020202020204" pitchFamily="34" charset="0"/>
              <a:buChar char="•"/>
            </a:pPr>
            <a:r>
              <a:rPr lang="en-US" dirty="0"/>
              <a:t>lives can be in any of the 4 states at age 50, unlike in our modelling in which all lives start in the Working state.</a:t>
            </a:r>
            <a:endParaRPr lang="en-GB" dirty="0"/>
          </a:p>
        </p:txBody>
      </p:sp>
      <p:sp>
        <p:nvSpPr>
          <p:cNvPr id="4" name="Footer Placeholder 3">
            <a:extLst>
              <a:ext uri="{FF2B5EF4-FFF2-40B4-BE49-F238E27FC236}">
                <a16:creationId xmlns:a16="http://schemas.microsoft.com/office/drawing/2014/main" id="{2706395D-14AC-9E6F-7BE6-F4DED788D96E}"/>
              </a:ext>
            </a:extLst>
          </p:cNvPr>
          <p:cNvSpPr>
            <a:spLocks noGrp="1"/>
          </p:cNvSpPr>
          <p:nvPr>
            <p:ph type="ftr" sz="quarter" idx="3"/>
          </p:nvPr>
        </p:nvSpPr>
        <p:spPr/>
        <p:txBody>
          <a:bodyPr/>
          <a:lstStyle/>
          <a:p>
            <a:r>
              <a:rPr lang="en-GB"/>
              <a:t>IFoA Life Conference</a:t>
            </a:r>
            <a:endParaRPr lang="en-GB" dirty="0"/>
          </a:p>
        </p:txBody>
      </p:sp>
      <p:sp>
        <p:nvSpPr>
          <p:cNvPr id="5" name="Slide Number Placeholder 4">
            <a:extLst>
              <a:ext uri="{FF2B5EF4-FFF2-40B4-BE49-F238E27FC236}">
                <a16:creationId xmlns:a16="http://schemas.microsoft.com/office/drawing/2014/main" id="{EFC9B602-F65F-0E35-3F0A-1EF8D8941E8A}"/>
              </a:ext>
            </a:extLst>
          </p:cNvPr>
          <p:cNvSpPr>
            <a:spLocks noGrp="1"/>
          </p:cNvSpPr>
          <p:nvPr>
            <p:ph type="sldNum" sz="quarter" idx="4"/>
          </p:nvPr>
        </p:nvSpPr>
        <p:spPr/>
        <p:txBody>
          <a:bodyPr/>
          <a:lstStyle/>
          <a:p>
            <a:fld id="{40FC62D0-A2F2-4BF8-8DAC-E86C11000EC3}" type="slidenum">
              <a:rPr lang="en-GB" smtClean="0"/>
              <a:pPr/>
              <a:t>25</a:t>
            </a:fld>
            <a:endParaRPr lang="en-GB" dirty="0"/>
          </a:p>
        </p:txBody>
      </p:sp>
      <p:sp>
        <p:nvSpPr>
          <p:cNvPr id="6" name="Text Placeholder 5">
            <a:extLst>
              <a:ext uri="{FF2B5EF4-FFF2-40B4-BE49-F238E27FC236}">
                <a16:creationId xmlns:a16="http://schemas.microsoft.com/office/drawing/2014/main" id="{1EB89AFA-7DEC-C9B7-5736-692E186DC3CC}"/>
              </a:ext>
            </a:extLst>
          </p:cNvPr>
          <p:cNvSpPr>
            <a:spLocks noGrp="1"/>
          </p:cNvSpPr>
          <p:nvPr>
            <p:ph type="body" sz="quarter" idx="24"/>
          </p:nvPr>
        </p:nvSpPr>
        <p:spPr/>
        <p:txBody>
          <a:bodyPr/>
          <a:lstStyle/>
          <a:p>
            <a:r>
              <a:rPr lang="en-US" sz="2800" dirty="0"/>
              <a:t>Parker et al. (2020) developed estimates of HWLE for English lives starting at age 50</a:t>
            </a:r>
          </a:p>
          <a:p>
            <a:endParaRPr lang="en-GB" dirty="0"/>
          </a:p>
        </p:txBody>
      </p:sp>
      <p:sp>
        <p:nvSpPr>
          <p:cNvPr id="7" name="Title 6">
            <a:extLst>
              <a:ext uri="{FF2B5EF4-FFF2-40B4-BE49-F238E27FC236}">
                <a16:creationId xmlns:a16="http://schemas.microsoft.com/office/drawing/2014/main" id="{7F38B4A6-C99A-71E4-E782-A7F1070EAB09}"/>
              </a:ext>
            </a:extLst>
          </p:cNvPr>
          <p:cNvSpPr>
            <a:spLocks noGrp="1"/>
          </p:cNvSpPr>
          <p:nvPr>
            <p:ph type="title"/>
          </p:nvPr>
        </p:nvSpPr>
        <p:spPr/>
        <p:txBody>
          <a:bodyPr/>
          <a:lstStyle/>
          <a:p>
            <a:r>
              <a:rPr lang="en-GB" dirty="0"/>
              <a:t>HWLE comparisons with other published results</a:t>
            </a:r>
          </a:p>
        </p:txBody>
      </p:sp>
      <p:sp>
        <p:nvSpPr>
          <p:cNvPr id="14" name="Oval 13">
            <a:extLst>
              <a:ext uri="{FF2B5EF4-FFF2-40B4-BE49-F238E27FC236}">
                <a16:creationId xmlns:a16="http://schemas.microsoft.com/office/drawing/2014/main" id="{732B0737-4EC0-3F72-0D29-30215D962BAF}"/>
              </a:ext>
            </a:extLst>
          </p:cNvPr>
          <p:cNvSpPr/>
          <p:nvPr/>
        </p:nvSpPr>
        <p:spPr>
          <a:xfrm>
            <a:off x="5327373" y="3567072"/>
            <a:ext cx="1364975" cy="660371"/>
          </a:xfrm>
          <a:prstGeom prst="ellipse">
            <a:avLst/>
          </a:prstGeom>
          <a:noFill/>
          <a:ln w="635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D8AAC043-B137-C1B9-7D10-0DFD3A630D45}"/>
              </a:ext>
            </a:extLst>
          </p:cNvPr>
          <p:cNvSpPr/>
          <p:nvPr/>
        </p:nvSpPr>
        <p:spPr>
          <a:xfrm>
            <a:off x="9899373" y="3567071"/>
            <a:ext cx="1364975" cy="660371"/>
          </a:xfrm>
          <a:prstGeom prst="ellipse">
            <a:avLst/>
          </a:prstGeom>
          <a:noFill/>
          <a:ln w="635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C16A4435-7093-25EA-315D-3278257C337D}"/>
              </a:ext>
            </a:extLst>
          </p:cNvPr>
          <p:cNvSpPr/>
          <p:nvPr/>
        </p:nvSpPr>
        <p:spPr>
          <a:xfrm>
            <a:off x="13473042" y="6249883"/>
            <a:ext cx="1364975" cy="660371"/>
          </a:xfrm>
          <a:prstGeom prst="ellipse">
            <a:avLst/>
          </a:prstGeom>
          <a:noFill/>
          <a:ln w="635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tx1"/>
                </a:solidFill>
              </a:rPr>
              <a:t>12.48</a:t>
            </a:r>
          </a:p>
        </p:txBody>
      </p:sp>
      <p:cxnSp>
        <p:nvCxnSpPr>
          <p:cNvPr id="22" name="Straight Connector 21">
            <a:extLst>
              <a:ext uri="{FF2B5EF4-FFF2-40B4-BE49-F238E27FC236}">
                <a16:creationId xmlns:a16="http://schemas.microsoft.com/office/drawing/2014/main" id="{D5F57B14-FD71-58A6-8632-7498730A8A86}"/>
              </a:ext>
            </a:extLst>
          </p:cNvPr>
          <p:cNvCxnSpPr>
            <a:stCxn id="14" idx="5"/>
            <a:endCxn id="20" idx="1"/>
          </p:cNvCxnSpPr>
          <p:nvPr/>
        </p:nvCxnSpPr>
        <p:spPr>
          <a:xfrm>
            <a:off x="6492452" y="4130734"/>
            <a:ext cx="7180486" cy="2215858"/>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2EF9FA1-A966-CA14-3D3D-766BACDDE713}"/>
              </a:ext>
            </a:extLst>
          </p:cNvPr>
          <p:cNvCxnSpPr>
            <a:cxnSpLocks/>
            <a:stCxn id="18" idx="5"/>
            <a:endCxn id="20" idx="1"/>
          </p:cNvCxnSpPr>
          <p:nvPr/>
        </p:nvCxnSpPr>
        <p:spPr>
          <a:xfrm>
            <a:off x="11064452" y="4130733"/>
            <a:ext cx="2608486" cy="2215859"/>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9A01BAB8-3797-3C6B-C849-673C50BCABF9}"/>
              </a:ext>
            </a:extLst>
          </p:cNvPr>
          <p:cNvSpPr/>
          <p:nvPr/>
        </p:nvSpPr>
        <p:spPr>
          <a:xfrm>
            <a:off x="12655825" y="7310880"/>
            <a:ext cx="3339549" cy="660371"/>
          </a:xfrm>
          <a:prstGeom prst="ellipse">
            <a:avLst/>
          </a:prstGeom>
          <a:noFill/>
          <a:ln w="635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tx1"/>
                </a:solidFill>
              </a:rPr>
              <a:t>compare 13.6</a:t>
            </a:r>
          </a:p>
        </p:txBody>
      </p:sp>
      <p:cxnSp>
        <p:nvCxnSpPr>
          <p:cNvPr id="9" name="Straight Connector 8">
            <a:extLst>
              <a:ext uri="{FF2B5EF4-FFF2-40B4-BE49-F238E27FC236}">
                <a16:creationId xmlns:a16="http://schemas.microsoft.com/office/drawing/2014/main" id="{820E8359-4A91-8641-90C2-AAE22610C83E}"/>
              </a:ext>
            </a:extLst>
          </p:cNvPr>
          <p:cNvCxnSpPr>
            <a:cxnSpLocks/>
            <a:stCxn id="8" idx="0"/>
            <a:endCxn id="20" idx="4"/>
          </p:cNvCxnSpPr>
          <p:nvPr/>
        </p:nvCxnSpPr>
        <p:spPr>
          <a:xfrm flipH="1" flipV="1">
            <a:off x="14155530" y="6910254"/>
            <a:ext cx="170070" cy="400626"/>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9583959"/>
      </p:ext>
    </p:extLst>
  </p:cSld>
  <p:clrMapOvr>
    <a:masterClrMapping/>
  </p:clrMapOvr>
  <p:extLst>
    <p:ext uri="{6950BFC3-D8DA-4A85-94F7-54DA5524770B}">
      <p188:commentRel xmlns:p188="http://schemas.microsoft.com/office/powerpoint/2018/8/main" r:id="rId4"/>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15F8E-97F4-B295-EFF6-FF1573157488}"/>
            </a:ext>
          </a:extLst>
        </p:cNvPr>
        <p:cNvGrpSpPr/>
        <p:nvPr/>
      </p:nvGrpSpPr>
      <p:grpSpPr>
        <a:xfrm>
          <a:off x="0" y="0"/>
          <a:ext cx="0" cy="0"/>
          <a:chOff x="0" y="0"/>
          <a:chExt cx="0" cy="0"/>
        </a:xfrm>
      </p:grpSpPr>
      <p:sp>
        <p:nvSpPr>
          <p:cNvPr id="97" name="Title 1">
            <a:extLst>
              <a:ext uri="{FF2B5EF4-FFF2-40B4-BE49-F238E27FC236}">
                <a16:creationId xmlns:a16="http://schemas.microsoft.com/office/drawing/2014/main" id="{4F466CB6-09B5-EC96-0C04-50650C5E0C61}"/>
              </a:ext>
            </a:extLst>
          </p:cNvPr>
          <p:cNvSpPr>
            <a:spLocks noGrp="1"/>
          </p:cNvSpPr>
          <p:nvPr>
            <p:ph type="title" hasCustomPrompt="1"/>
          </p:nvPr>
        </p:nvSpPr>
        <p:spPr>
          <a:xfrm>
            <a:off x="1500000" y="3400000"/>
            <a:ext cx="13256000" cy="2200000"/>
          </a:xfrm>
        </p:spPr>
        <p:txBody>
          <a:bodyPr/>
          <a:lstStyle/>
          <a:p>
            <a:pPr marL="0" lvl="0" indent="0">
              <a:buNone/>
            </a:pPr>
            <a:r>
              <a:rPr lang="de-CH" dirty="0">
                <a:solidFill>
                  <a:schemeClr val="bg1"/>
                </a:solidFill>
              </a:rPr>
              <a:t>Closing </a:t>
            </a:r>
            <a:r>
              <a:rPr lang="de-CH" dirty="0" err="1">
                <a:solidFill>
                  <a:schemeClr val="bg1"/>
                </a:solidFill>
              </a:rPr>
              <a:t>discussion</a:t>
            </a:r>
            <a:endParaRPr dirty="0">
              <a:solidFill>
                <a:schemeClr val="bg1"/>
              </a:solidFill>
            </a:endParaRPr>
          </a:p>
        </p:txBody>
      </p:sp>
      <p:sp>
        <p:nvSpPr>
          <p:cNvPr id="8" name="Footer Placeholder 4">
            <a:extLst>
              <a:ext uri="{FF2B5EF4-FFF2-40B4-BE49-F238E27FC236}">
                <a16:creationId xmlns:a16="http://schemas.microsoft.com/office/drawing/2014/main" id="{8538DE55-DCAE-4EF8-353A-7004C6C1D6DE}"/>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bg1"/>
                </a:solidFill>
              </a:defRPr>
            </a:lvl1pPr>
          </a:lstStyle>
          <a:p>
            <a:r>
              <a:rPr lang="en-GB"/>
              <a:t>IFoA Life Conference</a:t>
            </a:r>
            <a:endParaRPr lang="en-GB" dirty="0"/>
          </a:p>
        </p:txBody>
      </p:sp>
      <p:sp>
        <p:nvSpPr>
          <p:cNvPr id="9" name="Slide Number Placeholder 5">
            <a:extLst>
              <a:ext uri="{FF2B5EF4-FFF2-40B4-BE49-F238E27FC236}">
                <a16:creationId xmlns:a16="http://schemas.microsoft.com/office/drawing/2014/main" id="{559EBF6F-86B0-9A00-0E31-C355F48D35C0}"/>
              </a:ext>
            </a:extLst>
          </p:cNvPr>
          <p:cNvSpPr>
            <a:spLocks noGrp="1"/>
          </p:cNvSpPr>
          <p:nvPr>
            <p:ph type="sldNum" sz="quarter" idx="4"/>
          </p:nvPr>
        </p:nvSpPr>
        <p:spPr>
          <a:xfrm>
            <a:off x="14573177" y="8382533"/>
            <a:ext cx="529680" cy="486833"/>
          </a:xfrm>
          <a:prstGeom prst="rect">
            <a:avLst/>
          </a:prstGeom>
          <a:solidFill>
            <a:schemeClr val="bg1"/>
          </a:solidFill>
        </p:spPr>
        <p:txBody>
          <a:bodyPr vert="horz" lIns="91440" tIns="45720" rIns="91440" bIns="45720" rtlCol="0" anchor="ctr"/>
          <a:lstStyle>
            <a:lvl1pPr algn="ctr">
              <a:defRPr sz="1200" b="1" i="0">
                <a:solidFill>
                  <a:schemeClr val="tx1"/>
                </a:solidFill>
                <a:latin typeface="Arial" panose="020B0604020202020204" pitchFamily="34" charset="0"/>
                <a:cs typeface="Arial" panose="020B0604020202020204" pitchFamily="34" charset="0"/>
              </a:defRPr>
            </a:lvl1pPr>
          </a:lstStyle>
          <a:p>
            <a:fld id="{40FC62D0-A2F2-4BF8-8DAC-E86C11000EC3}" type="slidenum">
              <a:rPr lang="en-GB" smtClean="0"/>
              <a:pPr/>
              <a:t>26</a:t>
            </a:fld>
            <a:endParaRPr lang="en-GB" dirty="0"/>
          </a:p>
        </p:txBody>
      </p:sp>
    </p:spTree>
    <p:extLst>
      <p:ext uri="{BB962C8B-B14F-4D97-AF65-F5344CB8AC3E}">
        <p14:creationId xmlns:p14="http://schemas.microsoft.com/office/powerpoint/2010/main" val="37465610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7E176-6756-2115-FD4A-8EAEFFF86C90}"/>
              </a:ext>
            </a:extLst>
          </p:cNvPr>
          <p:cNvSpPr>
            <a:spLocks noGrp="1"/>
          </p:cNvSpPr>
          <p:nvPr>
            <p:ph type="title"/>
          </p:nvPr>
        </p:nvSpPr>
        <p:spPr/>
        <p:txBody>
          <a:bodyPr/>
          <a:lstStyle/>
          <a:p>
            <a:r>
              <a:rPr lang="en-GB" dirty="0"/>
              <a:t>Coming soon</a:t>
            </a:r>
          </a:p>
        </p:txBody>
      </p:sp>
      <p:sp>
        <p:nvSpPr>
          <p:cNvPr id="4" name="Content Placeholder 3">
            <a:extLst>
              <a:ext uri="{FF2B5EF4-FFF2-40B4-BE49-F238E27FC236}">
                <a16:creationId xmlns:a16="http://schemas.microsoft.com/office/drawing/2014/main" id="{2FDFF831-707E-6647-F485-5E3852E1F082}"/>
              </a:ext>
            </a:extLst>
          </p:cNvPr>
          <p:cNvSpPr>
            <a:spLocks noGrp="1"/>
          </p:cNvSpPr>
          <p:nvPr>
            <p:ph sz="quarter" idx="26"/>
          </p:nvPr>
        </p:nvSpPr>
        <p:spPr>
          <a:xfrm>
            <a:off x="8128000" y="2269308"/>
            <a:ext cx="6896105" cy="5784617"/>
          </a:xfrm>
        </p:spPr>
        <p:txBody>
          <a:bodyPr>
            <a:normAutofit lnSpcReduction="10000"/>
          </a:bodyPr>
          <a:lstStyle/>
          <a:p>
            <a:r>
              <a:rPr lang="en-GB" sz="2800" b="1" dirty="0" err="1"/>
              <a:t>IFoA</a:t>
            </a:r>
            <a:r>
              <a:rPr lang="en-GB" sz="2800" b="1" dirty="0"/>
              <a:t> Healthy Workforce WP</a:t>
            </a:r>
          </a:p>
          <a:p>
            <a:pPr marL="457200" indent="-457200">
              <a:buFont typeface="Arial" panose="020B0604020202020204" pitchFamily="34" charset="0"/>
              <a:buChar char="•"/>
            </a:pPr>
            <a:r>
              <a:rPr lang="en-US" dirty="0"/>
              <a:t>modelling a range of retirement ages;</a:t>
            </a:r>
          </a:p>
          <a:p>
            <a:pPr marL="457200" indent="-457200">
              <a:buFont typeface="Arial" panose="020B0604020202020204" pitchFamily="34" charset="0"/>
              <a:buChar char="•"/>
            </a:pPr>
            <a:r>
              <a:rPr lang="en-US" dirty="0"/>
              <a:t>alternative definitions of 'healthy' and 'working';</a:t>
            </a:r>
          </a:p>
          <a:p>
            <a:pPr marL="457200" indent="-457200">
              <a:buFont typeface="Arial" panose="020B0604020202020204" pitchFamily="34" charset="0"/>
              <a:buChar char="•"/>
            </a:pPr>
            <a:r>
              <a:rPr lang="en-US" dirty="0"/>
              <a:t>CMI data over time periods to give indications of trends over time;</a:t>
            </a:r>
          </a:p>
          <a:p>
            <a:pPr marL="457200" indent="-457200">
              <a:buFont typeface="Arial" panose="020B0604020202020204" pitchFamily="34" charset="0"/>
              <a:buChar char="•"/>
            </a:pPr>
            <a:r>
              <a:rPr lang="en-US" dirty="0"/>
              <a:t>rates derived from population surveys to provide further benchmarks;</a:t>
            </a:r>
          </a:p>
          <a:p>
            <a:pPr marL="457200" indent="-457200">
              <a:buFont typeface="Arial" panose="020B0604020202020204" pitchFamily="34" charset="0"/>
              <a:buChar char="•"/>
            </a:pPr>
            <a:r>
              <a:rPr lang="en-US" dirty="0"/>
              <a:t>transition rates that are derived from administrative data held by UK public authorities such as the DWP;</a:t>
            </a:r>
          </a:p>
          <a:p>
            <a:pPr marL="457200" indent="-457200">
              <a:buFont typeface="Arial" panose="020B0604020202020204" pitchFamily="34" charset="0"/>
              <a:buChar char="•"/>
            </a:pPr>
            <a:r>
              <a:rPr lang="en-US" dirty="0"/>
              <a:t>international comparisons</a:t>
            </a:r>
          </a:p>
        </p:txBody>
      </p:sp>
      <p:sp>
        <p:nvSpPr>
          <p:cNvPr id="5" name="Content Placeholder 4">
            <a:extLst>
              <a:ext uri="{FF2B5EF4-FFF2-40B4-BE49-F238E27FC236}">
                <a16:creationId xmlns:a16="http://schemas.microsoft.com/office/drawing/2014/main" id="{D3BBCFB3-7392-707F-86DE-DC01731BB5DF}"/>
              </a:ext>
            </a:extLst>
          </p:cNvPr>
          <p:cNvSpPr>
            <a:spLocks noGrp="1"/>
          </p:cNvSpPr>
          <p:nvPr>
            <p:ph sz="quarter" idx="13"/>
          </p:nvPr>
        </p:nvSpPr>
        <p:spPr>
          <a:xfrm>
            <a:off x="1117600" y="2269322"/>
            <a:ext cx="6797675" cy="5784601"/>
          </a:xfrm>
        </p:spPr>
        <p:txBody>
          <a:bodyPr/>
          <a:lstStyle/>
          <a:p>
            <a:r>
              <a:rPr lang="en-GB" sz="2800" b="1" dirty="0"/>
              <a:t>UK government</a:t>
            </a:r>
          </a:p>
        </p:txBody>
      </p:sp>
      <p:sp>
        <p:nvSpPr>
          <p:cNvPr id="6" name="Footer Placeholder 5">
            <a:extLst>
              <a:ext uri="{FF2B5EF4-FFF2-40B4-BE49-F238E27FC236}">
                <a16:creationId xmlns:a16="http://schemas.microsoft.com/office/drawing/2014/main" id="{80D52AD7-8BEF-5606-82BF-4ACC3FE11604}"/>
              </a:ext>
            </a:extLst>
          </p:cNvPr>
          <p:cNvSpPr>
            <a:spLocks noGrp="1"/>
          </p:cNvSpPr>
          <p:nvPr>
            <p:ph type="ftr" sz="quarter" idx="3"/>
          </p:nvPr>
        </p:nvSpPr>
        <p:spPr/>
        <p:txBody>
          <a:bodyPr/>
          <a:lstStyle/>
          <a:p>
            <a:r>
              <a:rPr lang="en-GB" dirty="0" err="1"/>
              <a:t>IFoA</a:t>
            </a:r>
            <a:r>
              <a:rPr lang="en-GB" dirty="0"/>
              <a:t> Life Conference</a:t>
            </a:r>
          </a:p>
        </p:txBody>
      </p:sp>
      <p:sp>
        <p:nvSpPr>
          <p:cNvPr id="7" name="Slide Number Placeholder 6">
            <a:extLst>
              <a:ext uri="{FF2B5EF4-FFF2-40B4-BE49-F238E27FC236}">
                <a16:creationId xmlns:a16="http://schemas.microsoft.com/office/drawing/2014/main" id="{C2193FEE-8005-D41D-FA4E-3006171144A4}"/>
              </a:ext>
            </a:extLst>
          </p:cNvPr>
          <p:cNvSpPr>
            <a:spLocks noGrp="1"/>
          </p:cNvSpPr>
          <p:nvPr>
            <p:ph type="sldNum" sz="quarter" idx="4"/>
          </p:nvPr>
        </p:nvSpPr>
        <p:spPr/>
        <p:txBody>
          <a:bodyPr/>
          <a:lstStyle/>
          <a:p>
            <a:fld id="{40FC62D0-A2F2-4BF8-8DAC-E86C11000EC3}" type="slidenum">
              <a:rPr lang="en-GB" smtClean="0"/>
              <a:pPr/>
              <a:t>27</a:t>
            </a:fld>
            <a:endParaRPr lang="en-GB" dirty="0"/>
          </a:p>
        </p:txBody>
      </p:sp>
      <p:sp>
        <p:nvSpPr>
          <p:cNvPr id="8" name="Text Placeholder 7">
            <a:extLst>
              <a:ext uri="{FF2B5EF4-FFF2-40B4-BE49-F238E27FC236}">
                <a16:creationId xmlns:a16="http://schemas.microsoft.com/office/drawing/2014/main" id="{215E353C-CACF-8EB4-6E51-2235EFA96A00}"/>
              </a:ext>
            </a:extLst>
          </p:cNvPr>
          <p:cNvSpPr>
            <a:spLocks noGrp="1"/>
          </p:cNvSpPr>
          <p:nvPr>
            <p:ph type="body" sz="quarter" idx="24"/>
          </p:nvPr>
        </p:nvSpPr>
        <p:spPr/>
        <p:txBody>
          <a:bodyPr/>
          <a:lstStyle/>
          <a:p>
            <a:r>
              <a:rPr lang="en-GB" dirty="0"/>
              <a:t>Policy initiatives and </a:t>
            </a:r>
            <a:r>
              <a:rPr lang="en-GB" dirty="0" err="1"/>
              <a:t>IFoA</a:t>
            </a:r>
            <a:r>
              <a:rPr lang="en-GB" dirty="0"/>
              <a:t> planned research</a:t>
            </a:r>
          </a:p>
        </p:txBody>
      </p:sp>
      <p:pic>
        <p:nvPicPr>
          <p:cNvPr id="10" name="Picture 9">
            <a:extLst>
              <a:ext uri="{FF2B5EF4-FFF2-40B4-BE49-F238E27FC236}">
                <a16:creationId xmlns:a16="http://schemas.microsoft.com/office/drawing/2014/main" id="{34F33C4E-EF09-B663-C641-F4FB2F492CA8}"/>
              </a:ext>
            </a:extLst>
          </p:cNvPr>
          <p:cNvPicPr>
            <a:picLocks noChangeAspect="1"/>
          </p:cNvPicPr>
          <p:nvPr/>
        </p:nvPicPr>
        <p:blipFill>
          <a:blip r:embed="rId3"/>
          <a:stretch>
            <a:fillRect/>
          </a:stretch>
        </p:blipFill>
        <p:spPr>
          <a:xfrm>
            <a:off x="1117600" y="2923223"/>
            <a:ext cx="5301623" cy="5005994"/>
          </a:xfrm>
          <a:prstGeom prst="rect">
            <a:avLst/>
          </a:prstGeom>
        </p:spPr>
      </p:pic>
    </p:spTree>
    <p:extLst>
      <p:ext uri="{BB962C8B-B14F-4D97-AF65-F5344CB8AC3E}">
        <p14:creationId xmlns:p14="http://schemas.microsoft.com/office/powerpoint/2010/main" val="12288804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5CE89-FE4C-4C00-6B54-19A57DA0381A}"/>
              </a:ext>
            </a:extLst>
          </p:cNvPr>
          <p:cNvSpPr>
            <a:spLocks noGrp="1"/>
          </p:cNvSpPr>
          <p:nvPr>
            <p:ph type="title"/>
          </p:nvPr>
        </p:nvSpPr>
        <p:spPr/>
        <p:txBody>
          <a:bodyPr/>
          <a:lstStyle/>
          <a:p>
            <a:r>
              <a:rPr lang="en-GB" dirty="0"/>
              <a:t>Conclusions</a:t>
            </a:r>
          </a:p>
        </p:txBody>
      </p:sp>
      <p:sp>
        <p:nvSpPr>
          <p:cNvPr id="3" name="Content Placeholder 2">
            <a:extLst>
              <a:ext uri="{FF2B5EF4-FFF2-40B4-BE49-F238E27FC236}">
                <a16:creationId xmlns:a16="http://schemas.microsoft.com/office/drawing/2014/main" id="{184B88E6-B709-F5C4-D97D-627239D408B6}"/>
              </a:ext>
            </a:extLst>
          </p:cNvPr>
          <p:cNvSpPr>
            <a:spLocks noGrp="1"/>
          </p:cNvSpPr>
          <p:nvPr>
            <p:ph sz="quarter" idx="25"/>
          </p:nvPr>
        </p:nvSpPr>
        <p:spPr>
          <a:xfrm>
            <a:off x="5861501" y="1888275"/>
            <a:ext cx="4435365" cy="5784615"/>
          </a:xfrm>
        </p:spPr>
        <p:txBody>
          <a:bodyPr/>
          <a:lstStyle/>
          <a:p>
            <a:r>
              <a:rPr lang="en-US" dirty="0"/>
              <a:t>HWLE is a </a:t>
            </a:r>
            <a:r>
              <a:rPr lang="en-US" b="1" dirty="0"/>
              <a:t>useful descriptive statistic</a:t>
            </a:r>
            <a:r>
              <a:rPr lang="en-US" dirty="0"/>
              <a:t> for morbidity bases (insurance)</a:t>
            </a:r>
          </a:p>
          <a:p>
            <a:pPr marL="457200" indent="-457200">
              <a:buFont typeface="Arial" panose="020B0604020202020204" pitchFamily="34" charset="0"/>
              <a:buChar char="•"/>
            </a:pPr>
            <a:r>
              <a:rPr lang="en-US" dirty="0"/>
              <a:t>assessing pricing and reserving bases</a:t>
            </a:r>
          </a:p>
          <a:p>
            <a:pPr marL="457200" indent="-457200">
              <a:buFont typeface="Arial" panose="020B0604020202020204" pitchFamily="34" charset="0"/>
              <a:buChar char="•"/>
            </a:pPr>
            <a:r>
              <a:rPr lang="en-US" dirty="0"/>
              <a:t>product design and expanding IP products to wider segments</a:t>
            </a:r>
          </a:p>
        </p:txBody>
      </p:sp>
      <p:sp>
        <p:nvSpPr>
          <p:cNvPr id="4" name="Content Placeholder 3">
            <a:extLst>
              <a:ext uri="{FF2B5EF4-FFF2-40B4-BE49-F238E27FC236}">
                <a16:creationId xmlns:a16="http://schemas.microsoft.com/office/drawing/2014/main" id="{2999D242-B243-3251-A088-C8FDEB9480A9}"/>
              </a:ext>
            </a:extLst>
          </p:cNvPr>
          <p:cNvSpPr>
            <a:spLocks noGrp="1"/>
          </p:cNvSpPr>
          <p:nvPr>
            <p:ph sz="quarter" idx="26"/>
          </p:nvPr>
        </p:nvSpPr>
        <p:spPr>
          <a:xfrm>
            <a:off x="10588739" y="1868683"/>
            <a:ext cx="4435365" cy="5784617"/>
          </a:xfrm>
        </p:spPr>
        <p:txBody>
          <a:bodyPr/>
          <a:lstStyle/>
          <a:p>
            <a:r>
              <a:rPr lang="en-US" dirty="0"/>
              <a:t>HWLE has </a:t>
            </a:r>
            <a:r>
              <a:rPr lang="en-US" b="1" dirty="0"/>
              <a:t>policy relevance </a:t>
            </a:r>
            <a:r>
              <a:rPr lang="en-US" dirty="0"/>
              <a:t>to state benefits, State Pension Age and pensions adequacy (policy)</a:t>
            </a:r>
          </a:p>
          <a:p>
            <a:pPr marL="457200" indent="-457200">
              <a:buFont typeface="Arial" panose="020B0604020202020204" pitchFamily="34" charset="0"/>
              <a:buChar char="•"/>
            </a:pPr>
            <a:r>
              <a:rPr lang="en-US" dirty="0"/>
              <a:t>Keep Britain Working</a:t>
            </a:r>
          </a:p>
          <a:p>
            <a:pPr marL="457200" indent="-457200">
              <a:buFont typeface="Arial" panose="020B0604020202020204" pitchFamily="34" charset="0"/>
              <a:buChar char="•"/>
            </a:pPr>
            <a:r>
              <a:rPr lang="en-US" dirty="0"/>
              <a:t>social care policy</a:t>
            </a:r>
          </a:p>
          <a:p>
            <a:pPr marL="457200" indent="-457200">
              <a:buFont typeface="Arial" panose="020B0604020202020204" pitchFamily="34" charset="0"/>
              <a:buChar char="•"/>
            </a:pPr>
            <a:r>
              <a:rPr lang="en-US" dirty="0"/>
              <a:t>pension planning</a:t>
            </a:r>
          </a:p>
          <a:p>
            <a:pPr marL="457200" indent="-457200">
              <a:buFont typeface="Arial" panose="020B0604020202020204" pitchFamily="34" charset="0"/>
              <a:buChar char="•"/>
            </a:pPr>
            <a:r>
              <a:rPr lang="en-US" dirty="0"/>
              <a:t>health service planning</a:t>
            </a:r>
          </a:p>
          <a:p>
            <a:pPr marL="457200" indent="-457200">
              <a:buFont typeface="Arial" panose="020B0604020202020204" pitchFamily="34" charset="0"/>
              <a:buChar char="•"/>
            </a:pPr>
            <a:endParaRPr lang="en-US" dirty="0"/>
          </a:p>
        </p:txBody>
      </p:sp>
      <p:sp>
        <p:nvSpPr>
          <p:cNvPr id="5" name="Content Placeholder 4">
            <a:extLst>
              <a:ext uri="{FF2B5EF4-FFF2-40B4-BE49-F238E27FC236}">
                <a16:creationId xmlns:a16="http://schemas.microsoft.com/office/drawing/2014/main" id="{33651532-5624-090F-613C-D8A4039F7049}"/>
              </a:ext>
            </a:extLst>
          </p:cNvPr>
          <p:cNvSpPr>
            <a:spLocks noGrp="1"/>
          </p:cNvSpPr>
          <p:nvPr>
            <p:ph sz="quarter" idx="13"/>
          </p:nvPr>
        </p:nvSpPr>
        <p:spPr>
          <a:xfrm>
            <a:off x="1117600" y="1868697"/>
            <a:ext cx="4435365" cy="5784601"/>
          </a:xfrm>
        </p:spPr>
        <p:txBody>
          <a:bodyPr/>
          <a:lstStyle/>
          <a:p>
            <a:r>
              <a:rPr lang="en-US" b="1" dirty="0"/>
              <a:t>Administrative data </a:t>
            </a:r>
            <a:r>
              <a:rPr lang="en-US" dirty="0"/>
              <a:t>can complement or replace survey data for HWLE (methods)</a:t>
            </a:r>
          </a:p>
          <a:p>
            <a:pPr marL="457200" indent="-457200">
              <a:buFont typeface="Arial" panose="020B0604020202020204" pitchFamily="34" charset="0"/>
              <a:buChar char="•"/>
            </a:pPr>
            <a:r>
              <a:rPr lang="en-US" dirty="0"/>
              <a:t>development of public datasets</a:t>
            </a:r>
          </a:p>
          <a:p>
            <a:pPr marL="457200" indent="-457200">
              <a:buFont typeface="Arial" panose="020B0604020202020204" pitchFamily="34" charset="0"/>
              <a:buChar char="•"/>
            </a:pPr>
            <a:r>
              <a:rPr lang="en-US" dirty="0" err="1"/>
              <a:t>recognise</a:t>
            </a:r>
            <a:r>
              <a:rPr lang="en-US" dirty="0"/>
              <a:t> value of insurance industry data</a:t>
            </a:r>
          </a:p>
          <a:p>
            <a:endParaRPr lang="en-GB" dirty="0"/>
          </a:p>
        </p:txBody>
      </p:sp>
      <p:sp>
        <p:nvSpPr>
          <p:cNvPr id="6" name="Footer Placeholder 5">
            <a:extLst>
              <a:ext uri="{FF2B5EF4-FFF2-40B4-BE49-F238E27FC236}">
                <a16:creationId xmlns:a16="http://schemas.microsoft.com/office/drawing/2014/main" id="{58F7D929-03E1-19C4-EEA7-01805C6195FC}"/>
              </a:ext>
            </a:extLst>
          </p:cNvPr>
          <p:cNvSpPr>
            <a:spLocks noGrp="1"/>
          </p:cNvSpPr>
          <p:nvPr>
            <p:ph type="ftr" sz="quarter" idx="3"/>
          </p:nvPr>
        </p:nvSpPr>
        <p:spPr/>
        <p:txBody>
          <a:bodyPr/>
          <a:lstStyle/>
          <a:p>
            <a:r>
              <a:rPr lang="en-GB" dirty="0" err="1"/>
              <a:t>IFoA</a:t>
            </a:r>
            <a:r>
              <a:rPr lang="en-GB" dirty="0"/>
              <a:t> Life Conference</a:t>
            </a:r>
          </a:p>
        </p:txBody>
      </p:sp>
      <p:sp>
        <p:nvSpPr>
          <p:cNvPr id="7" name="Slide Number Placeholder 6">
            <a:extLst>
              <a:ext uri="{FF2B5EF4-FFF2-40B4-BE49-F238E27FC236}">
                <a16:creationId xmlns:a16="http://schemas.microsoft.com/office/drawing/2014/main" id="{F3460AD1-08D4-8133-0C79-6E5E3AFEA035}"/>
              </a:ext>
            </a:extLst>
          </p:cNvPr>
          <p:cNvSpPr>
            <a:spLocks noGrp="1"/>
          </p:cNvSpPr>
          <p:nvPr>
            <p:ph type="sldNum" sz="quarter" idx="4"/>
          </p:nvPr>
        </p:nvSpPr>
        <p:spPr/>
        <p:txBody>
          <a:bodyPr/>
          <a:lstStyle/>
          <a:p>
            <a:fld id="{40FC62D0-A2F2-4BF8-8DAC-E86C11000EC3}" type="slidenum">
              <a:rPr lang="en-GB" smtClean="0"/>
              <a:pPr/>
              <a:t>28</a:t>
            </a:fld>
            <a:endParaRPr lang="en-GB" dirty="0"/>
          </a:p>
        </p:txBody>
      </p:sp>
      <p:sp>
        <p:nvSpPr>
          <p:cNvPr id="8" name="Text Placeholder 7">
            <a:extLst>
              <a:ext uri="{FF2B5EF4-FFF2-40B4-BE49-F238E27FC236}">
                <a16:creationId xmlns:a16="http://schemas.microsoft.com/office/drawing/2014/main" id="{C1A97C89-026C-AE33-5361-5DE5DA38B651}"/>
              </a:ext>
            </a:extLst>
          </p:cNvPr>
          <p:cNvSpPr>
            <a:spLocks noGrp="1"/>
          </p:cNvSpPr>
          <p:nvPr>
            <p:ph type="body" sz="quarter" idx="24"/>
          </p:nvPr>
        </p:nvSpPr>
        <p:spPr/>
        <p:txBody>
          <a:bodyPr/>
          <a:lstStyle/>
          <a:p>
            <a:r>
              <a:rPr lang="en-GB" dirty="0"/>
              <a:t>HWLE is an important metric for many purposes </a:t>
            </a:r>
          </a:p>
        </p:txBody>
      </p:sp>
      <p:pic>
        <p:nvPicPr>
          <p:cNvPr id="18" name="Graphic 17" descr="Connections with solid fill">
            <a:extLst>
              <a:ext uri="{FF2B5EF4-FFF2-40B4-BE49-F238E27FC236}">
                <a16:creationId xmlns:a16="http://schemas.microsoft.com/office/drawing/2014/main" id="{C809E11F-F1D4-82BE-1460-0177C55E78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56824" y="5639558"/>
            <a:ext cx="2010713" cy="2010713"/>
          </a:xfrm>
          <a:prstGeom prst="rect">
            <a:avLst/>
          </a:prstGeom>
        </p:spPr>
      </p:pic>
      <p:pic>
        <p:nvPicPr>
          <p:cNvPr id="20" name="Graphic 19" descr="Blockchain with solid fill">
            <a:extLst>
              <a:ext uri="{FF2B5EF4-FFF2-40B4-BE49-F238E27FC236}">
                <a16:creationId xmlns:a16="http://schemas.microsoft.com/office/drawing/2014/main" id="{A19E0DAA-8992-A95F-FC77-ED4EC1F4B15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64108" y="5639559"/>
            <a:ext cx="2022882" cy="2022882"/>
          </a:xfrm>
          <a:prstGeom prst="rect">
            <a:avLst/>
          </a:prstGeom>
        </p:spPr>
      </p:pic>
      <p:pic>
        <p:nvPicPr>
          <p:cNvPr id="22" name="Graphic 21" descr="Remote work with solid fill">
            <a:extLst>
              <a:ext uri="{FF2B5EF4-FFF2-40B4-BE49-F238E27FC236}">
                <a16:creationId xmlns:a16="http://schemas.microsoft.com/office/drawing/2014/main" id="{A05ED48E-BD27-EEEE-41B4-60E8736CDFC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460460" y="5639558"/>
            <a:ext cx="2030951" cy="2030951"/>
          </a:xfrm>
          <a:prstGeom prst="rect">
            <a:avLst/>
          </a:prstGeom>
        </p:spPr>
      </p:pic>
      <p:sp>
        <p:nvSpPr>
          <p:cNvPr id="10" name="Shape 87">
            <a:extLst>
              <a:ext uri="{FF2B5EF4-FFF2-40B4-BE49-F238E27FC236}">
                <a16:creationId xmlns:a16="http://schemas.microsoft.com/office/drawing/2014/main" id="{79C935F6-2F57-4538-195D-7C0FAAA43EF8}"/>
              </a:ext>
            </a:extLst>
          </p:cNvPr>
          <p:cNvSpPr/>
          <p:nvPr/>
        </p:nvSpPr>
        <p:spPr>
          <a:xfrm>
            <a:off x="1205873" y="7692481"/>
            <a:ext cx="13896984" cy="563685"/>
          </a:xfrm>
          <a:prstGeom prst="roundRect">
            <a:avLst>
              <a:gd name="adj" fmla="val 6897"/>
            </a:avLst>
          </a:prstGeom>
          <a:solidFill>
            <a:schemeClr val="accent3">
              <a:lumMod val="20000"/>
              <a:lumOff val="80000"/>
            </a:schemeClr>
          </a:solidFill>
          <a:ln w="12700">
            <a:solidFill>
              <a:srgbClr val="EEF2F6"/>
            </a:solidFill>
            <a:prstDash val="solid"/>
          </a:ln>
        </p:spPr>
        <p:txBody>
          <a:bodyPr/>
          <a:lstStyle/>
          <a:p>
            <a:r>
              <a:rPr lang="en-GB" sz="2800" dirty="0">
                <a:latin typeface="ARIAL-MDM" pitchFamily="2" charset="77"/>
                <a:cs typeface="Arial" panose="020B0604020202020204" pitchFamily="34" charset="0"/>
                <a:sym typeface="Wingdings" panose="05000000000000000000" pitchFamily="2" charset="2"/>
              </a:rPr>
              <a:t> </a:t>
            </a:r>
            <a:r>
              <a:rPr lang="en-GB" sz="2800" dirty="0">
                <a:latin typeface="ARIAL-MDM" pitchFamily="2" charset="77"/>
                <a:cs typeface="Arial" panose="020B0604020202020204" pitchFamily="34" charset="0"/>
              </a:rPr>
              <a:t>Opportunity for actuaries to deploy core expertise for the public interest</a:t>
            </a:r>
          </a:p>
        </p:txBody>
      </p:sp>
    </p:spTree>
    <p:extLst>
      <p:ext uri="{BB962C8B-B14F-4D97-AF65-F5344CB8AC3E}">
        <p14:creationId xmlns:p14="http://schemas.microsoft.com/office/powerpoint/2010/main" val="3078360271"/>
      </p:ext>
    </p:extLst>
  </p:cSld>
  <p:clrMapOvr>
    <a:masterClrMapping/>
  </p:clrMapOvr>
  <p:extLst>
    <p:ext uri="{6950BFC3-D8DA-4A85-94F7-54DA5524770B}">
      <p188:commentRel xmlns:p188="http://schemas.microsoft.com/office/powerpoint/2018/8/main" r:id="rId6"/>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8E41D5E-06AC-3F8D-AFB2-0B5A1E59532A}"/>
              </a:ext>
            </a:extLst>
          </p:cNvPr>
          <p:cNvSpPr>
            <a:spLocks noGrp="1"/>
          </p:cNvSpPr>
          <p:nvPr>
            <p:ph type="ftr" sz="quarter" idx="3"/>
          </p:nvPr>
        </p:nvSpPr>
        <p:spPr/>
        <p:txBody>
          <a:bodyPr/>
          <a:lstStyle/>
          <a:p>
            <a:r>
              <a:rPr lang="en-GB"/>
              <a:t>IFoA Life Conference</a:t>
            </a:r>
            <a:endParaRPr lang="en-GB" dirty="0"/>
          </a:p>
        </p:txBody>
      </p:sp>
      <p:sp>
        <p:nvSpPr>
          <p:cNvPr id="6" name="Slide Number Placeholder 5">
            <a:extLst>
              <a:ext uri="{FF2B5EF4-FFF2-40B4-BE49-F238E27FC236}">
                <a16:creationId xmlns:a16="http://schemas.microsoft.com/office/drawing/2014/main" id="{A68BB18D-A097-77E8-EAB0-0CE69AAADE9F}"/>
              </a:ext>
            </a:extLst>
          </p:cNvPr>
          <p:cNvSpPr>
            <a:spLocks noGrp="1"/>
          </p:cNvSpPr>
          <p:nvPr>
            <p:ph type="sldNum" sz="quarter" idx="4"/>
          </p:nvPr>
        </p:nvSpPr>
        <p:spPr/>
        <p:txBody>
          <a:bodyPr/>
          <a:lstStyle/>
          <a:p>
            <a:fld id="{40FC62D0-A2F2-4BF8-8DAC-E86C11000EC3}" type="slidenum">
              <a:rPr lang="en-GB" smtClean="0"/>
              <a:pPr/>
              <a:t>29</a:t>
            </a:fld>
            <a:endParaRPr lang="en-GB" dirty="0"/>
          </a:p>
        </p:txBody>
      </p:sp>
      <p:sp>
        <p:nvSpPr>
          <p:cNvPr id="7" name="Content Placeholder 7">
            <a:extLst>
              <a:ext uri="{FF2B5EF4-FFF2-40B4-BE49-F238E27FC236}">
                <a16:creationId xmlns:a16="http://schemas.microsoft.com/office/drawing/2014/main" id="{17F7AF0B-DD4E-F1DE-0CC3-9265F4BD1CC8}"/>
              </a:ext>
            </a:extLst>
          </p:cNvPr>
          <p:cNvSpPr txBox="1">
            <a:spLocks/>
          </p:cNvSpPr>
          <p:nvPr/>
        </p:nvSpPr>
        <p:spPr>
          <a:xfrm>
            <a:off x="681566" y="5340091"/>
            <a:ext cx="14660033" cy="3141871"/>
          </a:xfrm>
          <a:prstGeom prst="rect">
            <a:avLst/>
          </a:prstGeom>
        </p:spPr>
        <p:txBody>
          <a:bodyPr/>
          <a:lstStyle>
            <a:lvl1pPr marL="304792" indent="-304792" algn="l" defTabSz="1219170" rtl="0" eaLnBrk="1" latinLnBrk="0" hangingPunct="1">
              <a:lnSpc>
                <a:spcPct val="100000"/>
              </a:lnSpc>
              <a:spcBef>
                <a:spcPts val="1333"/>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0" indent="0">
              <a:buFont typeface="Arial" panose="020B0604020202020204" pitchFamily="34" charset="0"/>
              <a:buNone/>
            </a:pPr>
            <a:r>
              <a:rPr lang="en-GB"/>
              <a:t>Expressions of individual views by members of the Institute and Faculty of Actuaries and its staff are encouraged.</a:t>
            </a:r>
          </a:p>
          <a:p>
            <a:pPr marL="0" indent="0">
              <a:buFont typeface="Arial" panose="020B0604020202020204" pitchFamily="34" charset="0"/>
              <a:buNone/>
            </a:pPr>
            <a:r>
              <a:rPr lang="en-GB"/>
              <a:t>The views expressed in this presentation are those of the presenter.</a:t>
            </a:r>
            <a:endParaRPr lang="en-GB" dirty="0"/>
          </a:p>
        </p:txBody>
      </p:sp>
      <p:sp>
        <p:nvSpPr>
          <p:cNvPr id="8" name="Rectangular Callout 9">
            <a:extLst>
              <a:ext uri="{FF2B5EF4-FFF2-40B4-BE49-F238E27FC236}">
                <a16:creationId xmlns:a16="http://schemas.microsoft.com/office/drawing/2014/main" id="{D5AF29C1-F702-0878-BB71-A43A65A5165B}"/>
              </a:ext>
            </a:extLst>
          </p:cNvPr>
          <p:cNvSpPr/>
          <p:nvPr/>
        </p:nvSpPr>
        <p:spPr>
          <a:xfrm>
            <a:off x="681567" y="924323"/>
            <a:ext cx="7254412" cy="2304256"/>
          </a:xfrm>
          <a:prstGeom prst="wedgeRectCallout">
            <a:avLst>
              <a:gd name="adj1" fmla="val -998"/>
              <a:gd name="adj2" fmla="val 126649"/>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GB" sz="2400">
              <a:solidFill>
                <a:prstClr val="white"/>
              </a:solidFill>
              <a:latin typeface="Arial"/>
              <a:cs typeface="Arial"/>
            </a:endParaRPr>
          </a:p>
        </p:txBody>
      </p:sp>
      <p:sp>
        <p:nvSpPr>
          <p:cNvPr id="9" name="Rectangular Callout 6">
            <a:extLst>
              <a:ext uri="{FF2B5EF4-FFF2-40B4-BE49-F238E27FC236}">
                <a16:creationId xmlns:a16="http://schemas.microsoft.com/office/drawing/2014/main" id="{7ED64F04-8172-EE0A-2EE4-D3E1F0FC9BBE}"/>
              </a:ext>
            </a:extLst>
          </p:cNvPr>
          <p:cNvSpPr/>
          <p:nvPr/>
        </p:nvSpPr>
        <p:spPr>
          <a:xfrm>
            <a:off x="8320021" y="924323"/>
            <a:ext cx="7233249" cy="2304256"/>
          </a:xfrm>
          <a:prstGeom prst="wedgeRectCallout">
            <a:avLst>
              <a:gd name="adj1" fmla="val -53799"/>
              <a:gd name="adj2" fmla="val 12758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GB" sz="2400">
              <a:solidFill>
                <a:srgbClr val="7CB3E1"/>
              </a:solidFill>
              <a:latin typeface="Arial"/>
              <a:cs typeface="Arial"/>
            </a:endParaRPr>
          </a:p>
        </p:txBody>
      </p:sp>
      <p:sp>
        <p:nvSpPr>
          <p:cNvPr id="10" name="Title 1">
            <a:extLst>
              <a:ext uri="{FF2B5EF4-FFF2-40B4-BE49-F238E27FC236}">
                <a16:creationId xmlns:a16="http://schemas.microsoft.com/office/drawing/2014/main" id="{E06C848D-7354-E196-98DC-B718AD0456E4}"/>
              </a:ext>
            </a:extLst>
          </p:cNvPr>
          <p:cNvSpPr>
            <a:spLocks noGrp="1"/>
          </p:cNvSpPr>
          <p:nvPr>
            <p:ph type="title"/>
          </p:nvPr>
        </p:nvSpPr>
        <p:spPr>
          <a:xfrm>
            <a:off x="1016001" y="1314453"/>
            <a:ext cx="6631948" cy="1524000"/>
          </a:xfrm>
        </p:spPr>
        <p:txBody>
          <a:bodyPr/>
          <a:lstStyle/>
          <a:p>
            <a:pPr algn="ctr"/>
            <a:r>
              <a:rPr lang="en-GB" sz="6400" b="0" dirty="0">
                <a:solidFill>
                  <a:schemeClr val="bg2"/>
                </a:solidFill>
              </a:rPr>
              <a:t>Questions</a:t>
            </a:r>
          </a:p>
        </p:txBody>
      </p:sp>
      <p:sp>
        <p:nvSpPr>
          <p:cNvPr id="11" name="Title 1">
            <a:extLst>
              <a:ext uri="{FF2B5EF4-FFF2-40B4-BE49-F238E27FC236}">
                <a16:creationId xmlns:a16="http://schemas.microsoft.com/office/drawing/2014/main" id="{C3D7F93F-14F2-4D98-BFFC-80A9171C70B6}"/>
              </a:ext>
            </a:extLst>
          </p:cNvPr>
          <p:cNvSpPr txBox="1">
            <a:spLocks/>
          </p:cNvSpPr>
          <p:nvPr/>
        </p:nvSpPr>
        <p:spPr bwMode="auto">
          <a:xfrm>
            <a:off x="8608053" y="1307637"/>
            <a:ext cx="6733547"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bodyPr>
          <a:lstStyle>
            <a:lvl1pPr algn="l" rtl="0" fontAlgn="base">
              <a:spcBef>
                <a:spcPct val="0"/>
              </a:spcBef>
              <a:spcAft>
                <a:spcPct val="0"/>
              </a:spcAft>
              <a:defRPr sz="3200">
                <a:solidFill>
                  <a:srgbClr val="D9AB16"/>
                </a:solidFill>
                <a:latin typeface="+mj-lt"/>
                <a:ea typeface="+mj-ea"/>
                <a:cs typeface="+mj-cs"/>
              </a:defRPr>
            </a:lvl1pPr>
            <a:lvl2pPr algn="l" rtl="0" fontAlgn="base">
              <a:spcBef>
                <a:spcPct val="0"/>
              </a:spcBef>
              <a:spcAft>
                <a:spcPct val="0"/>
              </a:spcAft>
              <a:defRPr sz="3200">
                <a:solidFill>
                  <a:srgbClr val="D9AB16"/>
                </a:solidFill>
                <a:latin typeface="Arial" charset="0"/>
                <a:cs typeface="Arial" charset="0"/>
              </a:defRPr>
            </a:lvl2pPr>
            <a:lvl3pPr algn="l" rtl="0" fontAlgn="base">
              <a:spcBef>
                <a:spcPct val="0"/>
              </a:spcBef>
              <a:spcAft>
                <a:spcPct val="0"/>
              </a:spcAft>
              <a:defRPr sz="3200">
                <a:solidFill>
                  <a:srgbClr val="D9AB16"/>
                </a:solidFill>
                <a:latin typeface="Arial" charset="0"/>
                <a:cs typeface="Arial" charset="0"/>
              </a:defRPr>
            </a:lvl3pPr>
            <a:lvl4pPr algn="l" rtl="0" fontAlgn="base">
              <a:spcBef>
                <a:spcPct val="0"/>
              </a:spcBef>
              <a:spcAft>
                <a:spcPct val="0"/>
              </a:spcAft>
              <a:defRPr sz="3200">
                <a:solidFill>
                  <a:srgbClr val="D9AB16"/>
                </a:solidFill>
                <a:latin typeface="Arial" charset="0"/>
                <a:cs typeface="Arial" charset="0"/>
              </a:defRPr>
            </a:lvl4pPr>
            <a:lvl5pPr algn="l" rtl="0" fontAlgn="base">
              <a:spcBef>
                <a:spcPct val="0"/>
              </a:spcBef>
              <a:spcAft>
                <a:spcPct val="0"/>
              </a:spcAft>
              <a:defRPr sz="3200">
                <a:solidFill>
                  <a:srgbClr val="D9AB16"/>
                </a:solidFill>
                <a:latin typeface="Arial" charset="0"/>
                <a:cs typeface="Arial" charset="0"/>
              </a:defRPr>
            </a:lvl5pPr>
            <a:lvl6pPr marL="457200" algn="l" rtl="0" fontAlgn="base">
              <a:spcBef>
                <a:spcPct val="0"/>
              </a:spcBef>
              <a:spcAft>
                <a:spcPct val="0"/>
              </a:spcAft>
              <a:defRPr sz="3200">
                <a:solidFill>
                  <a:srgbClr val="D9AB16"/>
                </a:solidFill>
                <a:latin typeface="Arial" charset="0"/>
                <a:cs typeface="Arial" charset="0"/>
              </a:defRPr>
            </a:lvl6pPr>
            <a:lvl7pPr marL="914400" algn="l" rtl="0" fontAlgn="base">
              <a:spcBef>
                <a:spcPct val="0"/>
              </a:spcBef>
              <a:spcAft>
                <a:spcPct val="0"/>
              </a:spcAft>
              <a:defRPr sz="3200">
                <a:solidFill>
                  <a:srgbClr val="D9AB16"/>
                </a:solidFill>
                <a:latin typeface="Arial" charset="0"/>
                <a:cs typeface="Arial" charset="0"/>
              </a:defRPr>
            </a:lvl7pPr>
            <a:lvl8pPr marL="1371600" algn="l" rtl="0" fontAlgn="base">
              <a:spcBef>
                <a:spcPct val="0"/>
              </a:spcBef>
              <a:spcAft>
                <a:spcPct val="0"/>
              </a:spcAft>
              <a:defRPr sz="3200">
                <a:solidFill>
                  <a:srgbClr val="D9AB16"/>
                </a:solidFill>
                <a:latin typeface="Arial" charset="0"/>
                <a:cs typeface="Arial" charset="0"/>
              </a:defRPr>
            </a:lvl8pPr>
            <a:lvl9pPr marL="1828800" algn="l" rtl="0" fontAlgn="base">
              <a:spcBef>
                <a:spcPct val="0"/>
              </a:spcBef>
              <a:spcAft>
                <a:spcPct val="0"/>
              </a:spcAft>
              <a:defRPr sz="3200">
                <a:solidFill>
                  <a:srgbClr val="D9AB16"/>
                </a:solidFill>
                <a:latin typeface="Arial" charset="0"/>
                <a:cs typeface="Arial" charset="0"/>
              </a:defRPr>
            </a:lvl9pPr>
          </a:lstStyle>
          <a:p>
            <a:pPr algn="ctr" defTabSz="1219170"/>
            <a:r>
              <a:rPr lang="en-GB" sz="6400" dirty="0">
                <a:solidFill>
                  <a:prstClr val="white"/>
                </a:solidFill>
                <a:latin typeface="Arial"/>
                <a:cs typeface="Arial"/>
              </a:rPr>
              <a:t>Comments</a:t>
            </a:r>
          </a:p>
        </p:txBody>
      </p:sp>
    </p:spTree>
    <p:extLst>
      <p:ext uri="{BB962C8B-B14F-4D97-AF65-F5344CB8AC3E}">
        <p14:creationId xmlns:p14="http://schemas.microsoft.com/office/powerpoint/2010/main" val="42400147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C168E-F445-A40A-EBA0-F3A97051E4EB}"/>
            </a:ext>
          </a:extLst>
        </p:cNvPr>
        <p:cNvGrpSpPr/>
        <p:nvPr/>
      </p:nvGrpSpPr>
      <p:grpSpPr>
        <a:xfrm>
          <a:off x="0" y="0"/>
          <a:ext cx="0" cy="0"/>
          <a:chOff x="0" y="0"/>
          <a:chExt cx="0" cy="0"/>
        </a:xfrm>
      </p:grpSpPr>
      <p:sp>
        <p:nvSpPr>
          <p:cNvPr id="97" name="Title 1">
            <a:extLst>
              <a:ext uri="{FF2B5EF4-FFF2-40B4-BE49-F238E27FC236}">
                <a16:creationId xmlns:a16="http://schemas.microsoft.com/office/drawing/2014/main" id="{ACE7A84A-EC60-402B-EC9F-ED7C29775FF8}"/>
              </a:ext>
            </a:extLst>
          </p:cNvPr>
          <p:cNvSpPr>
            <a:spLocks noGrp="1"/>
          </p:cNvSpPr>
          <p:nvPr>
            <p:ph type="title" hasCustomPrompt="1"/>
          </p:nvPr>
        </p:nvSpPr>
        <p:spPr>
          <a:xfrm>
            <a:off x="1500000" y="3400000"/>
            <a:ext cx="13256000" cy="2200000"/>
          </a:xfrm>
        </p:spPr>
        <p:txBody>
          <a:bodyPr/>
          <a:lstStyle/>
          <a:p>
            <a:pPr marL="0" lvl="0" indent="0">
              <a:buNone/>
            </a:pPr>
            <a:r>
              <a:rPr lang="de-CH" dirty="0">
                <a:solidFill>
                  <a:schemeClr val="bg1"/>
                </a:solidFill>
              </a:rPr>
              <a:t>Appendices</a:t>
            </a:r>
            <a:endParaRPr dirty="0">
              <a:solidFill>
                <a:schemeClr val="bg1"/>
              </a:solidFill>
            </a:endParaRPr>
          </a:p>
        </p:txBody>
      </p:sp>
      <p:sp>
        <p:nvSpPr>
          <p:cNvPr id="8" name="Footer Placeholder 4">
            <a:extLst>
              <a:ext uri="{FF2B5EF4-FFF2-40B4-BE49-F238E27FC236}">
                <a16:creationId xmlns:a16="http://schemas.microsoft.com/office/drawing/2014/main" id="{281EA876-7531-B990-751A-97C6F1336632}"/>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bg1"/>
                </a:solidFill>
              </a:defRPr>
            </a:lvl1pPr>
          </a:lstStyle>
          <a:p>
            <a:r>
              <a:rPr lang="en-GB"/>
              <a:t>IFoA Life Conference</a:t>
            </a:r>
            <a:endParaRPr lang="en-GB" dirty="0"/>
          </a:p>
        </p:txBody>
      </p:sp>
      <p:sp>
        <p:nvSpPr>
          <p:cNvPr id="9" name="Slide Number Placeholder 5">
            <a:extLst>
              <a:ext uri="{FF2B5EF4-FFF2-40B4-BE49-F238E27FC236}">
                <a16:creationId xmlns:a16="http://schemas.microsoft.com/office/drawing/2014/main" id="{A6BD9CBB-09B0-6233-9AB9-0C66E4DC0D8D}"/>
              </a:ext>
            </a:extLst>
          </p:cNvPr>
          <p:cNvSpPr>
            <a:spLocks noGrp="1"/>
          </p:cNvSpPr>
          <p:nvPr>
            <p:ph type="sldNum" sz="quarter" idx="4"/>
          </p:nvPr>
        </p:nvSpPr>
        <p:spPr>
          <a:xfrm>
            <a:off x="14573177" y="8382533"/>
            <a:ext cx="529680" cy="486833"/>
          </a:xfrm>
          <a:prstGeom prst="rect">
            <a:avLst/>
          </a:prstGeom>
          <a:solidFill>
            <a:schemeClr val="bg1"/>
          </a:solidFill>
        </p:spPr>
        <p:txBody>
          <a:bodyPr vert="horz" lIns="91440" tIns="45720" rIns="91440" bIns="45720" rtlCol="0" anchor="ctr"/>
          <a:lstStyle>
            <a:lvl1pPr algn="ctr">
              <a:defRPr sz="1200" b="1" i="0">
                <a:solidFill>
                  <a:schemeClr val="tx1"/>
                </a:solidFill>
                <a:latin typeface="Arial" panose="020B0604020202020204" pitchFamily="34" charset="0"/>
                <a:cs typeface="Arial" panose="020B0604020202020204" pitchFamily="34" charset="0"/>
              </a:defRPr>
            </a:lvl1pPr>
          </a:lstStyle>
          <a:p>
            <a:fld id="{40FC62D0-A2F2-4BF8-8DAC-E86C11000EC3}" type="slidenum">
              <a:rPr lang="en-GB" smtClean="0"/>
              <a:pPr/>
              <a:t>30</a:t>
            </a:fld>
            <a:endParaRPr lang="en-GB" dirty="0"/>
          </a:p>
        </p:txBody>
      </p:sp>
    </p:spTree>
    <p:extLst>
      <p:ext uri="{BB962C8B-B14F-4D97-AF65-F5344CB8AC3E}">
        <p14:creationId xmlns:p14="http://schemas.microsoft.com/office/powerpoint/2010/main" val="3656113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B0AF03A-89FE-AC01-8EE1-2E2A103F068F}"/>
              </a:ext>
            </a:extLst>
          </p:cNvPr>
          <p:cNvSpPr>
            <a:spLocks noGrp="1"/>
          </p:cNvSpPr>
          <p:nvPr>
            <p:ph sz="quarter" idx="13"/>
          </p:nvPr>
        </p:nvSpPr>
        <p:spPr/>
        <p:txBody>
          <a:bodyPr>
            <a:normAutofit fontScale="62500" lnSpcReduction="20000"/>
          </a:bodyPr>
          <a:lstStyle/>
          <a:p>
            <a:pPr algn="just"/>
            <a:r>
              <a:rPr lang="en-GB" b="1" dirty="0"/>
              <a:t>Abstract Summary: </a:t>
            </a:r>
          </a:p>
          <a:p>
            <a:pPr algn="just"/>
            <a:r>
              <a:rPr lang="en-GB" dirty="0"/>
              <a:t>As Sir Charlie Mayfield notes in the 2025 Keep Britain Working report, "ill-health has now become one of the biggest drivers of economic inactivity in the UK".  The well-established methods that actuaries employ for understanding and explaining the dynamics of Income Protection business can have useful applications for understanding the health of the workforce.</a:t>
            </a:r>
            <a:endParaRPr lang="de-CH" dirty="0"/>
          </a:p>
          <a:p>
            <a:pPr algn="just"/>
            <a:r>
              <a:rPr lang="en-GB" dirty="0"/>
              <a:t>A specific population health metric that is gaining more attention is </a:t>
            </a:r>
            <a:r>
              <a:rPr lang="en-GB" b="1" dirty="0"/>
              <a:t>Healthy Working Life Expectancy ('HWLE')</a:t>
            </a:r>
            <a:r>
              <a:rPr lang="en-GB" dirty="0"/>
              <a:t>.  This is an estimate of the length of time that a person will be both healthy and working and can be an indicator of the health and potential productivity of a population. It has been presented as a measure for assessing the appropriateness of increasing retirement ages and for the adequacy of national social security policy-making. It could be a useful benchmark for life and health insurers when developing new life insurance products such as disability income protection and pensions savings contracts.</a:t>
            </a:r>
            <a:endParaRPr lang="de-CH" dirty="0"/>
          </a:p>
          <a:p>
            <a:pPr algn="just"/>
            <a:r>
              <a:rPr lang="en-GB" dirty="0"/>
              <a:t>Furthermore, estimating HWLE from datasets across historic time periods is a useful statistic for measuring the trends in long-term sickness and economic inactivity within the UK national workforce population. Using life insurance data to calculate HWLE represents the first attempt to estimate HWLE for a UK population segment with administrative data, rather than survey results, and therefore is a novel approach.</a:t>
            </a:r>
            <a:endParaRPr lang="de-CH" dirty="0"/>
          </a:p>
          <a:p>
            <a:pPr algn="just"/>
            <a:r>
              <a:rPr lang="en-GB" dirty="0"/>
              <a:t>Key takeaways will include methods and results of calculating HWLE for the UK population and discussion of the advantages and disadvantages of these methods.</a:t>
            </a:r>
            <a:endParaRPr lang="de-CH" dirty="0"/>
          </a:p>
          <a:p>
            <a:endParaRPr lang="en-GB" dirty="0"/>
          </a:p>
        </p:txBody>
      </p:sp>
      <p:sp>
        <p:nvSpPr>
          <p:cNvPr id="3" name="Title 2">
            <a:extLst>
              <a:ext uri="{FF2B5EF4-FFF2-40B4-BE49-F238E27FC236}">
                <a16:creationId xmlns:a16="http://schemas.microsoft.com/office/drawing/2014/main" id="{B4868011-5128-0A69-9BED-E80AD74634FF}"/>
              </a:ext>
            </a:extLst>
          </p:cNvPr>
          <p:cNvSpPr>
            <a:spLocks noGrp="1"/>
          </p:cNvSpPr>
          <p:nvPr>
            <p:ph type="title"/>
          </p:nvPr>
        </p:nvSpPr>
        <p:spPr/>
        <p:txBody>
          <a:bodyPr/>
          <a:lstStyle/>
          <a:p>
            <a:r>
              <a:rPr lang="en-GB" dirty="0"/>
              <a:t>Healthy Workforce</a:t>
            </a:r>
          </a:p>
        </p:txBody>
      </p:sp>
      <p:sp>
        <p:nvSpPr>
          <p:cNvPr id="4" name="Content Placeholder 3">
            <a:extLst>
              <a:ext uri="{FF2B5EF4-FFF2-40B4-BE49-F238E27FC236}">
                <a16:creationId xmlns:a16="http://schemas.microsoft.com/office/drawing/2014/main" id="{18EB2E86-055E-0A41-0193-7AD2A7258949}"/>
              </a:ext>
            </a:extLst>
          </p:cNvPr>
          <p:cNvSpPr>
            <a:spLocks noGrp="1"/>
          </p:cNvSpPr>
          <p:nvPr>
            <p:ph sz="quarter" idx="25"/>
          </p:nvPr>
        </p:nvSpPr>
        <p:spPr/>
        <p:txBody>
          <a:bodyPr/>
          <a:lstStyle/>
          <a:p>
            <a:pPr marL="0" marR="0" lvl="0" indent="0" algn="just" defTabSz="1219170" rtl="0" eaLnBrk="1" fontAlgn="auto" latinLnBrk="0" hangingPunct="1">
              <a:lnSpc>
                <a:spcPct val="100000"/>
              </a:lnSpc>
              <a:spcBef>
                <a:spcPts val="1333"/>
              </a:spcBef>
              <a:spcAft>
                <a:spcPts val="0"/>
              </a:spcAft>
              <a:buClr>
                <a:srgbClr val="F6B21B"/>
              </a:buClr>
              <a:buSzTx/>
              <a:buFont typeface="Arial" panose="020B0604020202020204" pitchFamily="34" charset="0"/>
              <a:buNone/>
              <a:tabLst/>
              <a:defRPr/>
            </a:pPr>
            <a:r>
              <a:rPr lang="en-GB" sz="1600" b="1" dirty="0">
                <a:solidFill>
                  <a:srgbClr val="3F3F3F"/>
                </a:solidFill>
              </a:rPr>
              <a:t>Practical details</a:t>
            </a:r>
            <a:r>
              <a:rPr kumimoji="0" lang="en-GB" sz="1600" b="1" i="0" u="none" strike="noStrike" kern="1200" cap="none" spc="0" normalizeH="0" baseline="0" noProof="0" dirty="0">
                <a:ln>
                  <a:noFill/>
                </a:ln>
                <a:solidFill>
                  <a:srgbClr val="3F3F3F"/>
                </a:solidFill>
                <a:effectLst/>
                <a:uLnTx/>
                <a:uFillTx/>
                <a:latin typeface="Arial" panose="020B0604020202020204" pitchFamily="34" charset="0"/>
                <a:ea typeface="+mn-ea"/>
                <a:cs typeface="Arial" panose="020B0604020202020204" pitchFamily="34" charset="0"/>
              </a:rPr>
              <a:t> </a:t>
            </a:r>
          </a:p>
          <a:p>
            <a:pPr marL="0" marR="0" lvl="0" indent="0" algn="just" defTabSz="1219170" rtl="0" eaLnBrk="1" fontAlgn="auto" latinLnBrk="0" hangingPunct="1">
              <a:lnSpc>
                <a:spcPct val="100000"/>
              </a:lnSpc>
              <a:spcBef>
                <a:spcPts val="1333"/>
              </a:spcBef>
              <a:spcAft>
                <a:spcPts val="0"/>
              </a:spcAft>
              <a:buClr>
                <a:srgbClr val="F6B21B"/>
              </a:buClr>
              <a:buSzTx/>
              <a:buFont typeface="Arial" panose="020B0604020202020204" pitchFamily="34" charset="0"/>
              <a:buNone/>
              <a:tabLst/>
              <a:defRPr/>
            </a:pPr>
            <a:r>
              <a:rPr kumimoji="0" lang="en-GB" sz="1600" b="1" i="0" u="none" strike="noStrike" kern="1200" cap="none" spc="0" normalizeH="0" baseline="0" noProof="0" dirty="0">
                <a:ln>
                  <a:noFill/>
                </a:ln>
                <a:solidFill>
                  <a:srgbClr val="3F3F3F"/>
                </a:solidFill>
                <a:effectLst/>
                <a:uLnTx/>
                <a:uFillTx/>
                <a:latin typeface="Arial" panose="020B0604020202020204" pitchFamily="34" charset="0"/>
                <a:ea typeface="+mn-ea"/>
                <a:cs typeface="Arial" panose="020B0604020202020204" pitchFamily="34" charset="0"/>
              </a:rPr>
              <a:t>Presenters</a:t>
            </a:r>
            <a:r>
              <a:rPr kumimoji="0" lang="en-GB" sz="1600" b="0" i="0" u="none" strike="noStrike" kern="1200" cap="none" spc="0" normalizeH="0" baseline="0" noProof="0" dirty="0">
                <a:ln>
                  <a:noFill/>
                </a:ln>
                <a:solidFill>
                  <a:srgbClr val="3F3F3F"/>
                </a:solidFill>
                <a:effectLst/>
                <a:uLnTx/>
                <a:uFillTx/>
                <a:latin typeface="Arial" panose="020B0604020202020204" pitchFamily="34" charset="0"/>
                <a:ea typeface="+mn-ea"/>
                <a:cs typeface="Arial" panose="020B0604020202020204" pitchFamily="34" charset="0"/>
              </a:rPr>
              <a:t>: David, Chris and Jon</a:t>
            </a:r>
          </a:p>
          <a:p>
            <a:pPr algn="just"/>
            <a:r>
              <a:rPr lang="en-GB" sz="1600" b="1" dirty="0"/>
              <a:t>Date</a:t>
            </a:r>
            <a:r>
              <a:rPr lang="en-GB" sz="1600" dirty="0"/>
              <a:t>: Friday 20th November</a:t>
            </a:r>
            <a:endParaRPr lang="de-CH" sz="1600" dirty="0"/>
          </a:p>
          <a:p>
            <a:pPr algn="just"/>
            <a:r>
              <a:rPr lang="en-GB" sz="1600" b="1" dirty="0"/>
              <a:t>Time</a:t>
            </a:r>
            <a:r>
              <a:rPr lang="en-GB" sz="1600" dirty="0"/>
              <a:t>: 09.55-10.40 (Please note that the day/time of your session may be subject to change)</a:t>
            </a:r>
            <a:endParaRPr lang="de-CH" sz="1600" dirty="0"/>
          </a:p>
          <a:p>
            <a:pPr algn="just"/>
            <a:r>
              <a:rPr lang="en-GB" sz="1600" b="1" dirty="0"/>
              <a:t>Location</a:t>
            </a:r>
            <a:r>
              <a:rPr lang="en-GB" sz="1600" dirty="0"/>
              <a:t>: The ICC, 8 Centenary Square, Birmingham, B1 2EA</a:t>
            </a:r>
            <a:endParaRPr lang="de-CH" sz="1600" dirty="0"/>
          </a:p>
        </p:txBody>
      </p:sp>
      <p:sp>
        <p:nvSpPr>
          <p:cNvPr id="5" name="Footer Placeholder 4">
            <a:extLst>
              <a:ext uri="{FF2B5EF4-FFF2-40B4-BE49-F238E27FC236}">
                <a16:creationId xmlns:a16="http://schemas.microsoft.com/office/drawing/2014/main" id="{DD342D9B-E4A3-7A9C-89FA-DF8BE265F813}"/>
              </a:ext>
            </a:extLst>
          </p:cNvPr>
          <p:cNvSpPr>
            <a:spLocks noGrp="1"/>
          </p:cNvSpPr>
          <p:nvPr>
            <p:ph type="ftr" sz="quarter" idx="3"/>
          </p:nvPr>
        </p:nvSpPr>
        <p:spPr/>
        <p:txBody>
          <a:bodyPr/>
          <a:lstStyle/>
          <a:p>
            <a:r>
              <a:rPr lang="en-GB" dirty="0" err="1"/>
              <a:t>IFoA</a:t>
            </a:r>
            <a:r>
              <a:rPr lang="en-GB" dirty="0"/>
              <a:t> Life Conference</a:t>
            </a:r>
          </a:p>
        </p:txBody>
      </p:sp>
      <p:sp>
        <p:nvSpPr>
          <p:cNvPr id="6" name="Slide Number Placeholder 5">
            <a:extLst>
              <a:ext uri="{FF2B5EF4-FFF2-40B4-BE49-F238E27FC236}">
                <a16:creationId xmlns:a16="http://schemas.microsoft.com/office/drawing/2014/main" id="{345EF490-DF06-151F-4D3B-074DF9C4A979}"/>
              </a:ext>
            </a:extLst>
          </p:cNvPr>
          <p:cNvSpPr>
            <a:spLocks noGrp="1"/>
          </p:cNvSpPr>
          <p:nvPr>
            <p:ph type="sldNum" sz="quarter" idx="4"/>
          </p:nvPr>
        </p:nvSpPr>
        <p:spPr/>
        <p:txBody>
          <a:bodyPr/>
          <a:lstStyle/>
          <a:p>
            <a:fld id="{40FC62D0-A2F2-4BF8-8DAC-E86C11000EC3}" type="slidenum">
              <a:rPr lang="en-GB" smtClean="0"/>
              <a:pPr/>
              <a:t>31</a:t>
            </a:fld>
            <a:endParaRPr lang="en-GB" dirty="0"/>
          </a:p>
        </p:txBody>
      </p:sp>
      <p:sp>
        <p:nvSpPr>
          <p:cNvPr id="7" name="Text Placeholder 6">
            <a:extLst>
              <a:ext uri="{FF2B5EF4-FFF2-40B4-BE49-F238E27FC236}">
                <a16:creationId xmlns:a16="http://schemas.microsoft.com/office/drawing/2014/main" id="{9A84D811-FB65-1909-A901-B7FA820B7DAF}"/>
              </a:ext>
            </a:extLst>
          </p:cNvPr>
          <p:cNvSpPr>
            <a:spLocks noGrp="1"/>
          </p:cNvSpPr>
          <p:nvPr>
            <p:ph type="body" sz="quarter" idx="24"/>
          </p:nvPr>
        </p:nvSpPr>
        <p:spPr/>
        <p:txBody>
          <a:bodyPr/>
          <a:lstStyle/>
          <a:p>
            <a:r>
              <a:rPr lang="en-US" dirty="0"/>
              <a:t>Trends and metrics for long-term sickness and recovery rates for the UK working-age population</a:t>
            </a:r>
          </a:p>
        </p:txBody>
      </p:sp>
    </p:spTree>
    <p:extLst>
      <p:ext uri="{BB962C8B-B14F-4D97-AF65-F5344CB8AC3E}">
        <p14:creationId xmlns:p14="http://schemas.microsoft.com/office/powerpoint/2010/main" val="775176635"/>
      </p:ext>
    </p:extLst>
  </p:cSld>
  <p:clrMapOvr>
    <a:masterClrMapping/>
  </p:clrMapOvr>
  <p:extLst>
    <p:ext uri="{6950BFC3-D8DA-4A85-94F7-54DA5524770B}">
      <p188:commentRel xmlns:p188="http://schemas.microsoft.com/office/powerpoint/2018/8/main" r:id="rId2"/>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BEAD5A-5AC4-7B84-043D-715EDFC3CEBA}"/>
              </a:ext>
            </a:extLst>
          </p:cNvPr>
          <p:cNvSpPr>
            <a:spLocks noGrp="1"/>
          </p:cNvSpPr>
          <p:nvPr>
            <p:ph sz="quarter" idx="13"/>
          </p:nvPr>
        </p:nvSpPr>
        <p:spPr/>
        <p:txBody>
          <a:bodyPr>
            <a:normAutofit fontScale="85000" lnSpcReduction="20000"/>
          </a:bodyPr>
          <a:lstStyle/>
          <a:p>
            <a:r>
              <a:rPr lang="en-US" dirty="0"/>
              <a:t>For many years, the CMI used the multiple-state model shown top right, originally introduced in CMIR 12, as a basis for the modelling of Income Protection business, where H, S and D denote the Healthy, Sick, and Dead states, respectively. However, one limitation was:</a:t>
            </a:r>
          </a:p>
          <a:p>
            <a:r>
              <a:rPr lang="en-US" i="1" dirty="0"/>
              <a:t>“… the model focuses on sicknesses whereas the data supplied to the CMI instead relates to claims, and not all sicknesses result in claims. Indeed, an IP claim inception can only arise from a sickness inception if the insured life remains sick throughout the deferred period of the policy and then claims. The CMI dataset therefore does not allow observation of transitions during the deferred period between states S and H, in either direction, or from state S to state D."</a:t>
            </a:r>
          </a:p>
          <a:p>
            <a:r>
              <a:rPr lang="en-US" dirty="0"/>
              <a:t>To address this limitation, the CMI introduced a 4-state model, as shown bottom right.  In this expanded version of the multiple-state model, the Sick state, S, is split into a 'Sick-but-not-Claiming' state, 𝐶 ̅, and the 'Sick-and-Claiming' state, C.  This model may be regarded as a multiple-state model for IP claim inceptions.</a:t>
            </a:r>
          </a:p>
          <a:p>
            <a:endParaRPr lang="en-GB" dirty="0"/>
          </a:p>
        </p:txBody>
      </p:sp>
      <p:sp>
        <p:nvSpPr>
          <p:cNvPr id="3" name="Title 2">
            <a:extLst>
              <a:ext uri="{FF2B5EF4-FFF2-40B4-BE49-F238E27FC236}">
                <a16:creationId xmlns:a16="http://schemas.microsoft.com/office/drawing/2014/main" id="{FB648638-8DDD-3F8F-50FB-4BE7DDC05B5A}"/>
              </a:ext>
            </a:extLst>
          </p:cNvPr>
          <p:cNvSpPr>
            <a:spLocks noGrp="1"/>
          </p:cNvSpPr>
          <p:nvPr>
            <p:ph type="title"/>
          </p:nvPr>
        </p:nvSpPr>
        <p:spPr/>
        <p:txBody>
          <a:bodyPr/>
          <a:lstStyle/>
          <a:p>
            <a:r>
              <a:rPr lang="en-GB" dirty="0"/>
              <a:t>CMI income protection analysis</a:t>
            </a:r>
          </a:p>
        </p:txBody>
      </p:sp>
      <p:sp>
        <p:nvSpPr>
          <p:cNvPr id="4" name="Footer Placeholder 3">
            <a:extLst>
              <a:ext uri="{FF2B5EF4-FFF2-40B4-BE49-F238E27FC236}">
                <a16:creationId xmlns:a16="http://schemas.microsoft.com/office/drawing/2014/main" id="{B3679136-6086-65CF-D5F0-2138F8878425}"/>
              </a:ext>
            </a:extLst>
          </p:cNvPr>
          <p:cNvSpPr>
            <a:spLocks noGrp="1"/>
          </p:cNvSpPr>
          <p:nvPr>
            <p:ph type="ftr" sz="quarter" idx="3"/>
          </p:nvPr>
        </p:nvSpPr>
        <p:spPr/>
        <p:txBody>
          <a:bodyPr/>
          <a:lstStyle/>
          <a:p>
            <a:r>
              <a:rPr lang="en-GB" dirty="0" err="1"/>
              <a:t>IFoA</a:t>
            </a:r>
            <a:r>
              <a:rPr lang="en-GB" dirty="0"/>
              <a:t> Life Conference</a:t>
            </a:r>
          </a:p>
        </p:txBody>
      </p:sp>
      <p:sp>
        <p:nvSpPr>
          <p:cNvPr id="5" name="Slide Number Placeholder 4">
            <a:extLst>
              <a:ext uri="{FF2B5EF4-FFF2-40B4-BE49-F238E27FC236}">
                <a16:creationId xmlns:a16="http://schemas.microsoft.com/office/drawing/2014/main" id="{3C498729-D2C3-A974-B2F0-3175C3AB2B80}"/>
              </a:ext>
            </a:extLst>
          </p:cNvPr>
          <p:cNvSpPr>
            <a:spLocks noGrp="1"/>
          </p:cNvSpPr>
          <p:nvPr>
            <p:ph type="sldNum" sz="quarter" idx="4"/>
          </p:nvPr>
        </p:nvSpPr>
        <p:spPr/>
        <p:txBody>
          <a:bodyPr/>
          <a:lstStyle/>
          <a:p>
            <a:fld id="{40FC62D0-A2F2-4BF8-8DAC-E86C11000EC3}" type="slidenum">
              <a:rPr lang="en-GB" smtClean="0"/>
              <a:pPr/>
              <a:t>32</a:t>
            </a:fld>
            <a:endParaRPr lang="en-GB" dirty="0"/>
          </a:p>
        </p:txBody>
      </p:sp>
      <p:sp>
        <p:nvSpPr>
          <p:cNvPr id="8" name="Text Placeholder 7">
            <a:extLst>
              <a:ext uri="{FF2B5EF4-FFF2-40B4-BE49-F238E27FC236}">
                <a16:creationId xmlns:a16="http://schemas.microsoft.com/office/drawing/2014/main" id="{84E4D393-4B55-676E-1814-0F084821C9DE}"/>
              </a:ext>
            </a:extLst>
          </p:cNvPr>
          <p:cNvSpPr>
            <a:spLocks noGrp="1"/>
          </p:cNvSpPr>
          <p:nvPr>
            <p:ph type="body" sz="quarter" idx="24"/>
          </p:nvPr>
        </p:nvSpPr>
        <p:spPr/>
        <p:txBody>
          <a:bodyPr/>
          <a:lstStyle/>
          <a:p>
            <a:r>
              <a:rPr lang="en-GB" dirty="0"/>
              <a:t>sickness inception rates v claim inception rates</a:t>
            </a:r>
          </a:p>
        </p:txBody>
      </p:sp>
      <p:pic>
        <p:nvPicPr>
          <p:cNvPr id="9" name="Picture Placeholder 8">
            <a:extLst>
              <a:ext uri="{FF2B5EF4-FFF2-40B4-BE49-F238E27FC236}">
                <a16:creationId xmlns:a16="http://schemas.microsoft.com/office/drawing/2014/main" id="{56DE8BE9-4C9A-E92C-353A-B16C478F391D}"/>
              </a:ext>
            </a:extLst>
          </p:cNvPr>
          <p:cNvPicPr>
            <a:picLocks noGrp="1" noChangeAspect="1"/>
          </p:cNvPicPr>
          <p:nvPr>
            <p:ph type="pic" sz="quarter" idx="27"/>
          </p:nvPr>
        </p:nvPicPr>
        <p:blipFill>
          <a:blip r:embed="rId2">
            <a:extLst>
              <a:ext uri="{28A0092B-C50C-407E-A947-70E740481C1C}">
                <a14:useLocalDpi xmlns:a14="http://schemas.microsoft.com/office/drawing/2010/main" val="0"/>
              </a:ext>
            </a:extLst>
          </a:blip>
          <a:stretch>
            <a:fillRect/>
          </a:stretch>
        </p:blipFill>
        <p:spPr>
          <a:xfrm>
            <a:off x="10163331" y="381204"/>
            <a:ext cx="3764704" cy="3567304"/>
          </a:xfrm>
          <a:prstGeom prst="rect">
            <a:avLst/>
          </a:prstGeom>
          <a:ln w="12700">
            <a:solidFill>
              <a:schemeClr val="tx1"/>
            </a:solidFill>
          </a:ln>
        </p:spPr>
      </p:pic>
      <p:pic>
        <p:nvPicPr>
          <p:cNvPr id="10" name="Picture Placeholder 9">
            <a:extLst>
              <a:ext uri="{FF2B5EF4-FFF2-40B4-BE49-F238E27FC236}">
                <a16:creationId xmlns:a16="http://schemas.microsoft.com/office/drawing/2014/main" id="{DD651B9E-4B60-ED1D-2244-FEF1FA311483}"/>
              </a:ext>
            </a:extLst>
          </p:cNvPr>
          <p:cNvPicPr>
            <a:picLocks noGrp="1" noChangeAspect="1"/>
          </p:cNvPicPr>
          <p:nvPr>
            <p:ph type="pic" sz="quarter" idx="28"/>
          </p:nvPr>
        </p:nvPicPr>
        <p:blipFill>
          <a:blip r:embed="rId3">
            <a:extLst>
              <a:ext uri="{28A0092B-C50C-407E-A947-70E740481C1C}">
                <a14:useLocalDpi xmlns:a14="http://schemas.microsoft.com/office/drawing/2010/main" val="0"/>
              </a:ext>
            </a:extLst>
          </a:blip>
          <a:stretch>
            <a:fillRect/>
          </a:stretch>
        </p:blipFill>
        <p:spPr>
          <a:xfrm>
            <a:off x="10163331" y="4120979"/>
            <a:ext cx="5765066" cy="3588849"/>
          </a:xfrm>
          <a:prstGeom prst="rect">
            <a:avLst/>
          </a:prstGeom>
          <a:ln w="12700">
            <a:solidFill>
              <a:schemeClr val="tx1"/>
            </a:solidFill>
          </a:ln>
        </p:spPr>
      </p:pic>
    </p:spTree>
    <p:extLst>
      <p:ext uri="{BB962C8B-B14F-4D97-AF65-F5344CB8AC3E}">
        <p14:creationId xmlns:p14="http://schemas.microsoft.com/office/powerpoint/2010/main" val="22575114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50DC7B15-3F52-15B0-9E9D-8C9367CBA168}"/>
              </a:ext>
            </a:extLst>
          </p:cNvPr>
          <p:cNvGraphicFramePr>
            <a:graphicFrameLocks noGrp="1"/>
          </p:cNvGraphicFramePr>
          <p:nvPr>
            <p:ph sz="quarter" idx="25"/>
            <p:extLst>
              <p:ext uri="{D42A27DB-BD31-4B8C-83A1-F6EECF244321}">
                <p14:modId xmlns:p14="http://schemas.microsoft.com/office/powerpoint/2010/main" val="3192881896"/>
              </p:ext>
            </p:extLst>
          </p:nvPr>
        </p:nvGraphicFramePr>
        <p:xfrm>
          <a:off x="1104899" y="2268537"/>
          <a:ext cx="14033499" cy="5307919"/>
        </p:xfrm>
        <a:graphic>
          <a:graphicData uri="http://schemas.openxmlformats.org/drawingml/2006/table">
            <a:tbl>
              <a:tblPr firstRow="1" bandRow="1">
                <a:tableStyleId>{5C22544A-7EE6-4342-B048-85BDC9FD1C3A}</a:tableStyleId>
              </a:tblPr>
              <a:tblGrid>
                <a:gridCol w="2910492">
                  <a:extLst>
                    <a:ext uri="{9D8B030D-6E8A-4147-A177-3AD203B41FA5}">
                      <a16:colId xmlns:a16="http://schemas.microsoft.com/office/drawing/2014/main" val="1566810129"/>
                    </a:ext>
                  </a:extLst>
                </a:gridCol>
                <a:gridCol w="5926895">
                  <a:extLst>
                    <a:ext uri="{9D8B030D-6E8A-4147-A177-3AD203B41FA5}">
                      <a16:colId xmlns:a16="http://schemas.microsoft.com/office/drawing/2014/main" val="279905860"/>
                    </a:ext>
                  </a:extLst>
                </a:gridCol>
                <a:gridCol w="5196112">
                  <a:extLst>
                    <a:ext uri="{9D8B030D-6E8A-4147-A177-3AD203B41FA5}">
                      <a16:colId xmlns:a16="http://schemas.microsoft.com/office/drawing/2014/main" val="789133068"/>
                    </a:ext>
                  </a:extLst>
                </a:gridCol>
              </a:tblGrid>
              <a:tr h="579857">
                <a:tc>
                  <a:txBody>
                    <a:bodyPr/>
                    <a:lstStyle/>
                    <a:p>
                      <a:r>
                        <a:rPr lang="en-GB" sz="2000" dirty="0"/>
                        <a:t>Study</a:t>
                      </a:r>
                    </a:p>
                  </a:txBody>
                  <a:tcPr/>
                </a:tc>
                <a:tc>
                  <a:txBody>
                    <a:bodyPr/>
                    <a:lstStyle/>
                    <a:p>
                      <a:r>
                        <a:rPr lang="en-US" sz="2000" dirty="0"/>
                        <a:t>Definition of Healthy or Not-Healthy</a:t>
                      </a:r>
                      <a:endParaRPr lang="en-GB" sz="2000" dirty="0"/>
                    </a:p>
                  </a:txBody>
                  <a:tcPr/>
                </a:tc>
                <a:tc>
                  <a:txBody>
                    <a:bodyPr/>
                    <a:lstStyle/>
                    <a:p>
                      <a:r>
                        <a:rPr lang="en-US" sz="2000" dirty="0"/>
                        <a:t>Definition of Working or Not-Working</a:t>
                      </a:r>
                      <a:endParaRPr lang="en-GB" sz="2000" dirty="0"/>
                    </a:p>
                  </a:txBody>
                  <a:tcPr/>
                </a:tc>
                <a:extLst>
                  <a:ext uri="{0D108BD9-81ED-4DB2-BD59-A6C34878D82A}">
                    <a16:rowId xmlns:a16="http://schemas.microsoft.com/office/drawing/2014/main" val="2606657457"/>
                  </a:ext>
                </a:extLst>
              </a:tr>
              <a:tr h="2364031">
                <a:tc>
                  <a:txBody>
                    <a:bodyPr/>
                    <a:lstStyle/>
                    <a:p>
                      <a:r>
                        <a:rPr lang="da-DK" sz="2000" dirty="0" err="1"/>
                        <a:t>Survey</a:t>
                      </a:r>
                      <a:r>
                        <a:rPr lang="da-DK" sz="2000" dirty="0"/>
                        <a:t> data </a:t>
                      </a:r>
                      <a:r>
                        <a:rPr lang="da-DK" sz="2000" dirty="0" err="1"/>
                        <a:t>examples</a:t>
                      </a:r>
                      <a:r>
                        <a:rPr lang="da-DK" sz="2000" dirty="0"/>
                        <a:t>:</a:t>
                      </a:r>
                    </a:p>
                    <a:p>
                      <a:endParaRPr lang="da-DK" sz="2000" dirty="0"/>
                    </a:p>
                    <a:p>
                      <a:r>
                        <a:rPr lang="da-DK" sz="2000" dirty="0"/>
                        <a:t>Lynch et al., 2024</a:t>
                      </a:r>
                    </a:p>
                    <a:p>
                      <a:r>
                        <a:rPr lang="da-DK" sz="2000" dirty="0"/>
                        <a:t>And</a:t>
                      </a:r>
                    </a:p>
                    <a:p>
                      <a:r>
                        <a:rPr lang="da-DK" sz="2000" dirty="0"/>
                        <a:t>Parker et al., 2020b</a:t>
                      </a:r>
                    </a:p>
                    <a:p>
                      <a:r>
                        <a:rPr lang="da-DK" sz="2000" dirty="0"/>
                        <a:t>(England)</a:t>
                      </a:r>
                    </a:p>
                  </a:txBody>
                  <a:tcPr/>
                </a:tc>
                <a:tc>
                  <a:txBody>
                    <a:bodyPr/>
                    <a:lstStyle/>
                    <a:p>
                      <a:r>
                        <a:rPr lang="en-US" sz="2000" dirty="0"/>
                        <a:t>Self-reported responses to these 2 questions: </a:t>
                      </a:r>
                    </a:p>
                    <a:p>
                      <a:pPr marL="342900" indent="-342900">
                        <a:buFont typeface="Arial" panose="020B0604020202020204" pitchFamily="34" charset="0"/>
                        <a:buChar char="•"/>
                      </a:pPr>
                      <a:r>
                        <a:rPr lang="en-US" sz="2000" dirty="0"/>
                        <a:t>"Do you have any long-standing illness, disability or infirmity?" </a:t>
                      </a:r>
                    </a:p>
                    <a:p>
                      <a:pPr marL="342900" indent="-342900">
                        <a:buFont typeface="Arial" panose="020B0604020202020204" pitchFamily="34" charset="0"/>
                        <a:buChar char="•"/>
                      </a:pPr>
                      <a:r>
                        <a:rPr lang="en-US" sz="2000" dirty="0"/>
                        <a:t>"Do these illnesses or disabilities limit your activities in any way?"</a:t>
                      </a:r>
                      <a:endParaRPr lang="en-GB" sz="2000" dirty="0"/>
                    </a:p>
                  </a:txBody>
                  <a:tcPr/>
                </a:tc>
                <a:tc>
                  <a:txBody>
                    <a:bodyPr/>
                    <a:lstStyle/>
                    <a:p>
                      <a:r>
                        <a:rPr lang="en-US" sz="2000" dirty="0"/>
                        <a:t>Work status self-reported in the ELSA survey as participation in paid work or self-employment within the month preceding the ELSA interview, or not.</a:t>
                      </a:r>
                      <a:endParaRPr lang="en-GB" sz="2000" dirty="0"/>
                    </a:p>
                  </a:txBody>
                  <a:tcPr/>
                </a:tc>
                <a:extLst>
                  <a:ext uri="{0D108BD9-81ED-4DB2-BD59-A6C34878D82A}">
                    <a16:rowId xmlns:a16="http://schemas.microsoft.com/office/drawing/2014/main" val="2704791977"/>
                  </a:ext>
                </a:extLst>
              </a:tr>
              <a:tr h="2364031">
                <a:tc>
                  <a:txBody>
                    <a:bodyPr/>
                    <a:lstStyle/>
                    <a:p>
                      <a:r>
                        <a:rPr lang="en-GB" sz="2000" dirty="0"/>
                        <a:t>Administrative </a:t>
                      </a:r>
                      <a:r>
                        <a:rPr lang="da-DK" sz="2000" dirty="0"/>
                        <a:t>data </a:t>
                      </a:r>
                      <a:r>
                        <a:rPr lang="da-DK" sz="2000" dirty="0" err="1"/>
                        <a:t>examples</a:t>
                      </a:r>
                      <a:r>
                        <a:rPr lang="da-DK" sz="2000" dirty="0"/>
                        <a:t>:</a:t>
                      </a:r>
                    </a:p>
                    <a:p>
                      <a:endParaRPr lang="en-GB" sz="2000" dirty="0"/>
                    </a:p>
                    <a:p>
                      <a:r>
                        <a:rPr lang="en-GB" sz="2000" dirty="0"/>
                        <a:t>CMI IP11 (UK)</a:t>
                      </a:r>
                    </a:p>
                  </a:txBody>
                  <a:tcPr/>
                </a:tc>
                <a:tc gridSpan="2">
                  <a:txBody>
                    <a:bodyPr/>
                    <a:lstStyle/>
                    <a:p>
                      <a:r>
                        <a:rPr lang="en-US" sz="2000" dirty="0"/>
                        <a:t>A person insured within an income protection scheme and actively working (i.e. not claiming benefits under the scheme) or not. People who are receiving benefits are 'Not-Healthy' and 'Not-Working' as per the claim trigger definitions within their insurance policy. People who are not receiving benefits are 'Working' but details of their health status are not complete so cannot for sure be described as 'Healthy'.</a:t>
                      </a:r>
                      <a:endParaRPr lang="en-GB" sz="2000" dirty="0"/>
                    </a:p>
                  </a:txBody>
                  <a:tcPr/>
                </a:tc>
                <a:tc hMerge="1">
                  <a:txBody>
                    <a:bodyPr/>
                    <a:lstStyle/>
                    <a:p>
                      <a:endParaRPr lang="en-GB" sz="2000" dirty="0"/>
                    </a:p>
                  </a:txBody>
                  <a:tcPr/>
                </a:tc>
                <a:extLst>
                  <a:ext uri="{0D108BD9-81ED-4DB2-BD59-A6C34878D82A}">
                    <a16:rowId xmlns:a16="http://schemas.microsoft.com/office/drawing/2014/main" val="2029032977"/>
                  </a:ext>
                </a:extLst>
              </a:tr>
            </a:tbl>
          </a:graphicData>
        </a:graphic>
      </p:graphicFrame>
      <p:sp>
        <p:nvSpPr>
          <p:cNvPr id="4" name="Footer Placeholder 3">
            <a:extLst>
              <a:ext uri="{FF2B5EF4-FFF2-40B4-BE49-F238E27FC236}">
                <a16:creationId xmlns:a16="http://schemas.microsoft.com/office/drawing/2014/main" id="{40C181D4-4851-B5D1-40B9-D5E238D07DCE}"/>
              </a:ext>
            </a:extLst>
          </p:cNvPr>
          <p:cNvSpPr>
            <a:spLocks noGrp="1"/>
          </p:cNvSpPr>
          <p:nvPr>
            <p:ph type="ftr" sz="quarter" idx="3"/>
          </p:nvPr>
        </p:nvSpPr>
        <p:spPr/>
        <p:txBody>
          <a:bodyPr/>
          <a:lstStyle/>
          <a:p>
            <a:r>
              <a:rPr lang="en-GB"/>
              <a:t>IFoA Life Conference</a:t>
            </a:r>
            <a:endParaRPr lang="en-GB" dirty="0"/>
          </a:p>
        </p:txBody>
      </p:sp>
      <p:sp>
        <p:nvSpPr>
          <p:cNvPr id="5" name="Slide Number Placeholder 4">
            <a:extLst>
              <a:ext uri="{FF2B5EF4-FFF2-40B4-BE49-F238E27FC236}">
                <a16:creationId xmlns:a16="http://schemas.microsoft.com/office/drawing/2014/main" id="{1A4EBC57-F975-B1B4-2A11-EBB4308D01EF}"/>
              </a:ext>
            </a:extLst>
          </p:cNvPr>
          <p:cNvSpPr>
            <a:spLocks noGrp="1"/>
          </p:cNvSpPr>
          <p:nvPr>
            <p:ph type="sldNum" sz="quarter" idx="4"/>
          </p:nvPr>
        </p:nvSpPr>
        <p:spPr/>
        <p:txBody>
          <a:bodyPr/>
          <a:lstStyle/>
          <a:p>
            <a:fld id="{40FC62D0-A2F2-4BF8-8DAC-E86C11000EC3}" type="slidenum">
              <a:rPr lang="en-GB" smtClean="0"/>
              <a:pPr/>
              <a:t>33</a:t>
            </a:fld>
            <a:endParaRPr lang="en-GB" dirty="0"/>
          </a:p>
        </p:txBody>
      </p:sp>
      <p:sp>
        <p:nvSpPr>
          <p:cNvPr id="6" name="Text Placeholder 5">
            <a:extLst>
              <a:ext uri="{FF2B5EF4-FFF2-40B4-BE49-F238E27FC236}">
                <a16:creationId xmlns:a16="http://schemas.microsoft.com/office/drawing/2014/main" id="{F207AA4F-9769-F5F8-5032-984DB43A4FE6}"/>
              </a:ext>
            </a:extLst>
          </p:cNvPr>
          <p:cNvSpPr>
            <a:spLocks noGrp="1"/>
          </p:cNvSpPr>
          <p:nvPr>
            <p:ph type="body" sz="quarter" idx="24"/>
          </p:nvPr>
        </p:nvSpPr>
        <p:spPr/>
        <p:txBody>
          <a:bodyPr/>
          <a:lstStyle/>
          <a:p>
            <a:r>
              <a:rPr lang="en-GB" dirty="0"/>
              <a:t>Survey data versus administrative life insurance data</a:t>
            </a:r>
          </a:p>
        </p:txBody>
      </p:sp>
      <p:sp>
        <p:nvSpPr>
          <p:cNvPr id="7" name="Title 6">
            <a:extLst>
              <a:ext uri="{FF2B5EF4-FFF2-40B4-BE49-F238E27FC236}">
                <a16:creationId xmlns:a16="http://schemas.microsoft.com/office/drawing/2014/main" id="{CADB976C-F52A-7AA2-A89B-87811762488D}"/>
              </a:ext>
            </a:extLst>
          </p:cNvPr>
          <p:cNvSpPr>
            <a:spLocks noGrp="1"/>
          </p:cNvSpPr>
          <p:nvPr>
            <p:ph type="title"/>
          </p:nvPr>
        </p:nvSpPr>
        <p:spPr/>
        <p:txBody>
          <a:bodyPr/>
          <a:lstStyle/>
          <a:p>
            <a:r>
              <a:rPr lang="en-GB" dirty="0"/>
              <a:t>Definitions of ‘healthy’ and ‘working’ states</a:t>
            </a:r>
          </a:p>
        </p:txBody>
      </p:sp>
    </p:spTree>
    <p:extLst>
      <p:ext uri="{BB962C8B-B14F-4D97-AF65-F5344CB8AC3E}">
        <p14:creationId xmlns:p14="http://schemas.microsoft.com/office/powerpoint/2010/main" val="40427230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205B4-D126-0175-4960-572048E953A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B86D449C-6DFA-E018-68BC-EE86F8E900E8}"/>
              </a:ext>
            </a:extLst>
          </p:cNvPr>
          <p:cNvSpPr>
            <a:spLocks noGrp="1"/>
          </p:cNvSpPr>
          <p:nvPr>
            <p:ph type="ftr" sz="quarter" idx="3"/>
          </p:nvPr>
        </p:nvSpPr>
        <p:spPr/>
        <p:txBody>
          <a:bodyPr/>
          <a:lstStyle/>
          <a:p>
            <a:r>
              <a:rPr lang="en-GB"/>
              <a:t>IFoA Life Conference</a:t>
            </a:r>
            <a:endParaRPr lang="en-GB" dirty="0"/>
          </a:p>
        </p:txBody>
      </p:sp>
      <p:sp>
        <p:nvSpPr>
          <p:cNvPr id="5" name="Slide Number Placeholder 4">
            <a:extLst>
              <a:ext uri="{FF2B5EF4-FFF2-40B4-BE49-F238E27FC236}">
                <a16:creationId xmlns:a16="http://schemas.microsoft.com/office/drawing/2014/main" id="{153FD1BC-42EC-D085-B5EE-92A88CD4ECDC}"/>
              </a:ext>
            </a:extLst>
          </p:cNvPr>
          <p:cNvSpPr>
            <a:spLocks noGrp="1"/>
          </p:cNvSpPr>
          <p:nvPr>
            <p:ph type="sldNum" sz="quarter" idx="4"/>
          </p:nvPr>
        </p:nvSpPr>
        <p:spPr/>
        <p:txBody>
          <a:bodyPr/>
          <a:lstStyle/>
          <a:p>
            <a:fld id="{40FC62D0-A2F2-4BF8-8DAC-E86C11000EC3}" type="slidenum">
              <a:rPr lang="en-GB" smtClean="0"/>
              <a:pPr/>
              <a:t>34</a:t>
            </a:fld>
            <a:endParaRPr lang="en-GB" dirty="0"/>
          </a:p>
        </p:txBody>
      </p:sp>
      <p:sp>
        <p:nvSpPr>
          <p:cNvPr id="6" name="Text Placeholder 5">
            <a:extLst>
              <a:ext uri="{FF2B5EF4-FFF2-40B4-BE49-F238E27FC236}">
                <a16:creationId xmlns:a16="http://schemas.microsoft.com/office/drawing/2014/main" id="{152BEE39-B5EA-0EB5-A7B0-7258CB62F4A3}"/>
              </a:ext>
            </a:extLst>
          </p:cNvPr>
          <p:cNvSpPr>
            <a:spLocks noGrp="1"/>
          </p:cNvSpPr>
          <p:nvPr>
            <p:ph type="body" sz="quarter" idx="24"/>
          </p:nvPr>
        </p:nvSpPr>
        <p:spPr/>
        <p:txBody>
          <a:bodyPr/>
          <a:lstStyle/>
          <a:p>
            <a:r>
              <a:rPr lang="en-GB" dirty="0"/>
              <a:t>Definitions used in the CMI Income Protection investigations</a:t>
            </a:r>
          </a:p>
        </p:txBody>
      </p:sp>
      <p:sp>
        <p:nvSpPr>
          <p:cNvPr id="7" name="Title 6">
            <a:extLst>
              <a:ext uri="{FF2B5EF4-FFF2-40B4-BE49-F238E27FC236}">
                <a16:creationId xmlns:a16="http://schemas.microsoft.com/office/drawing/2014/main" id="{D0340623-8DE0-BF44-B93F-382FCC7B0F43}"/>
              </a:ext>
            </a:extLst>
          </p:cNvPr>
          <p:cNvSpPr>
            <a:spLocks noGrp="1"/>
          </p:cNvSpPr>
          <p:nvPr>
            <p:ph type="title"/>
          </p:nvPr>
        </p:nvSpPr>
        <p:spPr/>
        <p:txBody>
          <a:bodyPr/>
          <a:lstStyle/>
          <a:p>
            <a:r>
              <a:rPr lang="en-GB" dirty="0"/>
              <a:t>CMI occupation classes</a:t>
            </a:r>
          </a:p>
        </p:txBody>
      </p:sp>
      <p:graphicFrame>
        <p:nvGraphicFramePr>
          <p:cNvPr id="10" name="Content Placeholder 9">
            <a:extLst>
              <a:ext uri="{FF2B5EF4-FFF2-40B4-BE49-F238E27FC236}">
                <a16:creationId xmlns:a16="http://schemas.microsoft.com/office/drawing/2014/main" id="{EF7646E9-0E96-C4C4-A067-F9D3868933DC}"/>
              </a:ext>
            </a:extLst>
          </p:cNvPr>
          <p:cNvGraphicFramePr>
            <a:graphicFrameLocks noGrp="1"/>
          </p:cNvGraphicFramePr>
          <p:nvPr>
            <p:ph sz="quarter" idx="25"/>
            <p:extLst>
              <p:ext uri="{D42A27DB-BD31-4B8C-83A1-F6EECF244321}">
                <p14:modId xmlns:p14="http://schemas.microsoft.com/office/powerpoint/2010/main" val="2548937385"/>
              </p:ext>
            </p:extLst>
          </p:nvPr>
        </p:nvGraphicFramePr>
        <p:xfrm>
          <a:off x="1117600" y="2336800"/>
          <a:ext cx="11645900" cy="4345328"/>
        </p:xfrm>
        <a:graphic>
          <a:graphicData uri="http://schemas.openxmlformats.org/drawingml/2006/table">
            <a:tbl>
              <a:tblPr firstRow="1" firstCol="1" bandRow="1">
                <a:tableStyleId>{5C22544A-7EE6-4342-B048-85BDC9FD1C3A}</a:tableStyleId>
              </a:tblPr>
              <a:tblGrid>
                <a:gridCol w="1600200">
                  <a:extLst>
                    <a:ext uri="{9D8B030D-6E8A-4147-A177-3AD203B41FA5}">
                      <a16:colId xmlns:a16="http://schemas.microsoft.com/office/drawing/2014/main" val="2215928981"/>
                    </a:ext>
                  </a:extLst>
                </a:gridCol>
                <a:gridCol w="10045700">
                  <a:extLst>
                    <a:ext uri="{9D8B030D-6E8A-4147-A177-3AD203B41FA5}">
                      <a16:colId xmlns:a16="http://schemas.microsoft.com/office/drawing/2014/main" val="3659204429"/>
                    </a:ext>
                  </a:extLst>
                </a:gridCol>
              </a:tblGrid>
              <a:tr h="1161202">
                <a:tc>
                  <a:txBody>
                    <a:bodyPr/>
                    <a:lstStyle/>
                    <a:p>
                      <a:pPr algn="just">
                        <a:lnSpc>
                          <a:spcPct val="115000"/>
                        </a:lnSpc>
                        <a:spcAft>
                          <a:spcPts val="1000"/>
                        </a:spcAft>
                        <a:buNone/>
                      </a:pPr>
                      <a:r>
                        <a:rPr lang="en-GB" sz="2000" dirty="0">
                          <a:effectLst/>
                        </a:rPr>
                        <a:t>Occupation Class</a:t>
                      </a:r>
                      <a:endParaRPr lang="de-CH"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buNone/>
                      </a:pPr>
                      <a:r>
                        <a:rPr lang="en-GB" sz="2000" dirty="0">
                          <a:effectLst/>
                        </a:rPr>
                        <a:t>Description</a:t>
                      </a:r>
                      <a:endParaRPr lang="de-CH"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68678485"/>
                  </a:ext>
                </a:extLst>
              </a:tr>
              <a:tr h="845398">
                <a:tc>
                  <a:txBody>
                    <a:bodyPr/>
                    <a:lstStyle/>
                    <a:p>
                      <a:pPr algn="just">
                        <a:lnSpc>
                          <a:spcPct val="115000"/>
                        </a:lnSpc>
                        <a:spcAft>
                          <a:spcPts val="1000"/>
                        </a:spcAft>
                        <a:buNone/>
                      </a:pPr>
                      <a:r>
                        <a:rPr lang="en-GB" sz="2000">
                          <a:effectLst/>
                        </a:rPr>
                        <a:t>OC1</a:t>
                      </a:r>
                      <a:endParaRPr lang="de-CH"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buNone/>
                      </a:pPr>
                      <a:r>
                        <a:rPr lang="en-GB" sz="2000" dirty="0">
                          <a:effectLst/>
                        </a:rPr>
                        <a:t>Professional, managerial, executive, administrative and clerical classes not engaged in manual labour</a:t>
                      </a:r>
                      <a:endParaRPr lang="de-CH"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72802319"/>
                  </a:ext>
                </a:extLst>
              </a:tr>
              <a:tr h="765631">
                <a:tc>
                  <a:txBody>
                    <a:bodyPr/>
                    <a:lstStyle/>
                    <a:p>
                      <a:pPr algn="just">
                        <a:lnSpc>
                          <a:spcPct val="115000"/>
                        </a:lnSpc>
                        <a:spcAft>
                          <a:spcPts val="1000"/>
                        </a:spcAft>
                        <a:buNone/>
                      </a:pPr>
                      <a:r>
                        <a:rPr lang="en-GB" sz="2000">
                          <a:effectLst/>
                        </a:rPr>
                        <a:t>OC2</a:t>
                      </a:r>
                      <a:endParaRPr lang="de-CH"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buNone/>
                      </a:pPr>
                      <a:r>
                        <a:rPr lang="en-GB" sz="2000" dirty="0">
                          <a:effectLst/>
                        </a:rPr>
                        <a:t>Master craftsmen and tradesmen engaged in management and supervision; skilled operatives engaged in light manual work in non-hazardous occupations</a:t>
                      </a:r>
                      <a:endParaRPr lang="de-CH"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84163794"/>
                  </a:ext>
                </a:extLst>
              </a:tr>
              <a:tr h="370059">
                <a:tc>
                  <a:txBody>
                    <a:bodyPr/>
                    <a:lstStyle/>
                    <a:p>
                      <a:pPr algn="just">
                        <a:lnSpc>
                          <a:spcPct val="115000"/>
                        </a:lnSpc>
                        <a:spcAft>
                          <a:spcPts val="1000"/>
                        </a:spcAft>
                        <a:buNone/>
                      </a:pPr>
                      <a:r>
                        <a:rPr lang="en-GB" sz="2000">
                          <a:effectLst/>
                        </a:rPr>
                        <a:t>OC3</a:t>
                      </a:r>
                      <a:endParaRPr lang="de-CH"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buNone/>
                      </a:pPr>
                      <a:r>
                        <a:rPr lang="en-GB" sz="2000" dirty="0">
                          <a:effectLst/>
                        </a:rPr>
                        <a:t>Skilled operatives engaged in manual work in non-hazardous occupations</a:t>
                      </a:r>
                    </a:p>
                    <a:p>
                      <a:pPr algn="just">
                        <a:lnSpc>
                          <a:spcPct val="115000"/>
                        </a:lnSpc>
                        <a:spcAft>
                          <a:spcPts val="1000"/>
                        </a:spcAft>
                        <a:buNone/>
                      </a:pPr>
                      <a:endParaRPr lang="de-CH"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27682877"/>
                  </a:ext>
                </a:extLst>
              </a:tr>
              <a:tr h="765631">
                <a:tc>
                  <a:txBody>
                    <a:bodyPr/>
                    <a:lstStyle/>
                    <a:p>
                      <a:pPr algn="just">
                        <a:lnSpc>
                          <a:spcPct val="115000"/>
                        </a:lnSpc>
                        <a:spcAft>
                          <a:spcPts val="1000"/>
                        </a:spcAft>
                        <a:buNone/>
                      </a:pPr>
                      <a:r>
                        <a:rPr lang="en-GB" sz="2000">
                          <a:effectLst/>
                        </a:rPr>
                        <a:t>OC4</a:t>
                      </a:r>
                      <a:endParaRPr lang="de-CH"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buNone/>
                      </a:pPr>
                      <a:r>
                        <a:rPr lang="en-GB" sz="2000" dirty="0">
                          <a:effectLst/>
                        </a:rPr>
                        <a:t>Skilled and semi-skilled operatives engaged in heavy manual work or subject to special hazard</a:t>
                      </a:r>
                      <a:endParaRPr lang="de-CH"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8334798"/>
                  </a:ext>
                </a:extLst>
              </a:tr>
            </a:tbl>
          </a:graphicData>
        </a:graphic>
      </p:graphicFrame>
      <p:sp>
        <p:nvSpPr>
          <p:cNvPr id="11" name="TextBox 10">
            <a:extLst>
              <a:ext uri="{FF2B5EF4-FFF2-40B4-BE49-F238E27FC236}">
                <a16:creationId xmlns:a16="http://schemas.microsoft.com/office/drawing/2014/main" id="{3494D957-309D-B8CE-4096-4DC869E35F4F}"/>
              </a:ext>
            </a:extLst>
          </p:cNvPr>
          <p:cNvSpPr txBox="1"/>
          <p:nvPr/>
        </p:nvSpPr>
        <p:spPr>
          <a:xfrm>
            <a:off x="1117600" y="7559885"/>
            <a:ext cx="8902700" cy="369332"/>
          </a:xfrm>
          <a:prstGeom prst="rect">
            <a:avLst/>
          </a:prstGeom>
          <a:noFill/>
        </p:spPr>
        <p:txBody>
          <a:bodyPr wrap="square" rtlCol="0">
            <a:spAutoFit/>
          </a:bodyPr>
          <a:lstStyle/>
          <a:p>
            <a:r>
              <a:rPr lang="en-US" dirty="0"/>
              <a:t>Source: CMI IP Occupation Class Descriptions (</a:t>
            </a:r>
            <a:r>
              <a:rPr lang="en-US" dirty="0" err="1"/>
              <a:t>IFoA</a:t>
            </a:r>
            <a:r>
              <a:rPr lang="en-US" dirty="0"/>
              <a:t> CMI Working Paper 59, 2012)</a:t>
            </a:r>
            <a:endParaRPr lang="en-GB" dirty="0"/>
          </a:p>
        </p:txBody>
      </p:sp>
    </p:spTree>
    <p:extLst>
      <p:ext uri="{BB962C8B-B14F-4D97-AF65-F5344CB8AC3E}">
        <p14:creationId xmlns:p14="http://schemas.microsoft.com/office/powerpoint/2010/main" val="33364408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8CF54-8BDD-8869-5CB5-D74F7BB5D6B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008C8CE-1DCB-5ED4-4743-9E92F7FAA151}"/>
              </a:ext>
            </a:extLst>
          </p:cNvPr>
          <p:cNvSpPr>
            <a:spLocks noGrp="1"/>
          </p:cNvSpPr>
          <p:nvPr>
            <p:ph type="title"/>
          </p:nvPr>
        </p:nvSpPr>
        <p:spPr/>
        <p:txBody>
          <a:bodyPr/>
          <a:lstStyle/>
          <a:p>
            <a:r>
              <a:rPr lang="en-GB" dirty="0"/>
              <a:t>HWLE estimates: CMI occupation classes</a:t>
            </a:r>
          </a:p>
        </p:txBody>
      </p:sp>
      <p:sp>
        <p:nvSpPr>
          <p:cNvPr id="5" name="Footer Placeholder 4">
            <a:extLst>
              <a:ext uri="{FF2B5EF4-FFF2-40B4-BE49-F238E27FC236}">
                <a16:creationId xmlns:a16="http://schemas.microsoft.com/office/drawing/2014/main" id="{2C066138-4A1D-40FD-522F-32C2BF035FE5}"/>
              </a:ext>
            </a:extLst>
          </p:cNvPr>
          <p:cNvSpPr>
            <a:spLocks noGrp="1"/>
          </p:cNvSpPr>
          <p:nvPr>
            <p:ph type="ftr" sz="quarter" idx="3"/>
          </p:nvPr>
        </p:nvSpPr>
        <p:spPr/>
        <p:txBody>
          <a:bodyPr/>
          <a:lstStyle/>
          <a:p>
            <a:r>
              <a:rPr lang="en-GB" dirty="0" err="1"/>
              <a:t>IFoA</a:t>
            </a:r>
            <a:r>
              <a:rPr lang="en-GB" dirty="0"/>
              <a:t> Life Conference</a:t>
            </a:r>
          </a:p>
        </p:txBody>
      </p:sp>
      <p:sp>
        <p:nvSpPr>
          <p:cNvPr id="6" name="Slide Number Placeholder 5">
            <a:extLst>
              <a:ext uri="{FF2B5EF4-FFF2-40B4-BE49-F238E27FC236}">
                <a16:creationId xmlns:a16="http://schemas.microsoft.com/office/drawing/2014/main" id="{B095A558-F69F-2685-BFB7-5CA1FECE5B6D}"/>
              </a:ext>
            </a:extLst>
          </p:cNvPr>
          <p:cNvSpPr>
            <a:spLocks noGrp="1"/>
          </p:cNvSpPr>
          <p:nvPr>
            <p:ph type="sldNum" sz="quarter" idx="4"/>
          </p:nvPr>
        </p:nvSpPr>
        <p:spPr/>
        <p:txBody>
          <a:bodyPr/>
          <a:lstStyle/>
          <a:p>
            <a:fld id="{40FC62D0-A2F2-4BF8-8DAC-E86C11000EC3}" type="slidenum">
              <a:rPr lang="en-GB" smtClean="0"/>
              <a:pPr/>
              <a:t>35</a:t>
            </a:fld>
            <a:endParaRPr lang="en-GB" dirty="0"/>
          </a:p>
        </p:txBody>
      </p:sp>
      <p:sp>
        <p:nvSpPr>
          <p:cNvPr id="7" name="Text Placeholder 6">
            <a:extLst>
              <a:ext uri="{FF2B5EF4-FFF2-40B4-BE49-F238E27FC236}">
                <a16:creationId xmlns:a16="http://schemas.microsoft.com/office/drawing/2014/main" id="{A0F88B37-4748-CE7B-8372-0D66F8EC1078}"/>
              </a:ext>
            </a:extLst>
          </p:cNvPr>
          <p:cNvSpPr>
            <a:spLocks noGrp="1"/>
          </p:cNvSpPr>
          <p:nvPr>
            <p:ph type="body" sz="quarter" idx="24"/>
          </p:nvPr>
        </p:nvSpPr>
        <p:spPr/>
        <p:txBody>
          <a:bodyPr/>
          <a:lstStyle/>
          <a:p>
            <a:r>
              <a:rPr lang="en-GB" dirty="0"/>
              <a:t>Examples to age 65 for the CMI Occupation Classes for starting age 50</a:t>
            </a:r>
          </a:p>
        </p:txBody>
      </p:sp>
      <p:graphicFrame>
        <p:nvGraphicFramePr>
          <p:cNvPr id="11" name="Content Placeholder 10">
            <a:extLst>
              <a:ext uri="{FF2B5EF4-FFF2-40B4-BE49-F238E27FC236}">
                <a16:creationId xmlns:a16="http://schemas.microsoft.com/office/drawing/2014/main" id="{B9DD00AF-5E54-DB71-61FE-7DB22059D51E}"/>
              </a:ext>
            </a:extLst>
          </p:cNvPr>
          <p:cNvGraphicFramePr>
            <a:graphicFrameLocks noGrp="1"/>
          </p:cNvGraphicFramePr>
          <p:nvPr>
            <p:ph sz="quarter" idx="13"/>
            <p:extLst>
              <p:ext uri="{D42A27DB-BD31-4B8C-83A1-F6EECF244321}">
                <p14:modId xmlns:p14="http://schemas.microsoft.com/office/powerpoint/2010/main" val="3409773907"/>
              </p:ext>
            </p:extLst>
          </p:nvPr>
        </p:nvGraphicFramePr>
        <p:xfrm>
          <a:off x="1104900" y="2268538"/>
          <a:ext cx="6896100" cy="2216023"/>
        </p:xfrm>
        <a:graphic>
          <a:graphicData uri="http://schemas.openxmlformats.org/drawingml/2006/table">
            <a:tbl>
              <a:tblPr firstRow="1" bandRow="1">
                <a:tableStyleId>{5C22544A-7EE6-4342-B048-85BDC9FD1C3A}</a:tableStyleId>
              </a:tblPr>
              <a:tblGrid>
                <a:gridCol w="1724025">
                  <a:extLst>
                    <a:ext uri="{9D8B030D-6E8A-4147-A177-3AD203B41FA5}">
                      <a16:colId xmlns:a16="http://schemas.microsoft.com/office/drawing/2014/main" val="3390698310"/>
                    </a:ext>
                  </a:extLst>
                </a:gridCol>
                <a:gridCol w="1724025">
                  <a:extLst>
                    <a:ext uri="{9D8B030D-6E8A-4147-A177-3AD203B41FA5}">
                      <a16:colId xmlns:a16="http://schemas.microsoft.com/office/drawing/2014/main" val="225638235"/>
                    </a:ext>
                  </a:extLst>
                </a:gridCol>
                <a:gridCol w="1724025">
                  <a:extLst>
                    <a:ext uri="{9D8B030D-6E8A-4147-A177-3AD203B41FA5}">
                      <a16:colId xmlns:a16="http://schemas.microsoft.com/office/drawing/2014/main" val="3365838405"/>
                    </a:ext>
                  </a:extLst>
                </a:gridCol>
                <a:gridCol w="1724025">
                  <a:extLst>
                    <a:ext uri="{9D8B030D-6E8A-4147-A177-3AD203B41FA5}">
                      <a16:colId xmlns:a16="http://schemas.microsoft.com/office/drawing/2014/main" val="487192253"/>
                    </a:ext>
                  </a:extLst>
                </a:gridCol>
              </a:tblGrid>
              <a:tr h="370840">
                <a:tc>
                  <a:txBody>
                    <a:bodyPr/>
                    <a:lstStyle/>
                    <a:p>
                      <a:pP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Occupation Class</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Females</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Males</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Overall</a:t>
                      </a:r>
                      <a:endParaRPr lang="de-CH" sz="1800" dirty="0">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3744680824"/>
                  </a:ext>
                </a:extLst>
              </a:tr>
              <a:tr h="370840">
                <a:tc>
                  <a:txBody>
                    <a:bodyPr/>
                    <a:lstStyle/>
                    <a:p>
                      <a:pPr>
                        <a:lnSpc>
                          <a:spcPct val="115000"/>
                        </a:lnSpc>
                        <a:spcAft>
                          <a:spcPts val="1000"/>
                        </a:spcAft>
                        <a:buNone/>
                      </a:pPr>
                      <a:r>
                        <a:rPr lang="en-GB" sz="1800" b="1">
                          <a:effectLst/>
                          <a:latin typeface="+mn-lt"/>
                          <a:ea typeface="Calibri" panose="020F0502020204030204" pitchFamily="34" charset="0"/>
                          <a:cs typeface="Times New Roman" panose="02020603050405020304" pitchFamily="18" charset="0"/>
                        </a:rPr>
                        <a:t>CMI IP11 OC1</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dirty="0">
                          <a:effectLst/>
                          <a:latin typeface="+mn-lt"/>
                          <a:ea typeface="Calibri" panose="020F0502020204030204" pitchFamily="34" charset="0"/>
                          <a:cs typeface="Times New Roman" panose="02020603050405020304" pitchFamily="18" charset="0"/>
                        </a:rPr>
                        <a:t>13.5</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dirty="0">
                          <a:effectLst/>
                          <a:latin typeface="+mn-lt"/>
                          <a:ea typeface="Calibri" panose="020F0502020204030204" pitchFamily="34" charset="0"/>
                          <a:cs typeface="Times New Roman" panose="02020603050405020304" pitchFamily="18" charset="0"/>
                        </a:rPr>
                        <a:t>13.7</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a:effectLst/>
                          <a:latin typeface="+mn-lt"/>
                          <a:ea typeface="Calibri" panose="020F0502020204030204" pitchFamily="34" charset="0"/>
                          <a:cs typeface="Times New Roman" panose="02020603050405020304" pitchFamily="18" charset="0"/>
                        </a:rPr>
                        <a:t>13.6</a:t>
                      </a:r>
                      <a:endParaRPr lang="de-CH" sz="1800">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636021954"/>
                  </a:ext>
                </a:extLst>
              </a:tr>
              <a:tr h="370840">
                <a:tc>
                  <a:txBody>
                    <a:bodyPr/>
                    <a:lstStyle/>
                    <a:p>
                      <a:pPr>
                        <a:lnSpc>
                          <a:spcPct val="115000"/>
                        </a:lnSpc>
                        <a:spcAft>
                          <a:spcPts val="1000"/>
                        </a:spcAft>
                        <a:buNone/>
                      </a:pPr>
                      <a:r>
                        <a:rPr lang="en-GB" sz="1800" b="1">
                          <a:effectLst/>
                          <a:latin typeface="+mn-lt"/>
                          <a:ea typeface="Calibri" panose="020F0502020204030204" pitchFamily="34" charset="0"/>
                          <a:cs typeface="Times New Roman" panose="02020603050405020304" pitchFamily="18" charset="0"/>
                        </a:rPr>
                        <a:t>CMI IP11 OC2</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dirty="0">
                          <a:effectLst/>
                          <a:latin typeface="+mn-lt"/>
                          <a:ea typeface="Calibri" panose="020F0502020204030204" pitchFamily="34" charset="0"/>
                          <a:cs typeface="Times New Roman" panose="02020603050405020304" pitchFamily="18" charset="0"/>
                        </a:rPr>
                        <a:t>13.7</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dirty="0">
                          <a:effectLst/>
                          <a:latin typeface="+mn-lt"/>
                          <a:ea typeface="Calibri" panose="020F0502020204030204" pitchFamily="34" charset="0"/>
                          <a:cs typeface="Times New Roman" panose="02020603050405020304" pitchFamily="18" charset="0"/>
                        </a:rPr>
                        <a:t>13.8</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13.8</a:t>
                      </a:r>
                      <a:endParaRPr lang="de-CH" sz="1800" dirty="0">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980238256"/>
                  </a:ext>
                </a:extLst>
              </a:tr>
              <a:tr h="370840">
                <a:tc>
                  <a:txBody>
                    <a:bodyPr/>
                    <a:lstStyle/>
                    <a:p>
                      <a:pPr>
                        <a:lnSpc>
                          <a:spcPct val="115000"/>
                        </a:lnSpc>
                        <a:spcAft>
                          <a:spcPts val="1000"/>
                        </a:spcAft>
                        <a:buNone/>
                      </a:pPr>
                      <a:r>
                        <a:rPr lang="en-GB" sz="1800" b="1">
                          <a:effectLst/>
                          <a:latin typeface="+mn-lt"/>
                          <a:ea typeface="Calibri" panose="020F0502020204030204" pitchFamily="34" charset="0"/>
                          <a:cs typeface="Times New Roman" panose="02020603050405020304" pitchFamily="18" charset="0"/>
                        </a:rPr>
                        <a:t>CMI IP11 OC3</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a:effectLst/>
                          <a:latin typeface="+mn-lt"/>
                          <a:ea typeface="Calibri" panose="020F0502020204030204" pitchFamily="34" charset="0"/>
                          <a:cs typeface="Times New Roman" panose="02020603050405020304" pitchFamily="18" charset="0"/>
                        </a:rPr>
                        <a:t>13.3</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dirty="0">
                          <a:effectLst/>
                          <a:latin typeface="+mn-lt"/>
                          <a:ea typeface="Calibri" panose="020F0502020204030204" pitchFamily="34" charset="0"/>
                          <a:cs typeface="Times New Roman" panose="02020603050405020304" pitchFamily="18" charset="0"/>
                        </a:rPr>
                        <a:t>13.6</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13.5</a:t>
                      </a:r>
                      <a:endParaRPr lang="de-CH" sz="1800" dirty="0">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790822725"/>
                  </a:ext>
                </a:extLst>
              </a:tr>
              <a:tr h="370840">
                <a:tc>
                  <a:txBody>
                    <a:bodyPr/>
                    <a:lstStyle/>
                    <a:p>
                      <a:pPr>
                        <a:lnSpc>
                          <a:spcPct val="115000"/>
                        </a:lnSpc>
                        <a:spcAft>
                          <a:spcPts val="1000"/>
                        </a:spcAft>
                        <a:buNone/>
                      </a:pPr>
                      <a:r>
                        <a:rPr lang="en-GB" sz="1800" b="1">
                          <a:effectLst/>
                          <a:latin typeface="+mn-lt"/>
                          <a:ea typeface="Calibri" panose="020F0502020204030204" pitchFamily="34" charset="0"/>
                          <a:cs typeface="Times New Roman" panose="02020603050405020304" pitchFamily="18" charset="0"/>
                        </a:rPr>
                        <a:t>CMI IP11 OC4</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a:effectLst/>
                          <a:latin typeface="+mn-lt"/>
                          <a:ea typeface="Calibri" panose="020F0502020204030204" pitchFamily="34" charset="0"/>
                          <a:cs typeface="Times New Roman" panose="02020603050405020304" pitchFamily="18" charset="0"/>
                        </a:rPr>
                        <a:t>13.1</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dirty="0">
                          <a:effectLst/>
                          <a:latin typeface="+mn-lt"/>
                          <a:ea typeface="Calibri" panose="020F0502020204030204" pitchFamily="34" charset="0"/>
                          <a:cs typeface="Times New Roman" panose="02020603050405020304" pitchFamily="18" charset="0"/>
                        </a:rPr>
                        <a:t>13.4</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13.3</a:t>
                      </a:r>
                      <a:endParaRPr lang="de-CH" sz="1800" dirty="0">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3688239074"/>
                  </a:ext>
                </a:extLst>
              </a:tr>
            </a:tbl>
          </a:graphicData>
        </a:graphic>
      </p:graphicFrame>
      <p:graphicFrame>
        <p:nvGraphicFramePr>
          <p:cNvPr id="14" name="Content Placeholder 13">
            <a:extLst>
              <a:ext uri="{FF2B5EF4-FFF2-40B4-BE49-F238E27FC236}">
                <a16:creationId xmlns:a16="http://schemas.microsoft.com/office/drawing/2014/main" id="{73D841C4-1451-E99B-CB9F-1F6C5511764C}"/>
              </a:ext>
            </a:extLst>
          </p:cNvPr>
          <p:cNvGraphicFramePr>
            <a:graphicFrameLocks noGrp="1"/>
          </p:cNvGraphicFramePr>
          <p:nvPr>
            <p:ph sz="quarter" idx="25"/>
            <p:extLst>
              <p:ext uri="{D42A27DB-BD31-4B8C-83A1-F6EECF244321}">
                <p14:modId xmlns:p14="http://schemas.microsoft.com/office/powerpoint/2010/main" val="3450079707"/>
              </p:ext>
            </p:extLst>
          </p:nvPr>
        </p:nvGraphicFramePr>
        <p:xfrm>
          <a:off x="8229600" y="2268538"/>
          <a:ext cx="6896100" cy="2216023"/>
        </p:xfrm>
        <a:graphic>
          <a:graphicData uri="http://schemas.openxmlformats.org/drawingml/2006/table">
            <a:tbl>
              <a:tblPr firstRow="1" bandRow="1">
                <a:tableStyleId>{5C22544A-7EE6-4342-B048-85BDC9FD1C3A}</a:tableStyleId>
              </a:tblPr>
              <a:tblGrid>
                <a:gridCol w="1724025">
                  <a:extLst>
                    <a:ext uri="{9D8B030D-6E8A-4147-A177-3AD203B41FA5}">
                      <a16:colId xmlns:a16="http://schemas.microsoft.com/office/drawing/2014/main" val="680087131"/>
                    </a:ext>
                  </a:extLst>
                </a:gridCol>
                <a:gridCol w="1724025">
                  <a:extLst>
                    <a:ext uri="{9D8B030D-6E8A-4147-A177-3AD203B41FA5}">
                      <a16:colId xmlns:a16="http://schemas.microsoft.com/office/drawing/2014/main" val="384922801"/>
                    </a:ext>
                  </a:extLst>
                </a:gridCol>
                <a:gridCol w="1724025">
                  <a:extLst>
                    <a:ext uri="{9D8B030D-6E8A-4147-A177-3AD203B41FA5}">
                      <a16:colId xmlns:a16="http://schemas.microsoft.com/office/drawing/2014/main" val="1017100693"/>
                    </a:ext>
                  </a:extLst>
                </a:gridCol>
                <a:gridCol w="1724025">
                  <a:extLst>
                    <a:ext uri="{9D8B030D-6E8A-4147-A177-3AD203B41FA5}">
                      <a16:colId xmlns:a16="http://schemas.microsoft.com/office/drawing/2014/main" val="2351437070"/>
                    </a:ext>
                  </a:extLst>
                </a:gridCol>
              </a:tblGrid>
              <a:tr h="370840">
                <a:tc>
                  <a:txBody>
                    <a:bodyPr/>
                    <a:lstStyle/>
                    <a:p>
                      <a:pP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Occupation Class</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Females</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Males</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Overall</a:t>
                      </a:r>
                      <a:endParaRPr lang="de-CH" sz="1800" dirty="0">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408343909"/>
                  </a:ext>
                </a:extLst>
              </a:tr>
              <a:tr h="370840">
                <a:tc>
                  <a:txBody>
                    <a:bodyPr/>
                    <a:lstStyle/>
                    <a:p>
                      <a:pPr>
                        <a:lnSpc>
                          <a:spcPct val="115000"/>
                        </a:lnSpc>
                        <a:spcAft>
                          <a:spcPts val="1000"/>
                        </a:spcAft>
                        <a:buNone/>
                      </a:pPr>
                      <a:r>
                        <a:rPr lang="en-GB" sz="1800" b="1">
                          <a:effectLst/>
                          <a:latin typeface="+mn-lt"/>
                          <a:ea typeface="Calibri" panose="020F0502020204030204" pitchFamily="34" charset="0"/>
                          <a:cs typeface="Times New Roman" panose="02020603050405020304" pitchFamily="18" charset="0"/>
                        </a:rPr>
                        <a:t>CMI IP11 OC1</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0.9</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0.6</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0.7</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2433986512"/>
                  </a:ext>
                </a:extLst>
              </a:tr>
              <a:tr h="370840">
                <a:tc>
                  <a:txBody>
                    <a:bodyPr/>
                    <a:lstStyle/>
                    <a:p>
                      <a:pPr>
                        <a:lnSpc>
                          <a:spcPct val="115000"/>
                        </a:lnSpc>
                        <a:spcAft>
                          <a:spcPts val="1000"/>
                        </a:spcAft>
                        <a:buNone/>
                      </a:pPr>
                      <a:r>
                        <a:rPr lang="en-GB" sz="1800" b="1">
                          <a:effectLst/>
                          <a:latin typeface="+mn-lt"/>
                          <a:ea typeface="Calibri" panose="020F0502020204030204" pitchFamily="34" charset="0"/>
                          <a:cs typeface="Times New Roman" panose="02020603050405020304" pitchFamily="18" charset="0"/>
                        </a:rPr>
                        <a:t>CMI IP11 OC2</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0.7</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0.4</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0.6</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708109034"/>
                  </a:ext>
                </a:extLst>
              </a:tr>
              <a:tr h="370840">
                <a:tc>
                  <a:txBody>
                    <a:bodyPr/>
                    <a:lstStyle/>
                    <a:p>
                      <a:pPr>
                        <a:lnSpc>
                          <a:spcPct val="115000"/>
                        </a:lnSpc>
                        <a:spcAft>
                          <a:spcPts val="1000"/>
                        </a:spcAft>
                        <a:buNone/>
                      </a:pPr>
                      <a:r>
                        <a:rPr lang="en-GB" sz="1800" b="1">
                          <a:effectLst/>
                          <a:latin typeface="+mn-lt"/>
                          <a:ea typeface="Calibri" panose="020F0502020204030204" pitchFamily="34" charset="0"/>
                          <a:cs typeface="Times New Roman" panose="02020603050405020304" pitchFamily="18" charset="0"/>
                        </a:rPr>
                        <a:t>CMI IP11 OC3</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1.0</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0.6</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0.8</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4174223381"/>
                  </a:ext>
                </a:extLst>
              </a:tr>
              <a:tr h="370840">
                <a:tc>
                  <a:txBody>
                    <a:bodyPr/>
                    <a:lstStyle/>
                    <a:p>
                      <a:pPr>
                        <a:lnSpc>
                          <a:spcPct val="115000"/>
                        </a:lnSpc>
                        <a:spcAft>
                          <a:spcPts val="1000"/>
                        </a:spcAft>
                        <a:buNone/>
                      </a:pPr>
                      <a:r>
                        <a:rPr lang="en-GB" sz="1800" b="1">
                          <a:effectLst/>
                          <a:latin typeface="+mn-lt"/>
                          <a:ea typeface="Calibri" panose="020F0502020204030204" pitchFamily="34" charset="0"/>
                          <a:cs typeface="Times New Roman" panose="02020603050405020304" pitchFamily="18" charset="0"/>
                        </a:rPr>
                        <a:t>CMI IP11 OC4</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1.2</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0.8</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1.0</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2704040027"/>
                  </a:ext>
                </a:extLst>
              </a:tr>
            </a:tbl>
          </a:graphicData>
        </a:graphic>
      </p:graphicFrame>
      <p:sp>
        <p:nvSpPr>
          <p:cNvPr id="15" name="Rectangle: Rounded Corners 14">
            <a:extLst>
              <a:ext uri="{FF2B5EF4-FFF2-40B4-BE49-F238E27FC236}">
                <a16:creationId xmlns:a16="http://schemas.microsoft.com/office/drawing/2014/main" id="{F7EC8274-5781-56E9-C934-A992CA178549}"/>
              </a:ext>
            </a:extLst>
          </p:cNvPr>
          <p:cNvSpPr/>
          <p:nvPr/>
        </p:nvSpPr>
        <p:spPr>
          <a:xfrm>
            <a:off x="1117600" y="1803756"/>
            <a:ext cx="6883400" cy="39985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Healthy Working Partial Life Expectancy, HWPLE</a:t>
            </a:r>
          </a:p>
        </p:txBody>
      </p:sp>
      <p:sp>
        <p:nvSpPr>
          <p:cNvPr id="17" name="Rectangle: Rounded Corners 16">
            <a:extLst>
              <a:ext uri="{FF2B5EF4-FFF2-40B4-BE49-F238E27FC236}">
                <a16:creationId xmlns:a16="http://schemas.microsoft.com/office/drawing/2014/main" id="{160201C9-28AA-6F60-29C4-73E027CA5B03}"/>
              </a:ext>
            </a:extLst>
          </p:cNvPr>
          <p:cNvSpPr/>
          <p:nvPr/>
        </p:nvSpPr>
        <p:spPr>
          <a:xfrm>
            <a:off x="8242300" y="1803755"/>
            <a:ext cx="6883400" cy="399855"/>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Not-Healthy Not-Working Partial Life Expectancy, NNPLE</a:t>
            </a:r>
          </a:p>
        </p:txBody>
      </p:sp>
      <p:sp>
        <p:nvSpPr>
          <p:cNvPr id="4" name="Content Placeholder 3">
            <a:extLst>
              <a:ext uri="{FF2B5EF4-FFF2-40B4-BE49-F238E27FC236}">
                <a16:creationId xmlns:a16="http://schemas.microsoft.com/office/drawing/2014/main" id="{900DC393-0497-3804-224A-9151F81C32C7}"/>
              </a:ext>
            </a:extLst>
          </p:cNvPr>
          <p:cNvSpPr txBox="1">
            <a:spLocks/>
          </p:cNvSpPr>
          <p:nvPr/>
        </p:nvSpPr>
        <p:spPr>
          <a:xfrm>
            <a:off x="8242300" y="4828478"/>
            <a:ext cx="6883403" cy="2900153"/>
          </a:xfrm>
          <a:prstGeom prst="rect">
            <a:avLst/>
          </a:prstGeom>
        </p:spPr>
        <p:txBody>
          <a:bodyPr vert="horz" lIns="91440" tIns="45720" rIns="91440" bIns="45720" rtlCol="0">
            <a:normAutofit fontScale="92500" lnSpcReduction="10000"/>
          </a:bodyPr>
          <a:lstStyle>
            <a:lvl1pPr marL="0" indent="0" algn="l" defTabSz="1219170" rtl="0" eaLnBrk="1" latinLnBrk="0" hangingPunct="1">
              <a:lnSpc>
                <a:spcPct val="100000"/>
              </a:lnSpc>
              <a:spcBef>
                <a:spcPts val="1333"/>
              </a:spcBef>
              <a:buClr>
                <a:schemeClr val="accent3"/>
              </a:buClr>
              <a:buFont typeface="Arial" panose="020B0604020202020204" pitchFamily="34" charset="0"/>
              <a:buNone/>
              <a:defRPr sz="2600" b="0" i="0" kern="1200">
                <a:solidFill>
                  <a:schemeClr val="tx1"/>
                </a:solidFill>
                <a:latin typeface="Arial" panose="020B0604020202020204" pitchFamily="34" charset="0"/>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r>
              <a:rPr lang="en-US" b="1" dirty="0"/>
              <a:t>Observations on NNPLE</a:t>
            </a:r>
            <a:endParaRPr lang="en-US" dirty="0"/>
          </a:p>
          <a:p>
            <a:pPr marL="457200" indent="-457200">
              <a:buFont typeface="Arial" panose="020B0604020202020204" pitchFamily="34" charset="0"/>
              <a:buChar char="•"/>
            </a:pPr>
            <a:r>
              <a:rPr lang="en-US" dirty="0"/>
              <a:t>NNPLE is lower for men than for women, across all 4 occupation classes;</a:t>
            </a:r>
          </a:p>
          <a:p>
            <a:pPr marL="457200" indent="-457200">
              <a:buFont typeface="Arial" panose="020B0604020202020204" pitchFamily="34" charset="0"/>
              <a:buChar char="•"/>
            </a:pPr>
            <a:r>
              <a:rPr lang="en-US" dirty="0"/>
              <a:t>NNPLE is lowest for occupation class 2, closely followed by class 1, then class 3 and class 4 has the highest NNPLE, i.e. the reverse order compared to HWPLE;</a:t>
            </a:r>
          </a:p>
          <a:p>
            <a:pPr marL="457200" indent="-457200">
              <a:buFont typeface="Arial" panose="020B0604020202020204" pitchFamily="34" charset="0"/>
              <a:buChar char="•"/>
            </a:pPr>
            <a:endParaRPr lang="en-GB" dirty="0"/>
          </a:p>
        </p:txBody>
      </p:sp>
      <p:sp>
        <p:nvSpPr>
          <p:cNvPr id="10" name="Content Placeholder 3">
            <a:extLst>
              <a:ext uri="{FF2B5EF4-FFF2-40B4-BE49-F238E27FC236}">
                <a16:creationId xmlns:a16="http://schemas.microsoft.com/office/drawing/2014/main" id="{05152491-59DF-6A90-5C86-8332FA231E0E}"/>
              </a:ext>
            </a:extLst>
          </p:cNvPr>
          <p:cNvSpPr txBox="1">
            <a:spLocks/>
          </p:cNvSpPr>
          <p:nvPr/>
        </p:nvSpPr>
        <p:spPr>
          <a:xfrm>
            <a:off x="1104900" y="4828478"/>
            <a:ext cx="6883403" cy="3910435"/>
          </a:xfrm>
          <a:prstGeom prst="rect">
            <a:avLst/>
          </a:prstGeom>
        </p:spPr>
        <p:txBody>
          <a:bodyPr vert="horz" lIns="91440" tIns="45720" rIns="91440" bIns="45720" rtlCol="0">
            <a:normAutofit fontScale="92500" lnSpcReduction="10000"/>
          </a:bodyPr>
          <a:lstStyle>
            <a:lvl1pPr marL="0" indent="0" algn="l" defTabSz="1219170" rtl="0" eaLnBrk="1" latinLnBrk="0" hangingPunct="1">
              <a:lnSpc>
                <a:spcPct val="100000"/>
              </a:lnSpc>
              <a:spcBef>
                <a:spcPts val="1333"/>
              </a:spcBef>
              <a:buClr>
                <a:schemeClr val="accent3"/>
              </a:buClr>
              <a:buFont typeface="Arial" panose="020B0604020202020204" pitchFamily="34" charset="0"/>
              <a:buNone/>
              <a:defRPr sz="2600" b="0" i="0" kern="1200">
                <a:solidFill>
                  <a:schemeClr val="tx1"/>
                </a:solidFill>
                <a:latin typeface="Arial" panose="020B0604020202020204" pitchFamily="34" charset="0"/>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r>
              <a:rPr lang="en-US" b="1" dirty="0"/>
              <a:t>Observations on HWPLE</a:t>
            </a:r>
            <a:endParaRPr lang="en-US" dirty="0"/>
          </a:p>
          <a:p>
            <a:pPr marL="457200" indent="-457200">
              <a:buFont typeface="Arial" panose="020B0604020202020204" pitchFamily="34" charset="0"/>
              <a:buChar char="•"/>
            </a:pPr>
            <a:r>
              <a:rPr lang="en-US" dirty="0"/>
              <a:t>HWPLE is higher for men than for women, across all 4 occupation classes;</a:t>
            </a:r>
          </a:p>
          <a:p>
            <a:pPr marL="457200" indent="-457200">
              <a:buFont typeface="Arial" panose="020B0604020202020204" pitchFamily="34" charset="0"/>
              <a:buChar char="•"/>
            </a:pPr>
            <a:r>
              <a:rPr lang="en-US" dirty="0"/>
              <a:t>HWPLE is highest for occupation class 2, closely followed by class 1, then class 3 and class 4 has the lowest HWPLE;</a:t>
            </a:r>
          </a:p>
          <a:p>
            <a:pPr marL="457200" indent="-457200">
              <a:buFont typeface="Arial" panose="020B0604020202020204" pitchFamily="34" charset="0"/>
              <a:buChar char="•"/>
            </a:pPr>
            <a:r>
              <a:rPr lang="en-US" dirty="0"/>
              <a:t>Across all 4 occupation classes, HWLE is higher for females than males at younger ages but switches to being higher for males than females at older ages.</a:t>
            </a:r>
          </a:p>
          <a:p>
            <a:pPr marL="457200" indent="-457200">
              <a:buFont typeface="Arial" panose="020B0604020202020204" pitchFamily="34" charset="0"/>
              <a:buChar char="•"/>
            </a:pPr>
            <a:endParaRPr lang="en-GB" dirty="0"/>
          </a:p>
        </p:txBody>
      </p:sp>
    </p:spTree>
    <p:extLst>
      <p:ext uri="{BB962C8B-B14F-4D97-AF65-F5344CB8AC3E}">
        <p14:creationId xmlns:p14="http://schemas.microsoft.com/office/powerpoint/2010/main" val="1461094921"/>
      </p:ext>
    </p:extLst>
  </p:cSld>
  <p:clrMapOvr>
    <a:masterClrMapping/>
  </p:clrMapOvr>
</p:sld>
</file>

<file path=ppt/theme/theme1.xml><?xml version="1.0" encoding="utf-8"?>
<a:theme xmlns:a="http://schemas.openxmlformats.org/drawingml/2006/main" name="Conference Covers">
  <a:themeElements>
    <a:clrScheme name="Custom 1">
      <a:dk1>
        <a:srgbClr val="3F3F3F"/>
      </a:dk1>
      <a:lt1>
        <a:srgbClr val="FFFFFF"/>
      </a:lt1>
      <a:dk2>
        <a:srgbClr val="002D72"/>
      </a:dk2>
      <a:lt2>
        <a:srgbClr val="FFFFFF"/>
      </a:lt2>
      <a:accent1>
        <a:srgbClr val="0097A9"/>
      </a:accent1>
      <a:accent2>
        <a:srgbClr val="A2B2C8"/>
      </a:accent2>
      <a:accent3>
        <a:srgbClr val="F6B21B"/>
      </a:accent3>
      <a:accent4>
        <a:srgbClr val="6BCABA"/>
      </a:accent4>
      <a:accent5>
        <a:srgbClr val="66C1CB"/>
      </a:accent5>
      <a:accent6>
        <a:srgbClr val="C7D1DE"/>
      </a:accent6>
      <a:hlink>
        <a:srgbClr val="33578E"/>
      </a:hlink>
      <a:folHlink>
        <a:srgbClr val="829AA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SE_Group_PowerPoint_Template use" id="{E4657FDB-B5CC-4A41-BF6D-183D81AD8D22}" vid="{1F5C7FD9-EB8F-2541-9465-A7ED68755437}"/>
    </a:ext>
  </a:extLst>
</a:theme>
</file>

<file path=ppt/theme/theme2.xml><?xml version="1.0" encoding="utf-8"?>
<a:theme xmlns:a="http://schemas.openxmlformats.org/drawingml/2006/main" name="1_Content slide layouts">
  <a:themeElements>
    <a:clrScheme name="Custom 1">
      <a:dk1>
        <a:srgbClr val="3F3F3F"/>
      </a:dk1>
      <a:lt1>
        <a:srgbClr val="FFFFFF"/>
      </a:lt1>
      <a:dk2>
        <a:srgbClr val="002D72"/>
      </a:dk2>
      <a:lt2>
        <a:srgbClr val="FFFFFF"/>
      </a:lt2>
      <a:accent1>
        <a:srgbClr val="0097A9"/>
      </a:accent1>
      <a:accent2>
        <a:srgbClr val="A2B2C8"/>
      </a:accent2>
      <a:accent3>
        <a:srgbClr val="F6B21B"/>
      </a:accent3>
      <a:accent4>
        <a:srgbClr val="6BCABA"/>
      </a:accent4>
      <a:accent5>
        <a:srgbClr val="66C1CB"/>
      </a:accent5>
      <a:accent6>
        <a:srgbClr val="C7D1DE"/>
      </a:accent6>
      <a:hlink>
        <a:srgbClr val="33578E"/>
      </a:hlink>
      <a:folHlink>
        <a:srgbClr val="829AA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SE_Group_PowerPoint_Template use" id="{E4657FDB-B5CC-4A41-BF6D-183D81AD8D22}" vid="{1F5C7FD9-EB8F-2541-9465-A7ED68755437}"/>
    </a:ext>
  </a:extLst>
</a:theme>
</file>

<file path=ppt/theme/theme3.xml><?xml version="1.0" encoding="utf-8"?>
<a:theme xmlns:a="http://schemas.openxmlformats.org/drawingml/2006/main" name="Blank Slides">
  <a:themeElements>
    <a:clrScheme name="IFoA Colour Palette">
      <a:dk1>
        <a:srgbClr val="3F4548"/>
      </a:dk1>
      <a:lt1>
        <a:srgbClr val="FEFFFF"/>
      </a:lt1>
      <a:dk2>
        <a:srgbClr val="113458"/>
      </a:dk2>
      <a:lt2>
        <a:srgbClr val="FCFDF8"/>
      </a:lt2>
      <a:accent1>
        <a:srgbClr val="D9AB16"/>
      </a:accent1>
      <a:accent2>
        <a:srgbClr val="D01E45"/>
      </a:accent2>
      <a:accent3>
        <a:srgbClr val="EE741D"/>
      </a:accent3>
      <a:accent4>
        <a:srgbClr val="11B3A2"/>
      </a:accent4>
      <a:accent5>
        <a:srgbClr val="009CC8"/>
      </a:accent5>
      <a:accent6>
        <a:srgbClr val="8F4693"/>
      </a:accent6>
      <a:hlink>
        <a:srgbClr val="D9AB16"/>
      </a:hlink>
      <a:folHlink>
        <a:srgbClr val="D9AB1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SE_Group_PowerPoint_Template use" id="{E4657FDB-B5CC-4A41-BF6D-183D81AD8D22}" vid="{1F5C7FD9-EB8F-2541-9465-A7ED68755437}"/>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427c8fa8-921c-4e76-a4fb-ab316639157b">
      <Terms xmlns="http://schemas.microsoft.com/office/infopath/2007/PartnerControls"/>
    </lcf76f155ced4ddcb4097134ff3c332f>
    <TaxCatchAll xmlns="65ef3215-eb9b-4145-815e-654dd1e8af6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69BB5B017E57643A9010A728B58DA5C" ma:contentTypeVersion="11" ma:contentTypeDescription="Create a new document." ma:contentTypeScope="" ma:versionID="bd67bf6eceadae8e79de8d9500d269f0">
  <xsd:schema xmlns:xsd="http://www.w3.org/2001/XMLSchema" xmlns:xs="http://www.w3.org/2001/XMLSchema" xmlns:p="http://schemas.microsoft.com/office/2006/metadata/properties" xmlns:ns2="427c8fa8-921c-4e76-a4fb-ab316639157b" xmlns:ns3="65ef3215-eb9b-4145-815e-654dd1e8af6c" targetNamespace="http://schemas.microsoft.com/office/2006/metadata/properties" ma:root="true" ma:fieldsID="543eb13995b4a5172de49f09202043c4" ns2:_="" ns3:_="">
    <xsd:import namespace="427c8fa8-921c-4e76-a4fb-ab316639157b"/>
    <xsd:import namespace="65ef3215-eb9b-4145-815e-654dd1e8af6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27c8fa8-921c-4e76-a4fb-ab31663915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c5664ec-2097-44f6-aef9-a995d752de4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5ef3215-eb9b-4145-815e-654dd1e8af6c"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fb8b92b-6d5c-4dd4-aa92-b0877018010c}" ma:internalName="TaxCatchAll" ma:showField="CatchAllData" ma:web="65ef3215-eb9b-4145-815e-654dd1e8af6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FF5F813-550E-4BB5-ADE3-752FACD4D223}">
  <ds:schemaRefs>
    <ds:schemaRef ds:uri="http://www.w3.org/XML/1998/namespace"/>
    <ds:schemaRef ds:uri="http://purl.org/dc/terms/"/>
    <ds:schemaRef ds:uri="http://purl.org/dc/elements/1.1/"/>
    <ds:schemaRef ds:uri="http://purl.org/dc/dcmitype/"/>
    <ds:schemaRef ds:uri="http://schemas.microsoft.com/office/2006/metadata/properties"/>
    <ds:schemaRef ds:uri="http://schemas.microsoft.com/office/infopath/2007/PartnerControls"/>
    <ds:schemaRef ds:uri="65ef3215-eb9b-4145-815e-654dd1e8af6c"/>
    <ds:schemaRef ds:uri="http://schemas.microsoft.com/office/2006/documentManagement/types"/>
    <ds:schemaRef ds:uri="http://schemas.openxmlformats.org/package/2006/metadata/core-properties"/>
    <ds:schemaRef ds:uri="427c8fa8-921c-4e76-a4fb-ab316639157b"/>
  </ds:schemaRefs>
</ds:datastoreItem>
</file>

<file path=customXml/itemProps2.xml><?xml version="1.0" encoding="utf-8"?>
<ds:datastoreItem xmlns:ds="http://schemas.openxmlformats.org/officeDocument/2006/customXml" ds:itemID="{BF32AE18-B89B-4431-8724-411DE593212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27c8fa8-921c-4e76-a4fb-ab316639157b"/>
    <ds:schemaRef ds:uri="65ef3215-eb9b-4145-815e-654dd1e8af6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0C26788-4DC2-436E-8A96-8EFF94E1844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SSE Master Slide</Template>
  <TotalTime>0</TotalTime>
  <Words>7428</Words>
  <Application>Microsoft Office PowerPoint</Application>
  <PresentationFormat>Custom</PresentationFormat>
  <Paragraphs>861</Paragraphs>
  <Slides>35</Slides>
  <Notes>23</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35</vt:i4>
      </vt:variant>
    </vt:vector>
  </HeadingPairs>
  <TitlesOfParts>
    <vt:vector size="44" baseType="lpstr">
      <vt:lpstr>Algerian</vt:lpstr>
      <vt:lpstr>Aptos</vt:lpstr>
      <vt:lpstr>Arial</vt:lpstr>
      <vt:lpstr>Arial Light</vt:lpstr>
      <vt:lpstr>ARIAL-MDM</vt:lpstr>
      <vt:lpstr>Calibri</vt:lpstr>
      <vt:lpstr>Conference Covers</vt:lpstr>
      <vt:lpstr>1_Content slide layouts</vt:lpstr>
      <vt:lpstr>Blank Slides</vt:lpstr>
      <vt:lpstr>IFoA Life Conference 2026</vt:lpstr>
      <vt:lpstr>PowerPoint Presentation</vt:lpstr>
      <vt:lpstr>Today’s agenda</vt:lpstr>
      <vt:lpstr>Background to the Healthy Workforce WP</vt:lpstr>
      <vt:lpstr>The importance of a healthy workforce</vt:lpstr>
      <vt:lpstr>The rise in long-term economic inactivity due to ill health</vt:lpstr>
      <vt:lpstr>PowerPoint Presentation</vt:lpstr>
      <vt:lpstr>The problem</vt:lpstr>
      <vt:lpstr>Factors affecting absence and return</vt:lpstr>
      <vt:lpstr>PowerPoint Presentation</vt:lpstr>
      <vt:lpstr>PowerPoint Presentation</vt:lpstr>
      <vt:lpstr>From survey data to administrative data</vt:lpstr>
      <vt:lpstr>Multi-state models: a reminder</vt:lpstr>
      <vt:lpstr>Same machinery, two traditions</vt:lpstr>
      <vt:lpstr>What survey data give us, and what they force on us</vt:lpstr>
      <vt:lpstr>Healthy Working Life Expectancy</vt:lpstr>
      <vt:lpstr>Healthy Working Life Expectancy as a metric</vt:lpstr>
      <vt:lpstr>Healthy Working Life Expectancy as a metric</vt:lpstr>
      <vt:lpstr>Healthy Working Life Expectancy as a metric</vt:lpstr>
      <vt:lpstr>Multi-state model method with administrative data</vt:lpstr>
      <vt:lpstr>Healthy Working Life Table</vt:lpstr>
      <vt:lpstr>Healthy Working Life Table</vt:lpstr>
      <vt:lpstr>HWLE estimates with CMI IP rates : males and females</vt:lpstr>
      <vt:lpstr>HWLE estimates with CMI IP rates</vt:lpstr>
      <vt:lpstr>HWLE comparisons with other published results</vt:lpstr>
      <vt:lpstr>Closing discussion</vt:lpstr>
      <vt:lpstr>Coming soon</vt:lpstr>
      <vt:lpstr>Conclusions</vt:lpstr>
      <vt:lpstr>Questions</vt:lpstr>
      <vt:lpstr>Appendices</vt:lpstr>
      <vt:lpstr>Healthy Workforce</vt:lpstr>
      <vt:lpstr>CMI income protection analysis</vt:lpstr>
      <vt:lpstr>Definitions of ‘healthy’ and ‘working’ states</vt:lpstr>
      <vt:lpstr>CMI occupation classes</vt:lpstr>
      <vt:lpstr>HWLE estimates: CMI occupation classes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Wong, Stephen</dc:creator>
  <cp:lastModifiedBy>David Beddows</cp:lastModifiedBy>
  <cp:revision>193</cp:revision>
  <dcterms:created xsi:type="dcterms:W3CDTF">2020-09-14T13:57:51Z</dcterms:created>
  <dcterms:modified xsi:type="dcterms:W3CDTF">2026-10-30T11:57:42Z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2020-01-15T00:00:00Z</vt:filetime>
  </property>
  <property fmtid="{D5CDD505-2E9C-101B-9397-08002B2CF9AE}" pid="3" name="Creator">
    <vt:lpwstr>Adobe InDesign 15.0 (Macintosh)</vt:lpwstr>
  </property>
  <property fmtid="{D5CDD505-2E9C-101B-9397-08002B2CF9AE}" pid="4" name="LastSaved">
    <vt:filetime>2020-01-15T00:00:00Z</vt:filetime>
  </property>
  <property fmtid="{D5CDD505-2E9C-101B-9397-08002B2CF9AE}" pid="5" name="ContentTypeId">
    <vt:lpwstr>0x010100C69BB5B017E57643A9010A728B58DA5C</vt:lpwstr>
  </property>
  <property fmtid="{D5CDD505-2E9C-101B-9397-08002B2CF9AE}" pid="6" name="MediaServiceImageTags">
    <vt:lpwstr/>
  </property>
  <property fmtid="{D5CDD505-2E9C-101B-9397-08002B2CF9AE}" pid="7" name="MSIP_Label_90c2fedb-0da6-4717-8531-d16a1b9930f4_Enabled">
    <vt:lpwstr>true</vt:lpwstr>
  </property>
  <property fmtid="{D5CDD505-2E9C-101B-9397-08002B2CF9AE}" pid="8" name="MSIP_Label_90c2fedb-0da6-4717-8531-d16a1b9930f4_SetDate">
    <vt:lpwstr>2026-08-13T09:35:39Z</vt:lpwstr>
  </property>
  <property fmtid="{D5CDD505-2E9C-101B-9397-08002B2CF9AE}" pid="9" name="MSIP_Label_90c2fedb-0da6-4717-8531-d16a1b9930f4_Method">
    <vt:lpwstr>Standard</vt:lpwstr>
  </property>
  <property fmtid="{D5CDD505-2E9C-101B-9397-08002B2CF9AE}" pid="10" name="MSIP_Label_90c2fedb-0da6-4717-8531-d16a1b9930f4_Name">
    <vt:lpwstr>90c2fedb-0da6-4717-8531-d16a1b9930f4</vt:lpwstr>
  </property>
  <property fmtid="{D5CDD505-2E9C-101B-9397-08002B2CF9AE}" pid="11" name="MSIP_Label_90c2fedb-0da6-4717-8531-d16a1b9930f4_SiteId">
    <vt:lpwstr>45597f60-6e37-4be7-acfb-4c9e23b261ea</vt:lpwstr>
  </property>
  <property fmtid="{D5CDD505-2E9C-101B-9397-08002B2CF9AE}" pid="12" name="MSIP_Label_90c2fedb-0da6-4717-8531-d16a1b9930f4_ActionId">
    <vt:lpwstr>df5175b7-3272-43a2-8201-37388a15d6a0</vt:lpwstr>
  </property>
  <property fmtid="{D5CDD505-2E9C-101B-9397-08002B2CF9AE}" pid="13" name="MSIP_Label_90c2fedb-0da6-4717-8531-d16a1b9930f4_ContentBits">
    <vt:lpwstr>0</vt:lpwstr>
  </property>
  <property fmtid="{D5CDD505-2E9C-101B-9397-08002B2CF9AE}" pid="14" name="MSIP_Label_90c2fedb-0da6-4717-8531-d16a1b9930f4_Tag">
    <vt:lpwstr>10, 3, 0, 1</vt:lpwstr>
  </property>
</Properties>
</file>